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358" r:id="rId2"/>
    <p:sldId id="369" r:id="rId3"/>
    <p:sldId id="342" r:id="rId4"/>
    <p:sldId id="343" r:id="rId5"/>
    <p:sldId id="370" r:id="rId6"/>
    <p:sldId id="365" r:id="rId7"/>
    <p:sldId id="347" r:id="rId8"/>
    <p:sldId id="367" r:id="rId9"/>
    <p:sldId id="364" r:id="rId10"/>
    <p:sldId id="361" r:id="rId11"/>
    <p:sldId id="354" r:id="rId12"/>
    <p:sldId id="357" r:id="rId13"/>
    <p:sldId id="356" r:id="rId14"/>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0" d="100"/>
          <a:sy n="70" d="100"/>
        </p:scale>
        <p:origin x="536"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umsplatzhalt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13A24B-64AA-4D94-9B86-6689EF6F2436}" type="datetimeFigureOut">
              <a:rPr lang="de-DE" smtClean="0"/>
              <a:t>20.09.2026</a:t>
            </a:fld>
            <a:endParaRPr lang="de-DE"/>
          </a:p>
        </p:txBody>
      </p:sp>
      <p:sp>
        <p:nvSpPr>
          <p:cNvPr id="4" name="Folienbildplatzhalt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izenplatzhal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6" name="Fußzeilenplatzhalt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Foliennummernplatzhalt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BEB987-33AC-42F7-9C35-FF1CC4C34BEA}" type="slidenum">
              <a:rPr lang="de-DE" smtClean="0"/>
              <a:t>‹Nr.›</a:t>
            </a:fld>
            <a:endParaRPr lang="de-DE"/>
          </a:p>
        </p:txBody>
      </p:sp>
    </p:spTree>
    <p:extLst>
      <p:ext uri="{BB962C8B-B14F-4D97-AF65-F5344CB8AC3E}">
        <p14:creationId xmlns:p14="http://schemas.microsoft.com/office/powerpoint/2010/main" val="35850137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Block 01: Motivation und Problem</a:t>
            </a:r>
          </a:p>
          <a:p>
            <a:r>
              <a:rPr lang="de-DE" b="0" dirty="0"/>
              <a:t>Ich beginne mit der Ausgangslage: warum Cybersecurity für industrielle Gateways nicht länger eine freiwillige Zusatzleistung ist, sondern durch den regulatorischen Rahmen zur Pflicht wird – und wo zwischen diesem Anspruch und der Prüfpraxis heute eine Lücke klafft. Dafür sind rund drei Minuten vorgesehen.</a:t>
            </a:r>
          </a:p>
          <a:p>
            <a:r>
              <a:rPr lang="de-DE" b="1" dirty="0"/>
              <a:t>Schritt 2 – Block 02: Grundlagen</a:t>
            </a:r>
          </a:p>
          <a:p>
            <a:r>
              <a:rPr lang="de-DE" b="0" dirty="0"/>
              <a:t>Im zweiten Block ordne ich den Untersuchungsgegenstand ein: das Gateway als Bauteil an der Grenze zwischen IT und OT, die unterschiedlichen Denkweisen beider Domänen und der normative Rahmen, aus dem die Anforderungen stammen. Auch dieser Block umfasst etwa drei Minuten.</a:t>
            </a:r>
          </a:p>
          <a:p>
            <a:r>
              <a:rPr lang="de-DE" b="1" dirty="0"/>
              <a:t>Schritt 3 – Block 03: Methodik</a:t>
            </a:r>
          </a:p>
          <a:p>
            <a:r>
              <a:rPr lang="de-DE" b="0" dirty="0"/>
              <a:t>Der dritte Block ist mit sieben Minuten bewusst der längste, denn hier liegt der wissenschaftliche Beitrag dieser Arbeit. Ich zeige die Ableitungskette von der Norm bis zur prüfbaren Anforderung, die durchgehende Traceability jedes einzelnen Tests und die Rolle der Netzwerkvarianten, die bestimmen, welcher Nachweis überhaupt erbringbar ist. Wenn Sie sich einen Teil besonders merken möchten, dann diesen.</a:t>
            </a:r>
          </a:p>
          <a:p>
            <a:r>
              <a:rPr lang="de-DE" b="1" dirty="0"/>
              <a:t>Schritt 4 – Block 04: Demonstration und Ergebnisse</a:t>
            </a:r>
          </a:p>
          <a:p>
            <a:r>
              <a:rPr lang="de-DE" b="0" dirty="0"/>
              <a:t>Anschließend führe ich die Methodik am realen Prüfling vor: der Demonstrationsaufbau rund um den SRIO, die Frage der Anwendbarkeit der Firmentests und die daraus resultierenden Requirement-Verdicts einschließlich des Kernbefunds. Dafür plane ich fünf Minuten ein.</a:t>
            </a:r>
          </a:p>
          <a:p>
            <a:r>
              <a:rPr lang="de-DE" b="1" dirty="0"/>
              <a:t>Schritt 5 – Block 05: Fazit und Ausblick</a:t>
            </a:r>
          </a:p>
          <a:p>
            <a:r>
              <a:rPr lang="de-DE" b="0" dirty="0"/>
              <a:t>Zum Abschluss fasse ich die Kernaussage zusammen, benenne die Grenzen der Untersuchung offen und skizziere die nächsten Schritte. Zwei Minuten genügen dafür, sodass ausreichend Zeit für Ihre Fragen bleibt.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Diese technische Entwicklung hat der Gesetzgeber nachvollzogen.</a:t>
            </a:r>
          </a:p>
          <a:p>
            <a:r>
              <a:rPr lang="de-DE" dirty="0"/>
              <a:t>[Animationsschritt 1 – Klick: der Zeitstrahl mit beiden Datumsmarkierungen erscheint.] Am 29. Juni 2023 wurde die neue Maschinenverordnung im Amtsblatt der Europäischen Union veröffentlicht. Nach einer Übergangsfrist gilt sie ab dem 20. Januar 2027 verbindlich. Für Hersteller heißt das: Produkte, die danach in Verkehr gebracht werden, müssen die neuen Anforderungen erfüllen.</a:t>
            </a:r>
          </a:p>
          <a:p>
            <a:r>
              <a:rPr lang="de-DE" dirty="0"/>
              <a:t>[Animationsschritt 2 – Klick: die linke graue Karte erscheint.] Bisher galt die Maschinenrichtlinie 2006/42/EG. Als Richtlinie musste sie national umgesetzt werden, und Cybersecurity war darin keine verpflichtende Anforderung.</a:t>
            </a:r>
          </a:p>
          <a:p>
            <a:r>
              <a:rPr lang="de-DE" dirty="0"/>
              <a:t>[Animationsschritt 3 – Klick: Pfeil und rechte Karte erscheinen gemeinsam.] Die Verordnung (EU) 2023/1230 ist dagegen unmittelbar in allen Mitgliedstaaten gültig. Neu ist vor allem der geforderte Schutz vor Korruption, also vor unbefugter Veränderung sicherheitsrelevanter Funktionen; relevant sind hier Anhang III sowie die Abschnitte 1.1.9 und 1.2.1.</a:t>
            </a:r>
          </a:p>
          <a:p>
            <a:r>
              <a:rPr lang="de-DE" dirty="0"/>
              <a:t>Die eigentliche Pointe lautet: Wenn ein Angreifer eine Sicherheitsfunktion manipulieren kann, ist auch die funktionale Sicherheit nicht mehr gewährleistet. Security wird damit zur Voraussetzung von Safety.</a:t>
            </a:r>
          </a:p>
        </p:txBody>
      </p:sp>
      <p:sp>
        <p:nvSpPr>
          <p:cNvPr id="4" name="Slide Number Placeholder 3"/>
          <p:cNvSpPr>
            <a:spLocks noGrp="1"/>
          </p:cNvSpPr>
          <p:nvPr>
            <p:ph type="sldNum" sz="quarter" idx="5"/>
          </p:nvPr>
        </p:nvSpPr>
        <p:spPr/>
        <p:txBody>
          <a:bodyPr/>
          <a:lstStyle/>
          <a:p>
            <a:fld id="{C4CB6471-ACEC-47CF-B768-419C0458B309}" type="slidenum">
              <a:rPr lang="en-US" smtClean="0"/>
              <a:t>2</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Zeitliche Einordnung und verbleibende Übergangsfrist</a:t>
            </a:r>
          </a:p>
          <a:p>
            <a:r>
              <a:rPr lang="de-DE" dirty="0"/>
              <a:t>Der Zeitstrahl zeigt den regulatorischen Rahmen dieser Arbeit. Am 29. Juni 2023 wurde die Verordnung (EU) 2023/1230 im Amtsblatt der Europäischen Union veröffentlicht und trat damit formal in Kraft. Anschließend folgt eine mehrjährige Übergangsfrist, die bewusst gestrichelt dargestellt ist: In dieser Phase gilt die alte Rechtslage fort, die Hersteller müssen ihre Produkte und Prozesse aber bereits umstellen.</a:t>
            </a:r>
          </a:p>
          <a:p>
            <a:r>
              <a:rPr lang="de-DE" dirty="0"/>
              <a:t>Der große markierte Punkt rechts ist der eigentlich relevante Termin: Ab dem 20. Januar 2027 ist die Verordnung verbindlich anzuwenden und löst die Maschinenrichtlinie 2006/42/EG ab. Gemessen am heutigen Stand bleibt damit nur noch ein knapper Zeitraum, um Entwicklungs-, Test- und Dokumentationsprozesse anzupassen. Das ist der praktische Druck, aus dem die Fragestellung dieser Arbeit entstanden ist.</a:t>
            </a:r>
          </a:p>
          <a:p>
            <a:r>
              <a:rPr lang="de-DE" b="1" dirty="0"/>
              <a:t>Schritt 2 – Die bisherige Rechtslage</a:t>
            </a:r>
          </a:p>
          <a:p>
            <a:r>
              <a:rPr lang="de-DE" dirty="0"/>
              <a:t>Die linke Karte fasst zusammen, wie bisher geprüft wurde. Die Maschinenrichtlinie 2006/42/EG stellt das funktionale Verhalten und die klassische Maschinensicherheit in den Mittelpunkt: Schutz vor mechanischen Gefahren, sichere Abschaltung, zuverlässige Not-Halt-Funktionen. Bewertet wurde im Wesentlichen, ob eine Sicherheitsfunktion unter definierten Bedingungen korrekt auslöst.</a:t>
            </a:r>
          </a:p>
          <a:p>
            <a:r>
              <a:rPr lang="de-DE" dirty="0"/>
              <a:t>Cybersecurity war dabei nicht verpflichtend. Sie konnte freiwillig adressiert werden, war aber kein Bestandteil der Konformitätsbewertung. Angriffe über das Netzwerk lagen faktisch außerhalb des Betrachtungsrahmens – eine Annahme, die durch die zunehmende Vernetzung industrieller Anlagen nicht mehr tragfähig ist.</a:t>
            </a:r>
          </a:p>
          <a:p>
            <a:r>
              <a:rPr lang="de-DE" b="1" dirty="0"/>
              <a:t>Schritt 3 – Vom Richtlinien- zum Verordnungsregime</a:t>
            </a:r>
          </a:p>
          <a:p>
            <a:r>
              <a:rPr lang="de-DE" dirty="0"/>
              <a:t>Der Pfeil markiert einen doppelten Wechsel. Formal wird aus einer Richtlinie, die von jedem Mitgliedstaat in nationales Recht umgesetzt werden musste, eine Verordnung, die unmittelbar und einheitlich in der gesamten Union gilt. Inhaltlich kommt Cybersecurity neu hinzu.</a:t>
            </a:r>
          </a:p>
          <a:p>
            <a:r>
              <a:rPr lang="de-DE" dirty="0"/>
              <a:t>Die rechte Karte nennt den Kern: Der Schutz vor Korruption, also vor unbefugter oder unbeabsichtigter Veränderung von Software, Parametern und Daten, wird ausdrücklich Teil der Konformitätsbewertung. Verankert ist das in Anhang III, insbesondere in den Abschnitten 1.1.9 und 1.2.1. Abschnitt 1.1.9 adressiert den Schutz vor Korruption allgemein, Abschnitt 1.2.1 die Zuverlässigkeit und Integrität der Steuerungssysteme. Damit wird Security zu einer nachweispflichtigen Produkteigenschaft.</a:t>
            </a:r>
          </a:p>
          <a:p>
            <a:r>
              <a:rPr lang="de-DE" b="1" dirty="0"/>
              <a:t>Schritt 4 – Konsequenz für die Validierung</a:t>
            </a:r>
          </a:p>
          <a:p>
            <a:r>
              <a:rPr lang="de-DE" dirty="0"/>
              <a:t>Daraus folgt die Aussage im unteren Balken: Funktionale Sicherheit lässt sich nicht mehr unabhängig von der Cybersicherheit bewerten. Eine Sicherheitsfunktion, deren Parameter über das Netzwerk manipuliert werden können, ist trotz korrekter Auslöselogik nicht sicher.</a:t>
            </a:r>
          </a:p>
          <a:p>
            <a:r>
              <a:rPr lang="de-DE" dirty="0"/>
              <a:t>Für die Praxis heißt das: Safety- und Security-Nachweise müssen zusammengeführt werden, und es braucht funktionale Testverfahren, die Security-Eigenschaften genauso reproduzierbar prüfen wie bisher das Auslöseverhalten. Genau diese Verfahren entwickelt und erprobt die vorliegende Arbeit am Beispiel industrieller Gateways.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Anspruch und Praxis nebeneinander</a:t>
            </a:r>
          </a:p>
          <a:p>
            <a:r>
              <a:rPr lang="de-DE" dirty="0"/>
              <a:t>Links steht die regulatorische Erwartung. Die Verordnung verlangt einen systematischen Nachweis, dass Security-Funktionen vorhanden sind und wirksam arbeiten. Nachweis heißt dabei mehr als eine Erklärung: Es braucht dokumentierte, nachvollziehbare und wiederholbare Prüfungen, die einem Auditor vorgelegt werden können.</a:t>
            </a:r>
          </a:p>
          <a:p>
            <a:r>
              <a:rPr lang="de-DE" dirty="0"/>
              <a:t>Rechts steht die gelebte Praxis. Die etablierte Validierung in der Produktentwicklung ist ausgereift, sie ist funktional und sicherheitstechnisch sauber aufgesetzt. Sie prüft, ob das Gerät seine Spezifikation erfüllt und ob Sicherheitsfunktionen korrekt auslösen. Sie ist aber nicht security-getrieben: Angreifermodelle, Manipulationsversuche und Schnittstellenhärtung sind keine systematischen Prüfdimensionen.</a:t>
            </a:r>
          </a:p>
          <a:p>
            <a:r>
              <a:rPr lang="de-DE" dirty="0"/>
              <a:t>Wichtig ist: Beide Seiten sind für sich genommen legitim und gut begründet. Das Problem entsteht erst dort, wo sie aufeinandertreffen sollen.</a:t>
            </a:r>
          </a:p>
          <a:p>
            <a:r>
              <a:rPr lang="de-DE" b="1" dirty="0"/>
              <a:t>Schritt 2 – Die Lücke als Kernproblem</a:t>
            </a:r>
          </a:p>
          <a:p>
            <a:r>
              <a:rPr lang="de-DE" dirty="0"/>
              <a:t>Genau in der Mitte klafft die Lücke, und sie ist bewusst rot markiert: Es fehlt eine systematische Methodik, die von der regulatorischen Anforderung bis zum konkreten Testfall durchgezogen ist. Weder die Verordnung noch die bestehenden Firmenprozesse liefern diese Brücke.</a:t>
            </a:r>
          </a:p>
          <a:p>
            <a:r>
              <a:rPr lang="de-DE" dirty="0"/>
              <a:t>Praktisch führt das zu drei Effekten: Anforderungen bleiben abstrakt und werden unterschiedlich interpretiert, Tests werden ad hoc und personenabhängig durchgeführt, und der Nachweis gegenüber Dritten ist schwer zu führen. Genau diese Lücke zu schließen ist das Ziel dieser Arbeit. Daraus leiten sich drei Forschungsfragen ab.</a:t>
            </a:r>
          </a:p>
          <a:p>
            <a:r>
              <a:rPr lang="de-DE" b="1" dirty="0"/>
              <a:t>Schritt 3 – Forschungsfrage 1: Ableitung</a:t>
            </a:r>
          </a:p>
          <a:p>
            <a:r>
              <a:rPr lang="de-DE" dirty="0"/>
              <a:t>Die erste Frage betrifft die Übersetzung. Die Verordnung adressiert die Maschine als Ganzes, geprüft wird aber eine einzelne Komponente, hier das Gateway. Es muss also ein nachvollziehbarer Weg beschrieben werden, wie aus einer Maschinenpflicht eine konkrete, prüfbare Komponentenanforderung wird. Ohne diese Ableitung ist jedes Testergebnis regulatorisch nicht anschlussfähig.</a:t>
            </a:r>
          </a:p>
          <a:p>
            <a:r>
              <a:rPr lang="de-DE" b="1" dirty="0"/>
              <a:t>Schritt 4 – Forschungsfrage 2: Anwendbarkeit</a:t>
            </a:r>
          </a:p>
          <a:p>
            <a:r>
              <a:rPr lang="de-DE" dirty="0"/>
              <a:t>Die zweite Frage ist bewusst pragmatisch. Im Unternehmen existiert bereits ein umfangreiches Testrepertoire. Zu prüfen ist, welche dieser Tests sich sinnvoll auf ein industrielles Gateway anwenden lassen, welche angepasst werden müssen und wo tatsächlich neue Verfahren nötig sind. Der Ansatz lautet also nicht, alles neu zu erfinden, sondern vorhandene Reife gezielt zu nutzen.</a:t>
            </a:r>
          </a:p>
          <a:p>
            <a:r>
              <a:rPr lang="de-DE" b="1" dirty="0"/>
              <a:t>Schritt 5 – Forschungsfrage 3: Reichweite</a:t>
            </a:r>
          </a:p>
          <a:p>
            <a:r>
              <a:rPr lang="de-DE" dirty="0"/>
              <a:t>Die dritte Frage betrifft die Aussagekraft. Direktzugriffstestung an der IT/OT-Grenze prüft das Gerät über seine tatsächlich exponierten Schnittstellen und kommt damit dem realen Angriffsweg nahe. Genauso wichtig ist jedoch, die Grenzen sauber zu benennen: Was über diesen Zugang nicht sichtbar wird, etwa interne Implementierungsdetails oder Lieferketteneffekte, muss durch andere Maßnahmen abgedeckt werden.</a:t>
            </a:r>
          </a:p>
          <a:p>
            <a:r>
              <a:rPr lang="de-DE" dirty="0"/>
              <a:t>Überleitung: Auf Basis dieser drei Fragen stelle ich Ihnen nun das methodische Vorgehen der Arbeit vor.</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Damit sind wir bei der Lücke, die meine Arbeit adressiert.</a:t>
            </a:r>
          </a:p>
          <a:p>
            <a:r>
              <a:rPr lang="de-DE" dirty="0"/>
              <a:t>[Animationsschritt 1 – Klick: die beiden Kästen mit der unterbrochenen Linie erscheinen.] Auf der einen Seite steht die rechtliche Pflicht aus der Maschinenverordnung, auf der anderen Seite das konkrete Testergebnis am realen Gerät.</a:t>
            </a:r>
          </a:p>
          <a:p>
            <a:r>
              <a:rPr lang="de-DE" dirty="0"/>
              <a:t>[Animationsschritt 2 – Klick: das orange Fragezeichen erscheint.] Zwischen beiden fehlt ein etabliertes Verfahren. Die Verordnung formuliert Schutzziele, aber sie sagt nicht, wie man am Gateway nachweist, dass diese Ziele erreicht sind. Normen wie die IEC 62443 liefern Anforderungen, jedoch keine fertige Prüfvorschrift für ein einzelnes Produkt.</a:t>
            </a:r>
          </a:p>
          <a:p>
            <a:r>
              <a:rPr lang="de-DE" dirty="0"/>
              <a:t>[Animationsschritt 3 – Klick: die drei Forschungsfragen-Kacheln erscheinen gemeinsam.] Daraus leiten sich meine drei Forschungsfragen ab. Erstens: Wie lässt sich die rechtliche Pflicht in eine prüfbare Anforderung überführen? Zweitens: Welche im Unternehmen bereits vorhandenen Testverfahren sind dafür anwendbar? Und drittens: Was lässt sich mit direktem Zugriff auf das Gerät tatsächlich verifizieren – und wo stößt dieser Ansatz an seine Grenzen?</a:t>
            </a:r>
          </a:p>
          <a:p>
            <a:r>
              <a:rPr lang="de-DE" dirty="0"/>
              <a:t>Das Ziel ist eine systematische und rückverfolgbare Testmethodik, die genau diese Brücke schlägt.</a:t>
            </a:r>
          </a:p>
        </p:txBody>
      </p:sp>
      <p:sp>
        <p:nvSpPr>
          <p:cNvPr id="4" name="Slide Number Placeholder 3"/>
          <p:cNvSpPr>
            <a:spLocks noGrp="1"/>
          </p:cNvSpPr>
          <p:nvPr>
            <p:ph type="sldNum" sz="quarter" idx="5"/>
          </p:nvPr>
        </p:nvSpPr>
        <p:spPr/>
        <p:txBody>
          <a:bodyPr/>
          <a:lstStyle/>
          <a:p>
            <a:fld id="{C4CB6471-ACEC-47CF-B768-419C0458B309}" type="slidenum">
              <a:rPr lang="en-US" smtClean="0"/>
              <a:t>5</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a:xfrm>
            <a:off x="1728788" y="839788"/>
            <a:ext cx="3400425" cy="1912937"/>
          </a:xfrm>
        </p:spPr>
      </p:sp>
      <p:sp>
        <p:nvSpPr>
          <p:cNvPr id="3" name="Notizenplatzhalter 2"/>
          <p:cNvSpPr>
            <a:spLocks noGrp="1"/>
          </p:cNvSpPr>
          <p:nvPr>
            <p:ph type="body" idx="1"/>
          </p:nvPr>
        </p:nvSpPr>
        <p:spPr/>
        <p:txBody>
          <a:bodyPr/>
          <a:lstStyle/>
          <a:p>
            <a:r>
              <a:rPr lang="de-DE" b="1" dirty="0"/>
              <a:t>Schritt 1 – Die regulatorische Pflicht</a:t>
            </a:r>
          </a:p>
          <a:p>
            <a:r>
              <a:rPr lang="de-DE" dirty="0"/>
              <a:t>Diese Folie zeigt exemplarisch, wie aus einem Rechtstext ein ausführbarer Testfall wird. Ausgangspunkt ist Anhang III, Abschnitt 1.2.1 der Maschinenverordnung. Dort wird verlangt, dass Eingriffe in sicherheitsrelevante Software und Parameter nachvollziehbar aufgezeichnet werden. Das Tracing-Log muss die Änderung identifizierbar machen und ist fünf Jahre aufzubewahren.</a:t>
            </a:r>
          </a:p>
          <a:p>
            <a:r>
              <a:rPr lang="de-DE" dirty="0"/>
              <a:t>Wichtig ist der Charakter dieser Anforderung: Sie nennt ein Ziel und eine Frist, aber kein technisches Format, keinen Mindestinhalt und kein Prüfverfahren. In dieser Form ist sie nicht testbar.</a:t>
            </a:r>
          </a:p>
          <a:p>
            <a:r>
              <a:rPr lang="de-DE" b="1" dirty="0"/>
              <a:t>Schritt 2 – Die technische Präzisierung</a:t>
            </a:r>
          </a:p>
          <a:p>
            <a:r>
              <a:rPr lang="de-DE" dirty="0"/>
              <a:t>Die harmonisierte Norm prEN 50742 konkretisiert diese Pflicht in Abschnitt 7.3.4. Dort wird beschrieben, welche Angaben ein solcher Eintrag mindestens enthalten muss und wie die Aufbewahrung sicherzustellen ist. Damit wird aus einer rechtlichen Erwartung eine technische Vorgabe, die man prüfen kann.</a:t>
            </a:r>
          </a:p>
          <a:p>
            <a:r>
              <a:rPr lang="de-DE" dirty="0"/>
              <a:t>Diese Zwischenstufe ist der Grund, warum die harmonisierte Norm für die Praxis so wichtig ist: Sie liefert die Auslegung, auf die sich Hersteller und Auditor gemeinsam beziehen können.</a:t>
            </a:r>
          </a:p>
          <a:p>
            <a:r>
              <a:rPr lang="de-DE" b="1" dirty="0"/>
              <a:t>Schritt 3 – Die komponentenspezifische Übersetzung</a:t>
            </a:r>
          </a:p>
          <a:p>
            <a:r>
              <a:rPr lang="de-DE" dirty="0"/>
              <a:t>Über Approach B führt der Weg weiter in die IEC 62443-4-2. Zwei Component Requirements greifen hier unmittelbar: CR 2.8, Auditable Events, verlangt, dass sicherheitsrelevante Ereignisse überhaupt protokolliert werden, und CR 2.9, Audit Storage Capacity, verlangt ausreichende Speicherkapazität sowie ein definiertes Verhalten, wenn der Speicher voll läuft.</a:t>
            </a:r>
          </a:p>
          <a:p>
            <a:r>
              <a:rPr lang="de-DE" dirty="0"/>
              <a:t>Damit ist die Anforderung auf der Ebene der Komponente angekommen. Sie beschreibt jetzt Eigenschaften des Gateways selbst und nicht mehr Pflichten der Gesamtmaschine.</a:t>
            </a:r>
          </a:p>
          <a:p>
            <a:r>
              <a:rPr lang="de-DE" b="1" dirty="0"/>
              <a:t>Schritt 4 – Der konkrete Testfall</a:t>
            </a:r>
          </a:p>
          <a:p>
            <a:r>
              <a:rPr lang="de-DE" dirty="0"/>
              <a:t>Das letzte Segment ist bewusst in der Akzentfarbe hervorgehoben, denn hier wird die Kette praktisch. Am Prüfling wird ein sicherheitsrelevantes Ereignis ausgelöst und überprüft, ob ein Eintrag entsteht, ob er die geforderten Angaben enthält, ob er gegen Manipulation geschützt ist und wie sich das Gerät bei erschöpftem Speicher verhält.</a:t>
            </a:r>
          </a:p>
          <a:p>
            <a:r>
              <a:rPr lang="de-DE" dirty="0"/>
              <a:t>Entscheidend ist die Durchgängigkeit: Jedes Testergebnis lässt sich rückwärts bis zum Anhang III zurückverfolgen. Genau diese Rückverfolgbarkeit macht den Nachweis gegenüber Dritten belastbar.</a:t>
            </a:r>
          </a:p>
          <a:p>
            <a:r>
              <a:rPr lang="de-DE" b="1" dirty="0"/>
              <a:t>Schritt 5 – Einordnung in das Gesamtbild</a:t>
            </a:r>
          </a:p>
          <a:p>
            <a:r>
              <a:rPr lang="de-DE" dirty="0"/>
              <a:t>Die Fußzeile ordnet das Beispiel ein: RQ-012 ist eine von insgesamt vierzehn abgeleiteten Anforderungen, die nach demselben Schema entstanden sind. Als Bewertungsbasis dient SL-C 1, also die niedrigste Sicherheitsstufe, die gegen zufällige oder gelegentliche Verstöße mit einfachen Mitteln schützt.</a:t>
            </a:r>
          </a:p>
          <a:p>
            <a:r>
              <a:rPr lang="de-DE" dirty="0"/>
              <a:t>Diese Festlegung ist bewusst getroffen: Sie entspricht dem realistischen Schutzbedarf des betrachteten Geräts und hält den Umfang der Arbeit beherrschbar. Das Vorgehen selbst bleibt auf höhere Security Level übertragbar.</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728788" y="839788"/>
            <a:ext cx="3400425" cy="1912937"/>
          </a:xfrm>
        </p:spPr>
      </p:sp>
      <p:sp>
        <p:nvSpPr>
          <p:cNvPr id="3" name="Notes Placeholder 2"/>
          <p:cNvSpPr>
            <a:spLocks noGrp="1"/>
          </p:cNvSpPr>
          <p:nvPr>
            <p:ph type="body" idx="1"/>
          </p:nvPr>
        </p:nvSpPr>
        <p:spPr/>
        <p:txBody>
          <a:bodyPr/>
          <a:lstStyle/>
          <a:p>
            <a:r>
              <a:rPr lang="de-DE" dirty="0"/>
              <a:t>Wie diese Ableitung konkret aussieht, zeige ich exemplarisch an RQ-003. Links sehen Sie die Kette der vorigen Folie in klein, damit Sie jederzeit wissen, wo wir uns befinden.</a:t>
            </a:r>
          </a:p>
          <a:p>
            <a:r>
              <a:rPr lang="de-DE" dirty="0"/>
              <a:t>[Animationsschritt 1 – Klick: Stufe 1 erscheint.] Ausgangspunkt ist Anhang III, Abschnitt 1.1.9. Dort wird verlangt, dass Nachweise über Eingriffe in sicherheitsrelevante Funktionen gesammelt werden.</a:t>
            </a:r>
          </a:p>
          <a:p>
            <a:r>
              <a:rPr lang="de-DE" dirty="0"/>
              <a:t>[Animationsschritt 2 – Klick: Abwärtspfeil und Stufe 2 erscheinen.] Daraus habe ich die Anforderung RQ-003 formuliert, die das Schutzziel Zurechenbarkeit adressiert: Es muss erkennbar sein, dass etwas geschehen ist, und wem es zuzuordnen ist.</a:t>
            </a:r>
          </a:p>
          <a:p>
            <a:r>
              <a:rPr lang="de-DE" dirty="0"/>
              <a:t>[Animationsschritt 3 – Klick: Abwärtspfeil und Stufe 3 erscheinen.] Die prEN 50742 konkretisiert das in Richtung Evidenz, Protokollierung und Schutz vor physischer Manipulation.</a:t>
            </a:r>
          </a:p>
          <a:p>
            <a:r>
              <a:rPr lang="de-DE" dirty="0"/>
              <a:t>[Animationsschritt 4 – Klick: Abwärtspfeil und die orange Stufe 4 mit den drei Chips erscheinen.] Am Ende stehen drei konkrete Component Requirements: CR 2.8 zur Aufzeichnung von Ereignissen, CR 2.12 zur Nichtabstreitbarkeit und EDR 3.11 zur Rückfallebene. Genau dieses Vorgehen habe ich für alle vierzehn Anforderungen durchgeführt; die vollständige Dokumentation finden Sie in Anhang B der Arbeit.</a:t>
            </a:r>
          </a:p>
        </p:txBody>
      </p:sp>
      <p:sp>
        <p:nvSpPr>
          <p:cNvPr id="4" name="Slide Number Placeholder 3"/>
          <p:cNvSpPr>
            <a:spLocks noGrp="1"/>
          </p:cNvSpPr>
          <p:nvPr>
            <p:ph type="sldNum" sz="quarter" idx="5"/>
          </p:nvPr>
        </p:nvSpPr>
        <p:spPr/>
        <p:txBody>
          <a:bodyPr/>
          <a:lstStyle/>
          <a:p>
            <a:fld id="{C4CB6471-ACEC-47CF-B768-419C0458B309}" type="slidenum">
              <a:rPr lang="en-US" smtClean="0"/>
              <a:t>9</a:t>
            </a:fld>
            <a:endParaRPr lang="en-US"/>
          </a:p>
        </p:txBody>
      </p:sp>
    </p:spTree>
    <p:extLst>
      <p:ext uri="{BB962C8B-B14F-4D97-AF65-F5344CB8AC3E}">
        <p14:creationId xmlns:p14="http://schemas.microsoft.com/office/powerpoint/2010/main" val="12849965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Baseline</a:t>
            </a:r>
          </a:p>
          <a:p>
            <a:r>
              <a:rPr lang="de-DE" b="0" dirty="0"/>
              <a:t>Vor jeder Intervention wird der Ausgangszustand festgehalten: System-Tick 20969, keine Log-Einträge. Damit ist belegt, dass alle später beobachteten Einträge tatsächlich aus den induzierten Ereignissen stammen und nicht aus dem Normalbetrieb.</a:t>
            </a:r>
          </a:p>
          <a:p>
            <a:r>
              <a:rPr lang="de-DE" b="1" dirty="0"/>
              <a:t>Schritt 2 – Nach Ereignis 1</a:t>
            </a:r>
          </a:p>
          <a:p>
            <a:r>
              <a:rPr lang="de-DE" b="0" dirty="0"/>
              <a:t>Das erste induzierte Ereignis erzeugt zwei Fehlereinträge, der System-Tick steht bei 68629. Das Gerät protokolliert den Vorfall also grundsätzlich – die Nachweisbarkeit ist im laufenden Betrieb gegeben.</a:t>
            </a:r>
          </a:p>
          <a:p>
            <a:r>
              <a:rPr lang="de-DE" b="1" dirty="0"/>
              <a:t>Schritt 3 – Der Kaltstart als entscheidender Moment</a:t>
            </a:r>
          </a:p>
          <a:p>
            <a:r>
              <a:rPr lang="de-DE" b="0" dirty="0"/>
              <a:t>Nach dem Kaltstart fällt der System-Tick auf 20459 zurück und die Log-Einträge stehen wieder bei null. Beides zusammen ist der eigentliche Befund: Der Tick ist ein flüchtiger, bei jedem Neustart zurückspringender Zähler und damit keine verlässliche Zeitreferenz, und der Loginhalt selbst übersteht den Neustart nicht. Ein Vorfall, der vor dem Kaltstart protokolliert wurde, ist danach nicht mehr rekonstruierbar.</a:t>
            </a:r>
          </a:p>
          <a:p>
            <a:r>
              <a:rPr lang="de-DE" b="1" dirty="0"/>
              <a:t>Schritt 4 – Nach Ereignis 2</a:t>
            </a:r>
          </a:p>
          <a:p>
            <a:r>
              <a:rPr lang="de-DE" b="0" dirty="0"/>
              <a:t>Das zweite Ereignis nach dem Neustart erzeugt erneut zwei Einträge bei Tick 44869. Das bestätigt, dass die Protokollierung funktioniert – und zugleich, dass der vorherige Zustand unwiederbringlich verloren ist. Die Wiederholbarkeit des Musters schließt einen Messfehler aus.</a:t>
            </a:r>
          </a:p>
          <a:p>
            <a:r>
              <a:rPr lang="de-DE" b="1" dirty="0"/>
              <a:t>Schritt 5 – Die drei strukturellen Lücken</a:t>
            </a:r>
          </a:p>
          <a:p>
            <a:r>
              <a:rPr lang="de-DE" b="0" dirty="0"/>
              <a:t>Das vorhandene Ersatzartefakt weist drei Lücken auf, die unabhängig vom Kaltstart bestehen: Es fehlt ein absoluter Zeitstempel, ein Eintrag lässt sich also keinem realen Zeitpunkt zuordnen. Es fehlt eine Akteursidentität, ein Eintrag lässt sich also keiner handelnden Instanz zuordnen. Und der Loginhalt wird beim Kaltstart gelöscht, die Aufbewahrung ist damit nicht gegeben.</a:t>
            </a:r>
          </a:p>
          <a:p>
            <a:r>
              <a:rPr lang="de-DE" b="1" dirty="0"/>
              <a:t>Schritt 6 – Fail für RQ-003 und RQ-012</a:t>
            </a:r>
          </a:p>
          <a:p>
            <a:r>
              <a:rPr lang="de-DE" b="0" dirty="0"/>
              <a:t>Damit liegt für beide Anforderungen eine evidenzgestützte, beobachtete Abweichung vor – und nur dann wird Fail vergeben. RQ-003 und RQ-012 verlangen ein nachvollziehbares, zuordenbares und aufbewahrtes Protokoll; genau das ist widerlegt. Dieses Verdikt ist belegt, nicht vermutet.</a:t>
            </a:r>
          </a:p>
          <a:p>
            <a:r>
              <a:rPr lang="de-DE" b="1" dirty="0"/>
              <a:t>Schritt 7 – Kernaussage</a:t>
            </a:r>
          </a:p>
          <a:p>
            <a:r>
              <a:rPr lang="de-DE" b="0" dirty="0"/>
              <a:t>Die Zusammenfassung des gesamten Kernbefunds lautet: Das einzige verfügbare Ersatzartefakt überlebt keinen Kaltstart. Ein Tracing-Log, das über fünf Jahre aufbewahrt werden soll, kann auf dieser Grundlage nicht realisiert werden – die Lücke liegt in der Architektur des Geräts, nicht in der Testdurchführung.</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NV2 realisieren</a:t>
            </a:r>
          </a:p>
          <a:p>
            <a:r>
              <a:rPr lang="de-DE" b="0" dirty="0"/>
              <a:t>Der naheliegendste nächste Schritt ist die Realisierung der Netzwerkvariante NV2. Über einen Mirror-Port am Switch oder einen passiven Netzwerk-Tap lässt sich der zyklische Sicherheitsverkehr zwischen Steuerung und Gateway beobachten, ohne in den laufenden Betrieb einzugreifen. Damit werden genau jene Anforderungen adressierbar, die in dieser Arbeit als Not Assessed berichtet werden mussten, weil schlicht kein Beobachtungspunkt zur Verfügung stand. Der Aufwand ist gering, der Erkenntnisgewinn unmittelbar.</a:t>
            </a:r>
          </a:p>
          <a:p>
            <a:r>
              <a:rPr lang="de-DE" b="1" dirty="0"/>
              <a:t>Schritt 2 – NV3 realisieren</a:t>
            </a:r>
          </a:p>
          <a:p>
            <a:r>
              <a:rPr lang="de-DE" b="0" dirty="0"/>
              <a:t>Die zweite kurzfristige Erweiterung ist NV3: eine transparente Bridge, die zwischen Switch und Prüfling geschaltet wird. Erst diese In-Path-Position erlaubt eine aktive Untersuchung – Verkehr gezielt verzögern, verändern oder unterdrücken und die Reaktion des Geräts beobachten. Damit verschiebt sich der Nachweis von der reinen Beobachtung zur belastbaren Prüfung der Integritäts- und Robustheitseigenschaften.</a:t>
            </a:r>
          </a:p>
          <a:p>
            <a:r>
              <a:rPr lang="de-DE" b="1" dirty="0"/>
              <a:t>Schritt 3 – Testtiefe skalieren</a:t>
            </a:r>
          </a:p>
          <a:p>
            <a:r>
              <a:rPr lang="de-DE" b="0" dirty="0"/>
              <a:t>Mittelfristig geht es um die methodische Erweiterung: Die Testtiefe wird über die SRSL-Stufen gestaffelt. Statt einer einheitlichen Prüfung für alle Geräte wird der Prüfumfang an das jeweils geforderte Sicherheitsniveau gekoppelt. Das hält den Aufwand für einfache Komponenten angemessen und stellt zugleich sicher, dass kritische Geräte die volle Prüftiefe erfahren.</a:t>
            </a:r>
          </a:p>
          <a:p>
            <a:r>
              <a:rPr lang="de-DE" b="1" dirty="0"/>
              <a:t>Schritt 4 – Methodik verankern</a:t>
            </a:r>
          </a:p>
          <a:p>
            <a:r>
              <a:rPr lang="de-DE" b="0" dirty="0"/>
              <a:t>Die vierte Perspektive ist organisatorisch. Eine Prüfmethodik entfaltet ihren Wert erst, wenn sie nicht als einmalige Untersuchung stehen bleibt, sondern im Secure Development Lifecycle verankert wird: als wiederkehrender, dokumentierter Schritt mit definierten Messpunkten, Kriterien und Verantwortlichkeiten. Genau das verlangen auch die regulatorischen Anforderungen, die am Anfang dieser Arbeit stehen.</a:t>
            </a:r>
          </a:p>
          <a:p>
            <a:r>
              <a:rPr lang="de-DE" b="1" dirty="0"/>
              <a:t>Schritt 5 – Abschluss und Dank</a:t>
            </a:r>
          </a:p>
          <a:p>
            <a:r>
              <a:rPr lang="de-DE" b="0" dirty="0"/>
              <a:t>Damit schließt sich der Bogen. Die Demonstration am SRIO war bewusst begrenzt, aber sie hat gezeigt, dass die entwickelte Methodik trägt: Sie liefert nachvollziehbare Ergebnisse, macht ihre eigenen Grenzen transparent und ist über den demonstrierten Prüfling hinaus auf weitere Gateway-Varianten übertragbar. Ich danke der Kommission für die Aufmerksamkeit und freue mich auf Ihre Fragen.</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
          <p:cNvSpPr>
            <a:spLocks noGrp="1" noRot="1" noChangeAspect="1"/>
          </p:cNvSpPr>
          <p:nvPr>
            <p:ph type="sldImg"/>
          </p:nvPr>
        </p:nvSpPr>
        <p:spPr>
          <a:xfrm>
            <a:off x="1728788" y="839788"/>
            <a:ext cx="3400425" cy="1912937"/>
          </a:xfrm>
        </p:spPr>
      </p:sp>
      <p:sp>
        <p:nvSpPr>
          <p:cNvPr id="3" name="Notizen"/>
          <p:cNvSpPr>
            <a:spLocks noGrp="1"/>
          </p:cNvSpPr>
          <p:nvPr>
            <p:ph type="body" idx="1"/>
          </p:nvPr>
        </p:nvSpPr>
        <p:spPr/>
        <p:txBody>
          <a:bodyPr/>
          <a:lstStyle/>
          <a:p>
            <a:r>
              <a:rPr lang="de-DE" b="1" dirty="0"/>
              <a:t>Schritt 1 – Funktionale Sicherheit</a:t>
            </a:r>
          </a:p>
          <a:p>
            <a:r>
              <a:rPr lang="de-DE" b="0" dirty="0"/>
              <a:t>Die funktionale Sicherheit fragt, ob das System nach einem Fehler einen definierten sicheren Zustand einnimmt. Ihre Grundannahme ist der zufällige Fehler: ein Bauteil fällt aus, ein Signal kippt, eine Berechnung läuft aus dem zulässigen Bereich. Bewertet wird die Reaktion des Systems auf ein ungerichtetes, statistisch beschreibbares Ereignis – und genau dafür sind die etablierten Normen und Nachweisverfahren ausgelegt.</a:t>
            </a:r>
          </a:p>
          <a:p>
            <a:r>
              <a:rPr lang="de-DE" b="1" dirty="0"/>
              <a:t>Schritt 2 – Cybersicherheit</a:t>
            </a:r>
          </a:p>
          <a:p>
            <a:r>
              <a:rPr lang="de-DE" b="0" dirty="0"/>
              <a:t>Die Cybersicherheit stellt andere Fragen: Zurechenbarkeit, Integrität und Nachvollziehbarkeit. Ihre Grundannahme ist nicht der Zufall, sondern der vorsätzliche Angreifer, der gezielt sucht, wo eine Schutzmaßnahme umgangen werden kann, und der sein Vorgehen an der Abwehr ausrichtet. Ein Fehlermodell, das auf Wahrscheinlichkeiten beruht, bildet dieses Verhalten nicht ab.</a:t>
            </a:r>
          </a:p>
          <a:p>
            <a:r>
              <a:rPr lang="de-DE" b="1" dirty="0"/>
              <a:t>Schritt 3 – Warum das Gleichheitszeichen durchgestrichen ist</a:t>
            </a:r>
          </a:p>
          <a:p>
            <a:r>
              <a:rPr lang="de-DE" b="0" dirty="0"/>
              <a:t>Genau hier liegt der verbreitete Kurzschluss in der Praxis: Weil ein Gerät nach einem Fehler zuverlässig in den sicheren Zustand geht, gilt es als beherrscht – und damit implizit als sicher. Das durchgestrichene Gleichheitszeichen markiert diesen Trugschluss. Ein Safe State sagt nichts darüber aus, ob ein Eingriff erkannt, einem Akteur zugeordnet und später nachvollzogen werden kann. Der zuvor gezeigte Interventionsnachweis ist das praktische Beispiel dafür: Das Gerät blieb funktional beherrscht, während die Spur des Eingriffs verloren ging.</a:t>
            </a:r>
          </a:p>
          <a:p>
            <a:r>
              <a:rPr lang="de-DE" b="1" dirty="0"/>
              <a:t>Schritt 4 – Zentrale These</a:t>
            </a:r>
          </a:p>
          <a:p>
            <a:r>
              <a:rPr lang="de-DE" b="0" dirty="0"/>
              <a:t>Damit steht die zentrale These dieser Arbeit: Beide Eigenschaften sind trennbar und erfordern eine unabhängige Verifikation. Ein Safety-Nachweis ersetzt keinen Security-Nachweis, und umgekehrt. Erst wenn beide Domänen mit eigenen Anforderungen, eigenen Messpunkten und eigenen Kriterien geprüft werden, entsteht eine belastbare Aussage über ein Gerät an der Grenze von IT und OT.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78792BF-F5A0-E407-D8B9-221E1615DDC3}"/>
              </a:ext>
            </a:extLst>
          </p:cNvPr>
          <p:cNvSpPr>
            <a:spLocks noGrp="1"/>
          </p:cNvSpPr>
          <p:nvPr>
            <p:ph type="ctrTitle"/>
          </p:nvPr>
        </p:nvSpPr>
        <p:spPr>
          <a:xfrm>
            <a:off x="1524000" y="1122363"/>
            <a:ext cx="9144000" cy="2387600"/>
          </a:xfrm>
        </p:spPr>
        <p:txBody>
          <a:bodyPr anchor="b"/>
          <a:lstStyle>
            <a:lvl1pPr algn="ctr">
              <a:defRPr sz="6000"/>
            </a:lvl1pPr>
          </a:lstStyle>
          <a:p>
            <a:r>
              <a:rPr lang="de-DE"/>
              <a:t>Mastertitelformat bearbeiten</a:t>
            </a:r>
          </a:p>
        </p:txBody>
      </p:sp>
      <p:sp>
        <p:nvSpPr>
          <p:cNvPr id="3" name="Untertitel 2">
            <a:extLst>
              <a:ext uri="{FF2B5EF4-FFF2-40B4-BE49-F238E27FC236}">
                <a16:creationId xmlns:a16="http://schemas.microsoft.com/office/drawing/2014/main" id="{CC4BBDBA-93F4-71EF-A6BF-8A59CC9A680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p>
        </p:txBody>
      </p:sp>
      <p:sp>
        <p:nvSpPr>
          <p:cNvPr id="4" name="Datumsplatzhalter 3">
            <a:extLst>
              <a:ext uri="{FF2B5EF4-FFF2-40B4-BE49-F238E27FC236}">
                <a16:creationId xmlns:a16="http://schemas.microsoft.com/office/drawing/2014/main" id="{09411B09-F8BA-50E5-F8EE-6A3E3D3539B6}"/>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5" name="Fußzeilenplatzhalter 4">
            <a:extLst>
              <a:ext uri="{FF2B5EF4-FFF2-40B4-BE49-F238E27FC236}">
                <a16:creationId xmlns:a16="http://schemas.microsoft.com/office/drawing/2014/main" id="{DFED9916-46AC-B56A-07BB-718B6E662B05}"/>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C1021E2D-16BC-D1BD-7189-8FAC91292737}"/>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4718332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B8BA78-08F7-EE56-5A2E-9E927942F230}"/>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F160CF49-8AC3-F658-D438-D9F4B8D4B5E5}"/>
              </a:ext>
            </a:extLst>
          </p:cNvPr>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421C4B1F-8604-96ED-F450-A26345692A94}"/>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5" name="Fußzeilenplatzhalter 4">
            <a:extLst>
              <a:ext uri="{FF2B5EF4-FFF2-40B4-BE49-F238E27FC236}">
                <a16:creationId xmlns:a16="http://schemas.microsoft.com/office/drawing/2014/main" id="{9CA3EE29-DAE0-F9A1-6743-9ED46417372D}"/>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17D6C7EC-418E-9B13-3084-3519CC5ACE28}"/>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22912023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1878CE-3742-B538-4033-4F22E4E5D85D}"/>
              </a:ext>
            </a:extLst>
          </p:cNvPr>
          <p:cNvSpPr>
            <a:spLocks noGrp="1"/>
          </p:cNvSpPr>
          <p:nvPr>
            <p:ph type="title"/>
          </p:nvPr>
        </p:nvSpPr>
        <p:spPr>
          <a:xfrm>
            <a:off x="831850" y="1709738"/>
            <a:ext cx="10515600" cy="2852737"/>
          </a:xfrm>
        </p:spPr>
        <p:txBody>
          <a:bodyPr anchor="b"/>
          <a:lstStyle>
            <a:lvl1pPr>
              <a:defRPr sz="6000"/>
            </a:lvl1pPr>
          </a:lstStyle>
          <a:p>
            <a:r>
              <a:rPr lang="de-DE"/>
              <a:t>Mastertitelformat bearbeiten</a:t>
            </a:r>
          </a:p>
        </p:txBody>
      </p:sp>
      <p:sp>
        <p:nvSpPr>
          <p:cNvPr id="3" name="Textplatzhalter 2">
            <a:extLst>
              <a:ext uri="{FF2B5EF4-FFF2-40B4-BE49-F238E27FC236}">
                <a16:creationId xmlns:a16="http://schemas.microsoft.com/office/drawing/2014/main" id="{71539CF2-6AA5-8783-22BA-B496BEAAB26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de-DE"/>
              <a:t>Mastertextformat bearbeiten</a:t>
            </a:r>
          </a:p>
        </p:txBody>
      </p:sp>
      <p:sp>
        <p:nvSpPr>
          <p:cNvPr id="4" name="Datumsplatzhalter 3">
            <a:extLst>
              <a:ext uri="{FF2B5EF4-FFF2-40B4-BE49-F238E27FC236}">
                <a16:creationId xmlns:a16="http://schemas.microsoft.com/office/drawing/2014/main" id="{D5850781-1D0F-B98A-3979-F4F34EC6AE2D}"/>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5" name="Fußzeilenplatzhalter 4">
            <a:extLst>
              <a:ext uri="{FF2B5EF4-FFF2-40B4-BE49-F238E27FC236}">
                <a16:creationId xmlns:a16="http://schemas.microsoft.com/office/drawing/2014/main" id="{1D39FD8C-63DA-BE5F-2FA3-E40A206713D4}"/>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D8A41CC-89E9-953D-C979-243E97A022B6}"/>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25158902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17B30F-1ECB-A520-6307-0116A7CEB4E5}"/>
              </a:ext>
            </a:extLst>
          </p:cNvPr>
          <p:cNvSpPr>
            <a:spLocks noGrp="1"/>
          </p:cNvSpPr>
          <p:nvPr>
            <p:ph type="title"/>
          </p:nvPr>
        </p:nvSpPr>
        <p:spPr/>
        <p:txBody>
          <a:bodyPr/>
          <a:lstStyle/>
          <a:p>
            <a:r>
              <a:rPr lang="de-DE"/>
              <a:t>Mastertitelformat bearbeiten</a:t>
            </a:r>
          </a:p>
        </p:txBody>
      </p:sp>
      <p:sp>
        <p:nvSpPr>
          <p:cNvPr id="3" name="Inhaltsplatzhalter 2">
            <a:extLst>
              <a:ext uri="{FF2B5EF4-FFF2-40B4-BE49-F238E27FC236}">
                <a16:creationId xmlns:a16="http://schemas.microsoft.com/office/drawing/2014/main" id="{3E0C7E62-6DD2-5DEB-F2AA-ABB2608C64DD}"/>
              </a:ext>
            </a:extLst>
          </p:cNvPr>
          <p:cNvSpPr>
            <a:spLocks noGrp="1"/>
          </p:cNvSpPr>
          <p:nvPr>
            <p:ph sz="half" idx="1"/>
          </p:nvPr>
        </p:nvSpPr>
        <p:spPr>
          <a:xfrm>
            <a:off x="838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a:extLst>
              <a:ext uri="{FF2B5EF4-FFF2-40B4-BE49-F238E27FC236}">
                <a16:creationId xmlns:a16="http://schemas.microsoft.com/office/drawing/2014/main" id="{BE45CEF4-E3A1-E36A-937A-C18F9DAC6F0E}"/>
              </a:ext>
            </a:extLst>
          </p:cNvPr>
          <p:cNvSpPr>
            <a:spLocks noGrp="1"/>
          </p:cNvSpPr>
          <p:nvPr>
            <p:ph sz="half" idx="2"/>
          </p:nvPr>
        </p:nvSpPr>
        <p:spPr>
          <a:xfrm>
            <a:off x="6172200" y="1825625"/>
            <a:ext cx="518160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a:extLst>
              <a:ext uri="{FF2B5EF4-FFF2-40B4-BE49-F238E27FC236}">
                <a16:creationId xmlns:a16="http://schemas.microsoft.com/office/drawing/2014/main" id="{969B75A8-7283-EE69-499B-AD2C663B1A64}"/>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6" name="Fußzeilenplatzhalter 5">
            <a:extLst>
              <a:ext uri="{FF2B5EF4-FFF2-40B4-BE49-F238E27FC236}">
                <a16:creationId xmlns:a16="http://schemas.microsoft.com/office/drawing/2014/main" id="{8A3128C8-94EA-C32E-85E2-217957D8C232}"/>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7272F4D1-F764-0675-AF5A-711E36525673}"/>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31255983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F087595-CD2A-FD0B-FAB0-289066D8B665}"/>
              </a:ext>
            </a:extLst>
          </p:cNvPr>
          <p:cNvSpPr>
            <a:spLocks noGrp="1"/>
          </p:cNvSpPr>
          <p:nvPr>
            <p:ph type="title"/>
          </p:nvPr>
        </p:nvSpPr>
        <p:spPr>
          <a:xfrm>
            <a:off x="839788" y="365125"/>
            <a:ext cx="10515600" cy="1325563"/>
          </a:xfrm>
        </p:spPr>
        <p:txBody>
          <a:bodyPr/>
          <a:lstStyle/>
          <a:p>
            <a:r>
              <a:rPr lang="de-DE"/>
              <a:t>Mastertitelformat bearbeiten</a:t>
            </a:r>
          </a:p>
        </p:txBody>
      </p:sp>
      <p:sp>
        <p:nvSpPr>
          <p:cNvPr id="3" name="Textplatzhalter 2">
            <a:extLst>
              <a:ext uri="{FF2B5EF4-FFF2-40B4-BE49-F238E27FC236}">
                <a16:creationId xmlns:a16="http://schemas.microsoft.com/office/drawing/2014/main" id="{2EBC1FDC-79EC-66FF-5BEE-28F89DAC5DB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Inhaltsplatzhalter 3">
            <a:extLst>
              <a:ext uri="{FF2B5EF4-FFF2-40B4-BE49-F238E27FC236}">
                <a16:creationId xmlns:a16="http://schemas.microsoft.com/office/drawing/2014/main" id="{42A846A8-AF3A-6857-C859-C0607590251F}"/>
              </a:ext>
            </a:extLst>
          </p:cNvPr>
          <p:cNvSpPr>
            <a:spLocks noGrp="1"/>
          </p:cNvSpPr>
          <p:nvPr>
            <p:ph sz="half" idx="2"/>
          </p:nvPr>
        </p:nvSpPr>
        <p:spPr>
          <a:xfrm>
            <a:off x="839788" y="2505075"/>
            <a:ext cx="5157787"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a:extLst>
              <a:ext uri="{FF2B5EF4-FFF2-40B4-BE49-F238E27FC236}">
                <a16:creationId xmlns:a16="http://schemas.microsoft.com/office/drawing/2014/main" id="{1AF8BC29-1180-14EA-9130-3C23D440A5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Inhaltsplatzhalter 5">
            <a:extLst>
              <a:ext uri="{FF2B5EF4-FFF2-40B4-BE49-F238E27FC236}">
                <a16:creationId xmlns:a16="http://schemas.microsoft.com/office/drawing/2014/main" id="{9BA47CEB-3327-FD9A-42A4-581ADDF67498}"/>
              </a:ext>
            </a:extLst>
          </p:cNvPr>
          <p:cNvSpPr>
            <a:spLocks noGrp="1"/>
          </p:cNvSpPr>
          <p:nvPr>
            <p:ph sz="quarter" idx="4"/>
          </p:nvPr>
        </p:nvSpPr>
        <p:spPr>
          <a:xfrm>
            <a:off x="6172200" y="2505075"/>
            <a:ext cx="5183188"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a:extLst>
              <a:ext uri="{FF2B5EF4-FFF2-40B4-BE49-F238E27FC236}">
                <a16:creationId xmlns:a16="http://schemas.microsoft.com/office/drawing/2014/main" id="{FE8393C5-B01B-7540-A155-999FE9106275}"/>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8" name="Fußzeilenplatzhalter 7">
            <a:extLst>
              <a:ext uri="{FF2B5EF4-FFF2-40B4-BE49-F238E27FC236}">
                <a16:creationId xmlns:a16="http://schemas.microsoft.com/office/drawing/2014/main" id="{35DD9956-B979-CAEA-6B8A-8F1D67220FC8}"/>
              </a:ext>
            </a:extLst>
          </p:cNvPr>
          <p:cNvSpPr>
            <a:spLocks noGrp="1"/>
          </p:cNvSpPr>
          <p:nvPr>
            <p:ph type="ftr" sz="quarter" idx="11"/>
          </p:nvPr>
        </p:nvSpPr>
        <p:spPr/>
        <p:txBody>
          <a:bodyPr/>
          <a:lstStyle/>
          <a:p>
            <a:endParaRPr lang="de-DE"/>
          </a:p>
        </p:txBody>
      </p:sp>
      <p:sp>
        <p:nvSpPr>
          <p:cNvPr id="9" name="Foliennummernplatzhalter 8">
            <a:extLst>
              <a:ext uri="{FF2B5EF4-FFF2-40B4-BE49-F238E27FC236}">
                <a16:creationId xmlns:a16="http://schemas.microsoft.com/office/drawing/2014/main" id="{856390CD-27DF-07C1-BE06-4C0189A4AF2D}"/>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602815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1B8DADF-9BE2-619E-60FA-F9156365A226}"/>
              </a:ext>
            </a:extLst>
          </p:cNvPr>
          <p:cNvSpPr>
            <a:spLocks noGrp="1"/>
          </p:cNvSpPr>
          <p:nvPr>
            <p:ph type="title"/>
          </p:nvPr>
        </p:nvSpPr>
        <p:spPr/>
        <p:txBody>
          <a:bodyPr/>
          <a:lstStyle/>
          <a:p>
            <a:r>
              <a:rPr lang="de-DE"/>
              <a:t>Mastertitelformat bearbeiten</a:t>
            </a:r>
          </a:p>
        </p:txBody>
      </p:sp>
      <p:sp>
        <p:nvSpPr>
          <p:cNvPr id="3" name="Datumsplatzhalter 2">
            <a:extLst>
              <a:ext uri="{FF2B5EF4-FFF2-40B4-BE49-F238E27FC236}">
                <a16:creationId xmlns:a16="http://schemas.microsoft.com/office/drawing/2014/main" id="{C80257F6-8848-69BA-F4A7-16AC4859B627}"/>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4" name="Fußzeilenplatzhalter 3">
            <a:extLst>
              <a:ext uri="{FF2B5EF4-FFF2-40B4-BE49-F238E27FC236}">
                <a16:creationId xmlns:a16="http://schemas.microsoft.com/office/drawing/2014/main" id="{F939FD95-1168-FFEC-AA6D-3C017D54D5EB}"/>
              </a:ext>
            </a:extLst>
          </p:cNvPr>
          <p:cNvSpPr>
            <a:spLocks noGrp="1"/>
          </p:cNvSpPr>
          <p:nvPr>
            <p:ph type="ftr" sz="quarter" idx="11"/>
          </p:nvPr>
        </p:nvSpPr>
        <p:spPr/>
        <p:txBody>
          <a:bodyPr/>
          <a:lstStyle/>
          <a:p>
            <a:endParaRPr lang="de-DE"/>
          </a:p>
        </p:txBody>
      </p:sp>
      <p:sp>
        <p:nvSpPr>
          <p:cNvPr id="5" name="Foliennummernplatzhalter 4">
            <a:extLst>
              <a:ext uri="{FF2B5EF4-FFF2-40B4-BE49-F238E27FC236}">
                <a16:creationId xmlns:a16="http://schemas.microsoft.com/office/drawing/2014/main" id="{D69C7BC4-81AD-EF57-759F-71FF554227A5}"/>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14402471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a:extLst>
              <a:ext uri="{FF2B5EF4-FFF2-40B4-BE49-F238E27FC236}">
                <a16:creationId xmlns:a16="http://schemas.microsoft.com/office/drawing/2014/main" id="{9BD9D560-3CB2-D4B3-FFAD-DE59A715CFDD}"/>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3" name="Fußzeilenplatzhalter 2">
            <a:extLst>
              <a:ext uri="{FF2B5EF4-FFF2-40B4-BE49-F238E27FC236}">
                <a16:creationId xmlns:a16="http://schemas.microsoft.com/office/drawing/2014/main" id="{04636D48-9128-395E-3093-752F18B38F83}"/>
              </a:ext>
            </a:extLst>
          </p:cNvPr>
          <p:cNvSpPr>
            <a:spLocks noGrp="1"/>
          </p:cNvSpPr>
          <p:nvPr>
            <p:ph type="ftr" sz="quarter" idx="11"/>
          </p:nvPr>
        </p:nvSpPr>
        <p:spPr/>
        <p:txBody>
          <a:bodyPr/>
          <a:lstStyle/>
          <a:p>
            <a:endParaRPr lang="de-DE"/>
          </a:p>
        </p:txBody>
      </p:sp>
      <p:sp>
        <p:nvSpPr>
          <p:cNvPr id="4" name="Foliennummernplatzhalter 3">
            <a:extLst>
              <a:ext uri="{FF2B5EF4-FFF2-40B4-BE49-F238E27FC236}">
                <a16:creationId xmlns:a16="http://schemas.microsoft.com/office/drawing/2014/main" id="{D3D6B0A2-61D7-D8FA-D29C-19CD2BA9853D}"/>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254778980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6C0F8E-F93F-652F-AD27-6B3A465F8AA6}"/>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Inhaltsplatzhalter 2">
            <a:extLst>
              <a:ext uri="{FF2B5EF4-FFF2-40B4-BE49-F238E27FC236}">
                <a16:creationId xmlns:a16="http://schemas.microsoft.com/office/drawing/2014/main" id="{4F4D9965-8375-2965-73F3-08A3410F5B9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a:extLst>
              <a:ext uri="{FF2B5EF4-FFF2-40B4-BE49-F238E27FC236}">
                <a16:creationId xmlns:a16="http://schemas.microsoft.com/office/drawing/2014/main" id="{00C8FFEC-D4E6-5FAB-C9D7-ED4B4B774B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4662A6CA-8DA6-F409-FFF6-DA6A1ABDDE23}"/>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6" name="Fußzeilenplatzhalter 5">
            <a:extLst>
              <a:ext uri="{FF2B5EF4-FFF2-40B4-BE49-F238E27FC236}">
                <a16:creationId xmlns:a16="http://schemas.microsoft.com/office/drawing/2014/main" id="{E3B8ADCE-C95B-B426-2B41-A36AC7E6AB5A}"/>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9AC65816-F552-FCD6-1F5E-163D9F3AC11D}"/>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427664589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3C4DC3-AA4B-6143-BAFA-EA03029ED427}"/>
              </a:ext>
            </a:extLst>
          </p:cNvPr>
          <p:cNvSpPr>
            <a:spLocks noGrp="1"/>
          </p:cNvSpPr>
          <p:nvPr>
            <p:ph type="title"/>
          </p:nvPr>
        </p:nvSpPr>
        <p:spPr>
          <a:xfrm>
            <a:off x="839788" y="457200"/>
            <a:ext cx="3932237" cy="1600200"/>
          </a:xfrm>
        </p:spPr>
        <p:txBody>
          <a:bodyPr anchor="b"/>
          <a:lstStyle>
            <a:lvl1pPr>
              <a:defRPr sz="3200"/>
            </a:lvl1pPr>
          </a:lstStyle>
          <a:p>
            <a:r>
              <a:rPr lang="de-DE"/>
              <a:t>Mastertitelformat bearbeiten</a:t>
            </a:r>
          </a:p>
        </p:txBody>
      </p:sp>
      <p:sp>
        <p:nvSpPr>
          <p:cNvPr id="3" name="Bildplatzhalter 2">
            <a:extLst>
              <a:ext uri="{FF2B5EF4-FFF2-40B4-BE49-F238E27FC236}">
                <a16:creationId xmlns:a16="http://schemas.microsoft.com/office/drawing/2014/main" id="{EB48D8E7-18B8-B41D-F16C-679CBF752D4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a:extLst>
              <a:ext uri="{FF2B5EF4-FFF2-40B4-BE49-F238E27FC236}">
                <a16:creationId xmlns:a16="http://schemas.microsoft.com/office/drawing/2014/main" id="{CE74D7F5-DAFD-5BFF-7F6E-4D239F2B8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umsplatzhalter 4">
            <a:extLst>
              <a:ext uri="{FF2B5EF4-FFF2-40B4-BE49-F238E27FC236}">
                <a16:creationId xmlns:a16="http://schemas.microsoft.com/office/drawing/2014/main" id="{DE10A46C-1BE8-BAA2-61C5-B739ABD69EB8}"/>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6" name="Fußzeilenplatzhalter 5">
            <a:extLst>
              <a:ext uri="{FF2B5EF4-FFF2-40B4-BE49-F238E27FC236}">
                <a16:creationId xmlns:a16="http://schemas.microsoft.com/office/drawing/2014/main" id="{67F23AAE-10DA-155B-69FA-4EF0AAC03995}"/>
              </a:ext>
            </a:extLst>
          </p:cNvPr>
          <p:cNvSpPr>
            <a:spLocks noGrp="1"/>
          </p:cNvSpPr>
          <p:nvPr>
            <p:ph type="ftr" sz="quarter" idx="11"/>
          </p:nvPr>
        </p:nvSpPr>
        <p:spPr/>
        <p:txBody>
          <a:bodyPr/>
          <a:lstStyle/>
          <a:p>
            <a:endParaRPr lang="de-DE"/>
          </a:p>
        </p:txBody>
      </p:sp>
      <p:sp>
        <p:nvSpPr>
          <p:cNvPr id="7" name="Foliennummernplatzhalter 6">
            <a:extLst>
              <a:ext uri="{FF2B5EF4-FFF2-40B4-BE49-F238E27FC236}">
                <a16:creationId xmlns:a16="http://schemas.microsoft.com/office/drawing/2014/main" id="{F7583B60-04AD-10E2-770F-DC6C16B9A718}"/>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3735897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1B5C4EB-DDDD-CDCC-45C9-93580CFDF1ED}"/>
              </a:ext>
            </a:extLst>
          </p:cNvPr>
          <p:cNvSpPr>
            <a:spLocks noGrp="1"/>
          </p:cNvSpPr>
          <p:nvPr>
            <p:ph type="title"/>
          </p:nvPr>
        </p:nvSpPr>
        <p:spPr/>
        <p:txBody>
          <a:bodyPr/>
          <a:lstStyle/>
          <a:p>
            <a:r>
              <a:rPr lang="de-DE"/>
              <a:t>Mastertitelformat bearbeiten</a:t>
            </a:r>
          </a:p>
        </p:txBody>
      </p:sp>
      <p:sp>
        <p:nvSpPr>
          <p:cNvPr id="3" name="Vertikaler Textplatzhalter 2">
            <a:extLst>
              <a:ext uri="{FF2B5EF4-FFF2-40B4-BE49-F238E27FC236}">
                <a16:creationId xmlns:a16="http://schemas.microsoft.com/office/drawing/2014/main" id="{3E565916-B909-6A63-B7C2-195F779E7271}"/>
              </a:ext>
            </a:extLst>
          </p:cNvPr>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6F610772-85B6-EF1E-5057-054C8F77D0C9}"/>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5" name="Fußzeilenplatzhalter 4">
            <a:extLst>
              <a:ext uri="{FF2B5EF4-FFF2-40B4-BE49-F238E27FC236}">
                <a16:creationId xmlns:a16="http://schemas.microsoft.com/office/drawing/2014/main" id="{2E3F499C-AB8A-72CA-91B5-4C4574236899}"/>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E8F68CE2-8026-4555-CB43-CDE4AD476E98}"/>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3850359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a:extLst>
              <a:ext uri="{FF2B5EF4-FFF2-40B4-BE49-F238E27FC236}">
                <a16:creationId xmlns:a16="http://schemas.microsoft.com/office/drawing/2014/main" id="{48A4D5DC-62E7-A537-D767-24AB1578F78F}"/>
              </a:ext>
            </a:extLst>
          </p:cNvPr>
          <p:cNvSpPr>
            <a:spLocks noGrp="1"/>
          </p:cNvSpPr>
          <p:nvPr>
            <p:ph type="title" orient="vert"/>
          </p:nvPr>
        </p:nvSpPr>
        <p:spPr>
          <a:xfrm>
            <a:off x="8724900" y="365125"/>
            <a:ext cx="2628900" cy="5811838"/>
          </a:xfrm>
        </p:spPr>
        <p:txBody>
          <a:bodyPr vert="eaVert"/>
          <a:lstStyle/>
          <a:p>
            <a:r>
              <a:rPr lang="de-DE"/>
              <a:t>Mastertitelformat bearbeiten</a:t>
            </a:r>
          </a:p>
        </p:txBody>
      </p:sp>
      <p:sp>
        <p:nvSpPr>
          <p:cNvPr id="3" name="Vertikaler Textplatzhalter 2">
            <a:extLst>
              <a:ext uri="{FF2B5EF4-FFF2-40B4-BE49-F238E27FC236}">
                <a16:creationId xmlns:a16="http://schemas.microsoft.com/office/drawing/2014/main" id="{F6358BCD-9574-77FA-9684-AD5483F8F310}"/>
              </a:ext>
            </a:extLst>
          </p:cNvPr>
          <p:cNvSpPr>
            <a:spLocks noGrp="1"/>
          </p:cNvSpPr>
          <p:nvPr>
            <p:ph type="body" orient="vert" idx="1"/>
          </p:nvPr>
        </p:nvSpPr>
        <p:spPr>
          <a:xfrm>
            <a:off x="838200" y="365125"/>
            <a:ext cx="7734300"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F7AA8E08-FC41-CF6F-65A5-32FEA38FB5BE}"/>
              </a:ext>
            </a:extLst>
          </p:cNvPr>
          <p:cNvSpPr>
            <a:spLocks noGrp="1"/>
          </p:cNvSpPr>
          <p:nvPr>
            <p:ph type="dt" sz="half" idx="10"/>
          </p:nvPr>
        </p:nvSpPr>
        <p:spPr/>
        <p:txBody>
          <a:bodyPr/>
          <a:lstStyle/>
          <a:p>
            <a:fld id="{2C764021-5E5D-4C6A-B642-8B2210206A81}" type="datetimeFigureOut">
              <a:rPr lang="de-DE" smtClean="0"/>
              <a:t>20.09.2026</a:t>
            </a:fld>
            <a:endParaRPr lang="de-DE"/>
          </a:p>
        </p:txBody>
      </p:sp>
      <p:sp>
        <p:nvSpPr>
          <p:cNvPr id="5" name="Fußzeilenplatzhalter 4">
            <a:extLst>
              <a:ext uri="{FF2B5EF4-FFF2-40B4-BE49-F238E27FC236}">
                <a16:creationId xmlns:a16="http://schemas.microsoft.com/office/drawing/2014/main" id="{FE4F8957-7586-7E77-B72C-E32EF1AE7761}"/>
              </a:ext>
            </a:extLst>
          </p:cNvPr>
          <p:cNvSpPr>
            <a:spLocks noGrp="1"/>
          </p:cNvSpPr>
          <p:nvPr>
            <p:ph type="ftr" sz="quarter" idx="11"/>
          </p:nvPr>
        </p:nvSpPr>
        <p:spPr/>
        <p:txBody>
          <a:bodyPr/>
          <a:lstStyle/>
          <a:p>
            <a:endParaRPr lang="de-DE"/>
          </a:p>
        </p:txBody>
      </p:sp>
      <p:sp>
        <p:nvSpPr>
          <p:cNvPr id="6" name="Foliennummernplatzhalter 5">
            <a:extLst>
              <a:ext uri="{FF2B5EF4-FFF2-40B4-BE49-F238E27FC236}">
                <a16:creationId xmlns:a16="http://schemas.microsoft.com/office/drawing/2014/main" id="{3178955E-B9F7-E897-D9B5-5C270A7C6FD1}"/>
              </a:ext>
            </a:extLst>
          </p:cNvPr>
          <p:cNvSpPr>
            <a:spLocks noGrp="1"/>
          </p:cNvSpPr>
          <p:nvPr>
            <p:ph type="sldNum" sz="quarter" idx="12"/>
          </p:nvPr>
        </p:nvSpPr>
        <p:spPr/>
        <p:txBody>
          <a:bodyPr/>
          <a:lstStyle/>
          <a:p>
            <a:fld id="{CC81C955-0360-4BE6-B34B-B5FE13B81508}" type="slidenum">
              <a:rPr lang="de-DE" smtClean="0"/>
              <a:t>‹Nr.›</a:t>
            </a:fld>
            <a:endParaRPr lang="de-DE"/>
          </a:p>
        </p:txBody>
      </p:sp>
    </p:spTree>
    <p:extLst>
      <p:ext uri="{BB962C8B-B14F-4D97-AF65-F5344CB8AC3E}">
        <p14:creationId xmlns:p14="http://schemas.microsoft.com/office/powerpoint/2010/main" val="2424121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blank slide white backgroun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0392A-37C6-DD0F-DD6C-A14331B05157}"/>
              </a:ext>
            </a:extLst>
          </p:cNvPr>
          <p:cNvSpPr>
            <a:spLocks noGrp="1"/>
          </p:cNvSpPr>
          <p:nvPr>
            <p:ph type="title" hasCustomPrompt="1"/>
          </p:nvPr>
        </p:nvSpPr>
        <p:spPr>
          <a:xfrm>
            <a:off x="373063" y="650591"/>
            <a:ext cx="11447462" cy="553998"/>
          </a:xfrm>
        </p:spPr>
        <p:txBody>
          <a:bodyPr/>
          <a:lstStyle>
            <a:lvl1pPr>
              <a:defRPr/>
            </a:lvl1pPr>
          </a:lstStyle>
          <a:p>
            <a:r>
              <a:rPr lang="en-US" dirty="0"/>
              <a:t>Please insert Headline</a:t>
            </a:r>
          </a:p>
        </p:txBody>
      </p:sp>
      <p:sp>
        <p:nvSpPr>
          <p:cNvPr id="3" name="Date Placeholder 2">
            <a:extLst>
              <a:ext uri="{FF2B5EF4-FFF2-40B4-BE49-F238E27FC236}">
                <a16:creationId xmlns:a16="http://schemas.microsoft.com/office/drawing/2014/main" id="{EA00E5C6-98BD-5367-F848-6B970A3CBE28}"/>
              </a:ext>
            </a:extLst>
          </p:cNvPr>
          <p:cNvSpPr>
            <a:spLocks noGrp="1"/>
          </p:cNvSpPr>
          <p:nvPr>
            <p:ph type="dt" sz="half" idx="10"/>
          </p:nvPr>
        </p:nvSpPr>
        <p:spPr/>
        <p:txBody>
          <a:bodyPr/>
          <a:lstStyle/>
          <a:p>
            <a:r>
              <a:rPr lang="en-US"/>
              <a:t>01/01/2026</a:t>
            </a:r>
            <a:endParaRPr lang="en-US" dirty="0"/>
          </a:p>
        </p:txBody>
      </p:sp>
      <p:sp>
        <p:nvSpPr>
          <p:cNvPr id="4" name="Footer Placeholder 3">
            <a:extLst>
              <a:ext uri="{FF2B5EF4-FFF2-40B4-BE49-F238E27FC236}">
                <a16:creationId xmlns:a16="http://schemas.microsoft.com/office/drawing/2014/main" id="{0FC11241-65C9-7DE4-8057-BB8A509E3663}"/>
              </a:ext>
            </a:extLst>
          </p:cNvPr>
          <p:cNvSpPr>
            <a:spLocks noGrp="1"/>
          </p:cNvSpPr>
          <p:nvPr>
            <p:ph type="ftr" sz="quarter" idx="11"/>
          </p:nvPr>
        </p:nvSpPr>
        <p:spPr/>
        <p:txBody>
          <a:bodyPr/>
          <a:lstStyle/>
          <a:p>
            <a:r>
              <a:rPr lang="en-US" dirty="0"/>
              <a:t>Please add presentation title</a:t>
            </a:r>
          </a:p>
        </p:txBody>
      </p:sp>
      <p:sp>
        <p:nvSpPr>
          <p:cNvPr id="5" name="Slide Number Placeholder 4">
            <a:extLst>
              <a:ext uri="{FF2B5EF4-FFF2-40B4-BE49-F238E27FC236}">
                <a16:creationId xmlns:a16="http://schemas.microsoft.com/office/drawing/2014/main" id="{142774FD-D22E-1234-308B-57E75DD8D35B}"/>
              </a:ext>
            </a:extLst>
          </p:cNvPr>
          <p:cNvSpPr>
            <a:spLocks noGrp="1"/>
          </p:cNvSpPr>
          <p:nvPr>
            <p:ph type="sldNum" sz="quarter" idx="12"/>
          </p:nvPr>
        </p:nvSpPr>
        <p:spPr/>
        <p:txBody>
          <a:bodyPr/>
          <a:lstStyle/>
          <a:p>
            <a:fld id="{AFC0DE47-E009-49FD-9AD1-65414DD64D1A}" type="slidenum">
              <a:rPr lang="en-US" smtClean="0"/>
              <a:pPr/>
              <a:t>‹Nr.›</a:t>
            </a:fld>
            <a:endParaRPr lang="en-US" dirty="0"/>
          </a:p>
        </p:txBody>
      </p:sp>
      <p:sp>
        <p:nvSpPr>
          <p:cNvPr id="7" name="Text Placeholder 6">
            <a:extLst>
              <a:ext uri="{FF2B5EF4-FFF2-40B4-BE49-F238E27FC236}">
                <a16:creationId xmlns:a16="http://schemas.microsoft.com/office/drawing/2014/main" id="{B01C9971-C72E-5727-14ED-69574DF94752}"/>
              </a:ext>
            </a:extLst>
          </p:cNvPr>
          <p:cNvSpPr>
            <a:spLocks noGrp="1"/>
          </p:cNvSpPr>
          <p:nvPr>
            <p:ph type="body" sz="quarter" idx="13" hasCustomPrompt="1"/>
          </p:nvPr>
        </p:nvSpPr>
        <p:spPr>
          <a:xfrm>
            <a:off x="373063" y="373592"/>
            <a:ext cx="11447462" cy="276999"/>
          </a:xfrm>
        </p:spPr>
        <p:txBody>
          <a:bodyPr lIns="0" tIns="0" rIns="0" bIns="0">
            <a:spAutoFit/>
          </a:bodyPr>
          <a:lstStyle>
            <a:lvl1pPr>
              <a:buNone/>
              <a:defRPr/>
            </a:lvl1pPr>
          </a:lstStyle>
          <a:p>
            <a:pPr lvl="0"/>
            <a:r>
              <a:rPr lang="en-US" dirty="0"/>
              <a:t>Please insert </a:t>
            </a:r>
            <a:r>
              <a:rPr lang="en-US" dirty="0" err="1"/>
              <a:t>Preheadline</a:t>
            </a:r>
            <a:endParaRPr lang="en-US" dirty="0"/>
          </a:p>
        </p:txBody>
      </p:sp>
      <p:sp>
        <p:nvSpPr>
          <p:cNvPr id="9" name="Text Placeholder 8">
            <a:extLst>
              <a:ext uri="{FF2B5EF4-FFF2-40B4-BE49-F238E27FC236}">
                <a16:creationId xmlns:a16="http://schemas.microsoft.com/office/drawing/2014/main" id="{A01D778C-C633-6210-0934-7D5FB43C5B92}"/>
              </a:ext>
            </a:extLst>
          </p:cNvPr>
          <p:cNvSpPr>
            <a:spLocks noGrp="1"/>
          </p:cNvSpPr>
          <p:nvPr>
            <p:ph type="body" sz="quarter" idx="14" hasCustomPrompt="1"/>
          </p:nvPr>
        </p:nvSpPr>
        <p:spPr>
          <a:xfrm>
            <a:off x="952318" y="6278566"/>
            <a:ext cx="3527607" cy="138112"/>
          </a:xfrm>
        </p:spPr>
        <p:txBody>
          <a:bodyPr lIns="0" tIns="0" rIns="0" bIns="0" anchor="b">
            <a:spAutoFit/>
          </a:bodyPr>
          <a:lstStyle>
            <a:lvl1pPr>
              <a:buNone/>
              <a:defRPr sz="900"/>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Font typeface="Arial" panose="020B0604020202020204" pitchFamily="34" charset="0"/>
              <a:buNone/>
              <a:defRPr/>
            </a:lvl9pPr>
          </a:lstStyle>
          <a:p>
            <a:pPr lvl="0"/>
            <a:r>
              <a:rPr lang="en-US" dirty="0"/>
              <a:t>Please add chapter title</a:t>
            </a:r>
          </a:p>
        </p:txBody>
      </p:sp>
    </p:spTree>
    <p:extLst>
      <p:ext uri="{BB962C8B-B14F-4D97-AF65-F5344CB8AC3E}">
        <p14:creationId xmlns:p14="http://schemas.microsoft.com/office/powerpoint/2010/main" val="19364585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elplatzhalter 1">
            <a:extLst>
              <a:ext uri="{FF2B5EF4-FFF2-40B4-BE49-F238E27FC236}">
                <a16:creationId xmlns:a16="http://schemas.microsoft.com/office/drawing/2014/main" id="{24BA42FA-A4AE-5DCE-12F6-3295AD58CC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Mastertitelformat bearbeiten</a:t>
            </a:r>
          </a:p>
        </p:txBody>
      </p:sp>
      <p:sp>
        <p:nvSpPr>
          <p:cNvPr id="3" name="Textplatzhalter 2">
            <a:extLst>
              <a:ext uri="{FF2B5EF4-FFF2-40B4-BE49-F238E27FC236}">
                <a16:creationId xmlns:a16="http://schemas.microsoft.com/office/drawing/2014/main" id="{5FCACB3C-2D8B-4CFC-5AE9-26E8CBBB892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a:extLst>
              <a:ext uri="{FF2B5EF4-FFF2-40B4-BE49-F238E27FC236}">
                <a16:creationId xmlns:a16="http://schemas.microsoft.com/office/drawing/2014/main" id="{A374859F-DFF1-9678-552C-18EA0372B13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C764021-5E5D-4C6A-B642-8B2210206A81}" type="datetimeFigureOut">
              <a:rPr lang="de-DE" smtClean="0"/>
              <a:t>20.09.2026</a:t>
            </a:fld>
            <a:endParaRPr lang="de-DE"/>
          </a:p>
        </p:txBody>
      </p:sp>
      <p:sp>
        <p:nvSpPr>
          <p:cNvPr id="5" name="Fußzeilenplatzhalter 4">
            <a:extLst>
              <a:ext uri="{FF2B5EF4-FFF2-40B4-BE49-F238E27FC236}">
                <a16:creationId xmlns:a16="http://schemas.microsoft.com/office/drawing/2014/main" id="{94F23B14-30A2-820F-3006-14155828EAD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Foliennummernplatzhalter 5">
            <a:extLst>
              <a:ext uri="{FF2B5EF4-FFF2-40B4-BE49-F238E27FC236}">
                <a16:creationId xmlns:a16="http://schemas.microsoft.com/office/drawing/2014/main" id="{0A2AC115-6046-AC23-5CF9-6C73B10C858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C81C955-0360-4BE6-B34B-B5FE13B81508}" type="slidenum">
              <a:rPr lang="de-DE" smtClean="0"/>
              <a:t>‹Nr.›</a:t>
            </a:fld>
            <a:endParaRPr lang="de-DE"/>
          </a:p>
        </p:txBody>
      </p:sp>
    </p:spTree>
    <p:extLst>
      <p:ext uri="{BB962C8B-B14F-4D97-AF65-F5344CB8AC3E}">
        <p14:creationId xmlns:p14="http://schemas.microsoft.com/office/powerpoint/2010/main" val="19354019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normAutofit fontScale="90000"/>
          </a:bodyPr>
          <a:lstStyle/>
          <a:p>
            <a:r>
              <a:rPr lang="de-DE" dirty="0"/>
              <a:t>Agenda</a:t>
            </a:r>
          </a:p>
        </p:txBody>
      </p:sp>
      <p:sp>
        <p:nvSpPr>
          <p:cNvPr id="5" name="Kette"/>
          <p:cNvSpPr/>
          <p:nvPr/>
        </p:nvSpPr>
        <p:spPr>
          <a:xfrm>
            <a:off x="2030950" y="1250000"/>
            <a:ext cx="38100" cy="4560000"/>
          </a:xfrm>
          <a:prstGeom prst="rect">
            <a:avLst/>
          </a:prstGeom>
          <a:solidFill>
            <a:schemeClr val="accent4"/>
          </a:solidFill>
          <a:ln>
            <a:noFill/>
          </a:ln>
        </p:spPr>
        <p:txBody>
          <a:bodyPr/>
          <a:lstStyle/>
          <a:p>
            <a:endParaRPr lang="de-DE"/>
          </a:p>
        </p:txBody>
      </p:sp>
      <p:grpSp>
        <p:nvGrpSpPr>
          <p:cNvPr id="10" name="Segment 1"/>
          <p:cNvGrpSpPr/>
          <p:nvPr/>
        </p:nvGrpSpPr>
        <p:grpSpPr>
          <a:xfrm>
            <a:off x="700000" y="1250000"/>
            <a:ext cx="9300000" cy="800000"/>
            <a:chOff x="700000" y="1250000"/>
            <a:chExt cx="9300000" cy="800000"/>
          </a:xfrm>
        </p:grpSpPr>
        <p:sp>
          <p:nvSpPr>
            <p:cNvPr id="100" name="Nummer"/>
            <p:cNvSpPr/>
            <p:nvPr/>
          </p:nvSpPr>
          <p:spPr>
            <a:xfrm>
              <a:off x="700000" y="125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01</a:t>
              </a:r>
            </a:p>
          </p:txBody>
        </p:sp>
        <p:sp>
          <p:nvSpPr>
            <p:cNvPr id="101" name="Kettenpunkt"/>
            <p:cNvSpPr/>
            <p:nvPr/>
          </p:nvSpPr>
          <p:spPr>
            <a:xfrm>
              <a:off x="1935000" y="1535000"/>
              <a:ext cx="230000" cy="230000"/>
            </a:xfrm>
            <a:prstGeom prst="ellipse">
              <a:avLst/>
            </a:prstGeom>
            <a:solidFill>
              <a:schemeClr val="accent5"/>
            </a:solidFill>
            <a:ln>
              <a:noFill/>
            </a:ln>
          </p:spPr>
          <p:txBody>
            <a:bodyPr/>
            <a:lstStyle/>
            <a:p>
              <a:endParaRPr lang="de-DE"/>
            </a:p>
          </p:txBody>
        </p:sp>
        <p:sp>
          <p:nvSpPr>
            <p:cNvPr id="102" name="Ueberschrift"/>
            <p:cNvSpPr/>
            <p:nvPr/>
          </p:nvSpPr>
          <p:spPr>
            <a:xfrm>
              <a:off x="2400000" y="134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Motivation und Problem</a:t>
              </a:r>
            </a:p>
          </p:txBody>
        </p:sp>
        <p:sp>
          <p:nvSpPr>
            <p:cNvPr id="103" name="Unterzeile"/>
            <p:cNvSpPr/>
            <p:nvPr/>
          </p:nvSpPr>
          <p:spPr>
            <a:xfrm>
              <a:off x="2400000" y="170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Warum Cybersecurity jetzt Pflicht wird</a:t>
              </a:r>
            </a:p>
          </p:txBody>
        </p:sp>
      </p:grpSp>
      <p:grpSp>
        <p:nvGrpSpPr>
          <p:cNvPr id="20" name="Segment 2"/>
          <p:cNvGrpSpPr/>
          <p:nvPr/>
        </p:nvGrpSpPr>
        <p:grpSpPr>
          <a:xfrm>
            <a:off x="700000" y="2190000"/>
            <a:ext cx="9300000" cy="800000"/>
            <a:chOff x="700000" y="2190000"/>
            <a:chExt cx="9300000" cy="800000"/>
          </a:xfrm>
        </p:grpSpPr>
        <p:sp>
          <p:nvSpPr>
            <p:cNvPr id="110" name="Nummer"/>
            <p:cNvSpPr/>
            <p:nvPr/>
          </p:nvSpPr>
          <p:spPr>
            <a:xfrm>
              <a:off x="700000" y="219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02</a:t>
              </a:r>
            </a:p>
          </p:txBody>
        </p:sp>
        <p:sp>
          <p:nvSpPr>
            <p:cNvPr id="111" name="Kettenpunkt"/>
            <p:cNvSpPr/>
            <p:nvPr/>
          </p:nvSpPr>
          <p:spPr>
            <a:xfrm>
              <a:off x="1935000" y="2475000"/>
              <a:ext cx="230000" cy="230000"/>
            </a:xfrm>
            <a:prstGeom prst="ellipse">
              <a:avLst/>
            </a:prstGeom>
            <a:solidFill>
              <a:schemeClr val="accent5"/>
            </a:solidFill>
            <a:ln>
              <a:noFill/>
            </a:ln>
          </p:spPr>
          <p:txBody>
            <a:bodyPr/>
            <a:lstStyle/>
            <a:p>
              <a:endParaRPr lang="de-DE"/>
            </a:p>
          </p:txBody>
        </p:sp>
        <p:sp>
          <p:nvSpPr>
            <p:cNvPr id="112" name="Ueberschrift"/>
            <p:cNvSpPr/>
            <p:nvPr/>
          </p:nvSpPr>
          <p:spPr>
            <a:xfrm>
              <a:off x="2400000" y="228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Grundlagen</a:t>
              </a:r>
            </a:p>
          </p:txBody>
        </p:sp>
        <p:sp>
          <p:nvSpPr>
            <p:cNvPr id="113" name="Unterzeile"/>
            <p:cNvSpPr/>
            <p:nvPr/>
          </p:nvSpPr>
          <p:spPr>
            <a:xfrm>
              <a:off x="2400000" y="264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Gateway, IT/OT-Grenze, normativer Rahmen</a:t>
              </a:r>
            </a:p>
          </p:txBody>
        </p:sp>
      </p:grpSp>
      <p:grpSp>
        <p:nvGrpSpPr>
          <p:cNvPr id="30" name="Segment 3"/>
          <p:cNvGrpSpPr/>
          <p:nvPr/>
        </p:nvGrpSpPr>
        <p:grpSpPr>
          <a:xfrm>
            <a:off x="700000" y="3130000"/>
            <a:ext cx="9300000" cy="800000"/>
            <a:chOff x="700000" y="3130000"/>
            <a:chExt cx="9300000" cy="800000"/>
          </a:xfrm>
        </p:grpSpPr>
        <p:sp>
          <p:nvSpPr>
            <p:cNvPr id="120" name="Nummer"/>
            <p:cNvSpPr/>
            <p:nvPr/>
          </p:nvSpPr>
          <p:spPr>
            <a:xfrm>
              <a:off x="700000" y="313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03</a:t>
              </a:r>
            </a:p>
          </p:txBody>
        </p:sp>
        <p:sp>
          <p:nvSpPr>
            <p:cNvPr id="121" name="Kettenpunkt"/>
            <p:cNvSpPr/>
            <p:nvPr/>
          </p:nvSpPr>
          <p:spPr>
            <a:xfrm>
              <a:off x="1935000" y="3415000"/>
              <a:ext cx="230000" cy="230000"/>
            </a:xfrm>
            <a:prstGeom prst="ellipse">
              <a:avLst/>
            </a:prstGeom>
            <a:solidFill>
              <a:schemeClr val="accent5"/>
            </a:solidFill>
            <a:ln>
              <a:noFill/>
            </a:ln>
          </p:spPr>
          <p:txBody>
            <a:bodyPr/>
            <a:lstStyle/>
            <a:p>
              <a:endParaRPr lang="de-DE"/>
            </a:p>
          </p:txBody>
        </p:sp>
        <p:sp>
          <p:nvSpPr>
            <p:cNvPr id="122" name="Ueberschrift"/>
            <p:cNvSpPr/>
            <p:nvPr/>
          </p:nvSpPr>
          <p:spPr>
            <a:xfrm>
              <a:off x="2400000" y="322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Methodik</a:t>
              </a:r>
            </a:p>
          </p:txBody>
        </p:sp>
        <p:sp>
          <p:nvSpPr>
            <p:cNvPr id="123" name="Unterzeile"/>
            <p:cNvSpPr/>
            <p:nvPr/>
          </p:nvSpPr>
          <p:spPr>
            <a:xfrm>
              <a:off x="2400000" y="358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Ableitungskette, Traceability, Netzwerkvarianten</a:t>
              </a:r>
            </a:p>
          </p:txBody>
        </p:sp>
      </p:grpSp>
      <p:grpSp>
        <p:nvGrpSpPr>
          <p:cNvPr id="40" name="Segment 4"/>
          <p:cNvGrpSpPr/>
          <p:nvPr/>
        </p:nvGrpSpPr>
        <p:grpSpPr>
          <a:xfrm>
            <a:off x="700000" y="4070000"/>
            <a:ext cx="9300000" cy="800000"/>
            <a:chOff x="700000" y="4070000"/>
            <a:chExt cx="9300000" cy="800000"/>
          </a:xfrm>
        </p:grpSpPr>
        <p:sp>
          <p:nvSpPr>
            <p:cNvPr id="130" name="Nummer"/>
            <p:cNvSpPr/>
            <p:nvPr/>
          </p:nvSpPr>
          <p:spPr>
            <a:xfrm>
              <a:off x="700000" y="407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04</a:t>
              </a:r>
            </a:p>
          </p:txBody>
        </p:sp>
        <p:sp>
          <p:nvSpPr>
            <p:cNvPr id="131" name="Kettenpunkt"/>
            <p:cNvSpPr/>
            <p:nvPr/>
          </p:nvSpPr>
          <p:spPr>
            <a:xfrm>
              <a:off x="1935000" y="4355000"/>
              <a:ext cx="230000" cy="230000"/>
            </a:xfrm>
            <a:prstGeom prst="ellipse">
              <a:avLst/>
            </a:prstGeom>
            <a:solidFill>
              <a:schemeClr val="accent5"/>
            </a:solidFill>
            <a:ln>
              <a:noFill/>
            </a:ln>
          </p:spPr>
          <p:txBody>
            <a:bodyPr/>
            <a:lstStyle/>
            <a:p>
              <a:endParaRPr lang="de-DE"/>
            </a:p>
          </p:txBody>
        </p:sp>
        <p:sp>
          <p:nvSpPr>
            <p:cNvPr id="132" name="Ueberschrift"/>
            <p:cNvSpPr/>
            <p:nvPr/>
          </p:nvSpPr>
          <p:spPr>
            <a:xfrm>
              <a:off x="2400000" y="416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Demonstration und Ergebnisse</a:t>
              </a:r>
            </a:p>
          </p:txBody>
        </p:sp>
        <p:sp>
          <p:nvSpPr>
            <p:cNvPr id="133" name="Unterzeile"/>
            <p:cNvSpPr/>
            <p:nvPr/>
          </p:nvSpPr>
          <p:spPr>
            <a:xfrm>
              <a:off x="2400000" y="452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SRIO, Anwendbarkeit, Requirement-Verdicts</a:t>
              </a:r>
            </a:p>
          </p:txBody>
        </p:sp>
      </p:grpSp>
      <p:grpSp>
        <p:nvGrpSpPr>
          <p:cNvPr id="50" name="Segment 5"/>
          <p:cNvGrpSpPr/>
          <p:nvPr/>
        </p:nvGrpSpPr>
        <p:grpSpPr>
          <a:xfrm>
            <a:off x="700000" y="5010000"/>
            <a:ext cx="9300000" cy="800000"/>
            <a:chOff x="700000" y="5010000"/>
            <a:chExt cx="9300000" cy="800000"/>
          </a:xfrm>
        </p:grpSpPr>
        <p:sp>
          <p:nvSpPr>
            <p:cNvPr id="140" name="Nummer"/>
            <p:cNvSpPr/>
            <p:nvPr/>
          </p:nvSpPr>
          <p:spPr>
            <a:xfrm>
              <a:off x="700000" y="5010000"/>
              <a:ext cx="1100000" cy="800000"/>
            </a:xfrm>
            <a:prstGeom prst="rect">
              <a:avLst/>
            </a:prstGeom>
            <a:noFill/>
            <a:ln>
              <a:noFill/>
            </a:ln>
          </p:spPr>
          <p:txBody>
            <a:bodyPr wrap="square" lIns="45720" tIns="18288" rIns="45720" bIns="18288" anchor="ctr">
              <a:noAutofit/>
            </a:bodyPr>
            <a:lstStyle/>
            <a:p>
              <a:pPr algn="r"/>
              <a:r>
                <a:rPr lang="de-DE" sz="2800" b="1" dirty="0">
                  <a:solidFill>
                    <a:schemeClr val="accent5"/>
                  </a:solidFill>
                </a:rPr>
                <a:t>05</a:t>
              </a:r>
            </a:p>
          </p:txBody>
        </p:sp>
        <p:sp>
          <p:nvSpPr>
            <p:cNvPr id="141" name="Kettenpunkt"/>
            <p:cNvSpPr/>
            <p:nvPr/>
          </p:nvSpPr>
          <p:spPr>
            <a:xfrm>
              <a:off x="1935000" y="5295000"/>
              <a:ext cx="230000" cy="230000"/>
            </a:xfrm>
            <a:prstGeom prst="ellipse">
              <a:avLst/>
            </a:prstGeom>
            <a:solidFill>
              <a:schemeClr val="accent5"/>
            </a:solidFill>
            <a:ln>
              <a:noFill/>
            </a:ln>
          </p:spPr>
          <p:txBody>
            <a:bodyPr/>
            <a:lstStyle/>
            <a:p>
              <a:endParaRPr lang="de-DE"/>
            </a:p>
          </p:txBody>
        </p:sp>
        <p:sp>
          <p:nvSpPr>
            <p:cNvPr id="142" name="Ueberschrift"/>
            <p:cNvSpPr/>
            <p:nvPr/>
          </p:nvSpPr>
          <p:spPr>
            <a:xfrm>
              <a:off x="2400000" y="5100000"/>
              <a:ext cx="7600000" cy="380000"/>
            </a:xfrm>
            <a:prstGeom prst="rect">
              <a:avLst/>
            </a:prstGeom>
            <a:noFill/>
            <a:ln>
              <a:noFill/>
            </a:ln>
          </p:spPr>
          <p:txBody>
            <a:bodyPr wrap="square" lIns="45720" tIns="18288" rIns="45720" bIns="18288" anchor="ctr">
              <a:noAutofit/>
            </a:bodyPr>
            <a:lstStyle/>
            <a:p>
              <a:pPr algn="l"/>
              <a:r>
                <a:rPr lang="de-DE" sz="2000" b="1" dirty="0">
                  <a:solidFill>
                    <a:schemeClr val="accent1"/>
                  </a:solidFill>
                </a:rPr>
                <a:t>Fazit und Ausblick</a:t>
              </a:r>
            </a:p>
          </p:txBody>
        </p:sp>
        <p:sp>
          <p:nvSpPr>
            <p:cNvPr id="143" name="Unterzeile"/>
            <p:cNvSpPr/>
            <p:nvPr/>
          </p:nvSpPr>
          <p:spPr>
            <a:xfrm>
              <a:off x="2400000" y="5460000"/>
              <a:ext cx="7600000" cy="320000"/>
            </a:xfrm>
            <a:prstGeom prst="rect">
              <a:avLst/>
            </a:prstGeom>
            <a:noFill/>
            <a:ln>
              <a:noFill/>
            </a:ln>
          </p:spPr>
          <p:txBody>
            <a:bodyPr wrap="square" lIns="45720" tIns="18288" rIns="45720" bIns="18288" anchor="ctr">
              <a:noAutofit/>
            </a:bodyPr>
            <a:lstStyle/>
            <a:p>
              <a:pPr algn="l"/>
              <a:r>
                <a:rPr lang="de-DE" sz="1400" b="0" dirty="0">
                  <a:solidFill>
                    <a:schemeClr val="accent2"/>
                  </a:solidFill>
                </a:rPr>
                <a:t>Kernaussage, Grenzen, nächste Schritte</a:t>
              </a:r>
            </a:p>
          </p:txBody>
        </p:sp>
      </p:gr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01 · MOTIVATION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2006/42/EG → (EU) 2023/1230</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Security wird zur Voraussetzung von Safety.</a:t>
            </a:r>
          </a:p>
        </p:txBody>
      </p:sp>
      <p:sp>
        <p:nvSpPr>
          <p:cNvPr id="10" name="Zeitstrahl"/>
          <p:cNvSpPr/>
          <p:nvPr/>
        </p:nvSpPr>
        <p:spPr>
          <a:xfrm>
            <a:off x="1188720" y="2212848"/>
            <a:ext cx="9144000" cy="27432"/>
          </a:xfrm>
          <a:prstGeom prst="rect">
            <a:avLst/>
          </a:prstGeom>
          <a:solidFill>
            <a:srgbClr val="5B666F"/>
          </a:solidFill>
          <a:ln>
            <a:noFill/>
          </a:ln>
        </p:spPr>
        <p:txBody>
          <a:bodyPr lIns="45720" tIns="27432" rIns="45720" bIns="27432" anchor="ctr">
            <a:normAutofit fontScale="25000" lnSpcReduction="20000"/>
          </a:bodyPr>
          <a:lstStyle/>
          <a:p>
            <a:endParaRPr lang="de-DE"/>
          </a:p>
        </p:txBody>
      </p:sp>
      <p:sp>
        <p:nvSpPr>
          <p:cNvPr id="11" name="Strecke"/>
          <p:cNvSpPr/>
          <p:nvPr/>
        </p:nvSpPr>
        <p:spPr>
          <a:xfrm>
            <a:off x="2743200" y="2194560"/>
            <a:ext cx="6309360" cy="54864"/>
          </a:xfrm>
          <a:prstGeom prst="rect">
            <a:avLst/>
          </a:prstGeom>
          <a:noFill/>
          <a:ln w="15875">
            <a:solidFill>
              <a:srgbClr val="5B666F"/>
            </a:solidFill>
            <a:prstDash val="dash"/>
          </a:ln>
        </p:spPr>
        <p:txBody>
          <a:bodyPr lIns="45720" tIns="27432" rIns="45720" bIns="27432" anchor="ctr">
            <a:normAutofit fontScale="25000" lnSpcReduction="20000"/>
          </a:bodyPr>
          <a:lstStyle/>
          <a:p>
            <a:endParaRPr lang="de-DE"/>
          </a:p>
        </p:txBody>
      </p:sp>
      <p:sp>
        <p:nvSpPr>
          <p:cNvPr id="12" name="Uebergang"/>
          <p:cNvSpPr txBox="1"/>
          <p:nvPr/>
        </p:nvSpPr>
        <p:spPr>
          <a:xfrm>
            <a:off x="2743200" y="1828800"/>
            <a:ext cx="6309360" cy="27432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Übergangsfrist</a:t>
            </a:r>
          </a:p>
        </p:txBody>
      </p:sp>
      <p:sp>
        <p:nvSpPr>
          <p:cNvPr id="13" name="Punkt1"/>
          <p:cNvSpPr/>
          <p:nvPr/>
        </p:nvSpPr>
        <p:spPr>
          <a:xfrm>
            <a:off x="1371600" y="2093976"/>
            <a:ext cx="256032" cy="256032"/>
          </a:xfrm>
          <a:prstGeom prst="ellipse">
            <a:avLst/>
          </a:prstGeom>
          <a:solidFill>
            <a:srgbClr val="5B666F"/>
          </a:solidFill>
          <a:ln>
            <a:noFill/>
          </a:ln>
        </p:spPr>
        <p:txBody>
          <a:bodyPr lIns="45720" tIns="27432" rIns="45720" bIns="27432" anchor="ctr">
            <a:normAutofit fontScale="47500" lnSpcReduction="20000"/>
          </a:bodyPr>
          <a:lstStyle/>
          <a:p>
            <a:endParaRPr lang="de-DE"/>
          </a:p>
        </p:txBody>
      </p:sp>
      <p:sp>
        <p:nvSpPr>
          <p:cNvPr id="14" name="Datum1"/>
          <p:cNvSpPr txBox="1"/>
          <p:nvPr/>
        </p:nvSpPr>
        <p:spPr>
          <a:xfrm>
            <a:off x="1188720" y="2487168"/>
            <a:ext cx="3657600" cy="365760"/>
          </a:xfrm>
          <a:prstGeom prst="rect">
            <a:avLst/>
          </a:prstGeom>
          <a:noFill/>
        </p:spPr>
        <p:txBody>
          <a:bodyPr wrap="square" lIns="0" tIns="0" rIns="0" bIns="0" anchor="t">
            <a:normAutofit/>
          </a:bodyPr>
          <a:lstStyle/>
          <a:p>
            <a:pPr algn="l">
              <a:lnSpc>
                <a:spcPct val="100000"/>
              </a:lnSpc>
              <a:spcBef>
                <a:spcPts val="0"/>
              </a:spcBef>
            </a:pPr>
            <a:r>
              <a:rPr lang="de-DE" sz="1000" dirty="0">
                <a:solidFill>
                  <a:srgbClr val="5B666F"/>
                </a:solidFill>
                <a:latin typeface="+mn-lt"/>
              </a:rPr>
              <a:t>29.06.2023 · Veröffentlichung im Amtsblatt</a:t>
            </a:r>
          </a:p>
        </p:txBody>
      </p:sp>
      <p:sp>
        <p:nvSpPr>
          <p:cNvPr id="15" name="Punkt2"/>
          <p:cNvSpPr/>
          <p:nvPr/>
        </p:nvSpPr>
        <p:spPr>
          <a:xfrm>
            <a:off x="9710928" y="2002536"/>
            <a:ext cx="438912" cy="438912"/>
          </a:xfrm>
          <a:prstGeom prst="ellipse">
            <a:avLst/>
          </a:prstGeom>
          <a:solidFill>
            <a:srgbClr val="FF6E00"/>
          </a:solidFill>
          <a:ln>
            <a:noFill/>
          </a:ln>
        </p:spPr>
        <p:txBody>
          <a:bodyPr lIns="45720" tIns="27432" rIns="45720" bIns="27432" anchor="ctr">
            <a:normAutofit lnSpcReduction="10000"/>
          </a:bodyPr>
          <a:lstStyle/>
          <a:p>
            <a:endParaRPr lang="de-DE"/>
          </a:p>
        </p:txBody>
      </p:sp>
      <p:sp>
        <p:nvSpPr>
          <p:cNvPr id="16" name="Datum2"/>
          <p:cNvSpPr txBox="1"/>
          <p:nvPr/>
        </p:nvSpPr>
        <p:spPr>
          <a:xfrm>
            <a:off x="6675120" y="2578608"/>
            <a:ext cx="3657600" cy="365760"/>
          </a:xfrm>
          <a:prstGeom prst="rect">
            <a:avLst/>
          </a:prstGeom>
          <a:noFill/>
        </p:spPr>
        <p:txBody>
          <a:bodyPr wrap="square" lIns="0" tIns="0" rIns="0" bIns="0" anchor="t">
            <a:normAutofit/>
          </a:bodyPr>
          <a:lstStyle/>
          <a:p>
            <a:pPr algn="r">
              <a:lnSpc>
                <a:spcPct val="100000"/>
              </a:lnSpc>
              <a:spcBef>
                <a:spcPts val="0"/>
              </a:spcBef>
            </a:pPr>
            <a:r>
              <a:rPr lang="de-DE" sz="1100" b="1" dirty="0">
                <a:solidFill>
                  <a:srgbClr val="30343A"/>
                </a:solidFill>
                <a:latin typeface="+mn-lt"/>
              </a:rPr>
              <a:t>20.01.2027 · verbindliche Anwendung</a:t>
            </a:r>
          </a:p>
        </p:txBody>
      </p:sp>
      <p:sp>
        <p:nvSpPr>
          <p:cNvPr id="17" name="KarteLinks"/>
          <p:cNvSpPr/>
          <p:nvPr/>
        </p:nvSpPr>
        <p:spPr>
          <a:xfrm>
            <a:off x="1188720" y="3246120"/>
            <a:ext cx="4206240" cy="2057400"/>
          </a:xfrm>
          <a:prstGeom prst="rect">
            <a:avLst/>
          </a:prstGeom>
          <a:solidFill>
            <a:srgbClr val="F2F4F5"/>
          </a:solidFill>
          <a:ln>
            <a:noFill/>
          </a:ln>
        </p:spPr>
        <p:txBody>
          <a:bodyPr lIns="45720" tIns="27432" rIns="45720" bIns="27432" anchor="ctr">
            <a:normAutofit/>
          </a:bodyPr>
          <a:lstStyle/>
          <a:p>
            <a:endParaRPr lang="de-DE"/>
          </a:p>
        </p:txBody>
      </p:sp>
      <p:sp>
        <p:nvSpPr>
          <p:cNvPr id="18" name="KarteLinksText"/>
          <p:cNvSpPr txBox="1"/>
          <p:nvPr/>
        </p:nvSpPr>
        <p:spPr>
          <a:xfrm>
            <a:off x="1463040" y="3520440"/>
            <a:ext cx="3657600" cy="155448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Maschinenrichtlinie 2006/42/EG</a:t>
            </a:r>
          </a:p>
          <a:p>
            <a:pPr algn="l">
              <a:lnSpc>
                <a:spcPct val="100000"/>
              </a:lnSpc>
              <a:spcBef>
                <a:spcPts val="1000"/>
              </a:spcBef>
            </a:pPr>
            <a:r>
              <a:rPr lang="de-DE" sz="1100" dirty="0">
                <a:solidFill>
                  <a:srgbClr val="5B666F"/>
                </a:solidFill>
                <a:latin typeface="+mn-lt"/>
              </a:rPr>
              <a:t>Richtlinie, national umgesetzt</a:t>
            </a:r>
          </a:p>
          <a:p>
            <a:pPr algn="l">
              <a:lnSpc>
                <a:spcPct val="100000"/>
              </a:lnSpc>
              <a:spcBef>
                <a:spcPts val="600"/>
              </a:spcBef>
            </a:pPr>
            <a:r>
              <a:rPr lang="de-DE" sz="1100" dirty="0">
                <a:solidFill>
                  <a:srgbClr val="5B666F"/>
                </a:solidFill>
                <a:latin typeface="+mn-lt"/>
              </a:rPr>
              <a:t>Cybersecurity nicht verpflichtend</a:t>
            </a:r>
          </a:p>
        </p:txBody>
      </p:sp>
      <p:sp>
        <p:nvSpPr>
          <p:cNvPr id="19" name="Pfeil"/>
          <p:cNvSpPr/>
          <p:nvPr/>
        </p:nvSpPr>
        <p:spPr>
          <a:xfrm>
            <a:off x="5669280" y="4069080"/>
            <a:ext cx="822960" cy="365760"/>
          </a:xfrm>
          <a:prstGeom prst="rightArrow">
            <a:avLst/>
          </a:prstGeom>
          <a:solidFill>
            <a:srgbClr val="FF6E00"/>
          </a:solidFill>
          <a:ln>
            <a:noFill/>
          </a:ln>
        </p:spPr>
        <p:txBody>
          <a:bodyPr lIns="45720" tIns="27432" rIns="45720" bIns="27432" anchor="ctr">
            <a:normAutofit fontScale="55000" lnSpcReduction="20000"/>
          </a:bodyPr>
          <a:lstStyle/>
          <a:p>
            <a:endParaRPr lang="de-DE"/>
          </a:p>
        </p:txBody>
      </p:sp>
      <p:sp>
        <p:nvSpPr>
          <p:cNvPr id="20" name="KarteRechts"/>
          <p:cNvSpPr/>
          <p:nvPr/>
        </p:nvSpPr>
        <p:spPr>
          <a:xfrm>
            <a:off x="6766560" y="3246120"/>
            <a:ext cx="4206240" cy="2057400"/>
          </a:xfrm>
          <a:prstGeom prst="rect">
            <a:avLst/>
          </a:prstGeom>
          <a:solidFill>
            <a:srgbClr val="30343A"/>
          </a:solidFill>
          <a:ln w="19050">
            <a:solidFill>
              <a:srgbClr val="FF6E00"/>
            </a:solidFill>
          </a:ln>
        </p:spPr>
        <p:txBody>
          <a:bodyPr lIns="45720" tIns="27432" rIns="45720" bIns="27432" anchor="ctr">
            <a:normAutofit/>
          </a:bodyPr>
          <a:lstStyle/>
          <a:p>
            <a:endParaRPr lang="de-DE"/>
          </a:p>
        </p:txBody>
      </p:sp>
      <p:sp>
        <p:nvSpPr>
          <p:cNvPr id="21" name="KarteRechtsText"/>
          <p:cNvSpPr txBox="1"/>
          <p:nvPr/>
        </p:nvSpPr>
        <p:spPr>
          <a:xfrm>
            <a:off x="7040880" y="3520440"/>
            <a:ext cx="3657600" cy="164592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FFFFFF"/>
                </a:solidFill>
                <a:latin typeface="+mn-lt"/>
              </a:rPr>
              <a:t>Verordnung (EU) 2023/1230</a:t>
            </a:r>
          </a:p>
          <a:p>
            <a:pPr algn="l">
              <a:lnSpc>
                <a:spcPct val="100000"/>
              </a:lnSpc>
              <a:spcBef>
                <a:spcPts val="1000"/>
              </a:spcBef>
            </a:pPr>
            <a:r>
              <a:rPr lang="de-DE" sz="1100" dirty="0">
                <a:solidFill>
                  <a:srgbClr val="FFFFFF"/>
                </a:solidFill>
                <a:latin typeface="+mn-lt"/>
              </a:rPr>
              <a:t>unmittelbar gültig</a:t>
            </a:r>
          </a:p>
          <a:p>
            <a:pPr algn="l">
              <a:lnSpc>
                <a:spcPct val="100000"/>
              </a:lnSpc>
              <a:spcBef>
                <a:spcPts val="600"/>
              </a:spcBef>
            </a:pPr>
            <a:r>
              <a:rPr lang="de-DE" sz="1100" dirty="0">
                <a:solidFill>
                  <a:srgbClr val="FFFFFF"/>
                </a:solidFill>
                <a:latin typeface="+mn-lt"/>
              </a:rPr>
              <a:t>Schutz vor Korruption in der Konformitätsbewertung</a:t>
            </a:r>
          </a:p>
          <a:p>
            <a:pPr algn="l">
              <a:lnSpc>
                <a:spcPct val="100000"/>
              </a:lnSpc>
              <a:spcBef>
                <a:spcPts val="600"/>
              </a:spcBef>
            </a:pPr>
            <a:r>
              <a:rPr lang="de-DE" sz="1100" b="1" dirty="0">
                <a:solidFill>
                  <a:srgbClr val="FF6E00"/>
                </a:solidFill>
                <a:latin typeface="+mn-lt"/>
              </a:rPr>
              <a:t>Anhang III · 1.1.9 · 1.2.1</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click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click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e-DE" dirty="0"/>
              <a:t>Cybersecurity wird zur Pflicht</a:t>
            </a:r>
          </a:p>
        </p:txBody>
      </p:sp>
      <p:grpSp>
        <p:nvGrpSpPr>
          <p:cNvPr id="10" name="Zeitstrahl"/>
          <p:cNvGrpSpPr/>
          <p:nvPr/>
        </p:nvGrpSpPr>
        <p:grpSpPr>
          <a:xfrm>
            <a:off x="373063" y="1300000"/>
            <a:ext cx="11445874" cy="1000000"/>
            <a:chOff x="373063" y="1300000"/>
            <a:chExt cx="11445874" cy="1000000"/>
          </a:xfrm>
        </p:grpSpPr>
        <p:sp>
          <p:nvSpPr>
            <p:cNvPr id="11" name="Zeitstrahl Linie"/>
            <p:cNvSpPr/>
            <p:nvPr/>
          </p:nvSpPr>
          <p:spPr>
            <a:xfrm>
              <a:off x="2073063" y="1880000"/>
              <a:ext cx="8045874" cy="0"/>
            </a:xfrm>
            <a:prstGeom prst="line">
              <a:avLst/>
            </a:prstGeom>
            <a:ln w="28575" cap="rnd">
              <a:solidFill>
                <a:schemeClr val="accent3"/>
              </a:solidFill>
              <a:prstDash val="dash"/>
            </a:ln>
          </p:spPr>
          <p:txBody>
            <a:bodyPr/>
            <a:lstStyle/>
            <a:p>
              <a:endParaRPr lang="de-DE"/>
            </a:p>
          </p:txBody>
        </p:sp>
        <p:sp>
          <p:nvSpPr>
            <p:cNvPr id="12" name="Marke 1"/>
            <p:cNvSpPr/>
            <p:nvPr/>
          </p:nvSpPr>
          <p:spPr>
            <a:xfrm>
              <a:off x="1983063" y="1790000"/>
              <a:ext cx="180000" cy="180000"/>
            </a:xfrm>
            <a:prstGeom prst="ellipse">
              <a:avLst/>
            </a:prstGeom>
            <a:solidFill>
              <a:schemeClr val="accent3"/>
            </a:solidFill>
            <a:ln>
              <a:noFill/>
            </a:ln>
          </p:spPr>
          <p:txBody>
            <a:bodyPr/>
            <a:lstStyle/>
            <a:p>
              <a:endParaRPr lang="de-DE"/>
            </a:p>
          </p:txBody>
        </p:sp>
        <p:sp>
          <p:nvSpPr>
            <p:cNvPr id="13" name="Marke 2"/>
            <p:cNvSpPr/>
            <p:nvPr/>
          </p:nvSpPr>
          <p:spPr>
            <a:xfrm>
              <a:off x="6006000" y="1790000"/>
              <a:ext cx="180000" cy="180000"/>
            </a:xfrm>
            <a:prstGeom prst="ellipse">
              <a:avLst/>
            </a:prstGeom>
            <a:solidFill>
              <a:schemeClr val="accent3"/>
            </a:solidFill>
            <a:ln>
              <a:noFill/>
            </a:ln>
          </p:spPr>
          <p:txBody>
            <a:bodyPr/>
            <a:lstStyle/>
            <a:p>
              <a:endParaRPr lang="de-DE"/>
            </a:p>
          </p:txBody>
        </p:sp>
        <p:sp>
          <p:nvSpPr>
            <p:cNvPr id="14" name="Marke 3"/>
            <p:cNvSpPr/>
            <p:nvPr/>
          </p:nvSpPr>
          <p:spPr>
            <a:xfrm>
              <a:off x="9928937" y="1690000"/>
              <a:ext cx="380000" cy="380000"/>
            </a:xfrm>
            <a:prstGeom prst="ellipse">
              <a:avLst/>
            </a:prstGeom>
            <a:solidFill>
              <a:schemeClr val="accent5"/>
            </a:solidFill>
            <a:ln>
              <a:noFill/>
            </a:ln>
          </p:spPr>
          <p:txBody>
            <a:bodyPr/>
            <a:lstStyle/>
            <a:p>
              <a:endParaRPr lang="de-DE"/>
            </a:p>
          </p:txBody>
        </p:sp>
        <p:sp>
          <p:nvSpPr>
            <p:cNvPr id="15" name="Zeitmarke Text 1"/>
            <p:cNvSpPr txBox="1"/>
            <p:nvPr/>
          </p:nvSpPr>
          <p:spPr>
            <a:xfrm>
              <a:off x="373063" y="1300000"/>
              <a:ext cx="3400000" cy="450000"/>
            </a:xfrm>
            <a:prstGeom prst="rect">
              <a:avLst/>
            </a:prstGeom>
            <a:noFill/>
          </p:spPr>
          <p:txBody>
            <a:bodyPr lIns="0" tIns="0" rIns="0" bIns="0" anchor="b"/>
            <a:lstStyle/>
            <a:p>
              <a:pPr algn="ctr"/>
              <a:r>
                <a:rPr lang="de-DE" sz="1400" b="1" dirty="0">
                  <a:solidFill>
                    <a:schemeClr val="accent1"/>
                  </a:solidFill>
                </a:rPr>
                <a:t>29.06.2023</a:t>
              </a:r>
            </a:p>
            <a:p>
              <a:pPr algn="ctr"/>
              <a:r>
                <a:rPr lang="de-DE" sz="1400" dirty="0">
                  <a:solidFill>
                    <a:schemeClr val="accent2"/>
                  </a:solidFill>
                </a:rPr>
                <a:t>Veröffentlichung im Amtsblatt der EU</a:t>
              </a:r>
            </a:p>
          </p:txBody>
        </p:sp>
        <p:sp>
          <p:nvSpPr>
            <p:cNvPr id="16" name="Zeitmarke Text 2"/>
            <p:cNvSpPr txBox="1"/>
            <p:nvPr/>
          </p:nvSpPr>
          <p:spPr>
            <a:xfrm>
              <a:off x="4396000" y="1300000"/>
              <a:ext cx="3400000" cy="450000"/>
            </a:xfrm>
            <a:prstGeom prst="rect">
              <a:avLst/>
            </a:prstGeom>
            <a:noFill/>
          </p:spPr>
          <p:txBody>
            <a:bodyPr lIns="0" tIns="0" rIns="0" bIns="0" anchor="b"/>
            <a:lstStyle/>
            <a:p>
              <a:pPr algn="ctr"/>
              <a:r>
                <a:rPr lang="de-DE" sz="1400" b="1" dirty="0">
                  <a:solidFill>
                    <a:schemeClr val="accent2"/>
                  </a:solidFill>
                </a:rPr>
                <a:t>Übergangsfrist</a:t>
              </a:r>
            </a:p>
          </p:txBody>
        </p:sp>
        <p:sp>
          <p:nvSpPr>
            <p:cNvPr id="17" name="Zeitmarke Text 3"/>
            <p:cNvSpPr txBox="1"/>
            <p:nvPr/>
          </p:nvSpPr>
          <p:spPr>
            <a:xfrm>
              <a:off x="8418937" y="1300000"/>
              <a:ext cx="3400000" cy="450000"/>
            </a:xfrm>
            <a:prstGeom prst="rect">
              <a:avLst/>
            </a:prstGeom>
            <a:noFill/>
          </p:spPr>
          <p:txBody>
            <a:bodyPr lIns="0" tIns="0" rIns="0" bIns="0" anchor="b"/>
            <a:lstStyle/>
            <a:p>
              <a:pPr algn="ctr"/>
              <a:r>
                <a:rPr lang="de-DE" sz="1400" b="1" dirty="0">
                  <a:solidFill>
                    <a:schemeClr val="accent5"/>
                  </a:solidFill>
                </a:rPr>
                <a:t>20.01.2027</a:t>
              </a:r>
            </a:p>
            <a:p>
              <a:pPr algn="ctr"/>
              <a:r>
                <a:rPr lang="de-DE" sz="1400" b="1" dirty="0">
                  <a:solidFill>
                    <a:schemeClr val="accent5"/>
                  </a:solidFill>
                </a:rPr>
                <a:t>verbindliche Anwendung</a:t>
              </a:r>
            </a:p>
          </p:txBody>
        </p:sp>
        <p:sp>
          <p:nvSpPr>
            <p:cNvPr id="18" name="Unterschrift Marke 3"/>
            <p:cNvSpPr txBox="1"/>
            <p:nvPr/>
          </p:nvSpPr>
          <p:spPr>
            <a:xfrm>
              <a:off x="8418937" y="2080000"/>
              <a:ext cx="3400000" cy="220000"/>
            </a:xfrm>
            <a:prstGeom prst="rect">
              <a:avLst/>
            </a:prstGeom>
            <a:noFill/>
          </p:spPr>
          <p:txBody>
            <a:bodyPr lIns="0" tIns="0" rIns="0" bIns="0" anchor="t"/>
            <a:lstStyle/>
            <a:p>
              <a:pPr algn="ctr"/>
              <a:r>
                <a:rPr lang="de-DE" sz="1400" dirty="0">
                  <a:solidFill>
                    <a:schemeClr val="accent3"/>
                  </a:solidFill>
                </a:rPr>
                <a:t>Ablösung der Maschinenrichtlinie 2006/42/EG</a:t>
              </a:r>
            </a:p>
          </p:txBody>
        </p:sp>
      </p:grpSp>
      <p:sp>
        <p:nvSpPr>
          <p:cNvPr id="20" name="Karte Maschinenrichtlinie"/>
          <p:cNvSpPr/>
          <p:nvPr/>
        </p:nvSpPr>
        <p:spPr>
          <a:xfrm>
            <a:off x="373063" y="2650000"/>
            <a:ext cx="5152937" cy="2150000"/>
          </a:xfrm>
          <a:prstGeom prst="rect">
            <a:avLst/>
          </a:prstGeom>
          <a:solidFill>
            <a:schemeClr val="accent4"/>
          </a:solidFill>
          <a:ln>
            <a:noFill/>
          </a:ln>
        </p:spPr>
        <p:txBody>
          <a:bodyPr lIns="365760" tIns="320040" rIns="365760" bIns="320040" anchor="ctr">
            <a:normAutofit/>
          </a:bodyPr>
          <a:lstStyle/>
          <a:p>
            <a:r>
              <a:rPr lang="de-DE" sz="2000" b="1" dirty="0">
                <a:solidFill>
                  <a:schemeClr val="accent1"/>
                </a:solidFill>
              </a:rPr>
              <a:t>Maschinenrichtlinie 2006/42/EG</a:t>
            </a:r>
          </a:p>
          <a:p>
            <a:endParaRPr lang="de-DE" sz="1000" dirty="0"/>
          </a:p>
          <a:p>
            <a:r>
              <a:rPr lang="de-DE" sz="1600" dirty="0">
                <a:solidFill>
                  <a:schemeClr val="accent1"/>
                </a:solidFill>
              </a:rPr>
              <a:t>Fokus auf funktionalem Verhalten und Safety</a:t>
            </a:r>
          </a:p>
          <a:p>
            <a:r>
              <a:rPr lang="de-DE" sz="1600" dirty="0">
                <a:solidFill>
                  <a:schemeClr val="accent1"/>
                </a:solidFill>
              </a:rPr>
              <a:t>Cybersecurity nicht verpflichtend</a:t>
            </a:r>
          </a:p>
        </p:txBody>
      </p:sp>
      <p:grpSp>
        <p:nvGrpSpPr>
          <p:cNvPr id="30" name="Pfeil und Karte Verordnung"/>
          <p:cNvGrpSpPr/>
          <p:nvPr/>
        </p:nvGrpSpPr>
        <p:grpSpPr>
          <a:xfrm>
            <a:off x="5646000" y="2650000"/>
            <a:ext cx="6172937" cy="2150000"/>
            <a:chOff x="5646000" y="2650000"/>
            <a:chExt cx="6172937" cy="2150000"/>
          </a:xfrm>
        </p:grpSpPr>
        <p:sp>
          <p:nvSpPr>
            <p:cNvPr id="31" name="Pfeil"/>
            <p:cNvSpPr/>
            <p:nvPr/>
          </p:nvSpPr>
          <p:spPr>
            <a:xfrm>
              <a:off x="5646000" y="3525000"/>
              <a:ext cx="900000" cy="400000"/>
            </a:xfrm>
            <a:prstGeom prst="rightArrow">
              <a:avLst/>
            </a:prstGeom>
            <a:solidFill>
              <a:schemeClr val="accent5"/>
            </a:solidFill>
            <a:ln>
              <a:noFill/>
            </a:ln>
          </p:spPr>
          <p:txBody>
            <a:bodyPr/>
            <a:lstStyle/>
            <a:p>
              <a:endParaRPr lang="de-DE"/>
            </a:p>
          </p:txBody>
        </p:sp>
        <p:sp>
          <p:nvSpPr>
            <p:cNvPr id="32" name="Karte Verordnung"/>
            <p:cNvSpPr/>
            <p:nvPr/>
          </p:nvSpPr>
          <p:spPr>
            <a:xfrm>
              <a:off x="6666000" y="2650000"/>
              <a:ext cx="5152937" cy="2150000"/>
            </a:xfrm>
            <a:prstGeom prst="rect">
              <a:avLst/>
            </a:prstGeom>
            <a:solidFill>
              <a:schemeClr val="accent5"/>
            </a:solidFill>
            <a:ln>
              <a:noFill/>
            </a:ln>
          </p:spPr>
          <p:txBody>
            <a:bodyPr lIns="365760" tIns="320040" rIns="365760" bIns="320040" anchor="ctr">
              <a:normAutofit/>
            </a:bodyPr>
            <a:lstStyle/>
            <a:p>
              <a:r>
                <a:rPr lang="de-DE" sz="2000" b="1" dirty="0">
                  <a:solidFill>
                    <a:srgbClr val="FFFFFF"/>
                  </a:solidFill>
                </a:rPr>
                <a:t>Verordnung (EU) 2023/1230</a:t>
              </a:r>
            </a:p>
            <a:p>
              <a:endParaRPr lang="de-DE" sz="1000" dirty="0"/>
            </a:p>
            <a:p>
              <a:r>
                <a:rPr lang="de-DE" sz="1600" dirty="0">
                  <a:solidFill>
                    <a:srgbClr val="FFFFFF"/>
                  </a:solidFill>
                </a:rPr>
                <a:t>Schutz vor Korruption als Teil der Konformitätsbewertung</a:t>
              </a:r>
            </a:p>
            <a:p>
              <a:r>
                <a:rPr lang="de-DE" sz="1600" dirty="0">
                  <a:solidFill>
                    <a:srgbClr val="FFFFFF"/>
                  </a:solidFill>
                </a:rPr>
                <a:t>Anhang III, Abschnitte 1.1.9 und 1.2.1</a:t>
              </a:r>
            </a:p>
          </p:txBody>
        </p:sp>
      </p:grpSp>
      <p:sp>
        <p:nvSpPr>
          <p:cNvPr id="40" name="Aussagebalken"/>
          <p:cNvSpPr/>
          <p:nvPr/>
        </p:nvSpPr>
        <p:spPr>
          <a:xfrm>
            <a:off x="0" y="5150000"/>
            <a:ext cx="12192000" cy="800000"/>
          </a:xfrm>
          <a:prstGeom prst="rect">
            <a:avLst/>
          </a:prstGeom>
          <a:solidFill>
            <a:schemeClr val="accent1"/>
          </a:solidFill>
          <a:ln>
            <a:noFill/>
          </a:ln>
        </p:spPr>
        <p:txBody>
          <a:bodyPr lIns="373063" tIns="45720" rIns="373063" bIns="45720" anchor="ctr">
            <a:normAutofit/>
          </a:bodyPr>
          <a:lstStyle/>
          <a:p>
            <a:pPr algn="ctr"/>
            <a:r>
              <a:rPr lang="de-DE" sz="1800" b="1" dirty="0">
                <a:solidFill>
                  <a:srgbClr val="FFFFFF"/>
                </a:solidFill>
              </a:rPr>
              <a:t>Funktionale Sicherheit ist nicht mehr unabhängig von der Cybersicherheit bewertbar.</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animBg="1"/>
      <p:bldP spid="30" grpId="0"/>
      <p:bldP spid="40"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de-DE" dirty="0"/>
              <a:t>Die Lücke zwischen Anspruch und Praxis</a:t>
            </a:r>
          </a:p>
        </p:txBody>
      </p:sp>
      <p:grpSp>
        <p:nvGrpSpPr>
          <p:cNvPr id="10" name="Gegenueberstellung"/>
          <p:cNvGrpSpPr/>
          <p:nvPr/>
        </p:nvGrpSpPr>
        <p:grpSpPr>
          <a:xfrm>
            <a:off x="373063" y="1350000"/>
            <a:ext cx="11445874" cy="1250000"/>
            <a:chOff x="373063" y="1350000"/>
            <a:chExt cx="11445874" cy="1250000"/>
          </a:xfrm>
        </p:grpSpPr>
        <p:sp>
          <p:nvSpPr>
            <p:cNvPr id="11" name="Block Regulatorische Erwartung"/>
            <p:cNvSpPr/>
            <p:nvPr/>
          </p:nvSpPr>
          <p:spPr>
            <a:xfrm>
              <a:off x="373063" y="1350000"/>
              <a:ext cx="4200000" cy="1250000"/>
            </a:xfrm>
            <a:prstGeom prst="rect">
              <a:avLst/>
            </a:prstGeom>
            <a:solidFill>
              <a:schemeClr val="accent5"/>
            </a:solidFill>
            <a:ln>
              <a:noFill/>
            </a:ln>
          </p:spPr>
          <p:txBody>
            <a:bodyPr lIns="274320" tIns="182880" rIns="274320" bIns="182880" anchor="ctr">
              <a:normAutofit/>
            </a:bodyPr>
            <a:lstStyle/>
            <a:p>
              <a:r>
                <a:rPr lang="de-DE" sz="1800" b="1" dirty="0">
                  <a:solidFill>
                    <a:srgbClr val="FFFFFF"/>
                  </a:solidFill>
                </a:rPr>
                <a:t>Regulatorische Erwartung</a:t>
              </a:r>
            </a:p>
            <a:p>
              <a:r>
                <a:rPr lang="de-DE" sz="1400" dirty="0">
                  <a:solidFill>
                    <a:srgbClr val="FFFFFF"/>
                  </a:solidFill>
                </a:rPr>
                <a:t>systematischer Nachweis von Security-Funktionen</a:t>
              </a:r>
            </a:p>
          </p:txBody>
        </p:sp>
        <p:sp>
          <p:nvSpPr>
            <p:cNvPr id="12" name="Block Etablierte Validierung"/>
            <p:cNvSpPr/>
            <p:nvPr/>
          </p:nvSpPr>
          <p:spPr>
            <a:xfrm>
              <a:off x="7618937" y="1350000"/>
              <a:ext cx="4200000" cy="1250000"/>
            </a:xfrm>
            <a:prstGeom prst="rect">
              <a:avLst/>
            </a:prstGeom>
            <a:solidFill>
              <a:schemeClr val="accent4"/>
            </a:solidFill>
            <a:ln>
              <a:noFill/>
            </a:ln>
          </p:spPr>
          <p:txBody>
            <a:bodyPr lIns="274320" tIns="182880" rIns="274320" bIns="182880" anchor="ctr">
              <a:normAutofit/>
            </a:bodyPr>
            <a:lstStyle/>
            <a:p>
              <a:r>
                <a:rPr lang="de-DE" sz="1800" b="1" dirty="0">
                  <a:solidFill>
                    <a:schemeClr val="accent1"/>
                  </a:solidFill>
                </a:rPr>
                <a:t>Etablierte Validierung</a:t>
              </a:r>
            </a:p>
            <a:p>
              <a:r>
                <a:rPr lang="de-DE" sz="1400" dirty="0">
                  <a:solidFill>
                    <a:schemeClr val="accent1"/>
                  </a:solidFill>
                </a:rPr>
                <a:t>funktional und sicherheitstechnisch, aber nicht security-getrieben</a:t>
              </a:r>
            </a:p>
          </p:txBody>
        </p:sp>
      </p:grpSp>
      <p:sp>
        <p:nvSpPr>
          <p:cNvPr id="20" name="Luecke"/>
          <p:cNvSpPr/>
          <p:nvPr/>
        </p:nvSpPr>
        <p:spPr>
          <a:xfrm>
            <a:off x="4896000" y="1550000"/>
            <a:ext cx="2400000" cy="850000"/>
          </a:xfrm>
          <a:prstGeom prst="rect">
            <a:avLst/>
          </a:prstGeom>
          <a:solidFill>
            <a:srgbClr val="C00000"/>
          </a:solidFill>
          <a:ln w="57150">
            <a:solidFill>
              <a:srgbClr val="7F0000"/>
            </a:solidFill>
          </a:ln>
        </p:spPr>
        <p:txBody>
          <a:bodyPr lIns="137160" tIns="91440" rIns="137160" bIns="91440" anchor="ctr">
            <a:normAutofit fontScale="92500"/>
          </a:bodyPr>
          <a:lstStyle/>
          <a:p>
            <a:pPr algn="ctr"/>
            <a:r>
              <a:rPr lang="de-DE" sz="1800" b="1" dirty="0">
                <a:solidFill>
                  <a:srgbClr val="FFFFFF"/>
                </a:solidFill>
              </a:rPr>
              <a:t>Keine systematische Methodik</a:t>
            </a:r>
          </a:p>
        </p:txBody>
      </p:sp>
      <p:sp>
        <p:nvSpPr>
          <p:cNvPr id="31" name="Kachel 1"/>
          <p:cNvSpPr/>
          <p:nvPr/>
        </p:nvSpPr>
        <p:spPr>
          <a:xfrm>
            <a:off x="373063" y="3050000"/>
            <a:ext cx="3681958" cy="2400000"/>
          </a:xfrm>
          <a:prstGeom prst="rect">
            <a:avLst/>
          </a:prstGeom>
          <a:solidFill>
            <a:srgbClr val="F2F2F2"/>
          </a:solidFill>
          <a:ln w="19050">
            <a:solidFill>
              <a:schemeClr val="accent4"/>
            </a:solidFill>
          </a:ln>
        </p:spPr>
        <p:txBody>
          <a:bodyPr lIns="274320" tIns="274320" rIns="274320" bIns="274320" anchor="ctr">
            <a:normAutofit/>
          </a:bodyPr>
          <a:lstStyle/>
          <a:p>
            <a:r>
              <a:rPr lang="de-DE" sz="4000" b="1" dirty="0">
                <a:solidFill>
                  <a:schemeClr val="accent5"/>
                </a:solidFill>
              </a:rPr>
              <a:t>1</a:t>
            </a:r>
          </a:p>
          <a:p>
            <a:r>
              <a:rPr lang="de-DE" sz="2000" b="1" dirty="0">
                <a:solidFill>
                  <a:schemeClr val="accent1"/>
                </a:solidFill>
              </a:rPr>
              <a:t>Ableitung</a:t>
            </a:r>
          </a:p>
          <a:p>
            <a:r>
              <a:rPr lang="de-DE" sz="1400" dirty="0">
                <a:solidFill>
                  <a:schemeClr val="accent2"/>
                </a:solidFill>
              </a:rPr>
              <a:t>Wie werden Maschinenpflichten zu prüfbaren Komponentenanforderungen?</a:t>
            </a:r>
          </a:p>
        </p:txBody>
      </p:sp>
      <p:sp>
        <p:nvSpPr>
          <p:cNvPr id="32" name="Kachel 2"/>
          <p:cNvSpPr/>
          <p:nvPr/>
        </p:nvSpPr>
        <p:spPr>
          <a:xfrm>
            <a:off x="4255021" y="3050000"/>
            <a:ext cx="3681958" cy="2400000"/>
          </a:xfrm>
          <a:prstGeom prst="rect">
            <a:avLst/>
          </a:prstGeom>
          <a:solidFill>
            <a:srgbClr val="F2F2F2"/>
          </a:solidFill>
          <a:ln w="19050">
            <a:solidFill>
              <a:schemeClr val="accent4"/>
            </a:solidFill>
          </a:ln>
        </p:spPr>
        <p:txBody>
          <a:bodyPr lIns="274320" tIns="274320" rIns="274320" bIns="274320" anchor="ctr">
            <a:normAutofit/>
          </a:bodyPr>
          <a:lstStyle/>
          <a:p>
            <a:r>
              <a:rPr lang="de-DE" sz="4000" b="1" dirty="0">
                <a:solidFill>
                  <a:schemeClr val="accent5"/>
                </a:solidFill>
              </a:rPr>
              <a:t>2</a:t>
            </a:r>
          </a:p>
          <a:p>
            <a:r>
              <a:rPr lang="de-DE" sz="2000" b="1" dirty="0">
                <a:solidFill>
                  <a:schemeClr val="accent1"/>
                </a:solidFill>
              </a:rPr>
              <a:t>Anwendbarkeit</a:t>
            </a:r>
          </a:p>
          <a:p>
            <a:r>
              <a:rPr lang="de-DE" sz="1400" dirty="0">
                <a:solidFill>
                  <a:schemeClr val="accent2"/>
                </a:solidFill>
              </a:rPr>
              <a:t>Welche Firmentests passen auf ein industrielles Gateway?</a:t>
            </a:r>
          </a:p>
        </p:txBody>
      </p:sp>
      <p:sp>
        <p:nvSpPr>
          <p:cNvPr id="33" name="Kachel 3"/>
          <p:cNvSpPr/>
          <p:nvPr/>
        </p:nvSpPr>
        <p:spPr>
          <a:xfrm>
            <a:off x="8136979" y="3050000"/>
            <a:ext cx="3681958" cy="2400000"/>
          </a:xfrm>
          <a:prstGeom prst="rect">
            <a:avLst/>
          </a:prstGeom>
          <a:solidFill>
            <a:srgbClr val="F2F2F2"/>
          </a:solidFill>
          <a:ln w="19050">
            <a:solidFill>
              <a:schemeClr val="accent4"/>
            </a:solidFill>
          </a:ln>
        </p:spPr>
        <p:txBody>
          <a:bodyPr lIns="274320" tIns="274320" rIns="274320" bIns="274320" anchor="ctr">
            <a:normAutofit/>
          </a:bodyPr>
          <a:lstStyle/>
          <a:p>
            <a:r>
              <a:rPr lang="de-DE" sz="4000" b="1" dirty="0">
                <a:solidFill>
                  <a:schemeClr val="accent5"/>
                </a:solidFill>
              </a:rPr>
              <a:t>3</a:t>
            </a:r>
          </a:p>
          <a:p>
            <a:r>
              <a:rPr lang="de-DE" sz="2000" b="1" dirty="0">
                <a:solidFill>
                  <a:schemeClr val="accent1"/>
                </a:solidFill>
              </a:rPr>
              <a:t>Reichweite</a:t>
            </a:r>
          </a:p>
          <a:p>
            <a:r>
              <a:rPr lang="de-DE" sz="1400" dirty="0">
                <a:solidFill>
                  <a:schemeClr val="accent2"/>
                </a:solidFill>
              </a:rPr>
              <a:t>Was kann Direktzugriffstestung an der IT/OT-Grenze zeigen und wo liegen ihre Grenzen?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fade">
                                      <p:cBhvr>
                                        <p:cTn id="17" dur="500"/>
                                        <p:tgtEl>
                                          <p:spTgt spid="31"/>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fade">
                                      <p:cBhvr>
                                        <p:cTn id="22" dur="500"/>
                                        <p:tgtEl>
                                          <p:spTgt spid="32"/>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fade">
                                      <p:cBhvr>
                                        <p:cTn id="2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animBg="1"/>
      <p:bldP spid="31" grpId="0" animBg="1"/>
      <p:bldP spid="32" grpId="0" animBg="1"/>
      <p:bldP spid="3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01 · MOTIVATION</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Die Lücke</a:t>
            </a:r>
          </a:p>
        </p:txBody>
      </p:sp>
      <p:sp>
        <p:nvSpPr>
          <p:cNvPr id="4" name="Merksatz"/>
          <p:cNvSpPr txBox="1"/>
          <p:nvPr/>
        </p:nvSpPr>
        <p:spPr>
          <a:xfrm>
            <a:off x="777240" y="5806440"/>
            <a:ext cx="10515600" cy="365760"/>
          </a:xfrm>
          <a:prstGeom prst="rect">
            <a:avLst/>
          </a:prstGeom>
          <a:noFill/>
        </p:spPr>
        <p:txBody>
          <a:bodyPr wrap="square" lIns="0" tIns="0" rIns="0" bIns="0" anchor="t">
            <a:normAutofit/>
          </a:bodyPr>
          <a:lstStyle/>
          <a:p>
            <a:pPr algn="l">
              <a:lnSpc>
                <a:spcPct val="100000"/>
              </a:lnSpc>
              <a:spcBef>
                <a:spcPts val="0"/>
              </a:spcBef>
            </a:pPr>
            <a:r>
              <a:rPr lang="de-DE" sz="1200" dirty="0">
                <a:solidFill>
                  <a:srgbClr val="5B666F"/>
                </a:solidFill>
                <a:latin typeface="+mn-lt"/>
              </a:rPr>
              <a:t>Ziel: eine systematische, rückverfolgbare Testmethodik.</a:t>
            </a:r>
          </a:p>
        </p:txBody>
      </p:sp>
      <p:sp>
        <p:nvSpPr>
          <p:cNvPr id="10" name="KastenLinks"/>
          <p:cNvSpPr/>
          <p:nvPr/>
        </p:nvSpPr>
        <p:spPr>
          <a:xfrm>
            <a:off x="1188720" y="1874520"/>
            <a:ext cx="3474720" cy="91440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Pflicht der Maschinenverordnung</a:t>
            </a:r>
          </a:p>
        </p:txBody>
      </p:sp>
      <p:sp>
        <p:nvSpPr>
          <p:cNvPr id="11" name="KastenRechts"/>
          <p:cNvSpPr/>
          <p:nvPr/>
        </p:nvSpPr>
        <p:spPr>
          <a:xfrm>
            <a:off x="7498080" y="1874520"/>
            <a:ext cx="3474720" cy="914400"/>
          </a:xfrm>
          <a:prstGeom prst="rect">
            <a:avLst/>
          </a:prstGeom>
          <a:solidFill>
            <a:srgbClr val="F2F4F5"/>
          </a:solidFill>
          <a:ln>
            <a:noFill/>
          </a:ln>
        </p:spPr>
        <p:txBody>
          <a:bodyPr lIns="45720" tIns="27432" rIns="45720" bIns="27432" anchor="ctr">
            <a:normAutofit/>
          </a:bodyPr>
          <a:lstStyle/>
          <a:p>
            <a:pPr algn="ctr">
              <a:spcBef>
                <a:spcPts val="0"/>
              </a:spcBef>
            </a:pPr>
            <a:r>
              <a:rPr lang="de-DE" sz="1300" b="1" dirty="0">
                <a:solidFill>
                  <a:srgbClr val="30343A"/>
                </a:solidFill>
                <a:latin typeface="+mn-lt"/>
              </a:rPr>
              <a:t>Testergebnis am Gerät</a:t>
            </a:r>
          </a:p>
        </p:txBody>
      </p:sp>
      <p:sp>
        <p:nvSpPr>
          <p:cNvPr id="12" name="LinieA"/>
          <p:cNvSpPr/>
          <p:nvPr/>
        </p:nvSpPr>
        <p:spPr>
          <a:xfrm>
            <a:off x="4754880" y="2313432"/>
            <a:ext cx="822960" cy="27432"/>
          </a:xfrm>
          <a:prstGeom prst="rect">
            <a:avLst/>
          </a:prstGeom>
          <a:noFill/>
          <a:ln w="15875">
            <a:solidFill>
              <a:srgbClr val="5B666F"/>
            </a:solidFill>
            <a:prstDash val="dash"/>
          </a:ln>
        </p:spPr>
        <p:txBody>
          <a:bodyPr lIns="45720" tIns="27432" rIns="45720" bIns="27432" anchor="ctr">
            <a:normAutofit fontScale="25000" lnSpcReduction="20000"/>
          </a:bodyPr>
          <a:lstStyle/>
          <a:p>
            <a:endParaRPr lang="de-DE"/>
          </a:p>
        </p:txBody>
      </p:sp>
      <p:sp>
        <p:nvSpPr>
          <p:cNvPr id="13" name="LinieB"/>
          <p:cNvSpPr/>
          <p:nvPr/>
        </p:nvSpPr>
        <p:spPr>
          <a:xfrm>
            <a:off x="6583680" y="2313432"/>
            <a:ext cx="822960" cy="27432"/>
          </a:xfrm>
          <a:prstGeom prst="rect">
            <a:avLst/>
          </a:prstGeom>
          <a:noFill/>
          <a:ln w="15875">
            <a:solidFill>
              <a:srgbClr val="5B666F"/>
            </a:solidFill>
            <a:prstDash val="dash"/>
          </a:ln>
        </p:spPr>
        <p:txBody>
          <a:bodyPr lIns="45720" tIns="27432" rIns="45720" bIns="27432" anchor="ctr">
            <a:normAutofit fontScale="25000" lnSpcReduction="20000"/>
          </a:bodyPr>
          <a:lstStyle/>
          <a:p>
            <a:endParaRPr lang="de-DE"/>
          </a:p>
        </p:txBody>
      </p:sp>
      <p:sp>
        <p:nvSpPr>
          <p:cNvPr id="14" name="Fragezeichen"/>
          <p:cNvSpPr txBox="1"/>
          <p:nvPr/>
        </p:nvSpPr>
        <p:spPr>
          <a:xfrm>
            <a:off x="5577840" y="1783080"/>
            <a:ext cx="1005840" cy="914400"/>
          </a:xfrm>
          <a:prstGeom prst="rect">
            <a:avLst/>
          </a:prstGeom>
          <a:noFill/>
        </p:spPr>
        <p:txBody>
          <a:bodyPr wrap="square" lIns="0" tIns="0" rIns="0" bIns="0" anchor="t">
            <a:normAutofit/>
          </a:bodyPr>
          <a:lstStyle/>
          <a:p>
            <a:pPr algn="ctr">
              <a:lnSpc>
                <a:spcPct val="100000"/>
              </a:lnSpc>
              <a:spcBef>
                <a:spcPts val="0"/>
              </a:spcBef>
            </a:pPr>
            <a:r>
              <a:rPr lang="de-DE" sz="5400" b="1" dirty="0">
                <a:solidFill>
                  <a:srgbClr val="FF6E00"/>
                </a:solidFill>
                <a:latin typeface="+mn-lt"/>
              </a:rPr>
              <a:t>?</a:t>
            </a:r>
          </a:p>
        </p:txBody>
      </p:sp>
      <p:sp>
        <p:nvSpPr>
          <p:cNvPr id="15" name="KeinVerfahren"/>
          <p:cNvSpPr txBox="1"/>
          <p:nvPr/>
        </p:nvSpPr>
        <p:spPr>
          <a:xfrm>
            <a:off x="5349240" y="2788920"/>
            <a:ext cx="1463040" cy="274320"/>
          </a:xfrm>
          <a:prstGeom prst="rect">
            <a:avLst/>
          </a:prstGeom>
          <a:noFill/>
        </p:spPr>
        <p:txBody>
          <a:bodyPr wrap="square" lIns="0" tIns="0" rIns="0" bIns="0" anchor="t">
            <a:normAutofit/>
          </a:bodyPr>
          <a:lstStyle/>
          <a:p>
            <a:pPr algn="ctr">
              <a:lnSpc>
                <a:spcPct val="100000"/>
              </a:lnSpc>
              <a:spcBef>
                <a:spcPts val="0"/>
              </a:spcBef>
            </a:pPr>
            <a:r>
              <a:rPr lang="de-DE" sz="1000" dirty="0">
                <a:solidFill>
                  <a:srgbClr val="5B666F"/>
                </a:solidFill>
                <a:latin typeface="+mn-lt"/>
              </a:rPr>
              <a:t>kein Verfahren</a:t>
            </a:r>
          </a:p>
        </p:txBody>
      </p:sp>
      <p:sp>
        <p:nvSpPr>
          <p:cNvPr id="16" name="Badge1"/>
          <p:cNvSpPr/>
          <p:nvPr/>
        </p:nvSpPr>
        <p:spPr>
          <a:xfrm>
            <a:off x="1188720" y="3794760"/>
            <a:ext cx="777240" cy="310896"/>
          </a:xfrm>
          <a:prstGeom prst="rect">
            <a:avLst/>
          </a:prstGeom>
          <a:solidFill>
            <a:srgbClr val="FF6E00"/>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FF1</a:t>
            </a:r>
          </a:p>
        </p:txBody>
      </p:sp>
      <p:sp>
        <p:nvSpPr>
          <p:cNvPr id="17" name="Frage1"/>
          <p:cNvSpPr txBox="1"/>
          <p:nvPr/>
        </p:nvSpPr>
        <p:spPr>
          <a:xfrm>
            <a:off x="1188720" y="4279392"/>
            <a:ext cx="3017520" cy="100584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Pflicht zur prüfbaren Anforderung?</a:t>
            </a:r>
          </a:p>
        </p:txBody>
      </p:sp>
      <p:sp>
        <p:nvSpPr>
          <p:cNvPr id="18" name="Badge2"/>
          <p:cNvSpPr/>
          <p:nvPr/>
        </p:nvSpPr>
        <p:spPr>
          <a:xfrm>
            <a:off x="4617720" y="3794760"/>
            <a:ext cx="777240" cy="310896"/>
          </a:xfrm>
          <a:prstGeom prst="rect">
            <a:avLst/>
          </a:prstGeom>
          <a:solidFill>
            <a:srgbClr val="FF6E00"/>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FF2</a:t>
            </a:r>
          </a:p>
        </p:txBody>
      </p:sp>
      <p:sp>
        <p:nvSpPr>
          <p:cNvPr id="19" name="Frage2"/>
          <p:cNvSpPr txBox="1"/>
          <p:nvPr/>
        </p:nvSpPr>
        <p:spPr>
          <a:xfrm>
            <a:off x="4617720" y="4279392"/>
            <a:ext cx="3017520" cy="100584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Welche Firmentests sind anwendbar?</a:t>
            </a:r>
          </a:p>
        </p:txBody>
      </p:sp>
      <p:sp>
        <p:nvSpPr>
          <p:cNvPr id="20" name="Badge3"/>
          <p:cNvSpPr/>
          <p:nvPr/>
        </p:nvSpPr>
        <p:spPr>
          <a:xfrm>
            <a:off x="8046720" y="3794760"/>
            <a:ext cx="777240" cy="310896"/>
          </a:xfrm>
          <a:prstGeom prst="rect">
            <a:avLst/>
          </a:prstGeom>
          <a:solidFill>
            <a:srgbClr val="FF6E00"/>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FF3</a:t>
            </a:r>
          </a:p>
        </p:txBody>
      </p:sp>
      <p:sp>
        <p:nvSpPr>
          <p:cNvPr id="21" name="Frage3"/>
          <p:cNvSpPr txBox="1"/>
          <p:nvPr/>
        </p:nvSpPr>
        <p:spPr>
          <a:xfrm>
            <a:off x="8046720" y="4279392"/>
            <a:ext cx="3017520" cy="1005840"/>
          </a:xfrm>
          <a:prstGeom prst="rect">
            <a:avLst/>
          </a:prstGeom>
          <a:noFill/>
        </p:spPr>
        <p:txBody>
          <a:bodyPr wrap="square" lIns="0" tIns="0" rIns="0" bIns="0" anchor="t">
            <a:normAutofit/>
          </a:bodyPr>
          <a:lstStyle/>
          <a:p>
            <a:pPr algn="l">
              <a:lnSpc>
                <a:spcPct val="100000"/>
              </a:lnSpc>
              <a:spcBef>
                <a:spcPts val="0"/>
              </a:spcBef>
            </a:pPr>
            <a:r>
              <a:rPr lang="de-DE" sz="1500" b="1" dirty="0">
                <a:solidFill>
                  <a:srgbClr val="30343A"/>
                </a:solidFill>
                <a:latin typeface="+mn-lt"/>
              </a:rPr>
              <a:t>Was kann Direktzugriff verifizieren – und was nicht?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5"/>
                                        </p:tgtEl>
                                        <p:attrNameLst>
                                          <p:attrName>style.visibility</p:attrName>
                                        </p:attrNameLst>
                                      </p:cBhvr>
                                      <p:to>
                                        <p:strVal val="visible"/>
                                      </p:to>
                                    </p:set>
                                  </p:childTnLst>
                                </p:cTn>
                              </p:par>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19"/>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Pflicht"/>
          <p:cNvSpPr/>
          <p:nvPr/>
        </p:nvSpPr>
        <p:spPr>
          <a:xfrm>
            <a:off x="373063" y="1600000"/>
            <a:ext cx="4600000" cy="900000"/>
          </a:xfrm>
          <a:prstGeom prst="rect">
            <a:avLst/>
          </a:prstGeom>
          <a:solidFill>
            <a:srgbClr val="D9D9D9">
              <a:alpha val="40000"/>
            </a:srgbClr>
          </a:solidFill>
          <a:ln>
            <a:noFill/>
          </a:ln>
        </p:spPr>
        <p:txBody>
          <a:bodyPr wrap="square" lIns="120000" tIns="0" rIns="120000" bIns="0" anchor="ctr">
            <a:normAutofit/>
          </a:bodyPr>
          <a:lstStyle/>
          <a:p>
            <a:pPr algn="ctr">
              <a:buNone/>
            </a:pPr>
            <a:r>
              <a:rPr lang="de-DE" sz="1400" b="1" dirty="0">
                <a:solidFill>
                  <a:srgbClr val="30343A"/>
                </a:solidFill>
              </a:rPr>
              <a:t>Pflicht der Maschinenverordnung</a:t>
            </a:r>
          </a:p>
        </p:txBody>
      </p:sp>
      <p:sp>
        <p:nvSpPr>
          <p:cNvPr id="101" name="Testergebnis"/>
          <p:cNvSpPr/>
          <p:nvPr/>
        </p:nvSpPr>
        <p:spPr>
          <a:xfrm>
            <a:off x="7219000" y="1600000"/>
            <a:ext cx="4600000" cy="900000"/>
          </a:xfrm>
          <a:prstGeom prst="rect">
            <a:avLst/>
          </a:prstGeom>
          <a:solidFill>
            <a:srgbClr val="D9D9D9">
              <a:alpha val="40000"/>
            </a:srgbClr>
          </a:solidFill>
          <a:ln>
            <a:noFill/>
          </a:ln>
        </p:spPr>
        <p:txBody>
          <a:bodyPr wrap="square" lIns="120000" tIns="0" rIns="120000" bIns="0" anchor="ctr">
            <a:normAutofit/>
          </a:bodyPr>
          <a:lstStyle/>
          <a:p>
            <a:pPr algn="ctr">
              <a:buNone/>
            </a:pPr>
            <a:r>
              <a:rPr lang="de-DE" sz="1400" b="1" dirty="0">
                <a:solidFill>
                  <a:srgbClr val="30343A"/>
                </a:solidFill>
              </a:rPr>
              <a:t>Testergebnis am Gerät</a:t>
            </a:r>
          </a:p>
        </p:txBody>
      </p:sp>
      <p:cxnSp>
        <p:nvCxnSpPr>
          <p:cNvPr id="110" name="Bruchlinie"/>
          <p:cNvCxnSpPr/>
          <p:nvPr/>
        </p:nvCxnSpPr>
        <p:spPr>
          <a:xfrm>
            <a:off x="6096000" y="1520000"/>
            <a:ext cx="1" cy="1060000"/>
          </a:xfrm>
          <a:prstGeom prst="line">
            <a:avLst/>
          </a:prstGeom>
          <a:ln w="28575" cap="rnd">
            <a:solidFill>
              <a:srgbClr val="FF6E00"/>
            </a:solidFill>
            <a:prstDash val="dash"/>
          </a:ln>
        </p:spPr>
      </p:cxnSp>
      <p:sp>
        <p:nvSpPr>
          <p:cNvPr id="111" name="Fragezeichen"/>
          <p:cNvSpPr/>
          <p:nvPr/>
        </p:nvSpPr>
        <p:spPr>
          <a:xfrm>
            <a:off x="5746000" y="1740000"/>
            <a:ext cx="700000" cy="620000"/>
          </a:xfrm>
          <a:prstGeom prst="rect">
            <a:avLst/>
          </a:prstGeom>
          <a:solidFill>
            <a:srgbClr val="FFFFFF"/>
          </a:solidFill>
          <a:ln>
            <a:noFill/>
          </a:ln>
        </p:spPr>
        <p:txBody>
          <a:bodyPr wrap="square" lIns="120000" tIns="0" rIns="120000" bIns="0" anchor="ctr">
            <a:normAutofit/>
          </a:bodyPr>
          <a:lstStyle/>
          <a:p>
            <a:pPr algn="ctr">
              <a:buNone/>
            </a:pPr>
            <a:r>
              <a:rPr lang="de-DE" sz="3200" b="1" dirty="0">
                <a:solidFill>
                  <a:srgbClr val="FF6E00"/>
                </a:solidFill>
              </a:rPr>
              <a:t>?</a:t>
            </a:r>
          </a:p>
        </p:txBody>
      </p:sp>
      <p:sp>
        <p:nvSpPr>
          <p:cNvPr id="112" name="KeinVerfahren"/>
          <p:cNvSpPr/>
          <p:nvPr/>
        </p:nvSpPr>
        <p:spPr>
          <a:xfrm>
            <a:off x="5346000" y="2600000"/>
            <a:ext cx="1500000" cy="300000"/>
          </a:xfrm>
          <a:prstGeom prst="rect">
            <a:avLst/>
          </a:prstGeom>
          <a:noFill/>
          <a:ln>
            <a:noFill/>
          </a:ln>
        </p:spPr>
        <p:txBody>
          <a:bodyPr wrap="square" lIns="0" tIns="0" rIns="0" bIns="0" anchor="ctr">
            <a:normAutofit/>
          </a:bodyPr>
          <a:lstStyle/>
          <a:p>
            <a:pPr algn="ctr">
              <a:buNone/>
            </a:pPr>
            <a:r>
              <a:rPr lang="de-DE" sz="1100" b="1" dirty="0">
                <a:solidFill>
                  <a:srgbClr val="FF6E00"/>
                </a:solidFill>
              </a:rPr>
              <a:t>kein Verfahren</a:t>
            </a:r>
          </a:p>
        </p:txBody>
      </p:sp>
      <p:sp>
        <p:nvSpPr>
          <p:cNvPr id="200" name="Zielbalken"/>
          <p:cNvSpPr/>
          <p:nvPr/>
        </p:nvSpPr>
        <p:spPr>
          <a:xfrm>
            <a:off x="373063" y="3100000"/>
            <a:ext cx="11445937" cy="720000"/>
          </a:xfrm>
          <a:prstGeom prst="rect">
            <a:avLst/>
          </a:prstGeom>
          <a:solidFill>
            <a:srgbClr val="FF6E00"/>
          </a:solidFill>
          <a:ln>
            <a:noFill/>
          </a:ln>
        </p:spPr>
        <p:txBody>
          <a:bodyPr wrap="square" lIns="120000" tIns="0" rIns="120000" bIns="0" anchor="ctr">
            <a:normAutofit/>
          </a:bodyPr>
          <a:lstStyle/>
          <a:p>
            <a:pPr algn="ctr">
              <a:buNone/>
            </a:pPr>
            <a:r>
              <a:rPr lang="de-DE" sz="1600" b="1" dirty="0">
                <a:solidFill>
                  <a:srgbClr val="FFFFFF"/>
                </a:solidFill>
              </a:rPr>
              <a:t>Ziel: systematische, rückverfolgbare Testmethodik.</a:t>
            </a:r>
          </a:p>
        </p:txBody>
      </p:sp>
      <p:sp>
        <p:nvSpPr>
          <p:cNvPr id="300" name="Karte"/>
          <p:cNvSpPr/>
          <p:nvPr/>
        </p:nvSpPr>
        <p:spPr>
          <a:xfrm>
            <a:off x="373063" y="4150000"/>
            <a:ext cx="3615312" cy="1650000"/>
          </a:xfrm>
          <a:prstGeom prst="rect">
            <a:avLst/>
          </a:prstGeom>
          <a:solidFill>
            <a:srgbClr val="D9D9D9">
              <a:alpha val="28000"/>
            </a:srgbClr>
          </a:solidFill>
          <a:ln>
            <a:noFill/>
          </a:ln>
        </p:spPr>
        <p:txBody>
          <a:bodyPr wrap="square" lIns="120000" tIns="0" rIns="120000" bIns="0" anchor="ctr">
            <a:normAutofit/>
          </a:bodyPr>
          <a:lstStyle/>
          <a:p>
            <a:endParaRPr lang="de-DE"/>
          </a:p>
        </p:txBody>
      </p:sp>
      <p:sp>
        <p:nvSpPr>
          <p:cNvPr id="301" name="Kreis"/>
          <p:cNvSpPr/>
          <p:nvPr/>
        </p:nvSpPr>
        <p:spPr>
          <a:xfrm>
            <a:off x="653063" y="4390000"/>
            <a:ext cx="460000" cy="460000"/>
          </a:xfrm>
          <a:prstGeom prst="ellipse">
            <a:avLst/>
          </a:prstGeom>
          <a:solidFill>
            <a:srgbClr val="FF6E00"/>
          </a:solidFill>
          <a:ln>
            <a:noFill/>
          </a:ln>
        </p:spPr>
        <p:txBody>
          <a:bodyPr wrap="square" lIns="0" tIns="0" rIns="0" bIns="0" anchor="ctr">
            <a:normAutofit/>
          </a:bodyPr>
          <a:lstStyle/>
          <a:p>
            <a:pPr algn="ctr">
              <a:buNone/>
            </a:pPr>
            <a:r>
              <a:rPr lang="de-DE" sz="1100" b="1" dirty="0">
                <a:solidFill>
                  <a:srgbClr val="FFFFFF"/>
                </a:solidFill>
              </a:rPr>
              <a:t>FF1</a:t>
            </a:r>
          </a:p>
        </p:txBody>
      </p:sp>
      <p:sp>
        <p:nvSpPr>
          <p:cNvPr id="302" name="Frage"/>
          <p:cNvSpPr/>
          <p:nvPr/>
        </p:nvSpPr>
        <p:spPr>
          <a:xfrm>
            <a:off x="653063" y="4970000"/>
            <a:ext cx="3055312" cy="600000"/>
          </a:xfrm>
          <a:prstGeom prst="rect">
            <a:avLst/>
          </a:prstGeom>
          <a:noFill/>
          <a:ln>
            <a:noFill/>
          </a:ln>
        </p:spPr>
        <p:txBody>
          <a:bodyPr wrap="square" lIns="0" tIns="0" rIns="0" bIns="0" anchor="t">
            <a:normAutofit/>
          </a:bodyPr>
          <a:lstStyle/>
          <a:p>
            <a:pPr algn="l">
              <a:buNone/>
            </a:pPr>
            <a:r>
              <a:rPr lang="de-DE" sz="1200" b="1" dirty="0">
                <a:solidFill>
                  <a:srgbClr val="30343A"/>
                </a:solidFill>
              </a:rPr>
              <a:t>Pflicht → prüfbare Anforderung?</a:t>
            </a:r>
          </a:p>
        </p:txBody>
      </p:sp>
      <p:sp>
        <p:nvSpPr>
          <p:cNvPr id="310" name="Karte"/>
          <p:cNvSpPr/>
          <p:nvPr/>
        </p:nvSpPr>
        <p:spPr>
          <a:xfrm>
            <a:off x="4288375" y="4150000"/>
            <a:ext cx="3615312" cy="1650000"/>
          </a:xfrm>
          <a:prstGeom prst="rect">
            <a:avLst/>
          </a:prstGeom>
          <a:solidFill>
            <a:srgbClr val="D9D9D9">
              <a:alpha val="28000"/>
            </a:srgbClr>
          </a:solidFill>
          <a:ln>
            <a:noFill/>
          </a:ln>
        </p:spPr>
        <p:txBody>
          <a:bodyPr wrap="square" lIns="120000" tIns="0" rIns="120000" bIns="0" anchor="ctr">
            <a:normAutofit/>
          </a:bodyPr>
          <a:lstStyle/>
          <a:p>
            <a:endParaRPr lang="de-DE"/>
          </a:p>
        </p:txBody>
      </p:sp>
      <p:sp>
        <p:nvSpPr>
          <p:cNvPr id="311" name="Kreis"/>
          <p:cNvSpPr/>
          <p:nvPr/>
        </p:nvSpPr>
        <p:spPr>
          <a:xfrm>
            <a:off x="4568375" y="4390000"/>
            <a:ext cx="460000" cy="460000"/>
          </a:xfrm>
          <a:prstGeom prst="ellipse">
            <a:avLst/>
          </a:prstGeom>
          <a:solidFill>
            <a:srgbClr val="FF6E00"/>
          </a:solidFill>
          <a:ln>
            <a:noFill/>
          </a:ln>
        </p:spPr>
        <p:txBody>
          <a:bodyPr wrap="square" lIns="0" tIns="0" rIns="0" bIns="0" anchor="ctr">
            <a:normAutofit/>
          </a:bodyPr>
          <a:lstStyle/>
          <a:p>
            <a:pPr algn="ctr">
              <a:buNone/>
            </a:pPr>
            <a:r>
              <a:rPr lang="de-DE" sz="1100" b="1" dirty="0">
                <a:solidFill>
                  <a:srgbClr val="FFFFFF"/>
                </a:solidFill>
              </a:rPr>
              <a:t>FF2</a:t>
            </a:r>
          </a:p>
        </p:txBody>
      </p:sp>
      <p:sp>
        <p:nvSpPr>
          <p:cNvPr id="312" name="Frage"/>
          <p:cNvSpPr/>
          <p:nvPr/>
        </p:nvSpPr>
        <p:spPr>
          <a:xfrm>
            <a:off x="4568375" y="4970000"/>
            <a:ext cx="3055312" cy="600000"/>
          </a:xfrm>
          <a:prstGeom prst="rect">
            <a:avLst/>
          </a:prstGeom>
          <a:noFill/>
          <a:ln>
            <a:noFill/>
          </a:ln>
        </p:spPr>
        <p:txBody>
          <a:bodyPr wrap="square" lIns="0" tIns="0" rIns="0" bIns="0" anchor="t">
            <a:normAutofit/>
          </a:bodyPr>
          <a:lstStyle/>
          <a:p>
            <a:pPr algn="l">
              <a:buNone/>
            </a:pPr>
            <a:r>
              <a:rPr lang="de-DE" sz="1200" b="1" dirty="0">
                <a:solidFill>
                  <a:srgbClr val="30343A"/>
                </a:solidFill>
              </a:rPr>
              <a:t>Welche Tests sind anwendbar?</a:t>
            </a:r>
          </a:p>
        </p:txBody>
      </p:sp>
      <p:sp>
        <p:nvSpPr>
          <p:cNvPr id="320" name="Karte"/>
          <p:cNvSpPr/>
          <p:nvPr/>
        </p:nvSpPr>
        <p:spPr>
          <a:xfrm>
            <a:off x="8203687" y="4150000"/>
            <a:ext cx="3615312" cy="1650000"/>
          </a:xfrm>
          <a:prstGeom prst="rect">
            <a:avLst/>
          </a:prstGeom>
          <a:solidFill>
            <a:srgbClr val="D9D9D9">
              <a:alpha val="28000"/>
            </a:srgbClr>
          </a:solidFill>
          <a:ln>
            <a:noFill/>
          </a:ln>
        </p:spPr>
        <p:txBody>
          <a:bodyPr wrap="square" lIns="120000" tIns="0" rIns="120000" bIns="0" anchor="ctr">
            <a:normAutofit/>
          </a:bodyPr>
          <a:lstStyle/>
          <a:p>
            <a:endParaRPr lang="de-DE"/>
          </a:p>
        </p:txBody>
      </p:sp>
      <p:sp>
        <p:nvSpPr>
          <p:cNvPr id="321" name="Kreis"/>
          <p:cNvSpPr/>
          <p:nvPr/>
        </p:nvSpPr>
        <p:spPr>
          <a:xfrm>
            <a:off x="8483687" y="4390000"/>
            <a:ext cx="460000" cy="460000"/>
          </a:xfrm>
          <a:prstGeom prst="ellipse">
            <a:avLst/>
          </a:prstGeom>
          <a:solidFill>
            <a:srgbClr val="FF6E00"/>
          </a:solidFill>
          <a:ln>
            <a:noFill/>
          </a:ln>
        </p:spPr>
        <p:txBody>
          <a:bodyPr wrap="square" lIns="0" tIns="0" rIns="0" bIns="0" anchor="ctr">
            <a:normAutofit/>
          </a:bodyPr>
          <a:lstStyle/>
          <a:p>
            <a:pPr algn="ctr">
              <a:buNone/>
            </a:pPr>
            <a:r>
              <a:rPr lang="de-DE" sz="1100" b="1" dirty="0">
                <a:solidFill>
                  <a:srgbClr val="FFFFFF"/>
                </a:solidFill>
              </a:rPr>
              <a:t>FF3</a:t>
            </a:r>
          </a:p>
        </p:txBody>
      </p:sp>
      <p:sp>
        <p:nvSpPr>
          <p:cNvPr id="322" name="Frage"/>
          <p:cNvSpPr/>
          <p:nvPr/>
        </p:nvSpPr>
        <p:spPr>
          <a:xfrm>
            <a:off x="8483687" y="4970000"/>
            <a:ext cx="3055312" cy="600000"/>
          </a:xfrm>
          <a:prstGeom prst="rect">
            <a:avLst/>
          </a:prstGeom>
          <a:noFill/>
          <a:ln>
            <a:noFill/>
          </a:ln>
        </p:spPr>
        <p:txBody>
          <a:bodyPr wrap="square" lIns="0" tIns="0" rIns="0" bIns="0" anchor="t">
            <a:normAutofit/>
          </a:bodyPr>
          <a:lstStyle/>
          <a:p>
            <a:pPr algn="l">
              <a:buNone/>
            </a:pPr>
            <a:r>
              <a:rPr lang="de-DE" sz="1200" b="1" dirty="0">
                <a:solidFill>
                  <a:srgbClr val="30343A"/>
                </a:solidFill>
              </a:rPr>
              <a:t>Was kann Direktzugriff verifizieren – und was nicht?</a:t>
            </a:r>
          </a:p>
        </p:txBody>
      </p:sp>
      <p:sp>
        <p:nvSpPr>
          <p:cNvPr id="10" name="Title"/>
          <p:cNvSpPr>
            <a:spLocks noGrp="1"/>
          </p:cNvSpPr>
          <p:nvPr>
            <p:ph type="title"/>
          </p:nvPr>
        </p:nvSpPr>
        <p:spPr>
          <a:xfrm>
            <a:off x="373063" y="650591"/>
            <a:ext cx="11447462" cy="553998"/>
          </a:xfrm>
        </p:spPr>
        <p:txBody>
          <a:bodyPr/>
          <a:lstStyle/>
          <a:p>
            <a:r>
              <a:rPr lang="de-DE" sz="2800" b="1" dirty="0"/>
              <a:t>Die Lücke</a:t>
            </a:r>
          </a:p>
        </p:txBody>
      </p:sp>
      <p:sp>
        <p:nvSpPr>
          <p:cNvPr id="11" name="Kicker"/>
          <p:cNvSpPr>
            <a:spLocks noGrp="1"/>
          </p:cNvSpPr>
          <p:nvPr>
            <p:ph type="body" sz="quarter" idx="13"/>
          </p:nvPr>
        </p:nvSpPr>
        <p:spPr>
          <a:xfrm>
            <a:off x="373063" y="373592"/>
            <a:ext cx="11447462" cy="276999"/>
          </a:xfrm>
        </p:spPr>
        <p:txBody>
          <a:bodyPr/>
          <a:lstStyle/>
          <a:p>
            <a:r>
              <a:rPr lang="de-DE" dirty="0"/>
              <a:t>01 · MOTIVATION</a:t>
            </a:r>
          </a:p>
        </p:txBody>
      </p:sp>
      <p:sp>
        <p:nvSpPr>
          <p:cNvPr id="12" name="Footer"/>
          <p:cNvSpPr>
            <a:spLocks noGrp="1"/>
          </p:cNvSpPr>
          <p:nvPr>
            <p:ph type="ftr" sz="quarter" idx="11"/>
          </p:nvPr>
        </p:nvSpPr>
        <p:spPr>
          <a:xfrm>
            <a:off x="952318" y="6482964"/>
            <a:ext cx="3527607" cy="138499"/>
          </a:xfrm>
        </p:spPr>
        <p:txBody>
          <a:bodyPr/>
          <a:lstStyle/>
          <a:p>
            <a:r>
              <a:rPr lang="de-DE" dirty="0"/>
              <a:t>Nathalie Nuber</a:t>
            </a:r>
          </a:p>
        </p:txBody>
      </p:sp>
      <p:sp>
        <p:nvSpPr>
          <p:cNvPr id="13" name="Date"/>
          <p:cNvSpPr>
            <a:spLocks noGrp="1"/>
          </p:cNvSpPr>
          <p:nvPr>
            <p:ph type="dt" sz="half" idx="10"/>
          </p:nvPr>
        </p:nvSpPr>
        <p:spPr>
          <a:xfrm>
            <a:off x="10444922" y="6482964"/>
            <a:ext cx="1058860" cy="138499"/>
          </a:xfrm>
        </p:spPr>
        <p:txBody>
          <a:bodyPr/>
          <a:lstStyle/>
          <a:p>
            <a:r>
              <a:rPr lang="de-DE" dirty="0"/>
              <a:t>22.09.2026</a:t>
            </a:r>
          </a:p>
        </p:txBody>
      </p:sp>
      <p:sp>
        <p:nvSpPr>
          <p:cNvPr id="14" name="SlideNum"/>
          <p:cNvSpPr>
            <a:spLocks noGrp="1"/>
          </p:cNvSpPr>
          <p:nvPr>
            <p:ph type="sldNum" sz="quarter" idx="12"/>
          </p:nvPr>
        </p:nvSpPr>
        <p:spPr>
          <a:xfrm>
            <a:off x="11623675" y="6344464"/>
            <a:ext cx="196850" cy="276999"/>
          </a:xfrm>
        </p:spPr>
        <p:txBody>
          <a:bodyPr/>
          <a:lstStyle/>
          <a:p>
            <a:fld id="{F7C3D2A8-1B44-4E6C-8A90-3D5E7F9C2A22}" type="slidenum">
              <a:rPr lang="de-DE"/>
              <a:t>6</a:t>
            </a:fld>
            <a:endParaRPr lang="de-DE"/>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
                                        </p:tgtEl>
                                        <p:attrNameLst>
                                          <p:attrName>style.visibility</p:attrName>
                                        </p:attrNameLst>
                                      </p:cBhvr>
                                      <p:to>
                                        <p:strVal val="visible"/>
                                      </p:to>
                                    </p:set>
                                    <p:animEffect transition="in" filter="fade">
                                      <p:cBhvr>
                                        <p:cTn id="7" dur="500"/>
                                        <p:tgtEl>
                                          <p:spTgt spid="10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01"/>
                                        </p:tgtEl>
                                        <p:attrNameLst>
                                          <p:attrName>style.visibility</p:attrName>
                                        </p:attrNameLst>
                                      </p:cBhvr>
                                      <p:to>
                                        <p:strVal val="visible"/>
                                      </p:to>
                                    </p:set>
                                    <p:animEffect transition="in" filter="fade">
                                      <p:cBhvr>
                                        <p:cTn id="10" dur="500"/>
                                        <p:tgtEl>
                                          <p:spTgt spid="101"/>
                                        </p:tgtEl>
                                      </p:cBhvr>
                                    </p:animEffect>
                                  </p:childTnLst>
                                </p:cTn>
                              </p:par>
                            </p:childTnLst>
                          </p:cTn>
                        </p:par>
                      </p:childTnLst>
                    </p:cTn>
                  </p:par>
                  <p:par>
                    <p:cTn id="11" fill="hold">
                      <p:stCondLst>
                        <p:cond delay="indefinite"/>
                      </p:stCondLst>
                      <p:childTnLst>
                        <p:par>
                          <p:cTn id="12" fill="hold">
                            <p:stCondLst>
                              <p:cond delay="0"/>
                            </p:stCondLst>
                            <p:childTnLst>
                              <p:par>
                                <p:cTn id="13" presetID="23" presetClass="entr" presetSubtype="0" fill="hold" grpId="0" nodeType="clickEffect">
                                  <p:stCondLst>
                                    <p:cond delay="0"/>
                                  </p:stCondLst>
                                  <p:childTnLst>
                                    <p:set>
                                      <p:cBhvr>
                                        <p:cTn id="14" dur="1" fill="hold">
                                          <p:stCondLst>
                                            <p:cond delay="0"/>
                                          </p:stCondLst>
                                        </p:cTn>
                                        <p:tgtEl>
                                          <p:spTgt spid="110"/>
                                        </p:tgtEl>
                                        <p:attrNameLst>
                                          <p:attrName>style.visibility</p:attrName>
                                        </p:attrNameLst>
                                      </p:cBhvr>
                                      <p:to>
                                        <p:strVal val="visible"/>
                                      </p:to>
                                    </p:set>
                                    <p:animEffect transition="in" filter="fade">
                                      <p:cBhvr>
                                        <p:cTn id="15" dur="500"/>
                                        <p:tgtEl>
                                          <p:spTgt spid="110"/>
                                        </p:tgtEl>
                                      </p:cBhvr>
                                    </p:animEffect>
                                    <p:anim calcmode="lin" valueType="num">
                                      <p:cBhvr>
                                        <p:cTn id="16" dur="500" fill="hold"/>
                                        <p:tgtEl>
                                          <p:spTgt spid="110"/>
                                        </p:tgtEl>
                                        <p:attrNameLst>
                                          <p:attrName>ppt_w</p:attrName>
                                        </p:attrNameLst>
                                      </p:cBhvr>
                                      <p:tavLst>
                                        <p:tav tm="0">
                                          <p:val>
                                            <p:fltVal val="0.2"/>
                                          </p:val>
                                        </p:tav>
                                        <p:tav tm="100000">
                                          <p:val>
                                            <p:strVal val="#ppt_w"/>
                                          </p:val>
                                        </p:tav>
                                      </p:tavLst>
                                    </p:anim>
                                    <p:anim calcmode="lin" valueType="num">
                                      <p:cBhvr>
                                        <p:cTn id="17" dur="500" fill="hold"/>
                                        <p:tgtEl>
                                          <p:spTgt spid="110"/>
                                        </p:tgtEl>
                                        <p:attrNameLst>
                                          <p:attrName>ppt_h</p:attrName>
                                        </p:attrNameLst>
                                      </p:cBhvr>
                                      <p:tavLst>
                                        <p:tav tm="0">
                                          <p:val>
                                            <p:fltVal val="0.2"/>
                                          </p:val>
                                        </p:tav>
                                        <p:tav tm="100000">
                                          <p:val>
                                            <p:strVal val="#ppt_h"/>
                                          </p:val>
                                        </p:tav>
                                      </p:tavLst>
                                    </p:anim>
                                  </p:childTnLst>
                                </p:cTn>
                              </p:par>
                              <p:par>
                                <p:cTn id="18" presetID="23" presetClass="entr" presetSubtype="0" fill="hold" grpId="0" nodeType="withEffect">
                                  <p:stCondLst>
                                    <p:cond delay="0"/>
                                  </p:stCondLst>
                                  <p:childTnLst>
                                    <p:set>
                                      <p:cBhvr>
                                        <p:cTn id="19" dur="1" fill="hold">
                                          <p:stCondLst>
                                            <p:cond delay="0"/>
                                          </p:stCondLst>
                                        </p:cTn>
                                        <p:tgtEl>
                                          <p:spTgt spid="111"/>
                                        </p:tgtEl>
                                        <p:attrNameLst>
                                          <p:attrName>style.visibility</p:attrName>
                                        </p:attrNameLst>
                                      </p:cBhvr>
                                      <p:to>
                                        <p:strVal val="visible"/>
                                      </p:to>
                                    </p:set>
                                    <p:animEffect transition="in" filter="fade">
                                      <p:cBhvr>
                                        <p:cTn id="20" dur="500"/>
                                        <p:tgtEl>
                                          <p:spTgt spid="111"/>
                                        </p:tgtEl>
                                      </p:cBhvr>
                                    </p:animEffect>
                                    <p:anim calcmode="lin" valueType="num">
                                      <p:cBhvr>
                                        <p:cTn id="21" dur="500" fill="hold"/>
                                        <p:tgtEl>
                                          <p:spTgt spid="111"/>
                                        </p:tgtEl>
                                        <p:attrNameLst>
                                          <p:attrName>ppt_w</p:attrName>
                                        </p:attrNameLst>
                                      </p:cBhvr>
                                      <p:tavLst>
                                        <p:tav tm="0">
                                          <p:val>
                                            <p:fltVal val="0.2"/>
                                          </p:val>
                                        </p:tav>
                                        <p:tav tm="100000">
                                          <p:val>
                                            <p:strVal val="#ppt_w"/>
                                          </p:val>
                                        </p:tav>
                                      </p:tavLst>
                                    </p:anim>
                                    <p:anim calcmode="lin" valueType="num">
                                      <p:cBhvr>
                                        <p:cTn id="22" dur="500" fill="hold"/>
                                        <p:tgtEl>
                                          <p:spTgt spid="111"/>
                                        </p:tgtEl>
                                        <p:attrNameLst>
                                          <p:attrName>ppt_h</p:attrName>
                                        </p:attrNameLst>
                                      </p:cBhvr>
                                      <p:tavLst>
                                        <p:tav tm="0">
                                          <p:val>
                                            <p:fltVal val="0.2"/>
                                          </p:val>
                                        </p:tav>
                                        <p:tav tm="100000">
                                          <p:val>
                                            <p:strVal val="#ppt_h"/>
                                          </p:val>
                                        </p:tav>
                                      </p:tavLst>
                                    </p:anim>
                                  </p:childTnLst>
                                </p:cTn>
                              </p:par>
                              <p:par>
                                <p:cTn id="23" presetID="23" presetClass="entr" presetSubtype="0" fill="hold" grpId="0" nodeType="withEffect">
                                  <p:stCondLst>
                                    <p:cond delay="0"/>
                                  </p:stCondLst>
                                  <p:childTnLst>
                                    <p:set>
                                      <p:cBhvr>
                                        <p:cTn id="24" dur="1" fill="hold">
                                          <p:stCondLst>
                                            <p:cond delay="0"/>
                                          </p:stCondLst>
                                        </p:cTn>
                                        <p:tgtEl>
                                          <p:spTgt spid="112"/>
                                        </p:tgtEl>
                                        <p:attrNameLst>
                                          <p:attrName>style.visibility</p:attrName>
                                        </p:attrNameLst>
                                      </p:cBhvr>
                                      <p:to>
                                        <p:strVal val="visible"/>
                                      </p:to>
                                    </p:set>
                                    <p:animEffect transition="in" filter="fade">
                                      <p:cBhvr>
                                        <p:cTn id="25" dur="500"/>
                                        <p:tgtEl>
                                          <p:spTgt spid="112"/>
                                        </p:tgtEl>
                                      </p:cBhvr>
                                    </p:animEffect>
                                    <p:anim calcmode="lin" valueType="num">
                                      <p:cBhvr>
                                        <p:cTn id="26" dur="500" fill="hold"/>
                                        <p:tgtEl>
                                          <p:spTgt spid="112"/>
                                        </p:tgtEl>
                                        <p:attrNameLst>
                                          <p:attrName>ppt_w</p:attrName>
                                        </p:attrNameLst>
                                      </p:cBhvr>
                                      <p:tavLst>
                                        <p:tav tm="0">
                                          <p:val>
                                            <p:fltVal val="0.2"/>
                                          </p:val>
                                        </p:tav>
                                        <p:tav tm="100000">
                                          <p:val>
                                            <p:strVal val="#ppt_w"/>
                                          </p:val>
                                        </p:tav>
                                      </p:tavLst>
                                    </p:anim>
                                    <p:anim calcmode="lin" valueType="num">
                                      <p:cBhvr>
                                        <p:cTn id="27" dur="500" fill="hold"/>
                                        <p:tgtEl>
                                          <p:spTgt spid="112"/>
                                        </p:tgtEl>
                                        <p:attrNameLst>
                                          <p:attrName>ppt_h</p:attrName>
                                        </p:attrNameLst>
                                      </p:cBhvr>
                                      <p:tavLst>
                                        <p:tav tm="0">
                                          <p:val>
                                            <p:fltVal val="0.2"/>
                                          </p:val>
                                        </p:tav>
                                        <p:tav tm="100000">
                                          <p:val>
                                            <p:strVal val="#ppt_h"/>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200"/>
                                        </p:tgtEl>
                                        <p:attrNameLst>
                                          <p:attrName>style.visibility</p:attrName>
                                        </p:attrNameLst>
                                      </p:cBhvr>
                                      <p:to>
                                        <p:strVal val="visible"/>
                                      </p:to>
                                    </p:set>
                                    <p:animEffect transition="in" filter="wipe(left)">
                                      <p:cBhvr>
                                        <p:cTn id="32" dur="500"/>
                                        <p:tgtEl>
                                          <p:spTgt spid="200"/>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00"/>
                                        </p:tgtEl>
                                        <p:attrNameLst>
                                          <p:attrName>style.visibility</p:attrName>
                                        </p:attrNameLst>
                                      </p:cBhvr>
                                      <p:to>
                                        <p:strVal val="visible"/>
                                      </p:to>
                                    </p:set>
                                    <p:animEffect transition="in" filter="fade">
                                      <p:cBhvr>
                                        <p:cTn id="37" dur="500"/>
                                        <p:tgtEl>
                                          <p:spTgt spid="30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301"/>
                                        </p:tgtEl>
                                        <p:attrNameLst>
                                          <p:attrName>style.visibility</p:attrName>
                                        </p:attrNameLst>
                                      </p:cBhvr>
                                      <p:to>
                                        <p:strVal val="visible"/>
                                      </p:to>
                                    </p:set>
                                    <p:animEffect transition="in" filter="fade">
                                      <p:cBhvr>
                                        <p:cTn id="40" dur="500"/>
                                        <p:tgtEl>
                                          <p:spTgt spid="301"/>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02"/>
                                        </p:tgtEl>
                                        <p:attrNameLst>
                                          <p:attrName>style.visibility</p:attrName>
                                        </p:attrNameLst>
                                      </p:cBhvr>
                                      <p:to>
                                        <p:strVal val="visible"/>
                                      </p:to>
                                    </p:set>
                                    <p:animEffect transition="in" filter="fade">
                                      <p:cBhvr>
                                        <p:cTn id="43" dur="500"/>
                                        <p:tgtEl>
                                          <p:spTgt spid="302"/>
                                        </p:tgtEl>
                                      </p:cBhvr>
                                    </p:animEffect>
                                  </p:childTnLst>
                                </p:cTn>
                              </p:par>
                              <p:par>
                                <p:cTn id="44" presetID="10" presetClass="entr" presetSubtype="0" fill="hold" grpId="0" nodeType="withEffect">
                                  <p:stCondLst>
                                    <p:cond delay="300"/>
                                  </p:stCondLst>
                                  <p:childTnLst>
                                    <p:set>
                                      <p:cBhvr>
                                        <p:cTn id="45" dur="1" fill="hold">
                                          <p:stCondLst>
                                            <p:cond delay="0"/>
                                          </p:stCondLst>
                                        </p:cTn>
                                        <p:tgtEl>
                                          <p:spTgt spid="310"/>
                                        </p:tgtEl>
                                        <p:attrNameLst>
                                          <p:attrName>style.visibility</p:attrName>
                                        </p:attrNameLst>
                                      </p:cBhvr>
                                      <p:to>
                                        <p:strVal val="visible"/>
                                      </p:to>
                                    </p:set>
                                    <p:animEffect transition="in" filter="fade">
                                      <p:cBhvr>
                                        <p:cTn id="46" dur="500"/>
                                        <p:tgtEl>
                                          <p:spTgt spid="310"/>
                                        </p:tgtEl>
                                      </p:cBhvr>
                                    </p:animEffect>
                                  </p:childTnLst>
                                </p:cTn>
                              </p:par>
                              <p:par>
                                <p:cTn id="47" presetID="10" presetClass="entr" presetSubtype="0" fill="hold" grpId="0" nodeType="withEffect">
                                  <p:stCondLst>
                                    <p:cond delay="300"/>
                                  </p:stCondLst>
                                  <p:childTnLst>
                                    <p:set>
                                      <p:cBhvr>
                                        <p:cTn id="48" dur="1" fill="hold">
                                          <p:stCondLst>
                                            <p:cond delay="0"/>
                                          </p:stCondLst>
                                        </p:cTn>
                                        <p:tgtEl>
                                          <p:spTgt spid="311"/>
                                        </p:tgtEl>
                                        <p:attrNameLst>
                                          <p:attrName>style.visibility</p:attrName>
                                        </p:attrNameLst>
                                      </p:cBhvr>
                                      <p:to>
                                        <p:strVal val="visible"/>
                                      </p:to>
                                    </p:set>
                                    <p:animEffect transition="in" filter="fade">
                                      <p:cBhvr>
                                        <p:cTn id="49" dur="500"/>
                                        <p:tgtEl>
                                          <p:spTgt spid="311"/>
                                        </p:tgtEl>
                                      </p:cBhvr>
                                    </p:animEffect>
                                  </p:childTnLst>
                                </p:cTn>
                              </p:par>
                              <p:par>
                                <p:cTn id="50" presetID="10" presetClass="entr" presetSubtype="0" fill="hold" grpId="0" nodeType="withEffect">
                                  <p:stCondLst>
                                    <p:cond delay="300"/>
                                  </p:stCondLst>
                                  <p:childTnLst>
                                    <p:set>
                                      <p:cBhvr>
                                        <p:cTn id="51" dur="1" fill="hold">
                                          <p:stCondLst>
                                            <p:cond delay="0"/>
                                          </p:stCondLst>
                                        </p:cTn>
                                        <p:tgtEl>
                                          <p:spTgt spid="312"/>
                                        </p:tgtEl>
                                        <p:attrNameLst>
                                          <p:attrName>style.visibility</p:attrName>
                                        </p:attrNameLst>
                                      </p:cBhvr>
                                      <p:to>
                                        <p:strVal val="visible"/>
                                      </p:to>
                                    </p:set>
                                    <p:animEffect transition="in" filter="fade">
                                      <p:cBhvr>
                                        <p:cTn id="52" dur="500"/>
                                        <p:tgtEl>
                                          <p:spTgt spid="312"/>
                                        </p:tgtEl>
                                      </p:cBhvr>
                                    </p:animEffect>
                                  </p:childTnLst>
                                </p:cTn>
                              </p:par>
                              <p:par>
                                <p:cTn id="53" presetID="10" presetClass="entr" presetSubtype="0" fill="hold" grpId="0" nodeType="withEffect">
                                  <p:stCondLst>
                                    <p:cond delay="600"/>
                                  </p:stCondLst>
                                  <p:childTnLst>
                                    <p:set>
                                      <p:cBhvr>
                                        <p:cTn id="54" dur="1" fill="hold">
                                          <p:stCondLst>
                                            <p:cond delay="0"/>
                                          </p:stCondLst>
                                        </p:cTn>
                                        <p:tgtEl>
                                          <p:spTgt spid="320"/>
                                        </p:tgtEl>
                                        <p:attrNameLst>
                                          <p:attrName>style.visibility</p:attrName>
                                        </p:attrNameLst>
                                      </p:cBhvr>
                                      <p:to>
                                        <p:strVal val="visible"/>
                                      </p:to>
                                    </p:set>
                                    <p:animEffect transition="in" filter="fade">
                                      <p:cBhvr>
                                        <p:cTn id="55" dur="500"/>
                                        <p:tgtEl>
                                          <p:spTgt spid="320"/>
                                        </p:tgtEl>
                                      </p:cBhvr>
                                    </p:animEffect>
                                  </p:childTnLst>
                                </p:cTn>
                              </p:par>
                              <p:par>
                                <p:cTn id="56" presetID="10" presetClass="entr" presetSubtype="0" fill="hold" grpId="0" nodeType="withEffect">
                                  <p:stCondLst>
                                    <p:cond delay="600"/>
                                  </p:stCondLst>
                                  <p:childTnLst>
                                    <p:set>
                                      <p:cBhvr>
                                        <p:cTn id="57" dur="1" fill="hold">
                                          <p:stCondLst>
                                            <p:cond delay="0"/>
                                          </p:stCondLst>
                                        </p:cTn>
                                        <p:tgtEl>
                                          <p:spTgt spid="321"/>
                                        </p:tgtEl>
                                        <p:attrNameLst>
                                          <p:attrName>style.visibility</p:attrName>
                                        </p:attrNameLst>
                                      </p:cBhvr>
                                      <p:to>
                                        <p:strVal val="visible"/>
                                      </p:to>
                                    </p:set>
                                    <p:animEffect transition="in" filter="fade">
                                      <p:cBhvr>
                                        <p:cTn id="58" dur="500"/>
                                        <p:tgtEl>
                                          <p:spTgt spid="321"/>
                                        </p:tgtEl>
                                      </p:cBhvr>
                                    </p:animEffect>
                                  </p:childTnLst>
                                </p:cTn>
                              </p:par>
                              <p:par>
                                <p:cTn id="59" presetID="10" presetClass="entr" presetSubtype="0" fill="hold" grpId="0" nodeType="withEffect">
                                  <p:stCondLst>
                                    <p:cond delay="600"/>
                                  </p:stCondLst>
                                  <p:childTnLst>
                                    <p:set>
                                      <p:cBhvr>
                                        <p:cTn id="60" dur="1" fill="hold">
                                          <p:stCondLst>
                                            <p:cond delay="0"/>
                                          </p:stCondLst>
                                        </p:cTn>
                                        <p:tgtEl>
                                          <p:spTgt spid="322"/>
                                        </p:tgtEl>
                                        <p:attrNameLst>
                                          <p:attrName>style.visibility</p:attrName>
                                        </p:attrNameLst>
                                      </p:cBhvr>
                                      <p:to>
                                        <p:strVal val="visible"/>
                                      </p:to>
                                    </p:set>
                                    <p:animEffect transition="in" filter="fade">
                                      <p:cBhvr>
                                        <p:cTn id="61" dur="500"/>
                                        <p:tgtEl>
                                          <p:spTgt spid="3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 grpId="0" animBg="1"/>
      <p:bldP spid="101" grpId="0" animBg="1"/>
      <p:bldP spid="110" grpId="0" animBg="1"/>
      <p:bldP spid="111" grpId="0" animBg="1"/>
      <p:bldP spid="112" grpId="0"/>
      <p:bldP spid="200" grpId="0" animBg="1"/>
      <p:bldP spid="300" grpId="0" animBg="1"/>
      <p:bldP spid="301" grpId="0" animBg="1"/>
      <p:bldP spid="302" grpId="0"/>
      <p:bldP spid="310" grpId="0" animBg="1"/>
      <p:bldP spid="311" grpId="0" animBg="1"/>
      <p:bldP spid="312" grpId="0"/>
      <p:bldP spid="320" grpId="0" animBg="1"/>
      <p:bldP spid="321" grpId="0" animBg="1"/>
      <p:bldP spid="32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normAutofit fontScale="90000"/>
          </a:bodyPr>
          <a:lstStyle/>
          <a:p>
            <a:r>
              <a:rPr lang="de-DE" dirty="0"/>
              <a:t>Ableitung am Beispiel RQ-012</a:t>
            </a:r>
          </a:p>
        </p:txBody>
      </p:sp>
      <p:grpSp>
        <p:nvGrpSpPr>
          <p:cNvPr id="10" name="Stufe1"/>
          <p:cNvGrpSpPr/>
          <p:nvPr/>
        </p:nvGrpSpPr>
        <p:grpSpPr>
          <a:xfrm>
            <a:off x="373063" y="1550000"/>
            <a:ext cx="3050000" cy="1900000"/>
            <a:chOff x="373063" y="1550000"/>
            <a:chExt cx="3050000" cy="1900000"/>
          </a:xfrm>
        </p:grpSpPr>
        <p:sp>
          <p:nvSpPr>
            <p:cNvPr id="11" name="Segment1"/>
            <p:cNvSpPr/>
            <p:nvPr/>
          </p:nvSpPr>
          <p:spPr>
            <a:xfrm>
              <a:off x="373063" y="1550000"/>
              <a:ext cx="3050000" cy="1900000"/>
            </a:xfrm>
            <a:prstGeom prst="homePlate">
              <a:avLst>
                <a:gd name="adj" fmla="val 30000"/>
              </a:avLst>
            </a:prstGeom>
            <a:solidFill>
              <a:schemeClr val="accent4"/>
            </a:solidFill>
            <a:ln>
              <a:noFill/>
            </a:ln>
          </p:spPr>
          <p:txBody>
            <a:bodyPr/>
            <a:lstStyle/>
            <a:p>
              <a:endParaRPr/>
            </a:p>
          </p:txBody>
        </p:sp>
        <p:sp>
          <p:nvSpPr>
            <p:cNvPr id="12" name="Text1"/>
            <p:cNvSpPr/>
            <p:nvPr/>
          </p:nvSpPr>
          <p:spPr>
            <a:xfrm>
              <a:off x="548063" y="1550000"/>
              <a:ext cx="2700000" cy="1900000"/>
            </a:xfrm>
            <a:prstGeom prst="rect">
              <a:avLst/>
            </a:prstGeom>
            <a:noFill/>
            <a:ln>
              <a:noFill/>
            </a:ln>
          </p:spPr>
          <p:txBody>
            <a:bodyPr wrap="square" lIns="45720" tIns="45720" rIns="45720" bIns="45720" anchor="ctr">
              <a:noAutofit/>
            </a:bodyPr>
            <a:lstStyle/>
            <a:p>
              <a:pPr algn="ctr"/>
              <a:r>
                <a:rPr lang="de-DE" sz="1800" b="1" dirty="0">
                  <a:solidFill>
                    <a:schemeClr val="accent1"/>
                  </a:solidFill>
                </a:rPr>
                <a:t>1</a:t>
              </a:r>
            </a:p>
            <a:p>
              <a:pPr algn="ctr"/>
              <a:r>
                <a:rPr lang="de-DE" sz="1400" b="1" dirty="0">
                  <a:solidFill>
                    <a:schemeClr val="accent1"/>
                  </a:solidFill>
                </a:rPr>
                <a:t>Anhang III, 1.2.1</a:t>
              </a:r>
            </a:p>
            <a:p>
              <a:pPr algn="ctr"/>
              <a:r>
                <a:rPr lang="de-DE" sz="1400" b="0" dirty="0">
                  <a:solidFill>
                    <a:schemeClr val="accent1"/>
                  </a:solidFill>
                </a:rPr>
                <a:t>Tracing-Log, fünf Jahre aufzubewahren</a:t>
              </a:r>
            </a:p>
          </p:txBody>
        </p:sp>
      </p:grpSp>
      <p:grpSp>
        <p:nvGrpSpPr>
          <p:cNvPr id="20" name="Stufe2"/>
          <p:cNvGrpSpPr/>
          <p:nvPr/>
        </p:nvGrpSpPr>
        <p:grpSpPr>
          <a:xfrm>
            <a:off x="3123063" y="1550000"/>
            <a:ext cx="3050000" cy="1900000"/>
            <a:chOff x="3123063" y="1550000"/>
            <a:chExt cx="3050000" cy="1900000"/>
          </a:xfrm>
        </p:grpSpPr>
        <p:sp>
          <p:nvSpPr>
            <p:cNvPr id="21" name="Segment2"/>
            <p:cNvSpPr/>
            <p:nvPr/>
          </p:nvSpPr>
          <p:spPr>
            <a:xfrm>
              <a:off x="3123063" y="1550000"/>
              <a:ext cx="3050000" cy="1900000"/>
            </a:xfrm>
            <a:prstGeom prst="chevron">
              <a:avLst>
                <a:gd name="adj" fmla="val 30000"/>
              </a:avLst>
            </a:prstGeom>
            <a:solidFill>
              <a:schemeClr val="accent3"/>
            </a:solidFill>
            <a:ln>
              <a:noFill/>
            </a:ln>
          </p:spPr>
          <p:txBody>
            <a:bodyPr/>
            <a:lstStyle/>
            <a:p>
              <a:endParaRPr/>
            </a:p>
          </p:txBody>
        </p:sp>
        <p:sp>
          <p:nvSpPr>
            <p:cNvPr id="22" name="Text2"/>
            <p:cNvSpPr/>
            <p:nvPr/>
          </p:nvSpPr>
          <p:spPr>
            <a:xfrm>
              <a:off x="3523063" y="1550000"/>
              <a:ext cx="2250000" cy="19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2</a:t>
              </a:r>
            </a:p>
            <a:p>
              <a:pPr algn="ctr"/>
              <a:r>
                <a:rPr lang="de-DE" sz="1400" b="1" dirty="0">
                  <a:solidFill>
                    <a:srgbClr val="FFFFFF"/>
                  </a:solidFill>
                </a:rPr>
                <a:t>prEN 50742 §7.3.4</a:t>
              </a:r>
            </a:p>
            <a:p>
              <a:pPr algn="ctr"/>
              <a:r>
                <a:rPr lang="de-DE" sz="1400" b="0" dirty="0">
                  <a:solidFill>
                    <a:srgbClr val="FFFFFF"/>
                  </a:solidFill>
                </a:rPr>
                <a:t>Mindestinhalt und Aufbewahrung</a:t>
              </a:r>
            </a:p>
          </p:txBody>
        </p:sp>
      </p:grpSp>
      <p:grpSp>
        <p:nvGrpSpPr>
          <p:cNvPr id="30" name="Stufe3"/>
          <p:cNvGrpSpPr/>
          <p:nvPr/>
        </p:nvGrpSpPr>
        <p:grpSpPr>
          <a:xfrm>
            <a:off x="5873063" y="1550000"/>
            <a:ext cx="3050000" cy="1900000"/>
            <a:chOff x="5873063" y="1550000"/>
            <a:chExt cx="3050000" cy="1900000"/>
          </a:xfrm>
        </p:grpSpPr>
        <p:sp>
          <p:nvSpPr>
            <p:cNvPr id="31" name="Segment3"/>
            <p:cNvSpPr/>
            <p:nvPr/>
          </p:nvSpPr>
          <p:spPr>
            <a:xfrm>
              <a:off x="5873063" y="1550000"/>
              <a:ext cx="3050000" cy="1900000"/>
            </a:xfrm>
            <a:prstGeom prst="chevron">
              <a:avLst>
                <a:gd name="adj" fmla="val 30000"/>
              </a:avLst>
            </a:prstGeom>
            <a:solidFill>
              <a:schemeClr val="accent2"/>
            </a:solidFill>
            <a:ln>
              <a:noFill/>
            </a:ln>
          </p:spPr>
          <p:txBody>
            <a:bodyPr/>
            <a:lstStyle/>
            <a:p>
              <a:endParaRPr/>
            </a:p>
          </p:txBody>
        </p:sp>
        <p:sp>
          <p:nvSpPr>
            <p:cNvPr id="32" name="Text3"/>
            <p:cNvSpPr/>
            <p:nvPr/>
          </p:nvSpPr>
          <p:spPr>
            <a:xfrm>
              <a:off x="6273063" y="1550000"/>
              <a:ext cx="2250000" cy="19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3</a:t>
              </a:r>
            </a:p>
            <a:p>
              <a:pPr algn="ctr"/>
              <a:r>
                <a:rPr lang="de-DE" sz="1400" b="1" dirty="0">
                  <a:solidFill>
                    <a:srgbClr val="FFFFFF"/>
                  </a:solidFill>
                </a:rPr>
                <a:t>IEC 62443-4-2</a:t>
              </a:r>
            </a:p>
            <a:p>
              <a:pPr algn="ctr"/>
              <a:r>
                <a:rPr lang="de-DE" sz="1400" b="1" dirty="0">
                  <a:solidFill>
                    <a:srgbClr val="FFFFFF"/>
                  </a:solidFill>
                </a:rPr>
                <a:t>CR 2.8 und CR 2.9</a:t>
              </a:r>
            </a:p>
            <a:p>
              <a:pPr algn="ctr"/>
              <a:r>
                <a:rPr lang="de-DE" sz="1400" b="0" dirty="0">
                  <a:solidFill>
                    <a:srgbClr val="FFFFFF"/>
                  </a:solidFill>
                </a:rPr>
                <a:t>Auditable Events und Audit Storage Capacity</a:t>
              </a:r>
            </a:p>
          </p:txBody>
        </p:sp>
      </p:grpSp>
      <p:grpSp>
        <p:nvGrpSpPr>
          <p:cNvPr id="40" name="Stufe4"/>
          <p:cNvGrpSpPr/>
          <p:nvPr/>
        </p:nvGrpSpPr>
        <p:grpSpPr>
          <a:xfrm>
            <a:off x="8623063" y="1550000"/>
            <a:ext cx="3050000" cy="1900000"/>
            <a:chOff x="8623063" y="1550000"/>
            <a:chExt cx="3050000" cy="1900000"/>
          </a:xfrm>
        </p:grpSpPr>
        <p:sp>
          <p:nvSpPr>
            <p:cNvPr id="41" name="Segment4"/>
            <p:cNvSpPr/>
            <p:nvPr/>
          </p:nvSpPr>
          <p:spPr>
            <a:xfrm>
              <a:off x="8623063" y="1550000"/>
              <a:ext cx="3050000" cy="1900000"/>
            </a:xfrm>
            <a:prstGeom prst="chevron">
              <a:avLst>
                <a:gd name="adj" fmla="val 30000"/>
              </a:avLst>
            </a:prstGeom>
            <a:solidFill>
              <a:schemeClr val="accent5"/>
            </a:solidFill>
            <a:ln>
              <a:noFill/>
            </a:ln>
          </p:spPr>
          <p:txBody>
            <a:bodyPr/>
            <a:lstStyle/>
            <a:p>
              <a:endParaRPr/>
            </a:p>
          </p:txBody>
        </p:sp>
        <p:sp>
          <p:nvSpPr>
            <p:cNvPr id="42" name="Text4"/>
            <p:cNvSpPr/>
            <p:nvPr/>
          </p:nvSpPr>
          <p:spPr>
            <a:xfrm>
              <a:off x="9023063" y="1550000"/>
              <a:ext cx="2250000" cy="1900000"/>
            </a:xfrm>
            <a:prstGeom prst="rect">
              <a:avLst/>
            </a:prstGeom>
            <a:noFill/>
            <a:ln>
              <a:noFill/>
            </a:ln>
          </p:spPr>
          <p:txBody>
            <a:bodyPr wrap="square" lIns="45720" tIns="45720" rIns="45720" bIns="45720" anchor="ctr">
              <a:noAutofit/>
            </a:bodyPr>
            <a:lstStyle/>
            <a:p>
              <a:pPr algn="ctr"/>
              <a:r>
                <a:rPr lang="de-DE" sz="1800" b="1" dirty="0">
                  <a:solidFill>
                    <a:srgbClr val="FFFFFF"/>
                  </a:solidFill>
                </a:rPr>
                <a:t>4</a:t>
              </a:r>
            </a:p>
            <a:p>
              <a:pPr algn="ctr"/>
              <a:r>
                <a:rPr lang="de-DE" sz="1400" b="1" dirty="0">
                  <a:solidFill>
                    <a:srgbClr val="FFFFFF"/>
                  </a:solidFill>
                </a:rPr>
                <a:t>Konkreter Testfall am Prüfling</a:t>
              </a:r>
            </a:p>
          </p:txBody>
        </p:sp>
      </p:grpSp>
      <p:sp>
        <p:nvSpPr>
          <p:cNvPr id="50" name="Fusszeile"/>
          <p:cNvSpPr/>
          <p:nvPr/>
        </p:nvSpPr>
        <p:spPr>
          <a:xfrm>
            <a:off x="0" y="5330000"/>
            <a:ext cx="12192000" cy="800000"/>
          </a:xfrm>
          <a:prstGeom prst="rect">
            <a:avLst/>
          </a:prstGeom>
          <a:solidFill>
            <a:schemeClr val="accent2"/>
          </a:solidFill>
          <a:ln>
            <a:noFill/>
          </a:ln>
        </p:spPr>
        <p:txBody>
          <a:bodyPr wrap="square" lIns="45720" tIns="45720" rIns="45720" bIns="45720" anchor="ctr">
            <a:noAutofit/>
          </a:bodyPr>
          <a:lstStyle/>
          <a:p>
            <a:pPr algn="ctr"/>
            <a:r>
              <a:rPr lang="de-DE" sz="1800" b="1" dirty="0">
                <a:solidFill>
                  <a:srgbClr val="FFFFFF"/>
                </a:solidFill>
              </a:rPr>
              <a:t>14 abgeleitete Anforderungen insgesamt · Bewertungsbasis SL-C 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par>
                          <p:cTn id="23" fill="hold">
                            <p:stCondLst>
                              <p:cond delay="0"/>
                            </p:stCondLst>
                            <p:childTnLst>
                              <p:par>
                                <p:cTn id="24" presetID="1" presetClass="emph" presetSubtype="0" fill="hold" nodeType="afterEffect">
                                  <p:stCondLst>
                                    <p:cond delay="0"/>
                                  </p:stCondLst>
                                  <p:childTnLst>
                                    <p:anim calcmode="lin" valueType="num">
                                      <p:cBhvr>
                                        <p:cTn id="25" dur="500" autoRev="1" fill="hold"/>
                                        <p:tgtEl>
                                          <p:spTgt spid="40"/>
                                        </p:tgtEl>
                                        <p:attrNameLst>
                                          <p:attrName>style.opacity</p:attrName>
                                        </p:attrNameLst>
                                      </p:cBhvr>
                                      <p:tavLst>
                                        <p:tav tm="0">
                                          <p:val>
                                            <p:fltVal val="1"/>
                                          </p:val>
                                        </p:tav>
                                        <p:tav tm="100000">
                                          <p:val>
                                            <p:fltVal val="0.3"/>
                                          </p:val>
                                        </p:tav>
                                      </p:tavLst>
                                    </p:anim>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 name="mini0"/>
          <p:cNvSpPr/>
          <p:nvPr/>
        </p:nvSpPr>
        <p:spPr>
          <a:xfrm>
            <a:off x="373063" y="1560000"/>
            <a:ext cx="1750000" cy="300000"/>
          </a:xfrm>
          <a:prstGeom prst="rect">
            <a:avLst/>
          </a:prstGeom>
          <a:solidFill>
            <a:srgbClr val="FFFFFF"/>
          </a:solidFill>
          <a:ln w="9525">
            <a:solidFill>
              <a:srgbClr val="C1C5C8"/>
            </a:solidFill>
          </a:ln>
        </p:spPr>
        <p:txBody>
          <a:bodyPr wrap="square" lIns="91440" tIns="36000" rIns="91440" bIns="36000" anchor="ctr"/>
          <a:lstStyle/>
          <a:p>
            <a:pPr algn="ctr"/>
            <a:r>
              <a:rPr lang="de-DE" sz="900" b="1" dirty="0">
                <a:solidFill>
                  <a:srgbClr val="C1C5C8"/>
                </a:solidFill>
                <a:latin typeface="Arial"/>
              </a:rPr>
              <a:t>Anhang III</a:t>
            </a:r>
          </a:p>
        </p:txBody>
      </p:sp>
      <p:sp>
        <p:nvSpPr>
          <p:cNvPr id="110" name="miniar0"/>
          <p:cNvSpPr/>
          <p:nvPr/>
        </p:nvSpPr>
        <p:spPr>
          <a:xfrm>
            <a:off x="2173063" y="1655000"/>
            <a:ext cx="140000" cy="110000"/>
          </a:xfrm>
          <a:prstGeom prst="rightArrow">
            <a:avLst/>
          </a:prstGeom>
          <a:solidFill>
            <a:srgbClr val="C1C5C8"/>
          </a:solidFill>
          <a:ln>
            <a:noFill/>
          </a:ln>
        </p:spPr>
        <p:txBody>
          <a:bodyPr wrap="square" lIns="91440" tIns="36000" rIns="91440" bIns="36000" anchor="ctr"/>
          <a:lstStyle/>
          <a:p>
            <a:endParaRPr/>
          </a:p>
        </p:txBody>
      </p:sp>
      <p:sp>
        <p:nvSpPr>
          <p:cNvPr id="101" name="mini1"/>
          <p:cNvSpPr/>
          <p:nvPr/>
        </p:nvSpPr>
        <p:spPr>
          <a:xfrm>
            <a:off x="2363063" y="1560000"/>
            <a:ext cx="1750000" cy="300000"/>
          </a:xfrm>
          <a:prstGeom prst="rect">
            <a:avLst/>
          </a:prstGeom>
          <a:solidFill>
            <a:srgbClr val="FFFFFF"/>
          </a:solidFill>
          <a:ln w="9525">
            <a:solidFill>
              <a:srgbClr val="C1C5C8"/>
            </a:solidFill>
          </a:ln>
        </p:spPr>
        <p:txBody>
          <a:bodyPr wrap="square" lIns="91440" tIns="36000" rIns="91440" bIns="36000" anchor="ctr"/>
          <a:lstStyle/>
          <a:p>
            <a:pPr algn="ctr"/>
            <a:r>
              <a:rPr lang="de-DE" sz="900" b="1" dirty="0">
                <a:solidFill>
                  <a:srgbClr val="C1C5C8"/>
                </a:solidFill>
                <a:latin typeface="Arial"/>
              </a:rPr>
              <a:t>14 Anforderungen</a:t>
            </a:r>
          </a:p>
        </p:txBody>
      </p:sp>
      <p:sp>
        <p:nvSpPr>
          <p:cNvPr id="111" name="miniar1"/>
          <p:cNvSpPr/>
          <p:nvPr/>
        </p:nvSpPr>
        <p:spPr>
          <a:xfrm>
            <a:off x="4163063" y="1655000"/>
            <a:ext cx="140000" cy="110000"/>
          </a:xfrm>
          <a:prstGeom prst="rightArrow">
            <a:avLst/>
          </a:prstGeom>
          <a:solidFill>
            <a:srgbClr val="C1C5C8"/>
          </a:solidFill>
          <a:ln>
            <a:noFill/>
          </a:ln>
        </p:spPr>
        <p:txBody>
          <a:bodyPr wrap="square" lIns="91440" tIns="36000" rIns="91440" bIns="36000" anchor="ctr"/>
          <a:lstStyle/>
          <a:p>
            <a:endParaRPr/>
          </a:p>
        </p:txBody>
      </p:sp>
      <p:sp>
        <p:nvSpPr>
          <p:cNvPr id="102" name="mini2"/>
          <p:cNvSpPr/>
          <p:nvPr/>
        </p:nvSpPr>
        <p:spPr>
          <a:xfrm>
            <a:off x="4353063" y="1560000"/>
            <a:ext cx="1750000" cy="300000"/>
          </a:xfrm>
          <a:prstGeom prst="rect">
            <a:avLst/>
          </a:prstGeom>
          <a:solidFill>
            <a:srgbClr val="FFFFFF"/>
          </a:solidFill>
          <a:ln w="9525">
            <a:solidFill>
              <a:srgbClr val="C1C5C8"/>
            </a:solidFill>
          </a:ln>
        </p:spPr>
        <p:txBody>
          <a:bodyPr wrap="square" lIns="91440" tIns="36000" rIns="91440" bIns="36000" anchor="ctr"/>
          <a:lstStyle/>
          <a:p>
            <a:pPr algn="ctr"/>
            <a:r>
              <a:rPr lang="de-DE" sz="900" b="1" dirty="0">
                <a:solidFill>
                  <a:srgbClr val="C1C5C8"/>
                </a:solidFill>
                <a:latin typeface="Arial"/>
              </a:rPr>
              <a:t>prEN 50742</a:t>
            </a:r>
          </a:p>
        </p:txBody>
      </p:sp>
      <p:sp>
        <p:nvSpPr>
          <p:cNvPr id="112" name="miniar2"/>
          <p:cNvSpPr/>
          <p:nvPr/>
        </p:nvSpPr>
        <p:spPr>
          <a:xfrm>
            <a:off x="6153063" y="1655000"/>
            <a:ext cx="140000" cy="110000"/>
          </a:xfrm>
          <a:prstGeom prst="rightArrow">
            <a:avLst/>
          </a:prstGeom>
          <a:solidFill>
            <a:srgbClr val="C1C5C8"/>
          </a:solidFill>
          <a:ln>
            <a:noFill/>
          </a:ln>
        </p:spPr>
        <p:txBody>
          <a:bodyPr wrap="square" lIns="91440" tIns="36000" rIns="91440" bIns="36000" anchor="ctr"/>
          <a:lstStyle/>
          <a:p>
            <a:endParaRPr/>
          </a:p>
        </p:txBody>
      </p:sp>
      <p:sp>
        <p:nvSpPr>
          <p:cNvPr id="103" name="mini3"/>
          <p:cNvSpPr/>
          <p:nvPr/>
        </p:nvSpPr>
        <p:spPr>
          <a:xfrm>
            <a:off x="6343063" y="1560000"/>
            <a:ext cx="1750000" cy="300000"/>
          </a:xfrm>
          <a:prstGeom prst="rect">
            <a:avLst/>
          </a:prstGeom>
          <a:solidFill>
            <a:srgbClr val="FFFFFF"/>
          </a:solidFill>
          <a:ln w="9525">
            <a:solidFill>
              <a:srgbClr val="C1C5C8"/>
            </a:solidFill>
          </a:ln>
        </p:spPr>
        <p:txBody>
          <a:bodyPr wrap="square" lIns="91440" tIns="36000" rIns="91440" bIns="36000" anchor="ctr"/>
          <a:lstStyle/>
          <a:p>
            <a:pPr algn="ctr"/>
            <a:r>
              <a:rPr lang="de-DE" sz="900" b="1" dirty="0">
                <a:solidFill>
                  <a:srgbClr val="C1C5C8"/>
                </a:solidFill>
                <a:latin typeface="Arial"/>
              </a:rPr>
              <a:t>IEC 62443-4-2</a:t>
            </a:r>
          </a:p>
        </p:txBody>
      </p:sp>
      <p:sp>
        <p:nvSpPr>
          <p:cNvPr id="200" name="stufe0"/>
          <p:cNvSpPr/>
          <p:nvPr/>
        </p:nvSpPr>
        <p:spPr>
          <a:xfrm>
            <a:off x="373063" y="2120000"/>
            <a:ext cx="8600000" cy="720000"/>
          </a:xfrm>
          <a:prstGeom prst="rect">
            <a:avLst/>
          </a:prstGeom>
          <a:solidFill>
            <a:srgbClr val="FFFFFF"/>
          </a:solidFill>
          <a:ln w="9525">
            <a:solidFill>
              <a:srgbClr val="C1C5C8"/>
            </a:solidFill>
          </a:ln>
        </p:spPr>
        <p:txBody>
          <a:bodyPr wrap="square" lIns="91440" tIns="36000" rIns="91440" bIns="36000" anchor="ctr"/>
          <a:lstStyle/>
          <a:p>
            <a:endParaRPr/>
          </a:p>
        </p:txBody>
      </p:sp>
      <p:sp>
        <p:nvSpPr>
          <p:cNvPr id="201" name="kante0"/>
          <p:cNvSpPr/>
          <p:nvPr/>
        </p:nvSpPr>
        <p:spPr>
          <a:xfrm>
            <a:off x="373063" y="2120000"/>
            <a:ext cx="90000" cy="720000"/>
          </a:xfrm>
          <a:prstGeom prst="rect">
            <a:avLst/>
          </a:prstGeom>
          <a:solidFill>
            <a:srgbClr val="5B666F"/>
          </a:solidFill>
          <a:ln>
            <a:noFill/>
          </a:ln>
        </p:spPr>
        <p:txBody>
          <a:bodyPr wrap="square" lIns="91440" tIns="36000" rIns="91440" bIns="36000" anchor="ctr"/>
          <a:lstStyle/>
          <a:p>
            <a:endParaRPr/>
          </a:p>
        </p:txBody>
      </p:sp>
      <p:sp>
        <p:nvSpPr>
          <p:cNvPr id="202" name="txt0"/>
          <p:cNvSpPr/>
          <p:nvPr/>
        </p:nvSpPr>
        <p:spPr>
          <a:xfrm>
            <a:off x="603063" y="2120000"/>
            <a:ext cx="3100000" cy="720000"/>
          </a:xfrm>
          <a:prstGeom prst="rect">
            <a:avLst/>
          </a:prstGeom>
          <a:noFill/>
          <a:ln>
            <a:noFill/>
          </a:ln>
        </p:spPr>
        <p:txBody>
          <a:bodyPr wrap="square" lIns="91440" tIns="36000" rIns="91440" bIns="36000" anchor="ctr"/>
          <a:lstStyle/>
          <a:p>
            <a:pPr algn="l"/>
            <a:r>
              <a:rPr lang="de-DE" sz="1300" b="1" dirty="0">
                <a:solidFill>
                  <a:srgbClr val="30343A"/>
                </a:solidFill>
                <a:latin typeface="Arial"/>
              </a:rPr>
              <a:t>Anhang III, 1.1.9</a:t>
            </a:r>
          </a:p>
        </p:txBody>
      </p:sp>
      <p:sp>
        <p:nvSpPr>
          <p:cNvPr id="203" name="sub0"/>
          <p:cNvSpPr/>
          <p:nvPr/>
        </p:nvSpPr>
        <p:spPr>
          <a:xfrm>
            <a:off x="3773063" y="2120000"/>
            <a:ext cx="5000000" cy="720000"/>
          </a:xfrm>
          <a:prstGeom prst="rect">
            <a:avLst/>
          </a:prstGeom>
          <a:noFill/>
          <a:ln>
            <a:noFill/>
          </a:ln>
        </p:spPr>
        <p:txBody>
          <a:bodyPr wrap="square" lIns="91440" tIns="36000" rIns="91440" bIns="36000" anchor="ctr"/>
          <a:lstStyle/>
          <a:p>
            <a:pPr algn="l"/>
            <a:r>
              <a:rPr lang="de-DE" sz="1150" b="0" dirty="0">
                <a:solidFill>
                  <a:srgbClr val="808890"/>
                </a:solidFill>
                <a:latin typeface="Arial"/>
              </a:rPr>
              <a:t>Nachweise über Eingriffe sammeln</a:t>
            </a:r>
          </a:p>
        </p:txBody>
      </p:sp>
      <p:sp>
        <p:nvSpPr>
          <p:cNvPr id="210" name="stufe1"/>
          <p:cNvSpPr/>
          <p:nvPr/>
        </p:nvSpPr>
        <p:spPr>
          <a:xfrm>
            <a:off x="373063" y="2970000"/>
            <a:ext cx="8600000" cy="720000"/>
          </a:xfrm>
          <a:prstGeom prst="rect">
            <a:avLst/>
          </a:prstGeom>
          <a:solidFill>
            <a:srgbClr val="FFFFFF"/>
          </a:solidFill>
          <a:ln w="9525">
            <a:solidFill>
              <a:srgbClr val="C1C5C8"/>
            </a:solidFill>
          </a:ln>
        </p:spPr>
        <p:txBody>
          <a:bodyPr wrap="square" lIns="91440" tIns="36000" rIns="91440" bIns="36000" anchor="ctr"/>
          <a:lstStyle/>
          <a:p>
            <a:endParaRPr/>
          </a:p>
        </p:txBody>
      </p:sp>
      <p:sp>
        <p:nvSpPr>
          <p:cNvPr id="211" name="kante1"/>
          <p:cNvSpPr/>
          <p:nvPr/>
        </p:nvSpPr>
        <p:spPr>
          <a:xfrm>
            <a:off x="373063" y="2970000"/>
            <a:ext cx="90000" cy="720000"/>
          </a:xfrm>
          <a:prstGeom prst="rect">
            <a:avLst/>
          </a:prstGeom>
          <a:solidFill>
            <a:srgbClr val="FF6E00"/>
          </a:solidFill>
          <a:ln>
            <a:noFill/>
          </a:ln>
        </p:spPr>
        <p:txBody>
          <a:bodyPr wrap="square" lIns="91440" tIns="36000" rIns="91440" bIns="36000" anchor="ctr"/>
          <a:lstStyle/>
          <a:p>
            <a:endParaRPr/>
          </a:p>
        </p:txBody>
      </p:sp>
      <p:sp>
        <p:nvSpPr>
          <p:cNvPr id="212" name="txt1"/>
          <p:cNvSpPr/>
          <p:nvPr/>
        </p:nvSpPr>
        <p:spPr>
          <a:xfrm>
            <a:off x="603063" y="2970000"/>
            <a:ext cx="3100000" cy="720000"/>
          </a:xfrm>
          <a:prstGeom prst="rect">
            <a:avLst/>
          </a:prstGeom>
          <a:noFill/>
          <a:ln>
            <a:noFill/>
          </a:ln>
        </p:spPr>
        <p:txBody>
          <a:bodyPr wrap="square" lIns="91440" tIns="36000" rIns="91440" bIns="36000" anchor="ctr"/>
          <a:lstStyle/>
          <a:p>
            <a:pPr algn="l"/>
            <a:r>
              <a:rPr lang="de-DE" sz="1300" b="1" dirty="0">
                <a:solidFill>
                  <a:srgbClr val="30343A"/>
                </a:solidFill>
                <a:latin typeface="Arial"/>
              </a:rPr>
              <a:t>RQ-003 · Zurechenbarkeit</a:t>
            </a:r>
          </a:p>
        </p:txBody>
      </p:sp>
      <p:sp>
        <p:nvSpPr>
          <p:cNvPr id="213" name="sub1"/>
          <p:cNvSpPr/>
          <p:nvPr/>
        </p:nvSpPr>
        <p:spPr>
          <a:xfrm>
            <a:off x="3773063" y="2970000"/>
            <a:ext cx="5000000" cy="720000"/>
          </a:xfrm>
          <a:prstGeom prst="rect">
            <a:avLst/>
          </a:prstGeom>
          <a:noFill/>
          <a:ln>
            <a:noFill/>
          </a:ln>
        </p:spPr>
        <p:txBody>
          <a:bodyPr wrap="square" lIns="91440" tIns="36000" rIns="91440" bIns="36000" anchor="ctr"/>
          <a:lstStyle/>
          <a:p>
            <a:pPr algn="l"/>
            <a:r>
              <a:rPr lang="de-DE" sz="1150" b="0" dirty="0">
                <a:solidFill>
                  <a:srgbClr val="808890"/>
                </a:solidFill>
                <a:latin typeface="Arial"/>
              </a:rPr>
              <a:t>Nachweis = Erkennbarkeit, dass etwas geschah</a:t>
            </a:r>
          </a:p>
        </p:txBody>
      </p:sp>
      <p:sp>
        <p:nvSpPr>
          <p:cNvPr id="220" name="stufe2"/>
          <p:cNvSpPr/>
          <p:nvPr/>
        </p:nvSpPr>
        <p:spPr>
          <a:xfrm>
            <a:off x="373063" y="3820000"/>
            <a:ext cx="8600000" cy="720000"/>
          </a:xfrm>
          <a:prstGeom prst="rect">
            <a:avLst/>
          </a:prstGeom>
          <a:solidFill>
            <a:srgbClr val="FFFFFF"/>
          </a:solidFill>
          <a:ln w="9525">
            <a:solidFill>
              <a:srgbClr val="C1C5C8"/>
            </a:solidFill>
          </a:ln>
        </p:spPr>
        <p:txBody>
          <a:bodyPr wrap="square" lIns="91440" tIns="36000" rIns="91440" bIns="36000" anchor="ctr"/>
          <a:lstStyle/>
          <a:p>
            <a:endParaRPr/>
          </a:p>
        </p:txBody>
      </p:sp>
      <p:sp>
        <p:nvSpPr>
          <p:cNvPr id="221" name="kante2"/>
          <p:cNvSpPr/>
          <p:nvPr/>
        </p:nvSpPr>
        <p:spPr>
          <a:xfrm>
            <a:off x="373063" y="3820000"/>
            <a:ext cx="90000" cy="720000"/>
          </a:xfrm>
          <a:prstGeom prst="rect">
            <a:avLst/>
          </a:prstGeom>
          <a:solidFill>
            <a:srgbClr val="808890"/>
          </a:solidFill>
          <a:ln>
            <a:noFill/>
          </a:ln>
        </p:spPr>
        <p:txBody>
          <a:bodyPr wrap="square" lIns="91440" tIns="36000" rIns="91440" bIns="36000" anchor="ctr"/>
          <a:lstStyle/>
          <a:p>
            <a:endParaRPr/>
          </a:p>
        </p:txBody>
      </p:sp>
      <p:sp>
        <p:nvSpPr>
          <p:cNvPr id="222" name="txt2"/>
          <p:cNvSpPr/>
          <p:nvPr/>
        </p:nvSpPr>
        <p:spPr>
          <a:xfrm>
            <a:off x="603063" y="3820000"/>
            <a:ext cx="3100000" cy="720000"/>
          </a:xfrm>
          <a:prstGeom prst="rect">
            <a:avLst/>
          </a:prstGeom>
          <a:noFill/>
          <a:ln>
            <a:noFill/>
          </a:ln>
        </p:spPr>
        <p:txBody>
          <a:bodyPr wrap="square" lIns="91440" tIns="36000" rIns="91440" bIns="36000" anchor="ctr"/>
          <a:lstStyle/>
          <a:p>
            <a:pPr algn="l"/>
            <a:r>
              <a:rPr lang="de-DE" sz="1300" b="1" dirty="0">
                <a:solidFill>
                  <a:srgbClr val="30343A"/>
                </a:solidFill>
                <a:latin typeface="Arial"/>
              </a:rPr>
              <a:t>prEN 50742</a:t>
            </a:r>
          </a:p>
        </p:txBody>
      </p:sp>
      <p:sp>
        <p:nvSpPr>
          <p:cNvPr id="223" name="sub2"/>
          <p:cNvSpPr/>
          <p:nvPr/>
        </p:nvSpPr>
        <p:spPr>
          <a:xfrm>
            <a:off x="3773063" y="3820000"/>
            <a:ext cx="5000000" cy="720000"/>
          </a:xfrm>
          <a:prstGeom prst="rect">
            <a:avLst/>
          </a:prstGeom>
          <a:noFill/>
          <a:ln>
            <a:noFill/>
          </a:ln>
        </p:spPr>
        <p:txBody>
          <a:bodyPr wrap="square" lIns="91440" tIns="36000" rIns="91440" bIns="36000" anchor="ctr"/>
          <a:lstStyle/>
          <a:p>
            <a:pPr algn="l"/>
            <a:r>
              <a:rPr lang="de-DE" sz="1150" b="0" dirty="0">
                <a:solidFill>
                  <a:srgbClr val="808890"/>
                </a:solidFill>
                <a:latin typeface="Arial"/>
              </a:rPr>
              <a:t>Evidenz · Protokollierung · physische Manipulation</a:t>
            </a:r>
          </a:p>
        </p:txBody>
      </p:sp>
      <p:sp>
        <p:nvSpPr>
          <p:cNvPr id="230" name="stufe3"/>
          <p:cNvSpPr/>
          <p:nvPr/>
        </p:nvSpPr>
        <p:spPr>
          <a:xfrm>
            <a:off x="373063" y="4670000"/>
            <a:ext cx="8600000" cy="1180000"/>
          </a:xfrm>
          <a:prstGeom prst="rect">
            <a:avLst/>
          </a:prstGeom>
          <a:solidFill>
            <a:srgbClr val="FFFFFF"/>
          </a:solidFill>
          <a:ln w="9525">
            <a:solidFill>
              <a:srgbClr val="C1C5C8"/>
            </a:solidFill>
          </a:ln>
        </p:spPr>
        <p:txBody>
          <a:bodyPr wrap="square" lIns="91440" tIns="36000" rIns="91440" bIns="36000" anchor="ctr"/>
          <a:lstStyle/>
          <a:p>
            <a:endParaRPr/>
          </a:p>
        </p:txBody>
      </p:sp>
      <p:sp>
        <p:nvSpPr>
          <p:cNvPr id="231" name="kante3"/>
          <p:cNvSpPr/>
          <p:nvPr/>
        </p:nvSpPr>
        <p:spPr>
          <a:xfrm>
            <a:off x="373063" y="4670000"/>
            <a:ext cx="90000" cy="1180000"/>
          </a:xfrm>
          <a:prstGeom prst="rect">
            <a:avLst/>
          </a:prstGeom>
          <a:solidFill>
            <a:srgbClr val="30343A"/>
          </a:solidFill>
          <a:ln>
            <a:noFill/>
          </a:ln>
        </p:spPr>
        <p:txBody>
          <a:bodyPr wrap="square" lIns="91440" tIns="36000" rIns="91440" bIns="36000" anchor="ctr"/>
          <a:lstStyle/>
          <a:p>
            <a:endParaRPr/>
          </a:p>
        </p:txBody>
      </p:sp>
      <p:sp>
        <p:nvSpPr>
          <p:cNvPr id="232" name="txt3"/>
          <p:cNvSpPr/>
          <p:nvPr/>
        </p:nvSpPr>
        <p:spPr>
          <a:xfrm>
            <a:off x="603063" y="4670000"/>
            <a:ext cx="3100000" cy="1180000"/>
          </a:xfrm>
          <a:prstGeom prst="rect">
            <a:avLst/>
          </a:prstGeom>
          <a:noFill/>
          <a:ln>
            <a:noFill/>
          </a:ln>
        </p:spPr>
        <p:txBody>
          <a:bodyPr wrap="square" lIns="91440" tIns="36000" rIns="91440" bIns="36000" anchor="ctr"/>
          <a:lstStyle/>
          <a:p>
            <a:pPr algn="l"/>
            <a:r>
              <a:rPr lang="de-DE" sz="1300" b="1" dirty="0">
                <a:solidFill>
                  <a:srgbClr val="30343A"/>
                </a:solidFill>
                <a:latin typeface="Arial"/>
              </a:rPr>
              <a:t>IEC 62443-4-2</a:t>
            </a:r>
          </a:p>
        </p:txBody>
      </p:sp>
      <p:sp>
        <p:nvSpPr>
          <p:cNvPr id="300" name="cr0"/>
          <p:cNvSpPr/>
          <p:nvPr/>
        </p:nvSpPr>
        <p:spPr>
          <a:xfrm>
            <a:off x="3773063" y="4850000"/>
            <a:ext cx="1560000" cy="820000"/>
          </a:xfrm>
          <a:prstGeom prst="rect">
            <a:avLst/>
          </a:prstGeom>
          <a:solidFill>
            <a:srgbClr val="FF6E00">
              <a:alpha val="12"/>
            </a:srgbClr>
          </a:solidFill>
          <a:ln w="9525">
            <a:solidFill>
              <a:srgbClr val="FF6E00"/>
            </a:solidFill>
          </a:ln>
        </p:spPr>
        <p:txBody>
          <a:bodyPr wrap="square" lIns="91440" tIns="36000" rIns="91440" bIns="36000" anchor="ctr"/>
          <a:lstStyle/>
          <a:p>
            <a:pPr algn="ctr"/>
            <a:r>
              <a:rPr lang="de-DE" sz="1150" b="1" dirty="0">
                <a:solidFill>
                  <a:srgbClr val="FF6E00"/>
                </a:solidFill>
                <a:latin typeface="Arial"/>
              </a:rPr>
              <a:t>CR 2.8</a:t>
            </a:r>
          </a:p>
          <a:p>
            <a:pPr algn="ctr"/>
            <a:r>
              <a:rPr lang="de-DE" sz="900" b="0" dirty="0">
                <a:solidFill>
                  <a:srgbClr val="5B666F"/>
                </a:solidFill>
                <a:latin typeface="Arial"/>
              </a:rPr>
              <a:t>Ereignisse</a:t>
            </a:r>
          </a:p>
        </p:txBody>
      </p:sp>
      <p:sp>
        <p:nvSpPr>
          <p:cNvPr id="305" name="cr1"/>
          <p:cNvSpPr/>
          <p:nvPr/>
        </p:nvSpPr>
        <p:spPr>
          <a:xfrm>
            <a:off x="5483063" y="4850000"/>
            <a:ext cx="1560000" cy="820000"/>
          </a:xfrm>
          <a:prstGeom prst="rect">
            <a:avLst/>
          </a:prstGeom>
          <a:solidFill>
            <a:srgbClr val="FF6E00">
              <a:alpha val="12"/>
            </a:srgbClr>
          </a:solidFill>
          <a:ln w="9525">
            <a:solidFill>
              <a:srgbClr val="FF6E00"/>
            </a:solidFill>
          </a:ln>
        </p:spPr>
        <p:txBody>
          <a:bodyPr wrap="square" lIns="91440" tIns="36000" rIns="91440" bIns="36000" anchor="ctr"/>
          <a:lstStyle/>
          <a:p>
            <a:pPr algn="ctr"/>
            <a:r>
              <a:rPr lang="de-DE" sz="1150" b="1" dirty="0">
                <a:solidFill>
                  <a:srgbClr val="FF6E00"/>
                </a:solidFill>
                <a:latin typeface="Arial"/>
              </a:rPr>
              <a:t>CR 2.12</a:t>
            </a:r>
          </a:p>
          <a:p>
            <a:pPr algn="ctr"/>
            <a:r>
              <a:rPr lang="de-DE" sz="900" b="0" dirty="0">
                <a:solidFill>
                  <a:srgbClr val="5B666F"/>
                </a:solidFill>
                <a:latin typeface="Arial"/>
              </a:rPr>
              <a:t>Nichtabstreitbarkeit</a:t>
            </a:r>
          </a:p>
        </p:txBody>
      </p:sp>
      <p:sp>
        <p:nvSpPr>
          <p:cNvPr id="310" name="cr2"/>
          <p:cNvSpPr/>
          <p:nvPr/>
        </p:nvSpPr>
        <p:spPr>
          <a:xfrm>
            <a:off x="7193063" y="4850000"/>
            <a:ext cx="1560000" cy="820000"/>
          </a:xfrm>
          <a:prstGeom prst="rect">
            <a:avLst/>
          </a:prstGeom>
          <a:solidFill>
            <a:srgbClr val="FF6E00">
              <a:alpha val="12"/>
            </a:srgbClr>
          </a:solidFill>
          <a:ln w="9525">
            <a:solidFill>
              <a:srgbClr val="FF6E00"/>
            </a:solidFill>
          </a:ln>
        </p:spPr>
        <p:txBody>
          <a:bodyPr wrap="square" lIns="91440" tIns="36000" rIns="91440" bIns="36000" anchor="ctr"/>
          <a:lstStyle/>
          <a:p>
            <a:pPr algn="ctr"/>
            <a:r>
              <a:rPr lang="de-DE" sz="1150" b="1" dirty="0">
                <a:solidFill>
                  <a:srgbClr val="FF6E00"/>
                </a:solidFill>
                <a:latin typeface="Arial"/>
              </a:rPr>
              <a:t>EDR 3.11</a:t>
            </a:r>
          </a:p>
          <a:p>
            <a:pPr algn="ctr"/>
            <a:r>
              <a:rPr lang="de-DE" sz="900" b="0" dirty="0">
                <a:solidFill>
                  <a:srgbClr val="5B666F"/>
                </a:solidFill>
                <a:latin typeface="Arial"/>
              </a:rPr>
              <a:t>Rückfallebene</a:t>
            </a:r>
          </a:p>
        </p:txBody>
      </p:sp>
      <p:sp>
        <p:nvSpPr>
          <p:cNvPr id="400" name="hinweis"/>
          <p:cNvSpPr/>
          <p:nvPr/>
        </p:nvSpPr>
        <p:spPr>
          <a:xfrm>
            <a:off x="403063" y="5900000"/>
            <a:ext cx="6000000" cy="300000"/>
          </a:xfrm>
          <a:prstGeom prst="rect">
            <a:avLst/>
          </a:prstGeom>
          <a:noFill/>
          <a:ln>
            <a:noFill/>
          </a:ln>
        </p:spPr>
        <p:txBody>
          <a:bodyPr wrap="square" lIns="91440" tIns="36000" rIns="91440" bIns="36000" anchor="ctr"/>
          <a:lstStyle/>
          <a:p>
            <a:pPr algn="l"/>
            <a:r>
              <a:rPr lang="de-DE" sz="950" b="0" dirty="0">
                <a:solidFill>
                  <a:srgbClr val="C1C5C8"/>
                </a:solidFill>
                <a:latin typeface="Arial"/>
              </a:rPr>
              <a:t>analog für alle 14 Anforderungen · Anhang B</a:t>
            </a:r>
          </a:p>
        </p:txBody>
      </p:sp>
      <p:sp>
        <p:nvSpPr>
          <p:cNvPr id="2" name="Titel"/>
          <p:cNvSpPr>
            <a:spLocks noGrp="1"/>
          </p:cNvSpPr>
          <p:nvPr>
            <p:ph type="title"/>
          </p:nvPr>
        </p:nvSpPr>
        <p:spPr>
          <a:xfrm>
            <a:off x="373063" y="838200"/>
            <a:ext cx="9600000" cy="700000"/>
          </a:xfrm>
        </p:spPr>
        <p:txBody>
          <a:bodyPr/>
          <a:lstStyle/>
          <a:p>
            <a:pPr algn="l"/>
            <a:r>
              <a:rPr lang="de-DE" sz="2800" b="1" dirty="0">
                <a:solidFill>
                  <a:srgbClr val="FF6E00"/>
                </a:solidFill>
                <a:latin typeface="Arial"/>
              </a:rPr>
              <a:t>Ein Beispiel: RQ-003</a:t>
            </a:r>
          </a:p>
        </p:txBody>
      </p:sp>
      <p:sp>
        <p:nvSpPr>
          <p:cNvPr id="3" name="Kicker"/>
          <p:cNvSpPr>
            <a:spLocks noGrp="1"/>
          </p:cNvSpPr>
          <p:nvPr>
            <p:ph type="body" sz="quarter" idx="13"/>
          </p:nvPr>
        </p:nvSpPr>
        <p:spPr>
          <a:xfrm>
            <a:off x="373063" y="400000"/>
            <a:ext cx="4000000" cy="300000"/>
          </a:xfrm>
        </p:spPr>
        <p:txBody>
          <a:bodyPr/>
          <a:lstStyle/>
          <a:p>
            <a:pPr algn="l"/>
            <a:r>
              <a:rPr lang="de-DE" sz="1400" b="0" dirty="0">
                <a:solidFill>
                  <a:srgbClr val="30343A"/>
                </a:solidFill>
                <a:latin typeface="Arial"/>
              </a:rPr>
              <a:t>03 · METHODIK</a:t>
            </a:r>
          </a:p>
        </p:txBody>
      </p:sp>
      <p:sp>
        <p:nvSpPr>
          <p:cNvPr id="4" name="Fusszeile"/>
          <p:cNvSpPr>
            <a:spLocks noGrp="1"/>
          </p:cNvSpPr>
          <p:nvPr>
            <p:ph type="ftr" sz="quarter" idx="11"/>
          </p:nvPr>
        </p:nvSpPr>
        <p:spPr>
          <a:xfrm>
            <a:off x="1024467" y="6260123"/>
            <a:ext cx="2600325" cy="215444"/>
          </a:xfrm>
        </p:spPr>
        <p:txBody>
          <a:bodyPr/>
          <a:lstStyle/>
          <a:p>
            <a:r>
              <a:rPr lang="de-DE" dirty="0"/>
              <a:t>Nathalie Nuber</a:t>
            </a:r>
          </a:p>
        </p:txBody>
      </p:sp>
      <p:sp>
        <p:nvSpPr>
          <p:cNvPr id="5" name="Datum"/>
          <p:cNvSpPr>
            <a:spLocks noGrp="1"/>
          </p:cNvSpPr>
          <p:nvPr>
            <p:ph type="dt" sz="quarter" idx="10"/>
          </p:nvPr>
        </p:nvSpPr>
        <p:spPr>
          <a:xfrm>
            <a:off x="9905999" y="6260123"/>
            <a:ext cx="1200150" cy="215444"/>
          </a:xfrm>
        </p:spPr>
        <p:txBody>
          <a:bodyPr/>
          <a:lstStyle/>
          <a:p>
            <a:r>
              <a:rPr lang="de-DE" dirty="0"/>
              <a:t>22.09.2026</a:t>
            </a:r>
          </a:p>
        </p:txBody>
      </p:sp>
      <p:sp>
        <p:nvSpPr>
          <p:cNvPr id="6" name="Foliennummer"/>
          <p:cNvSpPr>
            <a:spLocks noGrp="1"/>
          </p:cNvSpPr>
          <p:nvPr>
            <p:ph type="sldNum" sz="quarter" idx="12"/>
          </p:nvPr>
        </p:nvSpPr>
        <p:spPr>
          <a:xfrm>
            <a:off x="11245259" y="6260123"/>
            <a:ext cx="530999" cy="215444"/>
          </a:xfrm>
        </p:spPr>
        <p:txBody>
          <a:bodyPr/>
          <a:lstStyle/>
          <a:p>
            <a:fld id="{B6F15528-21DE-4FAC-A6EE-A032D86D5DE1}" type="slidenum">
              <a:rPr lang="de-DE"/>
              <a:t>8</a:t>
            </a:fld>
            <a:endParaRPr lang="de-DE"/>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animEffect transition="in" filter="wipe(down)">
                                      <p:cBhvr>
                                        <p:cTn id="6" dur="450"/>
                                        <p:tgtEl>
                                          <p:spTgt spid="200"/>
                                        </p:tgtEl>
                                      </p:cBhvr>
                                    </p:animEffect>
                                    <p:set>
                                      <p:cBhvr>
                                        <p:cTn id="7" dur="1" fill="hold">
                                          <p:stCondLst>
                                            <p:cond delay="0"/>
                                          </p:stCondLst>
                                        </p:cTn>
                                        <p:tgtEl>
                                          <p:spTgt spid="200"/>
                                        </p:tgtEl>
                                        <p:attrNameLst>
                                          <p:attrName>style.visibility</p:attrName>
                                        </p:attrNameLst>
                                      </p:cBhvr>
                                      <p:to>
                                        <p:strVal val="visible"/>
                                      </p:to>
                                    </p:set>
                                  </p:childTnLst>
                                </p:cTn>
                              </p:par>
                              <p:par>
                                <p:cTn id="8" presetID="22" presetClass="entr" presetSubtype="1" fill="hold" nodeType="withEffect">
                                  <p:stCondLst>
                                    <p:cond delay="0"/>
                                  </p:stCondLst>
                                  <p:childTnLst>
                                    <p:animEffect transition="in" filter="wipe(down)">
                                      <p:cBhvr>
                                        <p:cTn id="9" dur="450"/>
                                        <p:tgtEl>
                                          <p:spTgt spid="201"/>
                                        </p:tgtEl>
                                      </p:cBhvr>
                                    </p:animEffect>
                                    <p:set>
                                      <p:cBhvr>
                                        <p:cTn id="10" dur="1" fill="hold">
                                          <p:stCondLst>
                                            <p:cond delay="0"/>
                                          </p:stCondLst>
                                        </p:cTn>
                                        <p:tgtEl>
                                          <p:spTgt spid="201"/>
                                        </p:tgtEl>
                                        <p:attrNameLst>
                                          <p:attrName>style.visibility</p:attrName>
                                        </p:attrNameLst>
                                      </p:cBhvr>
                                      <p:to>
                                        <p:strVal val="visible"/>
                                      </p:to>
                                    </p:set>
                                  </p:childTnLst>
                                </p:cTn>
                              </p:par>
                              <p:par>
                                <p:cTn id="11" presetID="22" presetClass="entr" presetSubtype="1" fill="hold" nodeType="withEffect">
                                  <p:stCondLst>
                                    <p:cond delay="0"/>
                                  </p:stCondLst>
                                  <p:childTnLst>
                                    <p:animEffect transition="in" filter="wipe(down)">
                                      <p:cBhvr>
                                        <p:cTn id="12" dur="450"/>
                                        <p:tgtEl>
                                          <p:spTgt spid="202"/>
                                        </p:tgtEl>
                                      </p:cBhvr>
                                    </p:animEffect>
                                    <p:set>
                                      <p:cBhvr>
                                        <p:cTn id="13" dur="1" fill="hold">
                                          <p:stCondLst>
                                            <p:cond delay="0"/>
                                          </p:stCondLst>
                                        </p:cTn>
                                        <p:tgtEl>
                                          <p:spTgt spid="202"/>
                                        </p:tgtEl>
                                        <p:attrNameLst>
                                          <p:attrName>style.visibility</p:attrName>
                                        </p:attrNameLst>
                                      </p:cBhvr>
                                      <p:to>
                                        <p:strVal val="visible"/>
                                      </p:to>
                                    </p:set>
                                  </p:childTnLst>
                                </p:cTn>
                              </p:par>
                              <p:par>
                                <p:cTn id="14" presetID="22" presetClass="entr" presetSubtype="1" fill="hold" nodeType="withEffect">
                                  <p:stCondLst>
                                    <p:cond delay="0"/>
                                  </p:stCondLst>
                                  <p:childTnLst>
                                    <p:animEffect transition="in" filter="wipe(down)">
                                      <p:cBhvr>
                                        <p:cTn id="15" dur="450"/>
                                        <p:tgtEl>
                                          <p:spTgt spid="203"/>
                                        </p:tgtEl>
                                      </p:cBhvr>
                                    </p:animEffect>
                                    <p:set>
                                      <p:cBhvr>
                                        <p:cTn id="16" dur="1" fill="hold">
                                          <p:stCondLst>
                                            <p:cond delay="0"/>
                                          </p:stCondLst>
                                        </p:cTn>
                                        <p:tgtEl>
                                          <p:spTgt spid="20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22" presetClass="entr" presetSubtype="1" fill="hold" nodeType="clickEffect">
                                  <p:stCondLst>
                                    <p:cond delay="0"/>
                                  </p:stCondLst>
                                  <p:childTnLst>
                                    <p:animEffect transition="in" filter="wipe(down)">
                                      <p:cBhvr>
                                        <p:cTn id="20" dur="450"/>
                                        <p:tgtEl>
                                          <p:spTgt spid="210"/>
                                        </p:tgtEl>
                                      </p:cBhvr>
                                    </p:animEffect>
                                    <p:set>
                                      <p:cBhvr>
                                        <p:cTn id="21" dur="1" fill="hold">
                                          <p:stCondLst>
                                            <p:cond delay="0"/>
                                          </p:stCondLst>
                                        </p:cTn>
                                        <p:tgtEl>
                                          <p:spTgt spid="210"/>
                                        </p:tgtEl>
                                        <p:attrNameLst>
                                          <p:attrName>style.visibility</p:attrName>
                                        </p:attrNameLst>
                                      </p:cBhvr>
                                      <p:to>
                                        <p:strVal val="visible"/>
                                      </p:to>
                                    </p:set>
                                  </p:childTnLst>
                                </p:cTn>
                              </p:par>
                              <p:par>
                                <p:cTn id="22" presetID="22" presetClass="entr" presetSubtype="1" fill="hold" nodeType="withEffect">
                                  <p:stCondLst>
                                    <p:cond delay="0"/>
                                  </p:stCondLst>
                                  <p:childTnLst>
                                    <p:animEffect transition="in" filter="wipe(down)">
                                      <p:cBhvr>
                                        <p:cTn id="23" dur="450"/>
                                        <p:tgtEl>
                                          <p:spTgt spid="211"/>
                                        </p:tgtEl>
                                      </p:cBhvr>
                                    </p:animEffect>
                                    <p:set>
                                      <p:cBhvr>
                                        <p:cTn id="24" dur="1" fill="hold">
                                          <p:stCondLst>
                                            <p:cond delay="0"/>
                                          </p:stCondLst>
                                        </p:cTn>
                                        <p:tgtEl>
                                          <p:spTgt spid="211"/>
                                        </p:tgtEl>
                                        <p:attrNameLst>
                                          <p:attrName>style.visibility</p:attrName>
                                        </p:attrNameLst>
                                      </p:cBhvr>
                                      <p:to>
                                        <p:strVal val="visible"/>
                                      </p:to>
                                    </p:set>
                                  </p:childTnLst>
                                </p:cTn>
                              </p:par>
                              <p:par>
                                <p:cTn id="25" presetID="22" presetClass="entr" presetSubtype="1" fill="hold" nodeType="withEffect">
                                  <p:stCondLst>
                                    <p:cond delay="0"/>
                                  </p:stCondLst>
                                  <p:childTnLst>
                                    <p:animEffect transition="in" filter="wipe(down)">
                                      <p:cBhvr>
                                        <p:cTn id="26" dur="450"/>
                                        <p:tgtEl>
                                          <p:spTgt spid="212"/>
                                        </p:tgtEl>
                                      </p:cBhvr>
                                    </p:animEffect>
                                    <p:set>
                                      <p:cBhvr>
                                        <p:cTn id="27" dur="1" fill="hold">
                                          <p:stCondLst>
                                            <p:cond delay="0"/>
                                          </p:stCondLst>
                                        </p:cTn>
                                        <p:tgtEl>
                                          <p:spTgt spid="212"/>
                                        </p:tgtEl>
                                        <p:attrNameLst>
                                          <p:attrName>style.visibility</p:attrName>
                                        </p:attrNameLst>
                                      </p:cBhvr>
                                      <p:to>
                                        <p:strVal val="visible"/>
                                      </p:to>
                                    </p:set>
                                  </p:childTnLst>
                                </p:cTn>
                              </p:par>
                              <p:par>
                                <p:cTn id="28" presetID="22" presetClass="entr" presetSubtype="1" fill="hold" nodeType="withEffect">
                                  <p:stCondLst>
                                    <p:cond delay="0"/>
                                  </p:stCondLst>
                                  <p:childTnLst>
                                    <p:animEffect transition="in" filter="wipe(down)">
                                      <p:cBhvr>
                                        <p:cTn id="29" dur="450"/>
                                        <p:tgtEl>
                                          <p:spTgt spid="213"/>
                                        </p:tgtEl>
                                      </p:cBhvr>
                                    </p:animEffect>
                                    <p:set>
                                      <p:cBhvr>
                                        <p:cTn id="30" dur="1" fill="hold">
                                          <p:stCondLst>
                                            <p:cond delay="0"/>
                                          </p:stCondLst>
                                        </p:cTn>
                                        <p:tgtEl>
                                          <p:spTgt spid="2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22" presetClass="entr" presetSubtype="1" fill="hold" nodeType="clickEffect">
                                  <p:stCondLst>
                                    <p:cond delay="0"/>
                                  </p:stCondLst>
                                  <p:childTnLst>
                                    <p:animEffect transition="in" filter="wipe(down)">
                                      <p:cBhvr>
                                        <p:cTn id="34" dur="450"/>
                                        <p:tgtEl>
                                          <p:spTgt spid="220"/>
                                        </p:tgtEl>
                                      </p:cBhvr>
                                    </p:animEffect>
                                    <p:set>
                                      <p:cBhvr>
                                        <p:cTn id="35" dur="1" fill="hold">
                                          <p:stCondLst>
                                            <p:cond delay="0"/>
                                          </p:stCondLst>
                                        </p:cTn>
                                        <p:tgtEl>
                                          <p:spTgt spid="220"/>
                                        </p:tgtEl>
                                        <p:attrNameLst>
                                          <p:attrName>style.visibility</p:attrName>
                                        </p:attrNameLst>
                                      </p:cBhvr>
                                      <p:to>
                                        <p:strVal val="visible"/>
                                      </p:to>
                                    </p:set>
                                  </p:childTnLst>
                                </p:cTn>
                              </p:par>
                              <p:par>
                                <p:cTn id="36" presetID="22" presetClass="entr" presetSubtype="1" fill="hold" nodeType="withEffect">
                                  <p:stCondLst>
                                    <p:cond delay="0"/>
                                  </p:stCondLst>
                                  <p:childTnLst>
                                    <p:animEffect transition="in" filter="wipe(down)">
                                      <p:cBhvr>
                                        <p:cTn id="37" dur="450"/>
                                        <p:tgtEl>
                                          <p:spTgt spid="221"/>
                                        </p:tgtEl>
                                      </p:cBhvr>
                                    </p:animEffect>
                                    <p:set>
                                      <p:cBhvr>
                                        <p:cTn id="38" dur="1" fill="hold">
                                          <p:stCondLst>
                                            <p:cond delay="0"/>
                                          </p:stCondLst>
                                        </p:cTn>
                                        <p:tgtEl>
                                          <p:spTgt spid="221"/>
                                        </p:tgtEl>
                                        <p:attrNameLst>
                                          <p:attrName>style.visibility</p:attrName>
                                        </p:attrNameLst>
                                      </p:cBhvr>
                                      <p:to>
                                        <p:strVal val="visible"/>
                                      </p:to>
                                    </p:set>
                                  </p:childTnLst>
                                </p:cTn>
                              </p:par>
                              <p:par>
                                <p:cTn id="39" presetID="22" presetClass="entr" presetSubtype="1" fill="hold" nodeType="withEffect">
                                  <p:stCondLst>
                                    <p:cond delay="0"/>
                                  </p:stCondLst>
                                  <p:childTnLst>
                                    <p:animEffect transition="in" filter="wipe(down)">
                                      <p:cBhvr>
                                        <p:cTn id="40" dur="450"/>
                                        <p:tgtEl>
                                          <p:spTgt spid="222"/>
                                        </p:tgtEl>
                                      </p:cBhvr>
                                    </p:animEffect>
                                    <p:set>
                                      <p:cBhvr>
                                        <p:cTn id="41" dur="1" fill="hold">
                                          <p:stCondLst>
                                            <p:cond delay="0"/>
                                          </p:stCondLst>
                                        </p:cTn>
                                        <p:tgtEl>
                                          <p:spTgt spid="222"/>
                                        </p:tgtEl>
                                        <p:attrNameLst>
                                          <p:attrName>style.visibility</p:attrName>
                                        </p:attrNameLst>
                                      </p:cBhvr>
                                      <p:to>
                                        <p:strVal val="visible"/>
                                      </p:to>
                                    </p:set>
                                  </p:childTnLst>
                                </p:cTn>
                              </p:par>
                              <p:par>
                                <p:cTn id="42" presetID="22" presetClass="entr" presetSubtype="1" fill="hold" nodeType="withEffect">
                                  <p:stCondLst>
                                    <p:cond delay="0"/>
                                  </p:stCondLst>
                                  <p:childTnLst>
                                    <p:animEffect transition="in" filter="wipe(down)">
                                      <p:cBhvr>
                                        <p:cTn id="43" dur="450"/>
                                        <p:tgtEl>
                                          <p:spTgt spid="223"/>
                                        </p:tgtEl>
                                      </p:cBhvr>
                                    </p:animEffect>
                                    <p:set>
                                      <p:cBhvr>
                                        <p:cTn id="44" dur="1" fill="hold">
                                          <p:stCondLst>
                                            <p:cond delay="0"/>
                                          </p:stCondLst>
                                        </p:cTn>
                                        <p:tgtEl>
                                          <p:spTgt spid="223"/>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2" presetClass="entr" presetSubtype="1" fill="hold" nodeType="clickEffect">
                                  <p:stCondLst>
                                    <p:cond delay="0"/>
                                  </p:stCondLst>
                                  <p:childTnLst>
                                    <p:animEffect transition="in" filter="wipe(down)">
                                      <p:cBhvr>
                                        <p:cTn id="48" dur="450"/>
                                        <p:tgtEl>
                                          <p:spTgt spid="230"/>
                                        </p:tgtEl>
                                      </p:cBhvr>
                                    </p:animEffect>
                                    <p:set>
                                      <p:cBhvr>
                                        <p:cTn id="49" dur="1" fill="hold">
                                          <p:stCondLst>
                                            <p:cond delay="0"/>
                                          </p:stCondLst>
                                        </p:cTn>
                                        <p:tgtEl>
                                          <p:spTgt spid="230"/>
                                        </p:tgtEl>
                                        <p:attrNameLst>
                                          <p:attrName>style.visibility</p:attrName>
                                        </p:attrNameLst>
                                      </p:cBhvr>
                                      <p:to>
                                        <p:strVal val="visible"/>
                                      </p:to>
                                    </p:set>
                                  </p:childTnLst>
                                </p:cTn>
                              </p:par>
                              <p:par>
                                <p:cTn id="50" presetID="22" presetClass="entr" presetSubtype="1" fill="hold" nodeType="withEffect">
                                  <p:stCondLst>
                                    <p:cond delay="0"/>
                                  </p:stCondLst>
                                  <p:childTnLst>
                                    <p:animEffect transition="in" filter="wipe(down)">
                                      <p:cBhvr>
                                        <p:cTn id="51" dur="450"/>
                                        <p:tgtEl>
                                          <p:spTgt spid="231"/>
                                        </p:tgtEl>
                                      </p:cBhvr>
                                    </p:animEffect>
                                    <p:set>
                                      <p:cBhvr>
                                        <p:cTn id="52" dur="1" fill="hold">
                                          <p:stCondLst>
                                            <p:cond delay="0"/>
                                          </p:stCondLst>
                                        </p:cTn>
                                        <p:tgtEl>
                                          <p:spTgt spid="231"/>
                                        </p:tgtEl>
                                        <p:attrNameLst>
                                          <p:attrName>style.visibility</p:attrName>
                                        </p:attrNameLst>
                                      </p:cBhvr>
                                      <p:to>
                                        <p:strVal val="visible"/>
                                      </p:to>
                                    </p:set>
                                  </p:childTnLst>
                                </p:cTn>
                              </p:par>
                              <p:par>
                                <p:cTn id="53" presetID="22" presetClass="entr" presetSubtype="1" fill="hold" nodeType="withEffect">
                                  <p:stCondLst>
                                    <p:cond delay="0"/>
                                  </p:stCondLst>
                                  <p:childTnLst>
                                    <p:animEffect transition="in" filter="wipe(down)">
                                      <p:cBhvr>
                                        <p:cTn id="54" dur="450"/>
                                        <p:tgtEl>
                                          <p:spTgt spid="232"/>
                                        </p:tgtEl>
                                      </p:cBhvr>
                                    </p:animEffect>
                                    <p:set>
                                      <p:cBhvr>
                                        <p:cTn id="55" dur="1" fill="hold">
                                          <p:stCondLst>
                                            <p:cond delay="0"/>
                                          </p:stCondLst>
                                        </p:cTn>
                                        <p:tgtEl>
                                          <p:spTgt spid="232"/>
                                        </p:tgtEl>
                                        <p:attrNameLst>
                                          <p:attrName>style.visibility</p:attrName>
                                        </p:attrNameLst>
                                      </p:cBhvr>
                                      <p:to>
                                        <p:strVal val="visible"/>
                                      </p:to>
                                    </p:set>
                                  </p:childTnLst>
                                </p:cTn>
                              </p:par>
                              <p:par>
                                <p:cTn id="56" presetID="22" presetClass="entr" presetSubtype="1" fill="hold" nodeType="afterEffect">
                                  <p:stCondLst>
                                    <p:cond delay="300"/>
                                  </p:stCondLst>
                                  <p:childTnLst>
                                    <p:animEffect transition="in" filter="fade">
                                      <p:cBhvr>
                                        <p:cTn id="57" dur="450"/>
                                        <p:tgtEl>
                                          <p:spTgt spid="300"/>
                                        </p:tgtEl>
                                      </p:cBhvr>
                                    </p:animEffect>
                                    <p:set>
                                      <p:cBhvr>
                                        <p:cTn id="58" dur="1" fill="hold">
                                          <p:stCondLst>
                                            <p:cond delay="0"/>
                                          </p:stCondLst>
                                        </p:cTn>
                                        <p:tgtEl>
                                          <p:spTgt spid="300"/>
                                        </p:tgtEl>
                                        <p:attrNameLst>
                                          <p:attrName>style.visibility</p:attrName>
                                        </p:attrNameLst>
                                      </p:cBhvr>
                                      <p:to>
                                        <p:strVal val="visible"/>
                                      </p:to>
                                    </p:set>
                                  </p:childTnLst>
                                </p:cTn>
                              </p:par>
                              <p:par>
                                <p:cTn id="59" presetID="22" presetClass="entr" presetSubtype="1" fill="hold" nodeType="afterEffect">
                                  <p:stCondLst>
                                    <p:cond delay="600"/>
                                  </p:stCondLst>
                                  <p:childTnLst>
                                    <p:animEffect transition="in" filter="fade">
                                      <p:cBhvr>
                                        <p:cTn id="60" dur="450"/>
                                        <p:tgtEl>
                                          <p:spTgt spid="305"/>
                                        </p:tgtEl>
                                      </p:cBhvr>
                                    </p:animEffect>
                                    <p:set>
                                      <p:cBhvr>
                                        <p:cTn id="61" dur="1" fill="hold">
                                          <p:stCondLst>
                                            <p:cond delay="0"/>
                                          </p:stCondLst>
                                        </p:cTn>
                                        <p:tgtEl>
                                          <p:spTgt spid="305"/>
                                        </p:tgtEl>
                                        <p:attrNameLst>
                                          <p:attrName>style.visibility</p:attrName>
                                        </p:attrNameLst>
                                      </p:cBhvr>
                                      <p:to>
                                        <p:strVal val="visible"/>
                                      </p:to>
                                    </p:set>
                                  </p:childTnLst>
                                </p:cTn>
                              </p:par>
                              <p:par>
                                <p:cTn id="62" presetID="22" presetClass="entr" presetSubtype="1" fill="hold" nodeType="afterEffect">
                                  <p:stCondLst>
                                    <p:cond delay="900"/>
                                  </p:stCondLst>
                                  <p:childTnLst>
                                    <p:animEffect transition="in" filter="fade">
                                      <p:cBhvr>
                                        <p:cTn id="63" dur="450"/>
                                        <p:tgtEl>
                                          <p:spTgt spid="310"/>
                                        </p:tgtEl>
                                      </p:cBhvr>
                                    </p:animEffect>
                                    <p:set>
                                      <p:cBhvr>
                                        <p:cTn id="64" dur="1" fill="hold">
                                          <p:stCondLst>
                                            <p:cond delay="0"/>
                                          </p:stCondLst>
                                        </p:cTn>
                                        <p:tgtEl>
                                          <p:spTgt spid="310"/>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22" presetClass="entr" presetSubtype="1" fill="hold" nodeType="clickEffect">
                                  <p:stCondLst>
                                    <p:cond delay="0"/>
                                  </p:stCondLst>
                                  <p:childTnLst>
                                    <p:animEffect transition="in" filter="fade">
                                      <p:cBhvr>
                                        <p:cTn id="68" dur="450"/>
                                        <p:tgtEl>
                                          <p:spTgt spid="400"/>
                                        </p:tgtEl>
                                      </p:cBhvr>
                                    </p:animEffect>
                                    <p:set>
                                      <p:cBhvr>
                                        <p:cTn id="69" dur="1" fill="hold">
                                          <p:stCondLst>
                                            <p:cond delay="0"/>
                                          </p:stCondLst>
                                        </p:cTn>
                                        <p:tgtEl>
                                          <p:spTgt spid="40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01" grpId="0"/>
      <p:bldP spid="202" grpId="0"/>
      <p:bldP spid="203" grpId="0"/>
      <p:bldP spid="210" grpId="0"/>
      <p:bldP spid="211" grpId="0"/>
      <p:bldP spid="212" grpId="0"/>
      <p:bldP spid="213" grpId="0"/>
      <p:bldP spid="220" grpId="0"/>
      <p:bldP spid="221" grpId="0"/>
      <p:bldP spid="222" grpId="0"/>
      <p:bldP spid="223" grpId="0"/>
      <p:bldP spid="230" grpId="0"/>
      <p:bldP spid="231" grpId="0"/>
      <p:bldP spid="232" grpId="0"/>
      <p:bldP spid="300" grpId="0"/>
      <p:bldP spid="305" grpId="0"/>
      <p:bldP spid="310" grpId="0"/>
      <p:bldP spid="400"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apitelzeile"/>
          <p:cNvSpPr txBox="1"/>
          <p:nvPr/>
        </p:nvSpPr>
        <p:spPr>
          <a:xfrm>
            <a:off x="777240" y="457200"/>
            <a:ext cx="7315200" cy="274320"/>
          </a:xfrm>
          <a:prstGeom prst="rect">
            <a:avLst/>
          </a:prstGeom>
          <a:noFill/>
        </p:spPr>
        <p:txBody>
          <a:bodyPr wrap="square" lIns="0" tIns="0" rIns="0" bIns="0" anchor="t">
            <a:normAutofit/>
          </a:bodyPr>
          <a:lstStyle/>
          <a:p>
            <a:pPr algn="l">
              <a:lnSpc>
                <a:spcPct val="100000"/>
              </a:lnSpc>
              <a:spcBef>
                <a:spcPts val="0"/>
              </a:spcBef>
            </a:pPr>
            <a:r>
              <a:rPr lang="de-DE" sz="1000" b="1" dirty="0">
                <a:solidFill>
                  <a:srgbClr val="5B666F"/>
                </a:solidFill>
                <a:latin typeface="+mn-lt"/>
              </a:rPr>
              <a:t>03 · METHODIK</a:t>
            </a:r>
          </a:p>
        </p:txBody>
      </p:sp>
      <p:sp>
        <p:nvSpPr>
          <p:cNvPr id="3" name="Ueberschrift"/>
          <p:cNvSpPr txBox="1"/>
          <p:nvPr/>
        </p:nvSpPr>
        <p:spPr>
          <a:xfrm>
            <a:off x="777240" y="804672"/>
            <a:ext cx="9601200" cy="731520"/>
          </a:xfrm>
          <a:prstGeom prst="rect">
            <a:avLst/>
          </a:prstGeom>
          <a:noFill/>
        </p:spPr>
        <p:txBody>
          <a:bodyPr wrap="square" lIns="0" tIns="0" rIns="0" bIns="0" anchor="t">
            <a:normAutofit/>
          </a:bodyPr>
          <a:lstStyle/>
          <a:p>
            <a:pPr algn="l">
              <a:lnSpc>
                <a:spcPct val="100000"/>
              </a:lnSpc>
              <a:spcBef>
                <a:spcPts val="0"/>
              </a:spcBef>
            </a:pPr>
            <a:r>
              <a:rPr lang="de-DE" sz="2800" b="1" dirty="0">
                <a:solidFill>
                  <a:srgbClr val="30343A"/>
                </a:solidFill>
                <a:latin typeface="+mn-lt"/>
              </a:rPr>
              <a:t>Ein Beispiel: RQ-003</a:t>
            </a:r>
          </a:p>
        </p:txBody>
      </p:sp>
      <p:sp>
        <p:nvSpPr>
          <p:cNvPr id="5" name="MiniLabel"/>
          <p:cNvSpPr txBox="1"/>
          <p:nvPr/>
        </p:nvSpPr>
        <p:spPr>
          <a:xfrm>
            <a:off x="777240" y="1737360"/>
            <a:ext cx="1645920" cy="27432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828C93"/>
                </a:solidFill>
                <a:latin typeface="+mn-lt"/>
              </a:rPr>
              <a:t>Ableitungskette</a:t>
            </a:r>
          </a:p>
        </p:txBody>
      </p:sp>
      <p:sp>
        <p:nvSpPr>
          <p:cNvPr id="10" name="Mini1"/>
          <p:cNvSpPr/>
          <p:nvPr/>
        </p:nvSpPr>
        <p:spPr>
          <a:xfrm>
            <a:off x="777240" y="20574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Anhang III</a:t>
            </a:r>
          </a:p>
        </p:txBody>
      </p:sp>
      <p:sp>
        <p:nvSpPr>
          <p:cNvPr id="11" name="Mini2"/>
          <p:cNvSpPr/>
          <p:nvPr/>
        </p:nvSpPr>
        <p:spPr>
          <a:xfrm>
            <a:off x="777240" y="25146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prEN 50742</a:t>
            </a:r>
          </a:p>
        </p:txBody>
      </p:sp>
      <p:sp>
        <p:nvSpPr>
          <p:cNvPr id="12" name="Mini3"/>
          <p:cNvSpPr/>
          <p:nvPr/>
        </p:nvSpPr>
        <p:spPr>
          <a:xfrm>
            <a:off x="777240" y="29718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IEC 62443-4-2</a:t>
            </a:r>
          </a:p>
        </p:txBody>
      </p:sp>
      <p:sp>
        <p:nvSpPr>
          <p:cNvPr id="13" name="Mini4"/>
          <p:cNvSpPr/>
          <p:nvPr/>
        </p:nvSpPr>
        <p:spPr>
          <a:xfrm>
            <a:off x="777240" y="3429000"/>
            <a:ext cx="1645920" cy="347472"/>
          </a:xfrm>
          <a:prstGeom prst="rect">
            <a:avLst/>
          </a:prstGeom>
          <a:solidFill>
            <a:srgbClr val="F7F8F9"/>
          </a:solidFill>
          <a:ln>
            <a:noFill/>
          </a:ln>
        </p:spPr>
        <p:txBody>
          <a:bodyPr lIns="45720" tIns="27432" rIns="45720" bIns="27432" anchor="ctr">
            <a:normAutofit/>
          </a:bodyPr>
          <a:lstStyle/>
          <a:p>
            <a:pPr algn="ctr">
              <a:spcBef>
                <a:spcPts val="0"/>
              </a:spcBef>
            </a:pPr>
            <a:r>
              <a:rPr lang="de-DE" sz="800" dirty="0">
                <a:solidFill>
                  <a:srgbClr val="828C93"/>
                </a:solidFill>
                <a:latin typeface="+mn-lt"/>
              </a:rPr>
              <a:t>RQ-001 … RQ-014</a:t>
            </a:r>
          </a:p>
        </p:txBody>
      </p:sp>
      <p:sp>
        <p:nvSpPr>
          <p:cNvPr id="6" name="Randnotiz"/>
          <p:cNvSpPr txBox="1"/>
          <p:nvPr/>
        </p:nvSpPr>
        <p:spPr>
          <a:xfrm>
            <a:off x="777240" y="3977640"/>
            <a:ext cx="1828800" cy="548640"/>
          </a:xfrm>
          <a:prstGeom prst="rect">
            <a:avLst/>
          </a:prstGeom>
          <a:noFill/>
        </p:spPr>
        <p:txBody>
          <a:bodyPr wrap="square" lIns="0" tIns="0" rIns="0" bIns="0" anchor="t">
            <a:normAutofit/>
          </a:bodyPr>
          <a:lstStyle/>
          <a:p>
            <a:pPr algn="l">
              <a:lnSpc>
                <a:spcPct val="100000"/>
              </a:lnSpc>
              <a:spcBef>
                <a:spcPts val="0"/>
              </a:spcBef>
            </a:pPr>
            <a:r>
              <a:rPr lang="de-DE" sz="900" dirty="0">
                <a:solidFill>
                  <a:srgbClr val="5B666F"/>
                </a:solidFill>
                <a:latin typeface="+mn-lt"/>
              </a:rPr>
              <a:t>analog für alle 14 Anforderungen · Anhang B</a:t>
            </a:r>
          </a:p>
        </p:txBody>
      </p:sp>
      <p:sp>
        <p:nvSpPr>
          <p:cNvPr id="14" name="Stufe1"/>
          <p:cNvSpPr/>
          <p:nvPr/>
        </p:nvSpPr>
        <p:spPr>
          <a:xfrm>
            <a:off x="3108960" y="1600200"/>
            <a:ext cx="7680960" cy="777240"/>
          </a:xfrm>
          <a:prstGeom prst="rect">
            <a:avLst/>
          </a:prstGeom>
          <a:solidFill>
            <a:srgbClr val="F2F4F5"/>
          </a:solidFill>
          <a:ln>
            <a:noFill/>
          </a:ln>
        </p:spPr>
        <p:txBody>
          <a:bodyPr lIns="45720" tIns="27432" rIns="45720" bIns="27432" anchor="ctr">
            <a:normAutofit/>
          </a:bodyPr>
          <a:lstStyle/>
          <a:p>
            <a:endParaRPr lang="de-DE"/>
          </a:p>
        </p:txBody>
      </p:sp>
      <p:sp>
        <p:nvSpPr>
          <p:cNvPr id="15" name="StufeText1"/>
          <p:cNvSpPr txBox="1"/>
          <p:nvPr/>
        </p:nvSpPr>
        <p:spPr>
          <a:xfrm>
            <a:off x="3383280" y="1755648"/>
            <a:ext cx="7132320" cy="5486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Anhang III, 1.1.9</a:t>
            </a:r>
          </a:p>
          <a:p>
            <a:pPr algn="l">
              <a:lnSpc>
                <a:spcPct val="100000"/>
              </a:lnSpc>
              <a:spcBef>
                <a:spcPts val="400"/>
              </a:spcBef>
            </a:pPr>
            <a:r>
              <a:rPr lang="de-DE" sz="1000" dirty="0">
                <a:solidFill>
                  <a:srgbClr val="5B666F"/>
                </a:solidFill>
                <a:latin typeface="+mn-lt"/>
              </a:rPr>
              <a:t>Nachweise über Eingriffe sammeln</a:t>
            </a:r>
          </a:p>
        </p:txBody>
      </p:sp>
      <p:sp>
        <p:nvSpPr>
          <p:cNvPr id="16" name="Ab1"/>
          <p:cNvSpPr/>
          <p:nvPr/>
        </p:nvSpPr>
        <p:spPr>
          <a:xfrm>
            <a:off x="6821424" y="2404872"/>
            <a:ext cx="256032" cy="256032"/>
          </a:xfrm>
          <a:prstGeom prst="downArrow">
            <a:avLst/>
          </a:prstGeom>
          <a:solidFill>
            <a:srgbClr val="5B666F"/>
          </a:solidFill>
          <a:ln>
            <a:noFill/>
          </a:ln>
        </p:spPr>
        <p:txBody>
          <a:bodyPr lIns="45720" tIns="27432" rIns="45720" bIns="27432" anchor="ctr">
            <a:normAutofit fontScale="55000" lnSpcReduction="20000"/>
          </a:bodyPr>
          <a:lstStyle/>
          <a:p>
            <a:endParaRPr lang="de-DE"/>
          </a:p>
        </p:txBody>
      </p:sp>
      <p:sp>
        <p:nvSpPr>
          <p:cNvPr id="17" name="Stufe2"/>
          <p:cNvSpPr/>
          <p:nvPr/>
        </p:nvSpPr>
        <p:spPr>
          <a:xfrm>
            <a:off x="3108960" y="2697480"/>
            <a:ext cx="7680960" cy="777240"/>
          </a:xfrm>
          <a:prstGeom prst="rect">
            <a:avLst/>
          </a:prstGeom>
          <a:solidFill>
            <a:srgbClr val="F2F4F5"/>
          </a:solidFill>
          <a:ln>
            <a:noFill/>
          </a:ln>
        </p:spPr>
        <p:txBody>
          <a:bodyPr lIns="45720" tIns="27432" rIns="45720" bIns="27432" anchor="ctr">
            <a:normAutofit/>
          </a:bodyPr>
          <a:lstStyle/>
          <a:p>
            <a:endParaRPr lang="de-DE"/>
          </a:p>
        </p:txBody>
      </p:sp>
      <p:sp>
        <p:nvSpPr>
          <p:cNvPr id="18" name="StufeText2"/>
          <p:cNvSpPr txBox="1"/>
          <p:nvPr/>
        </p:nvSpPr>
        <p:spPr>
          <a:xfrm>
            <a:off x="3383280" y="2852928"/>
            <a:ext cx="7132320" cy="5486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RQ-003 · Zurechenbarkeit</a:t>
            </a:r>
          </a:p>
          <a:p>
            <a:pPr algn="l">
              <a:lnSpc>
                <a:spcPct val="100000"/>
              </a:lnSpc>
              <a:spcBef>
                <a:spcPts val="400"/>
              </a:spcBef>
            </a:pPr>
            <a:r>
              <a:rPr lang="de-DE" sz="1000" dirty="0">
                <a:solidFill>
                  <a:srgbClr val="5B666F"/>
                </a:solidFill>
                <a:latin typeface="+mn-lt"/>
              </a:rPr>
              <a:t>Erkennbarkeit, dass etwas geschah</a:t>
            </a:r>
          </a:p>
        </p:txBody>
      </p:sp>
      <p:sp>
        <p:nvSpPr>
          <p:cNvPr id="19" name="Ab2"/>
          <p:cNvSpPr/>
          <p:nvPr/>
        </p:nvSpPr>
        <p:spPr>
          <a:xfrm>
            <a:off x="6821424" y="3502152"/>
            <a:ext cx="256032" cy="256032"/>
          </a:xfrm>
          <a:prstGeom prst="downArrow">
            <a:avLst/>
          </a:prstGeom>
          <a:solidFill>
            <a:srgbClr val="5B666F"/>
          </a:solidFill>
          <a:ln>
            <a:noFill/>
          </a:ln>
        </p:spPr>
        <p:txBody>
          <a:bodyPr lIns="45720" tIns="27432" rIns="45720" bIns="27432" anchor="ctr">
            <a:normAutofit fontScale="55000" lnSpcReduction="20000"/>
          </a:bodyPr>
          <a:lstStyle/>
          <a:p>
            <a:endParaRPr lang="de-DE"/>
          </a:p>
        </p:txBody>
      </p:sp>
      <p:sp>
        <p:nvSpPr>
          <p:cNvPr id="20" name="Stufe3"/>
          <p:cNvSpPr/>
          <p:nvPr/>
        </p:nvSpPr>
        <p:spPr>
          <a:xfrm>
            <a:off x="3108960" y="3794760"/>
            <a:ext cx="7680960" cy="777240"/>
          </a:xfrm>
          <a:prstGeom prst="rect">
            <a:avLst/>
          </a:prstGeom>
          <a:solidFill>
            <a:srgbClr val="F2F4F5"/>
          </a:solidFill>
          <a:ln>
            <a:noFill/>
          </a:ln>
        </p:spPr>
        <p:txBody>
          <a:bodyPr lIns="45720" tIns="27432" rIns="45720" bIns="27432" anchor="ctr">
            <a:normAutofit/>
          </a:bodyPr>
          <a:lstStyle/>
          <a:p>
            <a:endParaRPr lang="de-DE"/>
          </a:p>
        </p:txBody>
      </p:sp>
      <p:sp>
        <p:nvSpPr>
          <p:cNvPr id="21" name="StufeText3"/>
          <p:cNvSpPr txBox="1"/>
          <p:nvPr/>
        </p:nvSpPr>
        <p:spPr>
          <a:xfrm>
            <a:off x="3383280" y="3950208"/>
            <a:ext cx="7132320" cy="548640"/>
          </a:xfrm>
          <a:prstGeom prst="rect">
            <a:avLst/>
          </a:prstGeom>
          <a:noFill/>
        </p:spPr>
        <p:txBody>
          <a:bodyPr wrap="square" lIns="0" tIns="0" rIns="0" bIns="0" anchor="t">
            <a:normAutofit/>
          </a:bodyPr>
          <a:lstStyle/>
          <a:p>
            <a:pPr algn="l">
              <a:lnSpc>
                <a:spcPct val="100000"/>
              </a:lnSpc>
              <a:spcBef>
                <a:spcPts val="0"/>
              </a:spcBef>
            </a:pPr>
            <a:r>
              <a:rPr lang="de-DE" sz="1400" b="1" dirty="0">
                <a:solidFill>
                  <a:srgbClr val="30343A"/>
                </a:solidFill>
                <a:latin typeface="+mn-lt"/>
              </a:rPr>
              <a:t>prEN 50742</a:t>
            </a:r>
          </a:p>
          <a:p>
            <a:pPr algn="l">
              <a:lnSpc>
                <a:spcPct val="100000"/>
              </a:lnSpc>
              <a:spcBef>
                <a:spcPts val="400"/>
              </a:spcBef>
            </a:pPr>
            <a:r>
              <a:rPr lang="de-DE" sz="1000" dirty="0">
                <a:solidFill>
                  <a:srgbClr val="5B666F"/>
                </a:solidFill>
                <a:latin typeface="+mn-lt"/>
              </a:rPr>
              <a:t>Evidenz · Protokollierung · physische Manipulation</a:t>
            </a:r>
          </a:p>
        </p:txBody>
      </p:sp>
      <p:sp>
        <p:nvSpPr>
          <p:cNvPr id="22" name="Ab3"/>
          <p:cNvSpPr/>
          <p:nvPr/>
        </p:nvSpPr>
        <p:spPr>
          <a:xfrm>
            <a:off x="6821424" y="4599432"/>
            <a:ext cx="256032" cy="256032"/>
          </a:xfrm>
          <a:prstGeom prst="downArrow">
            <a:avLst/>
          </a:prstGeom>
          <a:solidFill>
            <a:srgbClr val="5B666F"/>
          </a:solidFill>
          <a:ln>
            <a:noFill/>
          </a:ln>
        </p:spPr>
        <p:txBody>
          <a:bodyPr lIns="45720" tIns="27432" rIns="45720" bIns="27432" anchor="ctr">
            <a:normAutofit fontScale="55000" lnSpcReduction="20000"/>
          </a:bodyPr>
          <a:lstStyle/>
          <a:p>
            <a:endParaRPr lang="de-DE"/>
          </a:p>
        </p:txBody>
      </p:sp>
      <p:sp>
        <p:nvSpPr>
          <p:cNvPr id="23" name="Stufe4"/>
          <p:cNvSpPr/>
          <p:nvPr/>
        </p:nvSpPr>
        <p:spPr>
          <a:xfrm>
            <a:off x="3108960" y="4892040"/>
            <a:ext cx="7680960" cy="914400"/>
          </a:xfrm>
          <a:prstGeom prst="rect">
            <a:avLst/>
          </a:prstGeom>
          <a:solidFill>
            <a:srgbClr val="FF6E00"/>
          </a:solidFill>
          <a:ln>
            <a:noFill/>
          </a:ln>
        </p:spPr>
        <p:txBody>
          <a:bodyPr lIns="45720" tIns="27432" rIns="45720" bIns="27432" anchor="ctr">
            <a:normAutofit/>
          </a:bodyPr>
          <a:lstStyle/>
          <a:p>
            <a:endParaRPr lang="de-DE"/>
          </a:p>
        </p:txBody>
      </p:sp>
      <p:sp>
        <p:nvSpPr>
          <p:cNvPr id="24" name="Chip1"/>
          <p:cNvSpPr/>
          <p:nvPr/>
        </p:nvSpPr>
        <p:spPr>
          <a:xfrm>
            <a:off x="3337560" y="5138928"/>
            <a:ext cx="2286000" cy="438912"/>
          </a:xfrm>
          <a:prstGeom prst="rect">
            <a:avLst/>
          </a:prstGeom>
          <a:solidFill>
            <a:srgbClr val="FFFFFF"/>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CR 2.8 Ereignisse</a:t>
            </a:r>
          </a:p>
        </p:txBody>
      </p:sp>
      <p:sp>
        <p:nvSpPr>
          <p:cNvPr id="25" name="Chip2"/>
          <p:cNvSpPr/>
          <p:nvPr/>
        </p:nvSpPr>
        <p:spPr>
          <a:xfrm>
            <a:off x="5788152" y="5138928"/>
            <a:ext cx="2286000" cy="438912"/>
          </a:xfrm>
          <a:prstGeom prst="rect">
            <a:avLst/>
          </a:prstGeom>
          <a:solidFill>
            <a:srgbClr val="FFFFFF"/>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CR 2.12 Nichtabstreitbarkeit</a:t>
            </a:r>
          </a:p>
        </p:txBody>
      </p:sp>
      <p:sp>
        <p:nvSpPr>
          <p:cNvPr id="26" name="Chip3"/>
          <p:cNvSpPr/>
          <p:nvPr/>
        </p:nvSpPr>
        <p:spPr>
          <a:xfrm>
            <a:off x="8238744" y="5138928"/>
            <a:ext cx="2286000" cy="438912"/>
          </a:xfrm>
          <a:prstGeom prst="rect">
            <a:avLst/>
          </a:prstGeom>
          <a:solidFill>
            <a:srgbClr val="FFFFFF"/>
          </a:solidFill>
          <a:ln>
            <a:noFill/>
          </a:ln>
        </p:spPr>
        <p:txBody>
          <a:bodyPr lIns="45720" tIns="27432" rIns="45720" bIns="27432" anchor="ctr">
            <a:normAutofit/>
          </a:bodyPr>
          <a:lstStyle/>
          <a:p>
            <a:pPr algn="ctr">
              <a:spcBef>
                <a:spcPts val="0"/>
              </a:spcBef>
            </a:pPr>
            <a:r>
              <a:rPr lang="de-DE" sz="1100" b="1" dirty="0">
                <a:solidFill>
                  <a:srgbClr val="30343A"/>
                </a:solidFill>
                <a:latin typeface="+mn-lt"/>
              </a:rPr>
              <a:t>EDR 3.11 Rückfallebene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nodeType="click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par>
                                <p:cTn id="15" presetID="1" presetClass="entr" presetSubtype="0" fill="hold" nodeType="click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par>
                                <p:cTn id="21" presetID="1" presetClass="entr" presetSubtype="0" fill="hold"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 name="switch"/>
          <p:cNvSpPr/>
          <p:nvPr/>
        </p:nvSpPr>
        <p:spPr>
          <a:xfrm>
            <a:off x="4250000" y="3150000"/>
            <a:ext cx="1500000" cy="700000"/>
          </a:xfrm>
          <a:prstGeom prst="rect">
            <a:avLst/>
          </a:prstGeom>
          <a:solidFill>
            <a:srgbClr val="30343A"/>
          </a:solidFill>
          <a:ln>
            <a:noFill/>
          </a:ln>
        </p:spPr>
        <p:txBody>
          <a:bodyPr wrap="square" lIns="45720" tIns="20000" rIns="45720" bIns="20000" anchor="ctr"/>
          <a:lstStyle/>
          <a:p>
            <a:pPr algn="ctr"/>
            <a:r>
              <a:rPr lang="de-DE" sz="1600" b="1" dirty="0">
                <a:solidFill>
                  <a:srgbClr val="FFFFFF"/>
                </a:solidFill>
                <a:latin typeface="Arial"/>
              </a:rPr>
              <a:t>Switch</a:t>
            </a:r>
          </a:p>
        </p:txBody>
      </p:sp>
      <p:sp>
        <p:nvSpPr>
          <p:cNvPr id="210" name="c210"/>
          <p:cNvSpPr/>
          <p:nvPr/>
        </p:nvSpPr>
        <p:spPr>
          <a:xfrm>
            <a:off x="4620000" y="1620000"/>
            <a:ext cx="760000" cy="760000"/>
          </a:xfrm>
          <a:prstGeom prst="ellipse">
            <a:avLst/>
          </a:prstGeom>
          <a:solidFill>
            <a:srgbClr val="5B666F"/>
          </a:solidFill>
          <a:ln>
            <a:noFill/>
          </a:ln>
        </p:spPr>
        <p:txBody>
          <a:bodyPr wrap="square" lIns="45720" tIns="20000" rIns="45720" bIns="20000" anchor="ctr"/>
          <a:lstStyle/>
          <a:p>
            <a:endParaRPr/>
          </a:p>
        </p:txBody>
      </p:sp>
      <p:sp>
        <p:nvSpPr>
          <p:cNvPr id="211" name="g210"/>
          <p:cNvSpPr/>
          <p:nvPr/>
        </p:nvSpPr>
        <p:spPr>
          <a:xfrm>
            <a:off x="4620000" y="1620000"/>
            <a:ext cx="760000" cy="760000"/>
          </a:xfrm>
          <a:prstGeom prst="rect">
            <a:avLst/>
          </a:prstGeom>
          <a:noFill/>
          <a:ln>
            <a:noFill/>
          </a:ln>
        </p:spPr>
        <p:txBody>
          <a:bodyPr wrap="square" lIns="45720" tIns="20000" rIns="45720" bIns="20000" anchor="ctr"/>
          <a:lstStyle/>
          <a:p>
            <a:pPr algn="ctr"/>
            <a:r>
              <a:rPr lang="de-DE" sz="1600" b="1" dirty="0">
                <a:solidFill>
                  <a:srgbClr val="FFFFFF"/>
                </a:solidFill>
                <a:latin typeface="Arial"/>
              </a:rPr>
              <a:t>▦</a:t>
            </a:r>
          </a:p>
        </p:txBody>
      </p:sp>
      <p:sp>
        <p:nvSpPr>
          <p:cNvPr id="212" name="l210"/>
          <p:cNvSpPr/>
          <p:nvPr/>
        </p:nvSpPr>
        <p:spPr>
          <a:xfrm>
            <a:off x="4993000" y="2380000"/>
            <a:ext cx="14000" cy="770000"/>
          </a:xfrm>
          <a:prstGeom prst="rect">
            <a:avLst/>
          </a:prstGeom>
          <a:solidFill>
            <a:srgbClr val="C1C5C8"/>
          </a:solidFill>
          <a:ln>
            <a:noFill/>
          </a:ln>
        </p:spPr>
        <p:txBody>
          <a:bodyPr wrap="square" lIns="45720" tIns="20000" rIns="45720" bIns="20000" anchor="ctr"/>
          <a:lstStyle/>
          <a:p>
            <a:endParaRPr/>
          </a:p>
        </p:txBody>
      </p:sp>
      <p:sp>
        <p:nvSpPr>
          <p:cNvPr id="213" name="t210"/>
          <p:cNvSpPr/>
          <p:nvPr/>
        </p:nvSpPr>
        <p:spPr>
          <a:xfrm>
            <a:off x="3900000" y="2420000"/>
            <a:ext cx="2200000" cy="320000"/>
          </a:xfrm>
          <a:prstGeom prst="rect">
            <a:avLst/>
          </a:prstGeom>
          <a:noFill/>
          <a:ln>
            <a:noFill/>
          </a:ln>
        </p:spPr>
        <p:txBody>
          <a:bodyPr wrap="square" lIns="45720" tIns="20000" rIns="45720" bIns="20000" anchor="ctr"/>
          <a:lstStyle/>
          <a:p>
            <a:pPr algn="ctr"/>
            <a:r>
              <a:rPr lang="de-DE" sz="1600" b="1" dirty="0">
                <a:solidFill>
                  <a:srgbClr val="30343A"/>
                </a:solidFill>
                <a:latin typeface="Arial"/>
              </a:rPr>
              <a:t>SPS</a:t>
            </a:r>
          </a:p>
        </p:txBody>
      </p:sp>
      <p:sp>
        <p:nvSpPr>
          <p:cNvPr id="220" name="c220"/>
          <p:cNvSpPr/>
          <p:nvPr/>
        </p:nvSpPr>
        <p:spPr>
          <a:xfrm>
            <a:off x="2220000" y="3120000"/>
            <a:ext cx="760000" cy="760000"/>
          </a:xfrm>
          <a:prstGeom prst="ellipse">
            <a:avLst/>
          </a:prstGeom>
          <a:solidFill>
            <a:srgbClr val="5B666F"/>
          </a:solidFill>
          <a:ln>
            <a:noFill/>
          </a:ln>
        </p:spPr>
        <p:txBody>
          <a:bodyPr wrap="square" lIns="45720" tIns="20000" rIns="45720" bIns="20000" anchor="ctr"/>
          <a:lstStyle/>
          <a:p>
            <a:endParaRPr/>
          </a:p>
        </p:txBody>
      </p:sp>
      <p:sp>
        <p:nvSpPr>
          <p:cNvPr id="221" name="g220"/>
          <p:cNvSpPr/>
          <p:nvPr/>
        </p:nvSpPr>
        <p:spPr>
          <a:xfrm>
            <a:off x="2220000" y="3120000"/>
            <a:ext cx="760000" cy="760000"/>
          </a:xfrm>
          <a:prstGeom prst="rect">
            <a:avLst/>
          </a:prstGeom>
          <a:noFill/>
          <a:ln>
            <a:noFill/>
          </a:ln>
        </p:spPr>
        <p:txBody>
          <a:bodyPr wrap="square" lIns="45720" tIns="20000" rIns="45720" bIns="20000" anchor="ctr"/>
          <a:lstStyle/>
          <a:p>
            <a:pPr algn="ctr"/>
            <a:r>
              <a:rPr lang="de-DE" sz="1600" b="1" dirty="0">
                <a:solidFill>
                  <a:srgbClr val="FFFFFF"/>
                </a:solidFill>
                <a:latin typeface="Arial"/>
              </a:rPr>
              <a:t>▭</a:t>
            </a:r>
          </a:p>
        </p:txBody>
      </p:sp>
      <p:sp>
        <p:nvSpPr>
          <p:cNvPr id="222" name="l220"/>
          <p:cNvSpPr/>
          <p:nvPr/>
        </p:nvSpPr>
        <p:spPr>
          <a:xfrm>
            <a:off x="2980000" y="3493000"/>
            <a:ext cx="1270000" cy="14000"/>
          </a:xfrm>
          <a:prstGeom prst="rect">
            <a:avLst/>
          </a:prstGeom>
          <a:solidFill>
            <a:srgbClr val="C1C5C8"/>
          </a:solidFill>
          <a:ln>
            <a:noFill/>
          </a:ln>
        </p:spPr>
        <p:txBody>
          <a:bodyPr wrap="square" lIns="45720" tIns="20000" rIns="45720" bIns="20000" anchor="ctr"/>
          <a:lstStyle/>
          <a:p>
            <a:endParaRPr/>
          </a:p>
        </p:txBody>
      </p:sp>
      <p:sp>
        <p:nvSpPr>
          <p:cNvPr id="223" name="t220"/>
          <p:cNvSpPr/>
          <p:nvPr/>
        </p:nvSpPr>
        <p:spPr>
          <a:xfrm>
            <a:off x="1500000" y="3960000"/>
            <a:ext cx="2200000" cy="320000"/>
          </a:xfrm>
          <a:prstGeom prst="rect">
            <a:avLst/>
          </a:prstGeom>
          <a:noFill/>
          <a:ln>
            <a:noFill/>
          </a:ln>
        </p:spPr>
        <p:txBody>
          <a:bodyPr wrap="square" lIns="45720" tIns="20000" rIns="45720" bIns="20000" anchor="ctr"/>
          <a:lstStyle/>
          <a:p>
            <a:pPr algn="ctr"/>
            <a:r>
              <a:rPr lang="de-DE" sz="1600" b="1" dirty="0">
                <a:solidFill>
                  <a:srgbClr val="30343A"/>
                </a:solidFill>
                <a:latin typeface="Arial"/>
              </a:rPr>
              <a:t>Engineering-Laptop</a:t>
            </a:r>
          </a:p>
        </p:txBody>
      </p:sp>
      <p:sp>
        <p:nvSpPr>
          <p:cNvPr id="230" name="c230"/>
          <p:cNvSpPr/>
          <p:nvPr/>
        </p:nvSpPr>
        <p:spPr>
          <a:xfrm>
            <a:off x="4620000" y="4720000"/>
            <a:ext cx="760000" cy="760000"/>
          </a:xfrm>
          <a:prstGeom prst="ellipse">
            <a:avLst/>
          </a:prstGeom>
          <a:solidFill>
            <a:srgbClr val="5B666F"/>
          </a:solidFill>
          <a:ln>
            <a:noFill/>
          </a:ln>
        </p:spPr>
        <p:txBody>
          <a:bodyPr wrap="square" lIns="45720" tIns="20000" rIns="45720" bIns="20000" anchor="ctr"/>
          <a:lstStyle/>
          <a:p>
            <a:endParaRPr/>
          </a:p>
        </p:txBody>
      </p:sp>
      <p:sp>
        <p:nvSpPr>
          <p:cNvPr id="231" name="g230"/>
          <p:cNvSpPr/>
          <p:nvPr/>
        </p:nvSpPr>
        <p:spPr>
          <a:xfrm>
            <a:off x="4620000" y="4720000"/>
            <a:ext cx="760000" cy="760000"/>
          </a:xfrm>
          <a:prstGeom prst="rect">
            <a:avLst/>
          </a:prstGeom>
          <a:noFill/>
          <a:ln>
            <a:noFill/>
          </a:ln>
        </p:spPr>
        <p:txBody>
          <a:bodyPr wrap="square" lIns="45720" tIns="20000" rIns="45720" bIns="20000" anchor="ctr"/>
          <a:lstStyle/>
          <a:p>
            <a:pPr algn="ctr"/>
            <a:r>
              <a:rPr lang="de-DE" sz="1600" b="1" dirty="0">
                <a:solidFill>
                  <a:srgbClr val="FFFFFF"/>
                </a:solidFill>
                <a:latin typeface="Arial"/>
              </a:rPr>
              <a:t>⌗</a:t>
            </a:r>
          </a:p>
        </p:txBody>
      </p:sp>
      <p:sp>
        <p:nvSpPr>
          <p:cNvPr id="232" name="l230"/>
          <p:cNvSpPr/>
          <p:nvPr/>
        </p:nvSpPr>
        <p:spPr>
          <a:xfrm>
            <a:off x="4993000" y="3850000"/>
            <a:ext cx="14000" cy="870000"/>
          </a:xfrm>
          <a:prstGeom prst="rect">
            <a:avLst/>
          </a:prstGeom>
          <a:solidFill>
            <a:srgbClr val="C1C5C8"/>
          </a:solidFill>
          <a:ln>
            <a:noFill/>
          </a:ln>
        </p:spPr>
        <p:txBody>
          <a:bodyPr wrap="square" lIns="45720" tIns="20000" rIns="45720" bIns="20000" anchor="ctr"/>
          <a:lstStyle/>
          <a:p>
            <a:endParaRPr/>
          </a:p>
        </p:txBody>
      </p:sp>
      <p:sp>
        <p:nvSpPr>
          <p:cNvPr id="233" name="t230"/>
          <p:cNvSpPr/>
          <p:nvPr/>
        </p:nvSpPr>
        <p:spPr>
          <a:xfrm>
            <a:off x="3900000" y="5540000"/>
            <a:ext cx="2200000" cy="320000"/>
          </a:xfrm>
          <a:prstGeom prst="rect">
            <a:avLst/>
          </a:prstGeom>
          <a:noFill/>
          <a:ln>
            <a:noFill/>
          </a:ln>
        </p:spPr>
        <p:txBody>
          <a:bodyPr wrap="square" lIns="45720" tIns="20000" rIns="45720" bIns="20000" anchor="ctr"/>
          <a:lstStyle/>
          <a:p>
            <a:pPr algn="ctr"/>
            <a:r>
              <a:rPr lang="de-DE" sz="1600" b="1" dirty="0">
                <a:solidFill>
                  <a:srgbClr val="30343A"/>
                </a:solidFill>
                <a:latin typeface="Arial"/>
              </a:rPr>
              <a:t>Kali-Testsystem</a:t>
            </a:r>
          </a:p>
        </p:txBody>
      </p:sp>
      <p:sp>
        <p:nvSpPr>
          <p:cNvPr id="240" name="c240"/>
          <p:cNvSpPr/>
          <p:nvPr/>
        </p:nvSpPr>
        <p:spPr>
          <a:xfrm>
            <a:off x="7225000" y="2925000"/>
            <a:ext cx="1150000" cy="1150000"/>
          </a:xfrm>
          <a:prstGeom prst="ellipse">
            <a:avLst/>
          </a:prstGeom>
          <a:solidFill>
            <a:srgbClr val="FF6E00"/>
          </a:solidFill>
          <a:ln>
            <a:noFill/>
          </a:ln>
        </p:spPr>
        <p:txBody>
          <a:bodyPr wrap="square" lIns="45720" tIns="20000" rIns="45720" bIns="20000" anchor="ctr"/>
          <a:lstStyle/>
          <a:p>
            <a:endParaRPr/>
          </a:p>
        </p:txBody>
      </p:sp>
      <p:sp>
        <p:nvSpPr>
          <p:cNvPr id="241" name="g240"/>
          <p:cNvSpPr/>
          <p:nvPr/>
        </p:nvSpPr>
        <p:spPr>
          <a:xfrm>
            <a:off x="7225000" y="2925000"/>
            <a:ext cx="1150000" cy="1150000"/>
          </a:xfrm>
          <a:prstGeom prst="rect">
            <a:avLst/>
          </a:prstGeom>
          <a:noFill/>
          <a:ln>
            <a:noFill/>
          </a:ln>
        </p:spPr>
        <p:txBody>
          <a:bodyPr wrap="square" lIns="45720" tIns="20000" rIns="45720" bIns="20000" anchor="ctr"/>
          <a:lstStyle/>
          <a:p>
            <a:pPr algn="ctr"/>
            <a:r>
              <a:rPr lang="de-DE" sz="2400" b="1" dirty="0">
                <a:solidFill>
                  <a:srgbClr val="FFFFFF"/>
                </a:solidFill>
                <a:latin typeface="Arial"/>
              </a:rPr>
              <a:t>◉</a:t>
            </a:r>
          </a:p>
        </p:txBody>
      </p:sp>
      <p:sp>
        <p:nvSpPr>
          <p:cNvPr id="242" name="l240"/>
          <p:cNvSpPr/>
          <p:nvPr/>
        </p:nvSpPr>
        <p:spPr>
          <a:xfrm>
            <a:off x="5750000" y="3493000"/>
            <a:ext cx="1475000" cy="14000"/>
          </a:xfrm>
          <a:prstGeom prst="rect">
            <a:avLst/>
          </a:prstGeom>
          <a:solidFill>
            <a:srgbClr val="FF6E00"/>
          </a:solidFill>
          <a:ln>
            <a:noFill/>
          </a:ln>
        </p:spPr>
        <p:txBody>
          <a:bodyPr wrap="square" lIns="45720" tIns="20000" rIns="45720" bIns="20000" anchor="ctr"/>
          <a:lstStyle/>
          <a:p>
            <a:endParaRPr/>
          </a:p>
        </p:txBody>
      </p:sp>
      <p:sp>
        <p:nvSpPr>
          <p:cNvPr id="243" name="t240"/>
          <p:cNvSpPr/>
          <p:nvPr/>
        </p:nvSpPr>
        <p:spPr>
          <a:xfrm>
            <a:off x="6600000" y="4180000"/>
            <a:ext cx="2400000" cy="340000"/>
          </a:xfrm>
          <a:prstGeom prst="rect">
            <a:avLst/>
          </a:prstGeom>
          <a:noFill/>
          <a:ln>
            <a:noFill/>
          </a:ln>
        </p:spPr>
        <p:txBody>
          <a:bodyPr wrap="square" lIns="45720" tIns="20000" rIns="45720" bIns="20000" anchor="ctr"/>
          <a:lstStyle/>
          <a:p>
            <a:pPr algn="ctr"/>
            <a:r>
              <a:rPr lang="de-DE" sz="1800" b="1" dirty="0">
                <a:solidFill>
                  <a:srgbClr val="FF6E00"/>
                </a:solidFill>
                <a:latin typeface="Arial"/>
              </a:rPr>
              <a:t>SRIO · Prüfling</a:t>
            </a:r>
          </a:p>
        </p:txBody>
      </p:sp>
      <p:sp>
        <p:nvSpPr>
          <p:cNvPr id="250" name="p1"/>
          <p:cNvSpPr/>
          <p:nvPr/>
        </p:nvSpPr>
        <p:spPr>
          <a:xfrm>
            <a:off x="8600000" y="2820000"/>
            <a:ext cx="2400000" cy="380000"/>
          </a:xfrm>
          <a:prstGeom prst="rect">
            <a:avLst/>
          </a:prstGeom>
          <a:solidFill>
            <a:srgbClr val="FF6E00">
              <a:alpha val="12"/>
            </a:srgbClr>
          </a:solidFill>
          <a:ln w="9525">
            <a:solidFill>
              <a:srgbClr val="FF6E00"/>
            </a:solidFill>
          </a:ln>
        </p:spPr>
        <p:txBody>
          <a:bodyPr wrap="square" lIns="45720" tIns="20000" rIns="45720" bIns="20000" anchor="ctr"/>
          <a:lstStyle/>
          <a:p>
            <a:pPr algn="ctr"/>
            <a:r>
              <a:rPr lang="de-DE" sz="1400" b="1" dirty="0">
                <a:solidFill>
                  <a:srgbClr val="30343A"/>
                </a:solidFill>
                <a:latin typeface="Arial"/>
              </a:rPr>
              <a:t>TCP/80 · HTTP</a:t>
            </a:r>
          </a:p>
        </p:txBody>
      </p:sp>
      <p:sp>
        <p:nvSpPr>
          <p:cNvPr id="251" name="p2"/>
          <p:cNvSpPr/>
          <p:nvPr/>
        </p:nvSpPr>
        <p:spPr>
          <a:xfrm>
            <a:off x="8600000" y="3300000"/>
            <a:ext cx="2400000" cy="380000"/>
          </a:xfrm>
          <a:prstGeom prst="rect">
            <a:avLst/>
          </a:prstGeom>
          <a:solidFill>
            <a:srgbClr val="FF6E00">
              <a:alpha val="12"/>
            </a:srgbClr>
          </a:solidFill>
          <a:ln w="9525">
            <a:solidFill>
              <a:srgbClr val="FF6E00"/>
            </a:solidFill>
          </a:ln>
        </p:spPr>
        <p:txBody>
          <a:bodyPr wrap="square" lIns="45720" tIns="20000" rIns="45720" bIns="20000" anchor="ctr"/>
          <a:lstStyle/>
          <a:p>
            <a:pPr algn="ctr"/>
            <a:r>
              <a:rPr lang="de-DE" sz="1400" b="1" dirty="0">
                <a:solidFill>
                  <a:srgbClr val="30343A"/>
                </a:solidFill>
                <a:latin typeface="Arial"/>
              </a:rPr>
              <a:t>UDP/161 · SNMP</a:t>
            </a:r>
          </a:p>
        </p:txBody>
      </p:sp>
      <p:sp>
        <p:nvSpPr>
          <p:cNvPr id="252" name="p3"/>
          <p:cNvSpPr/>
          <p:nvPr/>
        </p:nvSpPr>
        <p:spPr>
          <a:xfrm>
            <a:off x="8600000" y="3760000"/>
            <a:ext cx="2400000" cy="320000"/>
          </a:xfrm>
          <a:prstGeom prst="rect">
            <a:avLst/>
          </a:prstGeom>
          <a:noFill/>
          <a:ln>
            <a:noFill/>
          </a:ln>
        </p:spPr>
        <p:txBody>
          <a:bodyPr wrap="square" lIns="45720" tIns="20000" rIns="45720" bIns="20000" anchor="ctr"/>
          <a:lstStyle/>
          <a:p>
            <a:pPr algn="ctr"/>
            <a:r>
              <a:rPr lang="de-DE" sz="1400" b="0" dirty="0">
                <a:solidFill>
                  <a:srgbClr val="808890"/>
                </a:solidFill>
                <a:latin typeface="Arial"/>
              </a:rPr>
              <a:t>alles andere zu</a:t>
            </a:r>
          </a:p>
        </p:txBody>
      </p:sp>
      <p:sp>
        <p:nvSpPr>
          <p:cNvPr id="300" name="nvk0"/>
          <p:cNvSpPr/>
          <p:nvPr/>
        </p:nvSpPr>
        <p:spPr>
          <a:xfrm>
            <a:off x="8900000" y="4700000"/>
            <a:ext cx="300000" cy="300000"/>
          </a:xfrm>
          <a:prstGeom prst="ellipse">
            <a:avLst/>
          </a:prstGeom>
          <a:solidFill>
            <a:srgbClr val="5E9B4E"/>
          </a:solidFill>
          <a:ln>
            <a:noFill/>
          </a:ln>
        </p:spPr>
        <p:txBody>
          <a:bodyPr wrap="square" lIns="45720" tIns="20000" rIns="45720" bIns="20000" anchor="ctr"/>
          <a:lstStyle/>
          <a:p>
            <a:endParaRPr/>
          </a:p>
        </p:txBody>
      </p:sp>
      <p:sp>
        <p:nvSpPr>
          <p:cNvPr id="301" name="nvg0"/>
          <p:cNvSpPr/>
          <p:nvPr/>
        </p:nvSpPr>
        <p:spPr>
          <a:xfrm>
            <a:off x="8900000" y="4700000"/>
            <a:ext cx="300000" cy="300000"/>
          </a:xfrm>
          <a:prstGeom prst="rect">
            <a:avLst/>
          </a:prstGeom>
          <a:noFill/>
          <a:ln>
            <a:noFill/>
          </a:ln>
        </p:spPr>
        <p:txBody>
          <a:bodyPr wrap="square" lIns="45720" tIns="20000" rIns="45720" bIns="20000" anchor="ctr"/>
          <a:lstStyle/>
          <a:p>
            <a:pPr algn="ctr"/>
            <a:r>
              <a:rPr lang="de-DE" sz="1200" b="1" dirty="0">
                <a:solidFill>
                  <a:srgbClr val="FFFFFF"/>
                </a:solidFill>
                <a:latin typeface="Arial"/>
              </a:rPr>
              <a:t>✓</a:t>
            </a:r>
          </a:p>
        </p:txBody>
      </p:sp>
      <p:sp>
        <p:nvSpPr>
          <p:cNvPr id="302" name="nvt0"/>
          <p:cNvSpPr/>
          <p:nvPr/>
        </p:nvSpPr>
        <p:spPr>
          <a:xfrm>
            <a:off x="9300000" y="4680000"/>
            <a:ext cx="1600000" cy="340000"/>
          </a:xfrm>
          <a:prstGeom prst="rect">
            <a:avLst/>
          </a:prstGeom>
          <a:noFill/>
          <a:ln>
            <a:noFill/>
          </a:ln>
        </p:spPr>
        <p:txBody>
          <a:bodyPr wrap="square" lIns="45720" tIns="20000" rIns="45720" bIns="20000" anchor="ctr"/>
          <a:lstStyle/>
          <a:p>
            <a:pPr algn="l"/>
            <a:r>
              <a:rPr lang="de-DE" sz="1600" b="1" dirty="0">
                <a:solidFill>
                  <a:srgbClr val="30343A"/>
                </a:solidFill>
                <a:latin typeface="Arial"/>
              </a:rPr>
              <a:t>NV1</a:t>
            </a:r>
          </a:p>
        </p:txBody>
      </p:sp>
      <p:sp>
        <p:nvSpPr>
          <p:cNvPr id="303" name="nvk1"/>
          <p:cNvSpPr/>
          <p:nvPr/>
        </p:nvSpPr>
        <p:spPr>
          <a:xfrm>
            <a:off x="8900000" y="5080000"/>
            <a:ext cx="300000" cy="300000"/>
          </a:xfrm>
          <a:prstGeom prst="ellipse">
            <a:avLst/>
          </a:prstGeom>
          <a:solidFill>
            <a:srgbClr val="C1C5C8"/>
          </a:solidFill>
          <a:ln>
            <a:noFill/>
          </a:ln>
        </p:spPr>
        <p:txBody>
          <a:bodyPr wrap="square" lIns="45720" tIns="20000" rIns="45720" bIns="20000" anchor="ctr"/>
          <a:lstStyle/>
          <a:p>
            <a:endParaRPr/>
          </a:p>
        </p:txBody>
      </p:sp>
      <p:sp>
        <p:nvSpPr>
          <p:cNvPr id="304" name="nvg1"/>
          <p:cNvSpPr/>
          <p:nvPr/>
        </p:nvSpPr>
        <p:spPr>
          <a:xfrm>
            <a:off x="8900000" y="5080000"/>
            <a:ext cx="300000" cy="300000"/>
          </a:xfrm>
          <a:prstGeom prst="rect">
            <a:avLst/>
          </a:prstGeom>
          <a:noFill/>
          <a:ln>
            <a:noFill/>
          </a:ln>
        </p:spPr>
        <p:txBody>
          <a:bodyPr wrap="square" lIns="45720" tIns="20000" rIns="45720" bIns="20000" anchor="ctr"/>
          <a:lstStyle/>
          <a:p>
            <a:pPr algn="ctr"/>
            <a:r>
              <a:rPr lang="de-DE" sz="1200" b="1" dirty="0">
                <a:solidFill>
                  <a:srgbClr val="FFFFFF"/>
                </a:solidFill>
                <a:latin typeface="Arial"/>
              </a:rPr>
              <a:t>✕</a:t>
            </a:r>
          </a:p>
        </p:txBody>
      </p:sp>
      <p:sp>
        <p:nvSpPr>
          <p:cNvPr id="305" name="nvt1"/>
          <p:cNvSpPr/>
          <p:nvPr/>
        </p:nvSpPr>
        <p:spPr>
          <a:xfrm>
            <a:off x="9300000" y="5060000"/>
            <a:ext cx="1600000" cy="340000"/>
          </a:xfrm>
          <a:prstGeom prst="rect">
            <a:avLst/>
          </a:prstGeom>
          <a:noFill/>
          <a:ln>
            <a:noFill/>
          </a:ln>
        </p:spPr>
        <p:txBody>
          <a:bodyPr wrap="square" lIns="45720" tIns="20000" rIns="45720" bIns="20000" anchor="ctr"/>
          <a:lstStyle/>
          <a:p>
            <a:pPr algn="l"/>
            <a:r>
              <a:rPr lang="de-DE" sz="1600" b="1" dirty="0">
                <a:solidFill>
                  <a:srgbClr val="C1C5C8"/>
                </a:solidFill>
                <a:latin typeface="Arial"/>
              </a:rPr>
              <a:t>NV2</a:t>
            </a:r>
          </a:p>
        </p:txBody>
      </p:sp>
      <p:sp>
        <p:nvSpPr>
          <p:cNvPr id="306" name="nvk2"/>
          <p:cNvSpPr/>
          <p:nvPr/>
        </p:nvSpPr>
        <p:spPr>
          <a:xfrm>
            <a:off x="8900000" y="5460000"/>
            <a:ext cx="300000" cy="300000"/>
          </a:xfrm>
          <a:prstGeom prst="ellipse">
            <a:avLst/>
          </a:prstGeom>
          <a:solidFill>
            <a:srgbClr val="C1C5C8"/>
          </a:solidFill>
          <a:ln>
            <a:noFill/>
          </a:ln>
        </p:spPr>
        <p:txBody>
          <a:bodyPr wrap="square" lIns="45720" tIns="20000" rIns="45720" bIns="20000" anchor="ctr"/>
          <a:lstStyle/>
          <a:p>
            <a:endParaRPr/>
          </a:p>
        </p:txBody>
      </p:sp>
      <p:sp>
        <p:nvSpPr>
          <p:cNvPr id="307" name="nvg2"/>
          <p:cNvSpPr/>
          <p:nvPr/>
        </p:nvSpPr>
        <p:spPr>
          <a:xfrm>
            <a:off x="8900000" y="5460000"/>
            <a:ext cx="300000" cy="300000"/>
          </a:xfrm>
          <a:prstGeom prst="rect">
            <a:avLst/>
          </a:prstGeom>
          <a:noFill/>
          <a:ln>
            <a:noFill/>
          </a:ln>
        </p:spPr>
        <p:txBody>
          <a:bodyPr wrap="square" lIns="45720" tIns="20000" rIns="45720" bIns="20000" anchor="ctr"/>
          <a:lstStyle/>
          <a:p>
            <a:pPr algn="ctr"/>
            <a:r>
              <a:rPr lang="de-DE" sz="1200" b="1" dirty="0">
                <a:solidFill>
                  <a:srgbClr val="FFFFFF"/>
                </a:solidFill>
                <a:latin typeface="Arial"/>
              </a:rPr>
              <a:t>✕</a:t>
            </a:r>
          </a:p>
        </p:txBody>
      </p:sp>
      <p:sp>
        <p:nvSpPr>
          <p:cNvPr id="308" name="nvt2"/>
          <p:cNvSpPr/>
          <p:nvPr/>
        </p:nvSpPr>
        <p:spPr>
          <a:xfrm>
            <a:off x="9300000" y="5440000"/>
            <a:ext cx="1600000" cy="340000"/>
          </a:xfrm>
          <a:prstGeom prst="rect">
            <a:avLst/>
          </a:prstGeom>
          <a:noFill/>
          <a:ln>
            <a:noFill/>
          </a:ln>
        </p:spPr>
        <p:txBody>
          <a:bodyPr wrap="square" lIns="45720" tIns="20000" rIns="45720" bIns="20000" anchor="ctr"/>
          <a:lstStyle/>
          <a:p>
            <a:pPr algn="l"/>
            <a:r>
              <a:rPr lang="de-DE" sz="1600" b="1" dirty="0">
                <a:solidFill>
                  <a:srgbClr val="C1C5C8"/>
                </a:solidFill>
                <a:latin typeface="Arial"/>
              </a:rPr>
              <a:t>NV3</a:t>
            </a:r>
          </a:p>
        </p:txBody>
      </p:sp>
      <p:sp>
        <p:nvSpPr>
          <p:cNvPr id="320" name="nvnote"/>
          <p:cNvSpPr/>
          <p:nvPr/>
        </p:nvSpPr>
        <p:spPr>
          <a:xfrm>
            <a:off x="8700000" y="5880000"/>
            <a:ext cx="3200000" cy="320000"/>
          </a:xfrm>
          <a:prstGeom prst="rect">
            <a:avLst/>
          </a:prstGeom>
          <a:noFill/>
          <a:ln>
            <a:noFill/>
          </a:ln>
        </p:spPr>
        <p:txBody>
          <a:bodyPr wrap="square" lIns="45720" tIns="20000" rIns="45720" bIns="20000" anchor="ctr"/>
          <a:lstStyle/>
          <a:p>
            <a:pPr algn="l"/>
            <a:r>
              <a:rPr lang="de-DE" sz="1400" b="0" dirty="0">
                <a:solidFill>
                  <a:srgbClr val="808890"/>
                </a:solidFill>
                <a:latin typeface="Arial"/>
              </a:rPr>
              <a:t>kein Mirror-Port · keine Zeit</a:t>
            </a:r>
          </a:p>
        </p:txBody>
      </p:sp>
      <p:sp>
        <p:nvSpPr>
          <p:cNvPr id="2" name="Titel"/>
          <p:cNvSpPr>
            <a:spLocks noGrp="1"/>
          </p:cNvSpPr>
          <p:nvPr>
            <p:ph type="title"/>
          </p:nvPr>
        </p:nvSpPr>
        <p:spPr>
          <a:xfrm>
            <a:off x="373063" y="838200"/>
            <a:ext cx="9600000" cy="700000"/>
          </a:xfrm>
        </p:spPr>
        <p:txBody>
          <a:bodyPr/>
          <a:lstStyle/>
          <a:p>
            <a:pPr algn="l"/>
            <a:r>
              <a:rPr lang="de-DE" sz="2800" b="1" dirty="0">
                <a:solidFill>
                  <a:srgbClr val="FF6E00"/>
                </a:solidFill>
                <a:latin typeface="Arial"/>
              </a:rPr>
              <a:t>Der Prüfstand</a:t>
            </a:r>
          </a:p>
        </p:txBody>
      </p:sp>
      <p:sp>
        <p:nvSpPr>
          <p:cNvPr id="3" name="Kicker"/>
          <p:cNvSpPr>
            <a:spLocks noGrp="1"/>
          </p:cNvSpPr>
          <p:nvPr>
            <p:ph type="body" sz="quarter" idx="13"/>
          </p:nvPr>
        </p:nvSpPr>
        <p:spPr>
          <a:xfrm>
            <a:off x="373063" y="400000"/>
            <a:ext cx="4000000" cy="300000"/>
          </a:xfrm>
        </p:spPr>
        <p:txBody>
          <a:bodyPr/>
          <a:lstStyle/>
          <a:p>
            <a:pPr algn="l"/>
            <a:r>
              <a:rPr lang="de-DE" sz="1400" b="0" dirty="0">
                <a:solidFill>
                  <a:srgbClr val="30343A"/>
                </a:solidFill>
                <a:latin typeface="Arial"/>
              </a:rPr>
              <a:t>03 · DEMONSTRATION</a:t>
            </a:r>
          </a:p>
        </p:txBody>
      </p:sp>
      <p:sp>
        <p:nvSpPr>
          <p:cNvPr id="4" name="Fusszeile"/>
          <p:cNvSpPr>
            <a:spLocks noGrp="1"/>
          </p:cNvSpPr>
          <p:nvPr>
            <p:ph type="ftr" sz="quarter" idx="11"/>
          </p:nvPr>
        </p:nvSpPr>
        <p:spPr>
          <a:xfrm>
            <a:off x="1024467" y="6260123"/>
            <a:ext cx="2600325" cy="215444"/>
          </a:xfrm>
        </p:spPr>
        <p:txBody>
          <a:bodyPr/>
          <a:lstStyle/>
          <a:p>
            <a:r>
              <a:rPr lang="de-DE" dirty="0"/>
              <a:t>Nathalie Nuber</a:t>
            </a:r>
          </a:p>
        </p:txBody>
      </p:sp>
      <p:sp>
        <p:nvSpPr>
          <p:cNvPr id="5" name="Datum"/>
          <p:cNvSpPr>
            <a:spLocks noGrp="1"/>
          </p:cNvSpPr>
          <p:nvPr>
            <p:ph type="dt" sz="quarter" idx="10"/>
          </p:nvPr>
        </p:nvSpPr>
        <p:spPr>
          <a:xfrm>
            <a:off x="9905999" y="6260123"/>
            <a:ext cx="1200150" cy="215444"/>
          </a:xfrm>
        </p:spPr>
        <p:txBody>
          <a:bodyPr/>
          <a:lstStyle/>
          <a:p>
            <a:r>
              <a:rPr lang="de-DE" dirty="0"/>
              <a:t>22.09.2026</a:t>
            </a:r>
          </a:p>
        </p:txBody>
      </p:sp>
      <p:sp>
        <p:nvSpPr>
          <p:cNvPr id="6" name="Foliennummer"/>
          <p:cNvSpPr>
            <a:spLocks noGrp="1"/>
          </p:cNvSpPr>
          <p:nvPr>
            <p:ph type="sldNum" sz="quarter" idx="12"/>
          </p:nvPr>
        </p:nvSpPr>
        <p:spPr>
          <a:xfrm>
            <a:off x="11245259" y="6260123"/>
            <a:ext cx="530999" cy="215444"/>
          </a:xfrm>
        </p:spPr>
        <p:txBody>
          <a:bodyPr/>
          <a:lstStyle/>
          <a:p>
            <a:fld id="{B6F15528-21DE-4FAC-A6EE-A032D86D5DE5}" type="slidenum">
              <a:rPr lang="de-DE"/>
              <a:t>10</a:t>
            </a:fld>
            <a:endParaRPr lang="de-DE"/>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0"/>
                                  </p:stCondLst>
                                  <p:childTnLst>
                                    <p:animEffect transition="in" filter="fade">
                                      <p:cBhvr>
                                        <p:cTn id="6" dur="400"/>
                                        <p:tgtEl>
                                          <p:spTgt spid="200"/>
                                        </p:tgtEl>
                                      </p:cBhvr>
                                    </p:animEffect>
                                    <p:set>
                                      <p:cBhvr>
                                        <p:cTn id="7" dur="1" fill="hold">
                                          <p:stCondLst>
                                            <p:cond delay="0"/>
                                          </p:stCondLst>
                                        </p:cTn>
                                        <p:tgtEl>
                                          <p:spTgt spid="200"/>
                                        </p:tgtEl>
                                        <p:attrNameLst>
                                          <p:attrName>style.visibility</p:attrName>
                                        </p:attrNameLst>
                                      </p:cBhvr>
                                      <p:to>
                                        <p:strVal val="visible"/>
                                      </p:to>
                                    </p:se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0"/>
                                  </p:stCondLst>
                                  <p:childTnLst>
                                    <p:animEffect transition="in" filter="fade">
                                      <p:cBhvr>
                                        <p:cTn id="11" dur="400"/>
                                        <p:tgtEl>
                                          <p:spTgt spid="210"/>
                                        </p:tgtEl>
                                      </p:cBhvr>
                                    </p:animEffect>
                                    <p:set>
                                      <p:cBhvr>
                                        <p:cTn id="12" dur="1" fill="hold">
                                          <p:stCondLst>
                                            <p:cond delay="0"/>
                                          </p:stCondLst>
                                        </p:cTn>
                                        <p:tgtEl>
                                          <p:spTgt spid="210"/>
                                        </p:tgtEl>
                                        <p:attrNameLst>
                                          <p:attrName>style.visibility</p:attrName>
                                        </p:attrNameLst>
                                      </p:cBhvr>
                                      <p:to>
                                        <p:strVal val="visible"/>
                                      </p:to>
                                    </p:set>
                                  </p:childTnLst>
                                </p:cTn>
                              </p:par>
                              <p:par>
                                <p:cTn id="13" presetID="22" presetClass="entr" presetSubtype="1" fill="hold" nodeType="withEffect">
                                  <p:stCondLst>
                                    <p:cond delay="0"/>
                                  </p:stCondLst>
                                  <p:childTnLst>
                                    <p:animEffect transition="in" filter="fade">
                                      <p:cBhvr>
                                        <p:cTn id="14" dur="400"/>
                                        <p:tgtEl>
                                          <p:spTgt spid="211"/>
                                        </p:tgtEl>
                                      </p:cBhvr>
                                    </p:animEffect>
                                    <p:set>
                                      <p:cBhvr>
                                        <p:cTn id="15" dur="1" fill="hold">
                                          <p:stCondLst>
                                            <p:cond delay="0"/>
                                          </p:stCondLst>
                                        </p:cTn>
                                        <p:tgtEl>
                                          <p:spTgt spid="211"/>
                                        </p:tgtEl>
                                        <p:attrNameLst>
                                          <p:attrName>style.visibility</p:attrName>
                                        </p:attrNameLst>
                                      </p:cBhvr>
                                      <p:to>
                                        <p:strVal val="visible"/>
                                      </p:to>
                                    </p:set>
                                  </p:childTnLst>
                                </p:cTn>
                              </p:par>
                              <p:par>
                                <p:cTn id="16" presetID="22" presetClass="entr" presetSubtype="1" fill="hold" nodeType="withEffect">
                                  <p:stCondLst>
                                    <p:cond delay="0"/>
                                  </p:stCondLst>
                                  <p:childTnLst>
                                    <p:animEffect transition="in" filter="fade">
                                      <p:cBhvr>
                                        <p:cTn id="17" dur="400"/>
                                        <p:tgtEl>
                                          <p:spTgt spid="212"/>
                                        </p:tgtEl>
                                      </p:cBhvr>
                                    </p:animEffect>
                                    <p:set>
                                      <p:cBhvr>
                                        <p:cTn id="18" dur="1" fill="hold">
                                          <p:stCondLst>
                                            <p:cond delay="0"/>
                                          </p:stCondLst>
                                        </p:cTn>
                                        <p:tgtEl>
                                          <p:spTgt spid="212"/>
                                        </p:tgtEl>
                                        <p:attrNameLst>
                                          <p:attrName>style.visibility</p:attrName>
                                        </p:attrNameLst>
                                      </p:cBhvr>
                                      <p:to>
                                        <p:strVal val="visible"/>
                                      </p:to>
                                    </p:set>
                                  </p:childTnLst>
                                </p:cTn>
                              </p:par>
                              <p:par>
                                <p:cTn id="19" presetID="22" presetClass="entr" presetSubtype="1" fill="hold" nodeType="withEffect">
                                  <p:stCondLst>
                                    <p:cond delay="0"/>
                                  </p:stCondLst>
                                  <p:childTnLst>
                                    <p:animEffect transition="in" filter="fade">
                                      <p:cBhvr>
                                        <p:cTn id="20" dur="400"/>
                                        <p:tgtEl>
                                          <p:spTgt spid="213"/>
                                        </p:tgtEl>
                                      </p:cBhvr>
                                    </p:animEffect>
                                    <p:set>
                                      <p:cBhvr>
                                        <p:cTn id="21" dur="1" fill="hold">
                                          <p:stCondLst>
                                            <p:cond delay="0"/>
                                          </p:stCondLst>
                                        </p:cTn>
                                        <p:tgtEl>
                                          <p:spTgt spid="213"/>
                                        </p:tgtEl>
                                        <p:attrNameLst>
                                          <p:attrName>style.visibility</p:attrName>
                                        </p:attrNameLst>
                                      </p:cBhvr>
                                      <p:to>
                                        <p:strVal val="visible"/>
                                      </p:to>
                                    </p:set>
                                  </p:childTnLst>
                                </p:cTn>
                              </p:par>
                              <p:par>
                                <p:cTn id="22" presetID="22" presetClass="entr" presetSubtype="1" fill="hold" nodeType="afterEffect">
                                  <p:stCondLst>
                                    <p:cond delay="200"/>
                                  </p:stCondLst>
                                  <p:childTnLst>
                                    <p:animEffect transition="in" filter="fade">
                                      <p:cBhvr>
                                        <p:cTn id="23" dur="400"/>
                                        <p:tgtEl>
                                          <p:spTgt spid="220"/>
                                        </p:tgtEl>
                                      </p:cBhvr>
                                    </p:animEffect>
                                    <p:set>
                                      <p:cBhvr>
                                        <p:cTn id="24" dur="1" fill="hold">
                                          <p:stCondLst>
                                            <p:cond delay="0"/>
                                          </p:stCondLst>
                                        </p:cTn>
                                        <p:tgtEl>
                                          <p:spTgt spid="220"/>
                                        </p:tgtEl>
                                        <p:attrNameLst>
                                          <p:attrName>style.visibility</p:attrName>
                                        </p:attrNameLst>
                                      </p:cBhvr>
                                      <p:to>
                                        <p:strVal val="visible"/>
                                      </p:to>
                                    </p:set>
                                  </p:childTnLst>
                                </p:cTn>
                              </p:par>
                              <p:par>
                                <p:cTn id="25" presetID="22" presetClass="entr" presetSubtype="1" fill="hold" nodeType="withEffect">
                                  <p:stCondLst>
                                    <p:cond delay="0"/>
                                  </p:stCondLst>
                                  <p:childTnLst>
                                    <p:animEffect transition="in" filter="fade">
                                      <p:cBhvr>
                                        <p:cTn id="26" dur="400"/>
                                        <p:tgtEl>
                                          <p:spTgt spid="221"/>
                                        </p:tgtEl>
                                      </p:cBhvr>
                                    </p:animEffect>
                                    <p:set>
                                      <p:cBhvr>
                                        <p:cTn id="27" dur="1" fill="hold">
                                          <p:stCondLst>
                                            <p:cond delay="0"/>
                                          </p:stCondLst>
                                        </p:cTn>
                                        <p:tgtEl>
                                          <p:spTgt spid="221"/>
                                        </p:tgtEl>
                                        <p:attrNameLst>
                                          <p:attrName>style.visibility</p:attrName>
                                        </p:attrNameLst>
                                      </p:cBhvr>
                                      <p:to>
                                        <p:strVal val="visible"/>
                                      </p:to>
                                    </p:set>
                                  </p:childTnLst>
                                </p:cTn>
                              </p:par>
                              <p:par>
                                <p:cTn id="28" presetID="22" presetClass="entr" presetSubtype="1" fill="hold" nodeType="withEffect">
                                  <p:stCondLst>
                                    <p:cond delay="0"/>
                                  </p:stCondLst>
                                  <p:childTnLst>
                                    <p:animEffect transition="in" filter="fade">
                                      <p:cBhvr>
                                        <p:cTn id="29" dur="400"/>
                                        <p:tgtEl>
                                          <p:spTgt spid="222"/>
                                        </p:tgtEl>
                                      </p:cBhvr>
                                    </p:animEffect>
                                    <p:set>
                                      <p:cBhvr>
                                        <p:cTn id="30" dur="1" fill="hold">
                                          <p:stCondLst>
                                            <p:cond delay="0"/>
                                          </p:stCondLst>
                                        </p:cTn>
                                        <p:tgtEl>
                                          <p:spTgt spid="222"/>
                                        </p:tgtEl>
                                        <p:attrNameLst>
                                          <p:attrName>style.visibility</p:attrName>
                                        </p:attrNameLst>
                                      </p:cBhvr>
                                      <p:to>
                                        <p:strVal val="visible"/>
                                      </p:to>
                                    </p:set>
                                  </p:childTnLst>
                                </p:cTn>
                              </p:par>
                              <p:par>
                                <p:cTn id="31" presetID="22" presetClass="entr" presetSubtype="1" fill="hold" nodeType="withEffect">
                                  <p:stCondLst>
                                    <p:cond delay="0"/>
                                  </p:stCondLst>
                                  <p:childTnLst>
                                    <p:animEffect transition="in" filter="fade">
                                      <p:cBhvr>
                                        <p:cTn id="32" dur="400"/>
                                        <p:tgtEl>
                                          <p:spTgt spid="223"/>
                                        </p:tgtEl>
                                      </p:cBhvr>
                                    </p:animEffect>
                                    <p:set>
                                      <p:cBhvr>
                                        <p:cTn id="33" dur="1" fill="hold">
                                          <p:stCondLst>
                                            <p:cond delay="0"/>
                                          </p:stCondLst>
                                        </p:cTn>
                                        <p:tgtEl>
                                          <p:spTgt spid="223"/>
                                        </p:tgtEl>
                                        <p:attrNameLst>
                                          <p:attrName>style.visibility</p:attrName>
                                        </p:attrNameLst>
                                      </p:cBhvr>
                                      <p:to>
                                        <p:strVal val="visible"/>
                                      </p:to>
                                    </p:set>
                                  </p:childTnLst>
                                </p:cTn>
                              </p:par>
                              <p:par>
                                <p:cTn id="34" presetID="22" presetClass="entr" presetSubtype="1" fill="hold" nodeType="afterEffect">
                                  <p:stCondLst>
                                    <p:cond delay="200"/>
                                  </p:stCondLst>
                                  <p:childTnLst>
                                    <p:animEffect transition="in" filter="fade">
                                      <p:cBhvr>
                                        <p:cTn id="35" dur="400"/>
                                        <p:tgtEl>
                                          <p:spTgt spid="230"/>
                                        </p:tgtEl>
                                      </p:cBhvr>
                                    </p:animEffect>
                                    <p:set>
                                      <p:cBhvr>
                                        <p:cTn id="36" dur="1" fill="hold">
                                          <p:stCondLst>
                                            <p:cond delay="0"/>
                                          </p:stCondLst>
                                        </p:cTn>
                                        <p:tgtEl>
                                          <p:spTgt spid="230"/>
                                        </p:tgtEl>
                                        <p:attrNameLst>
                                          <p:attrName>style.visibility</p:attrName>
                                        </p:attrNameLst>
                                      </p:cBhvr>
                                      <p:to>
                                        <p:strVal val="visible"/>
                                      </p:to>
                                    </p:set>
                                  </p:childTnLst>
                                </p:cTn>
                              </p:par>
                              <p:par>
                                <p:cTn id="37" presetID="22" presetClass="entr" presetSubtype="1" fill="hold" nodeType="withEffect">
                                  <p:stCondLst>
                                    <p:cond delay="0"/>
                                  </p:stCondLst>
                                  <p:childTnLst>
                                    <p:animEffect transition="in" filter="fade">
                                      <p:cBhvr>
                                        <p:cTn id="38" dur="400"/>
                                        <p:tgtEl>
                                          <p:spTgt spid="231"/>
                                        </p:tgtEl>
                                      </p:cBhvr>
                                    </p:animEffect>
                                    <p:set>
                                      <p:cBhvr>
                                        <p:cTn id="39" dur="1" fill="hold">
                                          <p:stCondLst>
                                            <p:cond delay="0"/>
                                          </p:stCondLst>
                                        </p:cTn>
                                        <p:tgtEl>
                                          <p:spTgt spid="231"/>
                                        </p:tgtEl>
                                        <p:attrNameLst>
                                          <p:attrName>style.visibility</p:attrName>
                                        </p:attrNameLst>
                                      </p:cBhvr>
                                      <p:to>
                                        <p:strVal val="visible"/>
                                      </p:to>
                                    </p:set>
                                  </p:childTnLst>
                                </p:cTn>
                              </p:par>
                              <p:par>
                                <p:cTn id="40" presetID="22" presetClass="entr" presetSubtype="1" fill="hold" nodeType="withEffect">
                                  <p:stCondLst>
                                    <p:cond delay="0"/>
                                  </p:stCondLst>
                                  <p:childTnLst>
                                    <p:animEffect transition="in" filter="fade">
                                      <p:cBhvr>
                                        <p:cTn id="41" dur="400"/>
                                        <p:tgtEl>
                                          <p:spTgt spid="232"/>
                                        </p:tgtEl>
                                      </p:cBhvr>
                                    </p:animEffect>
                                    <p:set>
                                      <p:cBhvr>
                                        <p:cTn id="42" dur="1" fill="hold">
                                          <p:stCondLst>
                                            <p:cond delay="0"/>
                                          </p:stCondLst>
                                        </p:cTn>
                                        <p:tgtEl>
                                          <p:spTgt spid="232"/>
                                        </p:tgtEl>
                                        <p:attrNameLst>
                                          <p:attrName>style.visibility</p:attrName>
                                        </p:attrNameLst>
                                      </p:cBhvr>
                                      <p:to>
                                        <p:strVal val="visible"/>
                                      </p:to>
                                    </p:set>
                                  </p:childTnLst>
                                </p:cTn>
                              </p:par>
                              <p:par>
                                <p:cTn id="43" presetID="22" presetClass="entr" presetSubtype="1" fill="hold" nodeType="withEffect">
                                  <p:stCondLst>
                                    <p:cond delay="0"/>
                                  </p:stCondLst>
                                  <p:childTnLst>
                                    <p:animEffect transition="in" filter="fade">
                                      <p:cBhvr>
                                        <p:cTn id="44" dur="400"/>
                                        <p:tgtEl>
                                          <p:spTgt spid="233"/>
                                        </p:tgtEl>
                                      </p:cBhvr>
                                    </p:animEffect>
                                    <p:set>
                                      <p:cBhvr>
                                        <p:cTn id="45" dur="1" fill="hold">
                                          <p:stCondLst>
                                            <p:cond delay="0"/>
                                          </p:stCondLst>
                                        </p:cTn>
                                        <p:tgtEl>
                                          <p:spTgt spid="233"/>
                                        </p:tgtEl>
                                        <p:attrNameLst>
                                          <p:attrName>style.visibility</p:attrName>
                                        </p:attrNameLst>
                                      </p:cBhvr>
                                      <p:to>
                                        <p:strVal val="visible"/>
                                      </p:to>
                                    </p:set>
                                  </p:childTnLst>
                                </p:cTn>
                              </p:par>
                              <p:par>
                                <p:cTn id="46" presetID="22" presetClass="entr" presetSubtype="1" fill="hold" nodeType="afterEffect">
                                  <p:stCondLst>
                                    <p:cond delay="200"/>
                                  </p:stCondLst>
                                  <p:childTnLst>
                                    <p:animEffect transition="in" filter="fade">
                                      <p:cBhvr>
                                        <p:cTn id="47" dur="400"/>
                                        <p:tgtEl>
                                          <p:spTgt spid="240"/>
                                        </p:tgtEl>
                                      </p:cBhvr>
                                    </p:animEffect>
                                    <p:set>
                                      <p:cBhvr>
                                        <p:cTn id="48" dur="1" fill="hold">
                                          <p:stCondLst>
                                            <p:cond delay="0"/>
                                          </p:stCondLst>
                                        </p:cTn>
                                        <p:tgtEl>
                                          <p:spTgt spid="240"/>
                                        </p:tgtEl>
                                        <p:attrNameLst>
                                          <p:attrName>style.visibility</p:attrName>
                                        </p:attrNameLst>
                                      </p:cBhvr>
                                      <p:to>
                                        <p:strVal val="visible"/>
                                      </p:to>
                                    </p:set>
                                  </p:childTnLst>
                                </p:cTn>
                              </p:par>
                              <p:par>
                                <p:cTn id="49" presetID="22" presetClass="entr" presetSubtype="1" fill="hold" nodeType="withEffect">
                                  <p:stCondLst>
                                    <p:cond delay="0"/>
                                  </p:stCondLst>
                                  <p:childTnLst>
                                    <p:animEffect transition="in" filter="fade">
                                      <p:cBhvr>
                                        <p:cTn id="50" dur="400"/>
                                        <p:tgtEl>
                                          <p:spTgt spid="241"/>
                                        </p:tgtEl>
                                      </p:cBhvr>
                                    </p:animEffect>
                                    <p:set>
                                      <p:cBhvr>
                                        <p:cTn id="51" dur="1" fill="hold">
                                          <p:stCondLst>
                                            <p:cond delay="0"/>
                                          </p:stCondLst>
                                        </p:cTn>
                                        <p:tgtEl>
                                          <p:spTgt spid="241"/>
                                        </p:tgtEl>
                                        <p:attrNameLst>
                                          <p:attrName>style.visibility</p:attrName>
                                        </p:attrNameLst>
                                      </p:cBhvr>
                                      <p:to>
                                        <p:strVal val="visible"/>
                                      </p:to>
                                    </p:set>
                                  </p:childTnLst>
                                </p:cTn>
                              </p:par>
                              <p:par>
                                <p:cTn id="52" presetID="22" presetClass="entr" presetSubtype="1" fill="hold" nodeType="withEffect">
                                  <p:stCondLst>
                                    <p:cond delay="0"/>
                                  </p:stCondLst>
                                  <p:childTnLst>
                                    <p:animEffect transition="in" filter="fade">
                                      <p:cBhvr>
                                        <p:cTn id="53" dur="400"/>
                                        <p:tgtEl>
                                          <p:spTgt spid="242"/>
                                        </p:tgtEl>
                                      </p:cBhvr>
                                    </p:animEffect>
                                    <p:set>
                                      <p:cBhvr>
                                        <p:cTn id="54" dur="1" fill="hold">
                                          <p:stCondLst>
                                            <p:cond delay="0"/>
                                          </p:stCondLst>
                                        </p:cTn>
                                        <p:tgtEl>
                                          <p:spTgt spid="242"/>
                                        </p:tgtEl>
                                        <p:attrNameLst>
                                          <p:attrName>style.visibility</p:attrName>
                                        </p:attrNameLst>
                                      </p:cBhvr>
                                      <p:to>
                                        <p:strVal val="visible"/>
                                      </p:to>
                                    </p:set>
                                  </p:childTnLst>
                                </p:cTn>
                              </p:par>
                              <p:par>
                                <p:cTn id="55" presetID="22" presetClass="entr" presetSubtype="1" fill="hold" nodeType="withEffect">
                                  <p:stCondLst>
                                    <p:cond delay="0"/>
                                  </p:stCondLst>
                                  <p:childTnLst>
                                    <p:animEffect transition="in" filter="fade">
                                      <p:cBhvr>
                                        <p:cTn id="56" dur="400"/>
                                        <p:tgtEl>
                                          <p:spTgt spid="243"/>
                                        </p:tgtEl>
                                      </p:cBhvr>
                                    </p:animEffect>
                                    <p:set>
                                      <p:cBhvr>
                                        <p:cTn id="57" dur="1" fill="hold">
                                          <p:stCondLst>
                                            <p:cond delay="0"/>
                                          </p:stCondLst>
                                        </p:cTn>
                                        <p:tgtEl>
                                          <p:spTgt spid="24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23" presetClass="entr" presetSubtype="0" fill="hold" nodeType="clickEffect">
                                  <p:stCondLst>
                                    <p:cond delay="0"/>
                                  </p:stCondLst>
                                  <p:childTnLst>
                                    <p:set>
                                      <p:cBhvr>
                                        <p:cTn id="61" dur="1" fill="hold">
                                          <p:stCondLst>
                                            <p:cond delay="0"/>
                                          </p:stCondLst>
                                        </p:cTn>
                                        <p:tgtEl>
                                          <p:spTgt spid="250"/>
                                        </p:tgtEl>
                                        <p:attrNameLst>
                                          <p:attrName>style.visibility</p:attrName>
                                        </p:attrNameLst>
                                      </p:cBhvr>
                                      <p:to>
                                        <p:strVal val="visible"/>
                                      </p:to>
                                    </p:set>
                                    <p:anim calcmode="lin" valueType="num">
                                      <p:cBhvr>
                                        <p:cTn id="62" dur="400" fill="hold"/>
                                        <p:tgtEl>
                                          <p:spTgt spid="250"/>
                                        </p:tgtEl>
                                        <p:attrNameLst>
                                          <p:attrName>ppt_w</p:attrName>
                                        </p:attrNameLst>
                                      </p:cBhvr>
                                      <p:tavLst>
                                        <p:tav tm="0">
                                          <p:val>
                                            <p:strVal val="#ppt_w*0.4"/>
                                          </p:val>
                                        </p:tav>
                                        <p:tav tm="100000">
                                          <p:val>
                                            <p:strVal val="#ppt_w"/>
                                          </p:val>
                                        </p:tav>
                                      </p:tavLst>
                                    </p:anim>
                                    <p:anim calcmode="lin" valueType="num">
                                      <p:cBhvr>
                                        <p:cTn id="63" dur="400" fill="hold"/>
                                        <p:tgtEl>
                                          <p:spTgt spid="250"/>
                                        </p:tgtEl>
                                        <p:attrNameLst>
                                          <p:attrName>ppt_h</p:attrName>
                                        </p:attrNameLst>
                                      </p:cBhvr>
                                      <p:tavLst>
                                        <p:tav tm="0">
                                          <p:val>
                                            <p:strVal val="#ppt_h*0.4"/>
                                          </p:val>
                                        </p:tav>
                                        <p:tav tm="100000">
                                          <p:val>
                                            <p:strVal val="#ppt_h"/>
                                          </p:val>
                                        </p:tav>
                                      </p:tavLst>
                                    </p:anim>
                                  </p:childTnLst>
                                </p:cTn>
                              </p:par>
                              <p:par>
                                <p:cTn id="64" presetID="23" presetClass="entr" presetSubtype="0" fill="hold" nodeType="withEffect">
                                  <p:stCondLst>
                                    <p:cond delay="0"/>
                                  </p:stCondLst>
                                  <p:childTnLst>
                                    <p:set>
                                      <p:cBhvr>
                                        <p:cTn id="65" dur="1" fill="hold">
                                          <p:stCondLst>
                                            <p:cond delay="0"/>
                                          </p:stCondLst>
                                        </p:cTn>
                                        <p:tgtEl>
                                          <p:spTgt spid="251"/>
                                        </p:tgtEl>
                                        <p:attrNameLst>
                                          <p:attrName>style.visibility</p:attrName>
                                        </p:attrNameLst>
                                      </p:cBhvr>
                                      <p:to>
                                        <p:strVal val="visible"/>
                                      </p:to>
                                    </p:set>
                                    <p:anim calcmode="lin" valueType="num">
                                      <p:cBhvr>
                                        <p:cTn id="66" dur="400" fill="hold"/>
                                        <p:tgtEl>
                                          <p:spTgt spid="251"/>
                                        </p:tgtEl>
                                        <p:attrNameLst>
                                          <p:attrName>ppt_w</p:attrName>
                                        </p:attrNameLst>
                                      </p:cBhvr>
                                      <p:tavLst>
                                        <p:tav tm="0">
                                          <p:val>
                                            <p:strVal val="#ppt_w*0.4"/>
                                          </p:val>
                                        </p:tav>
                                        <p:tav tm="100000">
                                          <p:val>
                                            <p:strVal val="#ppt_w"/>
                                          </p:val>
                                        </p:tav>
                                      </p:tavLst>
                                    </p:anim>
                                    <p:anim calcmode="lin" valueType="num">
                                      <p:cBhvr>
                                        <p:cTn id="67" dur="400" fill="hold"/>
                                        <p:tgtEl>
                                          <p:spTgt spid="251"/>
                                        </p:tgtEl>
                                        <p:attrNameLst>
                                          <p:attrName>ppt_h</p:attrName>
                                        </p:attrNameLst>
                                      </p:cBhvr>
                                      <p:tavLst>
                                        <p:tav tm="0">
                                          <p:val>
                                            <p:strVal val="#ppt_h*0.4"/>
                                          </p:val>
                                        </p:tav>
                                        <p:tav tm="100000">
                                          <p:val>
                                            <p:strVal val="#ppt_h"/>
                                          </p:val>
                                        </p:tav>
                                      </p:tavLst>
                                    </p:anim>
                                  </p:childTnLst>
                                </p:cTn>
                              </p:par>
                              <p:par>
                                <p:cTn id="68" presetID="22" presetClass="entr" presetSubtype="1" fill="hold" nodeType="withEffect">
                                  <p:stCondLst>
                                    <p:cond delay="0"/>
                                  </p:stCondLst>
                                  <p:childTnLst>
                                    <p:animEffect transition="in" filter="fade">
                                      <p:cBhvr>
                                        <p:cTn id="69" dur="400"/>
                                        <p:tgtEl>
                                          <p:spTgt spid="252"/>
                                        </p:tgtEl>
                                      </p:cBhvr>
                                    </p:animEffect>
                                    <p:set>
                                      <p:cBhvr>
                                        <p:cTn id="70" dur="1" fill="hold">
                                          <p:stCondLst>
                                            <p:cond delay="0"/>
                                          </p:stCondLst>
                                        </p:cTn>
                                        <p:tgtEl>
                                          <p:spTgt spid="252"/>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22" presetClass="entr" presetSubtype="1" fill="hold" nodeType="clickEffect">
                                  <p:stCondLst>
                                    <p:cond delay="0"/>
                                  </p:stCondLst>
                                  <p:childTnLst>
                                    <p:animEffect transition="in" filter="fade">
                                      <p:cBhvr>
                                        <p:cTn id="74" dur="400"/>
                                        <p:tgtEl>
                                          <p:spTgt spid="300"/>
                                        </p:tgtEl>
                                      </p:cBhvr>
                                    </p:animEffect>
                                    <p:set>
                                      <p:cBhvr>
                                        <p:cTn id="75" dur="1" fill="hold">
                                          <p:stCondLst>
                                            <p:cond delay="0"/>
                                          </p:stCondLst>
                                        </p:cTn>
                                        <p:tgtEl>
                                          <p:spTgt spid="300"/>
                                        </p:tgtEl>
                                        <p:attrNameLst>
                                          <p:attrName>style.visibility</p:attrName>
                                        </p:attrNameLst>
                                      </p:cBhvr>
                                      <p:to>
                                        <p:strVal val="visible"/>
                                      </p:to>
                                    </p:set>
                                  </p:childTnLst>
                                </p:cTn>
                              </p:par>
                              <p:par>
                                <p:cTn id="76" presetID="22" presetClass="entr" presetSubtype="1" fill="hold" nodeType="withEffect">
                                  <p:stCondLst>
                                    <p:cond delay="0"/>
                                  </p:stCondLst>
                                  <p:childTnLst>
                                    <p:animEffect transition="in" filter="fade">
                                      <p:cBhvr>
                                        <p:cTn id="77" dur="400"/>
                                        <p:tgtEl>
                                          <p:spTgt spid="301"/>
                                        </p:tgtEl>
                                      </p:cBhvr>
                                    </p:animEffect>
                                    <p:set>
                                      <p:cBhvr>
                                        <p:cTn id="78" dur="1" fill="hold">
                                          <p:stCondLst>
                                            <p:cond delay="0"/>
                                          </p:stCondLst>
                                        </p:cTn>
                                        <p:tgtEl>
                                          <p:spTgt spid="301"/>
                                        </p:tgtEl>
                                        <p:attrNameLst>
                                          <p:attrName>style.visibility</p:attrName>
                                        </p:attrNameLst>
                                      </p:cBhvr>
                                      <p:to>
                                        <p:strVal val="visible"/>
                                      </p:to>
                                    </p:set>
                                  </p:childTnLst>
                                </p:cTn>
                              </p:par>
                              <p:par>
                                <p:cTn id="79" presetID="22" presetClass="entr" presetSubtype="1" fill="hold" nodeType="withEffect">
                                  <p:stCondLst>
                                    <p:cond delay="0"/>
                                  </p:stCondLst>
                                  <p:childTnLst>
                                    <p:animEffect transition="in" filter="fade">
                                      <p:cBhvr>
                                        <p:cTn id="80" dur="400"/>
                                        <p:tgtEl>
                                          <p:spTgt spid="302"/>
                                        </p:tgtEl>
                                      </p:cBhvr>
                                    </p:animEffect>
                                    <p:set>
                                      <p:cBhvr>
                                        <p:cTn id="81" dur="1" fill="hold">
                                          <p:stCondLst>
                                            <p:cond delay="0"/>
                                          </p:stCondLst>
                                        </p:cTn>
                                        <p:tgtEl>
                                          <p:spTgt spid="302"/>
                                        </p:tgtEl>
                                        <p:attrNameLst>
                                          <p:attrName>style.visibility</p:attrName>
                                        </p:attrNameLst>
                                      </p:cBhvr>
                                      <p:to>
                                        <p:strVal val="visible"/>
                                      </p:to>
                                    </p:set>
                                  </p:childTnLst>
                                </p:cTn>
                              </p:par>
                              <p:par>
                                <p:cTn id="82" presetID="22" presetClass="entr" presetSubtype="1" fill="hold" nodeType="withEffect">
                                  <p:stCondLst>
                                    <p:cond delay="0"/>
                                  </p:stCondLst>
                                  <p:childTnLst>
                                    <p:animEffect transition="in" filter="fade">
                                      <p:cBhvr>
                                        <p:cTn id="83" dur="400"/>
                                        <p:tgtEl>
                                          <p:spTgt spid="303"/>
                                        </p:tgtEl>
                                      </p:cBhvr>
                                    </p:animEffect>
                                    <p:set>
                                      <p:cBhvr>
                                        <p:cTn id="84" dur="1" fill="hold">
                                          <p:stCondLst>
                                            <p:cond delay="0"/>
                                          </p:stCondLst>
                                        </p:cTn>
                                        <p:tgtEl>
                                          <p:spTgt spid="303"/>
                                        </p:tgtEl>
                                        <p:attrNameLst>
                                          <p:attrName>style.visibility</p:attrName>
                                        </p:attrNameLst>
                                      </p:cBhvr>
                                      <p:to>
                                        <p:strVal val="visible"/>
                                      </p:to>
                                    </p:set>
                                  </p:childTnLst>
                                </p:cTn>
                              </p:par>
                              <p:par>
                                <p:cTn id="85" presetID="22" presetClass="entr" presetSubtype="1" fill="hold" nodeType="withEffect">
                                  <p:stCondLst>
                                    <p:cond delay="0"/>
                                  </p:stCondLst>
                                  <p:childTnLst>
                                    <p:animEffect transition="in" filter="fade">
                                      <p:cBhvr>
                                        <p:cTn id="86" dur="400"/>
                                        <p:tgtEl>
                                          <p:spTgt spid="304"/>
                                        </p:tgtEl>
                                      </p:cBhvr>
                                    </p:animEffect>
                                    <p:set>
                                      <p:cBhvr>
                                        <p:cTn id="87" dur="1" fill="hold">
                                          <p:stCondLst>
                                            <p:cond delay="0"/>
                                          </p:stCondLst>
                                        </p:cTn>
                                        <p:tgtEl>
                                          <p:spTgt spid="304"/>
                                        </p:tgtEl>
                                        <p:attrNameLst>
                                          <p:attrName>style.visibility</p:attrName>
                                        </p:attrNameLst>
                                      </p:cBhvr>
                                      <p:to>
                                        <p:strVal val="visible"/>
                                      </p:to>
                                    </p:set>
                                  </p:childTnLst>
                                </p:cTn>
                              </p:par>
                              <p:par>
                                <p:cTn id="88" presetID="22" presetClass="entr" presetSubtype="1" fill="hold" nodeType="withEffect">
                                  <p:stCondLst>
                                    <p:cond delay="0"/>
                                  </p:stCondLst>
                                  <p:childTnLst>
                                    <p:animEffect transition="in" filter="fade">
                                      <p:cBhvr>
                                        <p:cTn id="89" dur="400"/>
                                        <p:tgtEl>
                                          <p:spTgt spid="305"/>
                                        </p:tgtEl>
                                      </p:cBhvr>
                                    </p:animEffect>
                                    <p:set>
                                      <p:cBhvr>
                                        <p:cTn id="90" dur="1" fill="hold">
                                          <p:stCondLst>
                                            <p:cond delay="0"/>
                                          </p:stCondLst>
                                        </p:cTn>
                                        <p:tgtEl>
                                          <p:spTgt spid="305"/>
                                        </p:tgtEl>
                                        <p:attrNameLst>
                                          <p:attrName>style.visibility</p:attrName>
                                        </p:attrNameLst>
                                      </p:cBhvr>
                                      <p:to>
                                        <p:strVal val="visible"/>
                                      </p:to>
                                    </p:set>
                                  </p:childTnLst>
                                </p:cTn>
                              </p:par>
                              <p:par>
                                <p:cTn id="91" presetID="22" presetClass="entr" presetSubtype="1" fill="hold" nodeType="withEffect">
                                  <p:stCondLst>
                                    <p:cond delay="0"/>
                                  </p:stCondLst>
                                  <p:childTnLst>
                                    <p:animEffect transition="in" filter="fade">
                                      <p:cBhvr>
                                        <p:cTn id="92" dur="400"/>
                                        <p:tgtEl>
                                          <p:spTgt spid="306"/>
                                        </p:tgtEl>
                                      </p:cBhvr>
                                    </p:animEffect>
                                    <p:set>
                                      <p:cBhvr>
                                        <p:cTn id="93" dur="1" fill="hold">
                                          <p:stCondLst>
                                            <p:cond delay="0"/>
                                          </p:stCondLst>
                                        </p:cTn>
                                        <p:tgtEl>
                                          <p:spTgt spid="306"/>
                                        </p:tgtEl>
                                        <p:attrNameLst>
                                          <p:attrName>style.visibility</p:attrName>
                                        </p:attrNameLst>
                                      </p:cBhvr>
                                      <p:to>
                                        <p:strVal val="visible"/>
                                      </p:to>
                                    </p:set>
                                  </p:childTnLst>
                                </p:cTn>
                              </p:par>
                              <p:par>
                                <p:cTn id="94" presetID="22" presetClass="entr" presetSubtype="1" fill="hold" nodeType="withEffect">
                                  <p:stCondLst>
                                    <p:cond delay="0"/>
                                  </p:stCondLst>
                                  <p:childTnLst>
                                    <p:animEffect transition="in" filter="fade">
                                      <p:cBhvr>
                                        <p:cTn id="95" dur="400"/>
                                        <p:tgtEl>
                                          <p:spTgt spid="307"/>
                                        </p:tgtEl>
                                      </p:cBhvr>
                                    </p:animEffect>
                                    <p:set>
                                      <p:cBhvr>
                                        <p:cTn id="96" dur="1" fill="hold">
                                          <p:stCondLst>
                                            <p:cond delay="0"/>
                                          </p:stCondLst>
                                        </p:cTn>
                                        <p:tgtEl>
                                          <p:spTgt spid="307"/>
                                        </p:tgtEl>
                                        <p:attrNameLst>
                                          <p:attrName>style.visibility</p:attrName>
                                        </p:attrNameLst>
                                      </p:cBhvr>
                                      <p:to>
                                        <p:strVal val="visible"/>
                                      </p:to>
                                    </p:set>
                                  </p:childTnLst>
                                </p:cTn>
                              </p:par>
                              <p:par>
                                <p:cTn id="97" presetID="22" presetClass="entr" presetSubtype="1" fill="hold" nodeType="withEffect">
                                  <p:stCondLst>
                                    <p:cond delay="0"/>
                                  </p:stCondLst>
                                  <p:childTnLst>
                                    <p:animEffect transition="in" filter="fade">
                                      <p:cBhvr>
                                        <p:cTn id="98" dur="400"/>
                                        <p:tgtEl>
                                          <p:spTgt spid="308"/>
                                        </p:tgtEl>
                                      </p:cBhvr>
                                    </p:animEffect>
                                    <p:set>
                                      <p:cBhvr>
                                        <p:cTn id="99" dur="1" fill="hold">
                                          <p:stCondLst>
                                            <p:cond delay="0"/>
                                          </p:stCondLst>
                                        </p:cTn>
                                        <p:tgtEl>
                                          <p:spTgt spid="308"/>
                                        </p:tgtEl>
                                        <p:attrNameLst>
                                          <p:attrName>style.visibility</p:attrName>
                                        </p:attrNameLst>
                                      </p:cBhvr>
                                      <p:to>
                                        <p:strVal val="visible"/>
                                      </p:to>
                                    </p:set>
                                  </p:childTnLst>
                                </p:cTn>
                              </p:par>
                              <p:par>
                                <p:cTn id="100" presetID="22" presetClass="entr" presetSubtype="1" fill="hold" nodeType="withEffect">
                                  <p:stCondLst>
                                    <p:cond delay="0"/>
                                  </p:stCondLst>
                                  <p:childTnLst>
                                    <p:animEffect transition="in" filter="fade">
                                      <p:cBhvr>
                                        <p:cTn id="101" dur="400"/>
                                        <p:tgtEl>
                                          <p:spTgt spid="320"/>
                                        </p:tgtEl>
                                      </p:cBhvr>
                                    </p:animEffect>
                                    <p:set>
                                      <p:cBhvr>
                                        <p:cTn id="102" dur="1" fill="hold">
                                          <p:stCondLst>
                                            <p:cond delay="0"/>
                                          </p:stCondLst>
                                        </p:cTn>
                                        <p:tgtEl>
                                          <p:spTgt spid="3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0" grpId="0"/>
      <p:bldP spid="210" grpId="0"/>
      <p:bldP spid="211" grpId="0"/>
      <p:bldP spid="212" grpId="0"/>
      <p:bldP spid="213" grpId="0"/>
      <p:bldP spid="220" grpId="0"/>
      <p:bldP spid="221" grpId="0"/>
      <p:bldP spid="222" grpId="0"/>
      <p:bldP spid="223" grpId="0"/>
      <p:bldP spid="230" grpId="0"/>
      <p:bldP spid="231" grpId="0"/>
      <p:bldP spid="232" grpId="0"/>
      <p:bldP spid="233" grpId="0"/>
      <p:bldP spid="240" grpId="0"/>
      <p:bldP spid="241" grpId="0"/>
      <p:bldP spid="242" grpId="0"/>
      <p:bldP spid="243" grpId="0"/>
      <p:bldP spid="250" grpId="0"/>
      <p:bldP spid="251" grpId="0"/>
      <p:bldP spid="252" grpId="0"/>
      <p:bldP spid="300" grpId="0"/>
      <p:bldP spid="301" grpId="0"/>
      <p:bldP spid="302" grpId="0"/>
      <p:bldP spid="303" grpId="0"/>
      <p:bldP spid="304" grpId="0"/>
      <p:bldP spid="305" grpId="0"/>
      <p:bldP spid="306" grpId="0"/>
      <p:bldP spid="307" grpId="0"/>
      <p:bldP spid="308" grpId="0"/>
      <p:bldP spid="3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normAutofit fontScale="90000"/>
          </a:bodyPr>
          <a:lstStyle/>
          <a:p>
            <a:r>
              <a:rPr lang="de-DE" dirty="0"/>
              <a:t>Kernbefund: der Interventionsnachweis</a:t>
            </a:r>
          </a:p>
        </p:txBody>
      </p:sp>
      <p:sp>
        <p:nvSpPr>
          <p:cNvPr id="5" name="Kopf"/>
          <p:cNvSpPr/>
          <p:nvPr/>
        </p:nvSpPr>
        <p:spPr>
          <a:xfrm>
            <a:off x="373063" y="1250000"/>
            <a:ext cx="2200000" cy="460000"/>
          </a:xfrm>
          <a:prstGeom prst="rect">
            <a:avLst/>
          </a:prstGeom>
          <a:solidFill>
            <a:schemeClr val="accent2"/>
          </a:solidFill>
          <a:ln>
            <a:noFill/>
          </a:ln>
        </p:spPr>
        <p:txBody>
          <a:bodyPr wrap="square" lIns="137160" tIns="27432" rIns="137160" bIns="27432" anchor="ctr">
            <a:noAutofit/>
          </a:bodyPr>
          <a:lstStyle/>
          <a:p>
            <a:pPr algn="l"/>
            <a:r>
              <a:rPr lang="de-DE" sz="1400" b="1" dirty="0">
                <a:solidFill>
                  <a:srgbClr val="FFFFFF"/>
                </a:solidFill>
              </a:rPr>
              <a:t>Schritt</a:t>
            </a:r>
          </a:p>
        </p:txBody>
      </p:sp>
      <p:sp>
        <p:nvSpPr>
          <p:cNvPr id="6" name="Kopf"/>
          <p:cNvSpPr/>
          <p:nvPr/>
        </p:nvSpPr>
        <p:spPr>
          <a:xfrm>
            <a:off x="2573063" y="1250000"/>
            <a:ext cx="1650000" cy="460000"/>
          </a:xfrm>
          <a:prstGeom prst="rect">
            <a:avLst/>
          </a:prstGeom>
          <a:solidFill>
            <a:schemeClr val="accent2"/>
          </a:solidFill>
          <a:ln>
            <a:noFill/>
          </a:ln>
        </p:spPr>
        <p:txBody>
          <a:bodyPr wrap="square" lIns="137160" tIns="27432" rIns="137160" bIns="27432" anchor="ctr">
            <a:noAutofit/>
          </a:bodyPr>
          <a:lstStyle/>
          <a:p>
            <a:pPr algn="ctr"/>
            <a:r>
              <a:rPr lang="de-DE" sz="1400" b="1" dirty="0">
                <a:solidFill>
                  <a:srgbClr val="FFFFFF"/>
                </a:solidFill>
              </a:rPr>
              <a:t>System-Tick</a:t>
            </a:r>
          </a:p>
        </p:txBody>
      </p:sp>
      <p:sp>
        <p:nvSpPr>
          <p:cNvPr id="7" name="Kopf"/>
          <p:cNvSpPr/>
          <p:nvPr/>
        </p:nvSpPr>
        <p:spPr>
          <a:xfrm>
            <a:off x="4223063" y="1250000"/>
            <a:ext cx="1650000" cy="460000"/>
          </a:xfrm>
          <a:prstGeom prst="rect">
            <a:avLst/>
          </a:prstGeom>
          <a:solidFill>
            <a:schemeClr val="accent2"/>
          </a:solidFill>
          <a:ln>
            <a:noFill/>
          </a:ln>
        </p:spPr>
        <p:txBody>
          <a:bodyPr wrap="square" lIns="137160" tIns="27432" rIns="137160" bIns="27432" anchor="ctr">
            <a:noAutofit/>
          </a:bodyPr>
          <a:lstStyle/>
          <a:p>
            <a:pPr algn="ctr"/>
            <a:r>
              <a:rPr lang="de-DE" sz="1400" b="1" dirty="0">
                <a:solidFill>
                  <a:srgbClr val="FFFFFF"/>
                </a:solidFill>
              </a:rPr>
              <a:t>Log-Einträge</a:t>
            </a:r>
          </a:p>
        </p:txBody>
      </p:sp>
      <p:grpSp>
        <p:nvGrpSpPr>
          <p:cNvPr id="10" name="Zeile Baseline"/>
          <p:cNvGrpSpPr/>
          <p:nvPr/>
        </p:nvGrpSpPr>
        <p:grpSpPr>
          <a:xfrm>
            <a:off x="373063" y="1790000"/>
            <a:ext cx="5500000" cy="540000"/>
            <a:chOff x="373063" y="1790000"/>
            <a:chExt cx="5500000" cy="540000"/>
          </a:xfrm>
        </p:grpSpPr>
        <p:sp>
          <p:nvSpPr>
            <p:cNvPr id="11" name="Zelle"/>
            <p:cNvSpPr/>
            <p:nvPr/>
          </p:nvSpPr>
          <p:spPr>
            <a:xfrm>
              <a:off x="373063" y="1790000"/>
              <a:ext cx="2200000" cy="540000"/>
            </a:xfrm>
            <a:prstGeom prst="rect">
              <a:avLst/>
            </a:prstGeom>
            <a:solidFill>
              <a:schemeClr val="accent4">
                <a:lumMod val="40000"/>
                <a:lumOff val="60000"/>
              </a:schemeClr>
            </a:solidFill>
            <a:ln>
              <a:noFill/>
            </a:ln>
          </p:spPr>
          <p:txBody>
            <a:bodyPr wrap="square" lIns="137160" tIns="27432" rIns="137160" bIns="27432" anchor="ctr">
              <a:noAutofit/>
            </a:bodyPr>
            <a:lstStyle/>
            <a:p>
              <a:pPr algn="l"/>
              <a:r>
                <a:rPr lang="de-DE" sz="1600" b="0" dirty="0">
                  <a:solidFill>
                    <a:schemeClr val="accent1"/>
                  </a:solidFill>
                </a:rPr>
                <a:t>Baseline</a:t>
              </a:r>
            </a:p>
          </p:txBody>
        </p:sp>
        <p:sp>
          <p:nvSpPr>
            <p:cNvPr id="12" name="Zelle"/>
            <p:cNvSpPr/>
            <p:nvPr/>
          </p:nvSpPr>
          <p:spPr>
            <a:xfrm>
              <a:off x="2573063" y="1790000"/>
              <a:ext cx="1650000" cy="540000"/>
            </a:xfrm>
            <a:prstGeom prst="rect">
              <a:avLst/>
            </a:prstGeom>
            <a:solidFill>
              <a:schemeClr val="accent4">
                <a:lumMod val="40000"/>
                <a:lumOff val="60000"/>
              </a:schemeClr>
            </a:solidFill>
            <a:ln>
              <a:noFill/>
            </a:ln>
          </p:spPr>
          <p:txBody>
            <a:bodyPr wrap="square" lIns="137160" tIns="27432" rIns="137160" bIns="27432" anchor="ctr">
              <a:noAutofit/>
            </a:bodyPr>
            <a:lstStyle/>
            <a:p>
              <a:pPr algn="ctr"/>
              <a:r>
                <a:rPr lang="de-DE" sz="1600" b="0" dirty="0">
                  <a:solidFill>
                    <a:schemeClr val="accent1"/>
                  </a:solidFill>
                </a:rPr>
                <a:t>20969</a:t>
              </a:r>
            </a:p>
          </p:txBody>
        </p:sp>
        <p:sp>
          <p:nvSpPr>
            <p:cNvPr id="13" name="Zelle"/>
            <p:cNvSpPr/>
            <p:nvPr/>
          </p:nvSpPr>
          <p:spPr>
            <a:xfrm>
              <a:off x="4223063" y="1790000"/>
              <a:ext cx="1650000" cy="540000"/>
            </a:xfrm>
            <a:prstGeom prst="rect">
              <a:avLst/>
            </a:prstGeom>
            <a:solidFill>
              <a:schemeClr val="accent4">
                <a:lumMod val="40000"/>
                <a:lumOff val="60000"/>
              </a:schemeClr>
            </a:solidFill>
            <a:ln>
              <a:noFill/>
            </a:ln>
          </p:spPr>
          <p:txBody>
            <a:bodyPr wrap="square" lIns="137160" tIns="27432" rIns="137160" bIns="27432" anchor="ctr">
              <a:noAutofit/>
            </a:bodyPr>
            <a:lstStyle/>
            <a:p>
              <a:pPr algn="ctr"/>
              <a:r>
                <a:rPr lang="de-DE" sz="1600" b="0" dirty="0">
                  <a:solidFill>
                    <a:schemeClr val="accent1"/>
                  </a:solidFill>
                </a:rPr>
                <a:t>0</a:t>
              </a:r>
            </a:p>
          </p:txBody>
        </p:sp>
      </p:grpSp>
      <p:grpSp>
        <p:nvGrpSpPr>
          <p:cNvPr id="20" name="Zeile Ereignis 1"/>
          <p:cNvGrpSpPr/>
          <p:nvPr/>
        </p:nvGrpSpPr>
        <p:grpSpPr>
          <a:xfrm>
            <a:off x="373063" y="2370000"/>
            <a:ext cx="5500000" cy="540000"/>
            <a:chOff x="373063" y="2370000"/>
            <a:chExt cx="5500000" cy="540000"/>
          </a:xfrm>
        </p:grpSpPr>
        <p:sp>
          <p:nvSpPr>
            <p:cNvPr id="21" name="Zelle"/>
            <p:cNvSpPr/>
            <p:nvPr/>
          </p:nvSpPr>
          <p:spPr>
            <a:xfrm>
              <a:off x="373063" y="2370000"/>
              <a:ext cx="2200000" cy="540000"/>
            </a:xfrm>
            <a:prstGeom prst="rect">
              <a:avLst/>
            </a:prstGeom>
            <a:solidFill>
              <a:schemeClr val="accent4"/>
            </a:solidFill>
            <a:ln>
              <a:noFill/>
            </a:ln>
          </p:spPr>
          <p:txBody>
            <a:bodyPr wrap="square" lIns="137160" tIns="27432" rIns="137160" bIns="27432" anchor="ctr">
              <a:noAutofit/>
            </a:bodyPr>
            <a:lstStyle/>
            <a:p>
              <a:pPr algn="l"/>
              <a:r>
                <a:rPr lang="de-DE" sz="1600" b="0" dirty="0">
                  <a:solidFill>
                    <a:schemeClr val="accent1"/>
                  </a:solidFill>
                </a:rPr>
                <a:t>Nach Ereignis 1</a:t>
              </a:r>
            </a:p>
          </p:txBody>
        </p:sp>
        <p:sp>
          <p:nvSpPr>
            <p:cNvPr id="22" name="Zelle"/>
            <p:cNvSpPr/>
            <p:nvPr/>
          </p:nvSpPr>
          <p:spPr>
            <a:xfrm>
              <a:off x="2573063" y="237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68629</a:t>
              </a:r>
            </a:p>
          </p:txBody>
        </p:sp>
        <p:sp>
          <p:nvSpPr>
            <p:cNvPr id="23" name="Zelle"/>
            <p:cNvSpPr/>
            <p:nvPr/>
          </p:nvSpPr>
          <p:spPr>
            <a:xfrm>
              <a:off x="4223063" y="237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2</a:t>
              </a:r>
            </a:p>
          </p:txBody>
        </p:sp>
      </p:grpSp>
      <p:grpSp>
        <p:nvGrpSpPr>
          <p:cNvPr id="30" name="Zeile Kaltstart"/>
          <p:cNvGrpSpPr/>
          <p:nvPr/>
        </p:nvGrpSpPr>
        <p:grpSpPr>
          <a:xfrm>
            <a:off x="373063" y="2980000"/>
            <a:ext cx="5500000" cy="940000"/>
            <a:chOff x="373063" y="2980000"/>
            <a:chExt cx="5500000" cy="940000"/>
          </a:xfrm>
        </p:grpSpPr>
        <p:sp>
          <p:nvSpPr>
            <p:cNvPr id="31" name="Zelle"/>
            <p:cNvSpPr/>
            <p:nvPr/>
          </p:nvSpPr>
          <p:spPr>
            <a:xfrm>
              <a:off x="373063" y="3380000"/>
              <a:ext cx="2200000" cy="540000"/>
            </a:xfrm>
            <a:prstGeom prst="rect">
              <a:avLst/>
            </a:prstGeom>
            <a:solidFill>
              <a:srgbClr val="C62828"/>
            </a:solidFill>
            <a:ln>
              <a:noFill/>
            </a:ln>
          </p:spPr>
          <p:txBody>
            <a:bodyPr wrap="square" lIns="137160" tIns="27432" rIns="137160" bIns="27432" anchor="ctr">
              <a:noAutofit/>
            </a:bodyPr>
            <a:lstStyle/>
            <a:p>
              <a:pPr algn="l"/>
              <a:r>
                <a:rPr lang="de-DE" sz="1600" b="1" dirty="0">
                  <a:solidFill>
                    <a:srgbClr val="FFFFFF"/>
                  </a:solidFill>
                </a:rPr>
                <a:t>Nach Kaltstart</a:t>
              </a:r>
            </a:p>
          </p:txBody>
        </p:sp>
        <p:sp>
          <p:nvSpPr>
            <p:cNvPr id="32" name="Zelle"/>
            <p:cNvSpPr/>
            <p:nvPr/>
          </p:nvSpPr>
          <p:spPr>
            <a:xfrm>
              <a:off x="2573063" y="3380000"/>
              <a:ext cx="1650000" cy="540000"/>
            </a:xfrm>
            <a:prstGeom prst="rect">
              <a:avLst/>
            </a:prstGeom>
            <a:solidFill>
              <a:srgbClr val="C62828"/>
            </a:solidFill>
            <a:ln>
              <a:noFill/>
            </a:ln>
          </p:spPr>
          <p:txBody>
            <a:bodyPr wrap="square" lIns="137160" tIns="27432" rIns="137160" bIns="27432" anchor="ctr">
              <a:noAutofit/>
            </a:bodyPr>
            <a:lstStyle/>
            <a:p>
              <a:pPr algn="ctr"/>
              <a:r>
                <a:rPr lang="de-DE" sz="1600" b="1" dirty="0">
                  <a:solidFill>
                    <a:srgbClr val="FFFFFF"/>
                  </a:solidFill>
                </a:rPr>
                <a:t>20459</a:t>
              </a:r>
            </a:p>
          </p:txBody>
        </p:sp>
        <p:sp>
          <p:nvSpPr>
            <p:cNvPr id="33" name="Zelle"/>
            <p:cNvSpPr/>
            <p:nvPr/>
          </p:nvSpPr>
          <p:spPr>
            <a:xfrm>
              <a:off x="4223063" y="3380000"/>
              <a:ext cx="1650000" cy="540000"/>
            </a:xfrm>
            <a:prstGeom prst="rect">
              <a:avLst/>
            </a:prstGeom>
            <a:solidFill>
              <a:srgbClr val="C62828"/>
            </a:solidFill>
            <a:ln>
              <a:noFill/>
            </a:ln>
          </p:spPr>
          <p:txBody>
            <a:bodyPr wrap="square" lIns="137160" tIns="27432" rIns="137160" bIns="27432" anchor="ctr">
              <a:noAutofit/>
            </a:bodyPr>
            <a:lstStyle/>
            <a:p>
              <a:pPr algn="ctr"/>
              <a:r>
                <a:rPr lang="de-DE" sz="1600" b="1" dirty="0">
                  <a:solidFill>
                    <a:srgbClr val="FFFFFF"/>
                  </a:solidFill>
                </a:rPr>
                <a:t>0</a:t>
              </a:r>
            </a:p>
          </p:txBody>
        </p:sp>
        <p:sp>
          <p:nvSpPr>
            <p:cNvPr id="37" name="Ruecksprungpfeil"/>
            <p:cNvSpPr/>
            <p:nvPr/>
          </p:nvSpPr>
          <p:spPr>
            <a:xfrm>
              <a:off x="553063" y="2980000"/>
              <a:ext cx="320000" cy="360000"/>
            </a:xfrm>
            <a:prstGeom prst="downArrow">
              <a:avLst>
                <a:gd name="adj1" fmla="val 50000"/>
                <a:gd name="adj2" fmla="val 50000"/>
              </a:avLst>
            </a:prstGeom>
            <a:solidFill>
              <a:srgbClr val="C62828"/>
            </a:solidFill>
            <a:ln>
              <a:noFill/>
            </a:ln>
          </p:spPr>
          <p:txBody>
            <a:bodyPr/>
            <a:lstStyle/>
            <a:p>
              <a:endParaRPr lang="de-DE"/>
            </a:p>
          </p:txBody>
        </p:sp>
        <p:sp>
          <p:nvSpPr>
            <p:cNvPr id="38" name="Pfeilbeschriftung"/>
            <p:cNvSpPr/>
            <p:nvPr/>
          </p:nvSpPr>
          <p:spPr>
            <a:xfrm>
              <a:off x="933063" y="2980000"/>
              <a:ext cx="3600000" cy="360000"/>
            </a:xfrm>
            <a:prstGeom prst="rect">
              <a:avLst/>
            </a:prstGeom>
            <a:noFill/>
            <a:ln>
              <a:noFill/>
            </a:ln>
          </p:spPr>
          <p:txBody>
            <a:bodyPr wrap="square" lIns="137160" tIns="27432" rIns="137160" bIns="27432" anchor="ctr">
              <a:noAutofit/>
            </a:bodyPr>
            <a:lstStyle/>
            <a:p>
              <a:pPr algn="l"/>
              <a:r>
                <a:rPr lang="de-DE" sz="1400" b="1" dirty="0">
                  <a:solidFill>
                    <a:srgbClr val="C62828"/>
                  </a:solidFill>
                </a:rPr>
                <a:t>Tick-Rücksprung: 68629 auf 20459</a:t>
              </a:r>
            </a:p>
          </p:txBody>
        </p:sp>
      </p:grpSp>
      <p:grpSp>
        <p:nvGrpSpPr>
          <p:cNvPr id="40" name="Zeile Ereignis 2"/>
          <p:cNvGrpSpPr/>
          <p:nvPr/>
        </p:nvGrpSpPr>
        <p:grpSpPr>
          <a:xfrm>
            <a:off x="373063" y="3960000"/>
            <a:ext cx="5500000" cy="540000"/>
            <a:chOff x="373063" y="3960000"/>
            <a:chExt cx="5500000" cy="540000"/>
          </a:xfrm>
        </p:grpSpPr>
        <p:sp>
          <p:nvSpPr>
            <p:cNvPr id="41" name="Zelle"/>
            <p:cNvSpPr/>
            <p:nvPr/>
          </p:nvSpPr>
          <p:spPr>
            <a:xfrm>
              <a:off x="373063" y="3960000"/>
              <a:ext cx="2200000" cy="540000"/>
            </a:xfrm>
            <a:prstGeom prst="rect">
              <a:avLst/>
            </a:prstGeom>
            <a:solidFill>
              <a:schemeClr val="accent4"/>
            </a:solidFill>
            <a:ln>
              <a:noFill/>
            </a:ln>
          </p:spPr>
          <p:txBody>
            <a:bodyPr wrap="square" lIns="137160" tIns="27432" rIns="137160" bIns="27432" anchor="ctr">
              <a:noAutofit/>
            </a:bodyPr>
            <a:lstStyle/>
            <a:p>
              <a:pPr algn="l"/>
              <a:r>
                <a:rPr lang="de-DE" sz="1600" b="0" dirty="0">
                  <a:solidFill>
                    <a:schemeClr val="accent1"/>
                  </a:solidFill>
                </a:rPr>
                <a:t>Nach Ereignis 2</a:t>
              </a:r>
            </a:p>
          </p:txBody>
        </p:sp>
        <p:sp>
          <p:nvSpPr>
            <p:cNvPr id="42" name="Zelle"/>
            <p:cNvSpPr/>
            <p:nvPr/>
          </p:nvSpPr>
          <p:spPr>
            <a:xfrm>
              <a:off x="2573063" y="396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44869</a:t>
              </a:r>
            </a:p>
          </p:txBody>
        </p:sp>
        <p:sp>
          <p:nvSpPr>
            <p:cNvPr id="43" name="Zelle"/>
            <p:cNvSpPr/>
            <p:nvPr/>
          </p:nvSpPr>
          <p:spPr>
            <a:xfrm>
              <a:off x="4223063" y="3960000"/>
              <a:ext cx="1650000" cy="540000"/>
            </a:xfrm>
            <a:prstGeom prst="rect">
              <a:avLst/>
            </a:prstGeom>
            <a:solidFill>
              <a:schemeClr val="accent4"/>
            </a:solidFill>
            <a:ln>
              <a:noFill/>
            </a:ln>
          </p:spPr>
          <p:txBody>
            <a:bodyPr wrap="square" lIns="137160" tIns="27432" rIns="137160" bIns="27432" anchor="ctr">
              <a:noAutofit/>
            </a:bodyPr>
            <a:lstStyle/>
            <a:p>
              <a:pPr algn="ctr"/>
              <a:r>
                <a:rPr lang="de-DE" sz="1600" b="0" dirty="0">
                  <a:solidFill>
                    <a:schemeClr val="accent1"/>
                  </a:solidFill>
                </a:rPr>
                <a:t>2</a:t>
              </a:r>
            </a:p>
          </p:txBody>
        </p:sp>
      </p:grpSp>
      <p:sp>
        <p:nvSpPr>
          <p:cNvPr id="9" name="Ueberschrift"/>
          <p:cNvSpPr/>
          <p:nvPr/>
        </p:nvSpPr>
        <p:spPr>
          <a:xfrm>
            <a:off x="6400000" y="1250000"/>
            <a:ext cx="5300000" cy="460000"/>
          </a:xfrm>
          <a:prstGeom prst="rect">
            <a:avLst/>
          </a:prstGeom>
          <a:noFill/>
          <a:ln>
            <a:noFill/>
          </a:ln>
        </p:spPr>
        <p:txBody>
          <a:bodyPr wrap="square" lIns="137160" tIns="27432" rIns="137160" bIns="27432" anchor="ctr">
            <a:noAutofit/>
          </a:bodyPr>
          <a:lstStyle/>
          <a:p>
            <a:pPr algn="l"/>
            <a:r>
              <a:rPr lang="de-DE" sz="1800" b="1" dirty="0">
                <a:solidFill>
                  <a:schemeClr val="accent5"/>
                </a:solidFill>
              </a:rPr>
              <a:t>Was fehlt</a:t>
            </a:r>
          </a:p>
        </p:txBody>
      </p:sp>
      <p:grpSp>
        <p:nvGrpSpPr>
          <p:cNvPr id="50" name="Befunde"/>
          <p:cNvGrpSpPr/>
          <p:nvPr/>
        </p:nvGrpSpPr>
        <p:grpSpPr>
          <a:xfrm>
            <a:off x="6400000" y="1860000"/>
            <a:ext cx="5300000" cy="1700000"/>
            <a:chOff x="6400000" y="1860000"/>
            <a:chExt cx="5300000" cy="1700000"/>
          </a:xfrm>
        </p:grpSpPr>
        <p:sp>
          <p:nvSpPr>
            <p:cNvPr id="51" name="Warnsymbol"/>
            <p:cNvSpPr/>
            <p:nvPr/>
          </p:nvSpPr>
          <p:spPr>
            <a:xfrm>
              <a:off x="6400000" y="1920000"/>
              <a:ext cx="400000" cy="340000"/>
            </a:xfrm>
            <a:prstGeom prst="triangle">
              <a:avLst/>
            </a:prstGeom>
            <a:solidFill>
              <a:schemeClr val="accent5"/>
            </a:solidFill>
            <a:ln>
              <a:noFill/>
            </a:ln>
          </p:spPr>
          <p:txBody>
            <a:bodyPr/>
            <a:lstStyle/>
            <a:p>
              <a:endParaRPr lang="de-DE"/>
            </a:p>
          </p:txBody>
        </p:sp>
        <p:sp>
          <p:nvSpPr>
            <p:cNvPr id="52" name="Befundzeile"/>
            <p:cNvSpPr/>
            <p:nvPr/>
          </p:nvSpPr>
          <p:spPr>
            <a:xfrm>
              <a:off x="6900000" y="1860000"/>
              <a:ext cx="4800000" cy="460000"/>
            </a:xfrm>
            <a:prstGeom prst="rect">
              <a:avLst/>
            </a:prstGeom>
            <a:noFill/>
            <a:ln>
              <a:noFill/>
            </a:ln>
          </p:spPr>
          <p:txBody>
            <a:bodyPr wrap="square" lIns="137160" tIns="27432" rIns="137160" bIns="27432" anchor="ctr">
              <a:noAutofit/>
            </a:bodyPr>
            <a:lstStyle/>
            <a:p>
              <a:pPr algn="l"/>
              <a:r>
                <a:rPr lang="de-DE" sz="1600" b="0" dirty="0">
                  <a:solidFill>
                    <a:schemeClr val="accent1"/>
                  </a:solidFill>
                </a:rPr>
                <a:t>Kein absoluter Zeitstempel</a:t>
              </a:r>
            </a:p>
          </p:txBody>
        </p:sp>
        <p:sp>
          <p:nvSpPr>
            <p:cNvPr id="53" name="Warnsymbol"/>
            <p:cNvSpPr/>
            <p:nvPr/>
          </p:nvSpPr>
          <p:spPr>
            <a:xfrm>
              <a:off x="6400000" y="2540000"/>
              <a:ext cx="400000" cy="340000"/>
            </a:xfrm>
            <a:prstGeom prst="triangle">
              <a:avLst/>
            </a:prstGeom>
            <a:solidFill>
              <a:schemeClr val="accent5"/>
            </a:solidFill>
            <a:ln>
              <a:noFill/>
            </a:ln>
          </p:spPr>
          <p:txBody>
            <a:bodyPr/>
            <a:lstStyle/>
            <a:p>
              <a:endParaRPr lang="de-DE"/>
            </a:p>
          </p:txBody>
        </p:sp>
        <p:sp>
          <p:nvSpPr>
            <p:cNvPr id="54" name="Befundzeile"/>
            <p:cNvSpPr/>
            <p:nvPr/>
          </p:nvSpPr>
          <p:spPr>
            <a:xfrm>
              <a:off x="6900000" y="2480000"/>
              <a:ext cx="4800000" cy="460000"/>
            </a:xfrm>
            <a:prstGeom prst="rect">
              <a:avLst/>
            </a:prstGeom>
            <a:noFill/>
            <a:ln>
              <a:noFill/>
            </a:ln>
          </p:spPr>
          <p:txBody>
            <a:bodyPr wrap="square" lIns="137160" tIns="27432" rIns="137160" bIns="27432" anchor="ctr">
              <a:noAutofit/>
            </a:bodyPr>
            <a:lstStyle/>
            <a:p>
              <a:pPr algn="l"/>
              <a:r>
                <a:rPr lang="de-DE" sz="1600" b="0" dirty="0">
                  <a:solidFill>
                    <a:schemeClr val="accent1"/>
                  </a:solidFill>
                </a:rPr>
                <a:t>Keine Akteursidentität</a:t>
              </a:r>
            </a:p>
          </p:txBody>
        </p:sp>
        <p:sp>
          <p:nvSpPr>
            <p:cNvPr id="55" name="Warnsymbol"/>
            <p:cNvSpPr/>
            <p:nvPr/>
          </p:nvSpPr>
          <p:spPr>
            <a:xfrm>
              <a:off x="6400000" y="3160000"/>
              <a:ext cx="400000" cy="340000"/>
            </a:xfrm>
            <a:prstGeom prst="triangle">
              <a:avLst/>
            </a:prstGeom>
            <a:solidFill>
              <a:schemeClr val="accent5"/>
            </a:solidFill>
            <a:ln>
              <a:noFill/>
            </a:ln>
          </p:spPr>
          <p:txBody>
            <a:bodyPr/>
            <a:lstStyle/>
            <a:p>
              <a:endParaRPr lang="de-DE"/>
            </a:p>
          </p:txBody>
        </p:sp>
        <p:sp>
          <p:nvSpPr>
            <p:cNvPr id="56" name="Befundzeile"/>
            <p:cNvSpPr/>
            <p:nvPr/>
          </p:nvSpPr>
          <p:spPr>
            <a:xfrm>
              <a:off x="6900000" y="3100000"/>
              <a:ext cx="4800000" cy="460000"/>
            </a:xfrm>
            <a:prstGeom prst="rect">
              <a:avLst/>
            </a:prstGeom>
            <a:noFill/>
            <a:ln>
              <a:noFill/>
            </a:ln>
          </p:spPr>
          <p:txBody>
            <a:bodyPr wrap="square" lIns="137160" tIns="27432" rIns="137160" bIns="27432" anchor="ctr">
              <a:noAutofit/>
            </a:bodyPr>
            <a:lstStyle/>
            <a:p>
              <a:pPr algn="l"/>
              <a:r>
                <a:rPr lang="de-DE" sz="1600" b="0" dirty="0">
                  <a:solidFill>
                    <a:schemeClr val="accent1"/>
                  </a:solidFill>
                </a:rPr>
                <a:t>Loginhalt nach Kaltstart gelöscht</a:t>
              </a:r>
            </a:p>
          </p:txBody>
        </p:sp>
      </p:grpSp>
      <p:sp>
        <p:nvSpPr>
          <p:cNvPr id="60" name="Ergebnisfeld"/>
          <p:cNvSpPr/>
          <p:nvPr/>
        </p:nvSpPr>
        <p:spPr>
          <a:xfrm>
            <a:off x="6400000" y="3900000"/>
            <a:ext cx="5300000" cy="780000"/>
          </a:xfrm>
          <a:prstGeom prst="rect">
            <a:avLst/>
          </a:prstGeom>
          <a:solidFill>
            <a:srgbClr val="C62828"/>
          </a:solidFill>
          <a:ln>
            <a:noFill/>
          </a:ln>
        </p:spPr>
        <p:txBody>
          <a:bodyPr wrap="square" lIns="137160" tIns="27432" rIns="137160" bIns="27432" anchor="ctr">
            <a:noAutofit/>
          </a:bodyPr>
          <a:lstStyle/>
          <a:p>
            <a:pPr algn="ctr"/>
            <a:r>
              <a:rPr lang="de-DE" sz="1800" b="1" dirty="0">
                <a:solidFill>
                  <a:srgbClr val="FFFFFF"/>
                </a:solidFill>
              </a:rPr>
              <a:t>RQ-003 und RQ-012 · Fail</a:t>
            </a:r>
          </a:p>
        </p:txBody>
      </p:sp>
      <p:sp>
        <p:nvSpPr>
          <p:cNvPr id="70" name="Aussagebalken"/>
          <p:cNvSpPr/>
          <p:nvPr/>
        </p:nvSpPr>
        <p:spPr>
          <a:xfrm>
            <a:off x="0" y="5330000"/>
            <a:ext cx="12192000" cy="800000"/>
          </a:xfrm>
          <a:prstGeom prst="rect">
            <a:avLst/>
          </a:prstGeom>
          <a:solidFill>
            <a:schemeClr val="accent1"/>
          </a:solidFill>
          <a:ln>
            <a:noFill/>
          </a:ln>
        </p:spPr>
        <p:txBody>
          <a:bodyPr wrap="square" lIns="137160" tIns="27432" rIns="137160" bIns="27432" anchor="ctr">
            <a:noAutofit/>
          </a:bodyPr>
          <a:lstStyle/>
          <a:p>
            <a:pPr algn="ctr"/>
            <a:r>
              <a:rPr lang="de-DE" sz="1800" b="1" dirty="0">
                <a:solidFill>
                  <a:srgbClr val="FFFFFF"/>
                </a:solidFill>
              </a:rPr>
              <a:t>Das einzige verfügbare Ersatzartefakt überlebt keinen Kaltstart.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nodeType="click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fade">
                                      <p:cBhvr>
                                        <p:cTn id="30" dur="500"/>
                                        <p:tgtEl>
                                          <p:spTgt spid="5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nodeType="clickEffect">
                                  <p:stCondLst>
                                    <p:cond delay="0"/>
                                  </p:stCondLst>
                                  <p:childTnLst>
                                    <p:set>
                                      <p:cBhvr>
                                        <p:cTn id="34" dur="1" fill="hold">
                                          <p:stCondLst>
                                            <p:cond delay="0"/>
                                          </p:stCondLst>
                                        </p:cTn>
                                        <p:tgtEl>
                                          <p:spTgt spid="60"/>
                                        </p:tgtEl>
                                        <p:attrNameLst>
                                          <p:attrName>style.visibility</p:attrName>
                                        </p:attrNameLst>
                                      </p:cBhvr>
                                      <p:to>
                                        <p:strVal val="visible"/>
                                      </p:to>
                                    </p:set>
                                    <p:animEffect transition="in" filter="fade">
                                      <p:cBhvr>
                                        <p:cTn id="35" dur="500"/>
                                        <p:tgtEl>
                                          <p:spTgt spid="6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70"/>
                                        </p:tgtEl>
                                        <p:attrNameLst>
                                          <p:attrName>style.visibility</p:attrName>
                                        </p:attrNameLst>
                                      </p:cBhvr>
                                      <p:to>
                                        <p:strVal val="visible"/>
                                      </p:to>
                                    </p:set>
                                    <p:animEffect transition="in" filter="fade">
                                      <p:cBhvr>
                                        <p:cTn id="40" dur="500"/>
                                        <p:tgtEl>
                                          <p:spTgt spid="7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50" grpId="0"/>
      <p:bldP spid="60" grpId="0"/>
      <p:bldP spid="7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normAutofit fontScale="90000"/>
          </a:bodyPr>
          <a:lstStyle/>
          <a:p>
            <a:r>
              <a:rPr lang="de-DE" dirty="0"/>
              <a:t>Ausblick</a:t>
            </a:r>
          </a:p>
        </p:txBody>
      </p:sp>
      <p:grpSp>
        <p:nvGrpSpPr>
          <p:cNvPr id="10" name="Kachel 1"/>
          <p:cNvGrpSpPr/>
          <p:nvPr/>
        </p:nvGrpSpPr>
        <p:grpSpPr>
          <a:xfrm>
            <a:off x="373063" y="1250000"/>
            <a:ext cx="2711468" cy="3450000"/>
            <a:chOff x="373063" y="1250000"/>
            <a:chExt cx="2711468" cy="3450000"/>
          </a:xfrm>
        </p:grpSpPr>
        <p:sp>
          <p:nvSpPr>
            <p:cNvPr id="100" name="Kachel"/>
            <p:cNvSpPr/>
            <p:nvPr/>
          </p:nvSpPr>
          <p:spPr>
            <a:xfrm>
              <a:off x="373063" y="1250000"/>
              <a:ext cx="2711468" cy="3450000"/>
            </a:xfrm>
            <a:prstGeom prst="rect">
              <a:avLst/>
            </a:prstGeom>
            <a:solidFill>
              <a:schemeClr val="accent5"/>
            </a:solidFill>
            <a:ln>
              <a:noFill/>
            </a:ln>
          </p:spPr>
          <p:txBody>
            <a:bodyPr/>
            <a:lstStyle/>
            <a:p>
              <a:endParaRPr lang="de-DE"/>
            </a:p>
          </p:txBody>
        </p:sp>
        <p:sp>
          <p:nvSpPr>
            <p:cNvPr id="101" name="Symbol Ring"/>
            <p:cNvSpPr/>
            <p:nvPr/>
          </p:nvSpPr>
          <p:spPr>
            <a:xfrm>
              <a:off x="1448797" y="1530000"/>
              <a:ext cx="560000" cy="560000"/>
            </a:xfrm>
            <a:prstGeom prst="donut">
              <a:avLst>
                <a:gd name="adj" fmla="val 18000"/>
              </a:avLst>
            </a:prstGeom>
            <a:solidFill>
              <a:srgbClr val="FFFFFF"/>
            </a:solidFill>
            <a:ln>
              <a:noFill/>
            </a:ln>
          </p:spPr>
          <p:txBody>
            <a:bodyPr/>
            <a:lstStyle/>
            <a:p>
              <a:endParaRPr lang="de-DE"/>
            </a:p>
          </p:txBody>
        </p:sp>
        <p:sp>
          <p:nvSpPr>
            <p:cNvPr id="102" name="Symbol Punkt"/>
            <p:cNvSpPr/>
            <p:nvPr/>
          </p:nvSpPr>
          <p:spPr>
            <a:xfrm>
              <a:off x="1618797" y="1700000"/>
              <a:ext cx="220000" cy="220000"/>
            </a:xfrm>
            <a:prstGeom prst="ellipse">
              <a:avLst/>
            </a:prstGeom>
            <a:solidFill>
              <a:srgbClr val="FFFFFF"/>
            </a:solidFill>
            <a:ln>
              <a:noFill/>
            </a:ln>
          </p:spPr>
          <p:txBody>
            <a:bodyPr/>
            <a:lstStyle/>
            <a:p>
              <a:endParaRPr lang="de-DE"/>
            </a:p>
          </p:txBody>
        </p:sp>
        <p:sp>
          <p:nvSpPr>
            <p:cNvPr id="110" name="Nummer"/>
            <p:cNvSpPr/>
            <p:nvPr/>
          </p:nvSpPr>
          <p:spPr>
            <a:xfrm>
              <a:off x="373063" y="2170000"/>
              <a:ext cx="2711468" cy="520000"/>
            </a:xfrm>
            <a:prstGeom prst="rect">
              <a:avLst/>
            </a:prstGeom>
            <a:noFill/>
            <a:ln>
              <a:noFill/>
            </a:ln>
          </p:spPr>
          <p:txBody>
            <a:bodyPr wrap="square" lIns="91440" tIns="27432" rIns="91440" bIns="27432" anchor="ctr">
              <a:noAutofit/>
            </a:bodyPr>
            <a:lstStyle/>
            <a:p>
              <a:pPr algn="ctr"/>
              <a:r>
                <a:rPr lang="de-DE" sz="3200" b="1" dirty="0">
                  <a:solidFill>
                    <a:srgbClr val="FFFFFF"/>
                  </a:solidFill>
                </a:rPr>
                <a:t>1</a:t>
              </a:r>
            </a:p>
          </p:txBody>
        </p:sp>
        <p:sp>
          <p:nvSpPr>
            <p:cNvPr id="111" name="Ueberschrift"/>
            <p:cNvSpPr/>
            <p:nvPr/>
          </p:nvSpPr>
          <p:spPr>
            <a:xfrm>
              <a:off x="373063" y="2770000"/>
              <a:ext cx="2711468" cy="480000"/>
            </a:xfrm>
            <a:prstGeom prst="rect">
              <a:avLst/>
            </a:prstGeom>
            <a:noFill/>
            <a:ln>
              <a:noFill/>
            </a:ln>
          </p:spPr>
          <p:txBody>
            <a:bodyPr wrap="square" lIns="91440" tIns="27432" rIns="91440" bIns="27432" anchor="ctr">
              <a:noAutofit/>
            </a:bodyPr>
            <a:lstStyle/>
            <a:p>
              <a:pPr algn="ctr"/>
              <a:r>
                <a:rPr lang="de-DE" sz="1800" b="1" dirty="0">
                  <a:solidFill>
                    <a:srgbClr val="FFFFFF"/>
                  </a:solidFill>
                </a:rPr>
                <a:t>NV2 realisieren</a:t>
              </a:r>
            </a:p>
          </p:txBody>
        </p:sp>
        <p:sp>
          <p:nvSpPr>
            <p:cNvPr id="112" name="Erlaeuterung"/>
            <p:cNvSpPr/>
            <p:nvPr/>
          </p:nvSpPr>
          <p:spPr>
            <a:xfrm>
              <a:off x="373063" y="3300000"/>
              <a:ext cx="2711468" cy="820000"/>
            </a:xfrm>
            <a:prstGeom prst="rect">
              <a:avLst/>
            </a:prstGeom>
            <a:noFill/>
            <a:ln>
              <a:noFill/>
            </a:ln>
          </p:spPr>
          <p:txBody>
            <a:bodyPr wrap="square" lIns="137160" tIns="27432" rIns="137160" bIns="27432" anchor="t">
              <a:noAutofit/>
            </a:bodyPr>
            <a:lstStyle/>
            <a:p>
              <a:pPr algn="ctr"/>
              <a:r>
                <a:rPr lang="de-DE" sz="1400" b="0" dirty="0">
                  <a:solidFill>
                    <a:srgbClr val="FFFFFF"/>
                  </a:solidFill>
                </a:rPr>
                <a:t>Mirror-Port oder Netzwerk-Tap</a:t>
              </a:r>
            </a:p>
          </p:txBody>
        </p:sp>
        <p:sp>
          <p:nvSpPr>
            <p:cNvPr id="113" name="Randbeschriftung"/>
            <p:cNvSpPr/>
            <p:nvPr/>
          </p:nvSpPr>
          <p:spPr>
            <a:xfrm>
              <a:off x="373063" y="4220000"/>
              <a:ext cx="2711468" cy="380000"/>
            </a:xfrm>
            <a:prstGeom prst="rect">
              <a:avLst/>
            </a:prstGeom>
            <a:noFill/>
            <a:ln>
              <a:noFill/>
            </a:ln>
          </p:spPr>
          <p:txBody>
            <a:bodyPr wrap="square" lIns="91440" tIns="27432" rIns="91440" bIns="27432" anchor="ctr">
              <a:noAutofit/>
            </a:bodyPr>
            <a:lstStyle/>
            <a:p>
              <a:pPr algn="ctr"/>
              <a:r>
                <a:rPr lang="de-DE" sz="1400" b="1" dirty="0">
                  <a:solidFill>
                    <a:srgbClr val="FFFFFF"/>
                  </a:solidFill>
                </a:rPr>
                <a:t>kurzfristig</a:t>
              </a:r>
            </a:p>
          </p:txBody>
        </p:sp>
      </p:grpSp>
      <p:grpSp>
        <p:nvGrpSpPr>
          <p:cNvPr id="20" name="Kachel 2"/>
          <p:cNvGrpSpPr/>
          <p:nvPr/>
        </p:nvGrpSpPr>
        <p:grpSpPr>
          <a:xfrm>
            <a:off x="3284531" y="1250000"/>
            <a:ext cx="2711468" cy="3450000"/>
            <a:chOff x="3284531" y="1250000"/>
            <a:chExt cx="2711468" cy="3450000"/>
          </a:xfrm>
        </p:grpSpPr>
        <p:sp>
          <p:nvSpPr>
            <p:cNvPr id="120" name="Kachel"/>
            <p:cNvSpPr/>
            <p:nvPr/>
          </p:nvSpPr>
          <p:spPr>
            <a:xfrm>
              <a:off x="3284531" y="1250000"/>
              <a:ext cx="2711468" cy="3450000"/>
            </a:xfrm>
            <a:prstGeom prst="rect">
              <a:avLst/>
            </a:prstGeom>
            <a:solidFill>
              <a:schemeClr val="accent5"/>
            </a:solidFill>
            <a:ln>
              <a:noFill/>
            </a:ln>
          </p:spPr>
          <p:txBody>
            <a:bodyPr/>
            <a:lstStyle/>
            <a:p>
              <a:endParaRPr lang="de-DE"/>
            </a:p>
          </p:txBody>
        </p:sp>
        <p:sp>
          <p:nvSpPr>
            <p:cNvPr id="121" name="Symbol Pfeil"/>
            <p:cNvSpPr/>
            <p:nvPr/>
          </p:nvSpPr>
          <p:spPr>
            <a:xfrm>
              <a:off x="4360265" y="1680000"/>
              <a:ext cx="560000" cy="260000"/>
            </a:xfrm>
            <a:prstGeom prst="leftRightArrow">
              <a:avLst>
                <a:gd name="adj1" fmla="val 50000"/>
                <a:gd name="adj2" fmla="val 40000"/>
              </a:avLst>
            </a:prstGeom>
            <a:solidFill>
              <a:srgbClr val="FFFFFF"/>
            </a:solidFill>
            <a:ln>
              <a:noFill/>
            </a:ln>
          </p:spPr>
          <p:txBody>
            <a:bodyPr/>
            <a:lstStyle/>
            <a:p>
              <a:endParaRPr lang="de-DE"/>
            </a:p>
          </p:txBody>
        </p:sp>
        <p:sp>
          <p:nvSpPr>
            <p:cNvPr id="122" name="Symbol Pfeiler links"/>
            <p:cNvSpPr/>
            <p:nvPr/>
          </p:nvSpPr>
          <p:spPr>
            <a:xfrm>
              <a:off x="4360265" y="1990000"/>
              <a:ext cx="140000" cy="180000"/>
            </a:xfrm>
            <a:prstGeom prst="rect">
              <a:avLst/>
            </a:prstGeom>
            <a:solidFill>
              <a:srgbClr val="FFFFFF"/>
            </a:solidFill>
            <a:ln>
              <a:noFill/>
            </a:ln>
          </p:spPr>
          <p:txBody>
            <a:bodyPr/>
            <a:lstStyle/>
            <a:p>
              <a:endParaRPr lang="de-DE"/>
            </a:p>
          </p:txBody>
        </p:sp>
        <p:sp>
          <p:nvSpPr>
            <p:cNvPr id="123" name="Symbol Pfeiler rechts"/>
            <p:cNvSpPr/>
            <p:nvPr/>
          </p:nvSpPr>
          <p:spPr>
            <a:xfrm>
              <a:off x="4780265" y="1990000"/>
              <a:ext cx="140000" cy="180000"/>
            </a:xfrm>
            <a:prstGeom prst="rect">
              <a:avLst/>
            </a:prstGeom>
            <a:solidFill>
              <a:srgbClr val="FFFFFF"/>
            </a:solidFill>
            <a:ln>
              <a:noFill/>
            </a:ln>
          </p:spPr>
          <p:txBody>
            <a:bodyPr/>
            <a:lstStyle/>
            <a:p>
              <a:endParaRPr lang="de-DE"/>
            </a:p>
          </p:txBody>
        </p:sp>
        <p:sp>
          <p:nvSpPr>
            <p:cNvPr id="130" name="Nummer"/>
            <p:cNvSpPr/>
            <p:nvPr/>
          </p:nvSpPr>
          <p:spPr>
            <a:xfrm>
              <a:off x="3284531" y="2170000"/>
              <a:ext cx="2711468" cy="520000"/>
            </a:xfrm>
            <a:prstGeom prst="rect">
              <a:avLst/>
            </a:prstGeom>
            <a:noFill/>
            <a:ln>
              <a:noFill/>
            </a:ln>
          </p:spPr>
          <p:txBody>
            <a:bodyPr wrap="square" lIns="91440" tIns="27432" rIns="91440" bIns="27432" anchor="ctr">
              <a:noAutofit/>
            </a:bodyPr>
            <a:lstStyle/>
            <a:p>
              <a:pPr algn="ctr"/>
              <a:r>
                <a:rPr lang="de-DE" sz="3200" b="1" dirty="0">
                  <a:solidFill>
                    <a:srgbClr val="FFFFFF"/>
                  </a:solidFill>
                </a:rPr>
                <a:t>2</a:t>
              </a:r>
            </a:p>
          </p:txBody>
        </p:sp>
        <p:sp>
          <p:nvSpPr>
            <p:cNvPr id="131" name="Ueberschrift"/>
            <p:cNvSpPr/>
            <p:nvPr/>
          </p:nvSpPr>
          <p:spPr>
            <a:xfrm>
              <a:off x="3284531" y="2770000"/>
              <a:ext cx="2711468" cy="480000"/>
            </a:xfrm>
            <a:prstGeom prst="rect">
              <a:avLst/>
            </a:prstGeom>
            <a:noFill/>
            <a:ln>
              <a:noFill/>
            </a:ln>
          </p:spPr>
          <p:txBody>
            <a:bodyPr wrap="square" lIns="91440" tIns="27432" rIns="91440" bIns="27432" anchor="ctr">
              <a:noAutofit/>
            </a:bodyPr>
            <a:lstStyle/>
            <a:p>
              <a:pPr algn="ctr"/>
              <a:r>
                <a:rPr lang="de-DE" sz="1800" b="1" dirty="0">
                  <a:solidFill>
                    <a:srgbClr val="FFFFFF"/>
                  </a:solidFill>
                </a:rPr>
                <a:t>NV3 realisieren</a:t>
              </a:r>
            </a:p>
          </p:txBody>
        </p:sp>
        <p:sp>
          <p:nvSpPr>
            <p:cNvPr id="132" name="Erlaeuterung"/>
            <p:cNvSpPr/>
            <p:nvPr/>
          </p:nvSpPr>
          <p:spPr>
            <a:xfrm>
              <a:off x="3284531" y="3300000"/>
              <a:ext cx="2711468" cy="820000"/>
            </a:xfrm>
            <a:prstGeom prst="rect">
              <a:avLst/>
            </a:prstGeom>
            <a:noFill/>
            <a:ln>
              <a:noFill/>
            </a:ln>
          </p:spPr>
          <p:txBody>
            <a:bodyPr wrap="square" lIns="137160" tIns="27432" rIns="137160" bIns="27432" anchor="t">
              <a:noAutofit/>
            </a:bodyPr>
            <a:lstStyle/>
            <a:p>
              <a:pPr algn="ctr"/>
              <a:r>
                <a:rPr lang="de-DE" sz="1400" b="0" dirty="0">
                  <a:solidFill>
                    <a:srgbClr val="FFFFFF"/>
                  </a:solidFill>
                </a:rPr>
                <a:t>Transparente Bridge</a:t>
              </a:r>
            </a:p>
          </p:txBody>
        </p:sp>
        <p:sp>
          <p:nvSpPr>
            <p:cNvPr id="133" name="Randbeschriftung"/>
            <p:cNvSpPr/>
            <p:nvPr/>
          </p:nvSpPr>
          <p:spPr>
            <a:xfrm>
              <a:off x="3284531" y="4220000"/>
              <a:ext cx="2711468" cy="380000"/>
            </a:xfrm>
            <a:prstGeom prst="rect">
              <a:avLst/>
            </a:prstGeom>
            <a:noFill/>
            <a:ln>
              <a:noFill/>
            </a:ln>
          </p:spPr>
          <p:txBody>
            <a:bodyPr wrap="square" lIns="91440" tIns="27432" rIns="91440" bIns="27432" anchor="ctr">
              <a:noAutofit/>
            </a:bodyPr>
            <a:lstStyle/>
            <a:p>
              <a:pPr algn="ctr"/>
              <a:r>
                <a:rPr lang="de-DE" sz="1400" b="1" dirty="0">
                  <a:solidFill>
                    <a:srgbClr val="FFFFFF"/>
                  </a:solidFill>
                </a:rPr>
                <a:t>kurzfristig</a:t>
              </a:r>
            </a:p>
          </p:txBody>
        </p:sp>
      </p:grpSp>
      <p:grpSp>
        <p:nvGrpSpPr>
          <p:cNvPr id="30" name="Kachel 3"/>
          <p:cNvGrpSpPr/>
          <p:nvPr/>
        </p:nvGrpSpPr>
        <p:grpSpPr>
          <a:xfrm>
            <a:off x="6195999" y="1250000"/>
            <a:ext cx="2711468" cy="3450000"/>
            <a:chOff x="6195999" y="1250000"/>
            <a:chExt cx="2711468" cy="3450000"/>
          </a:xfrm>
        </p:grpSpPr>
        <p:sp>
          <p:nvSpPr>
            <p:cNvPr id="140" name="Kachel"/>
            <p:cNvSpPr/>
            <p:nvPr/>
          </p:nvSpPr>
          <p:spPr>
            <a:xfrm>
              <a:off x="6195999" y="1250000"/>
              <a:ext cx="2711468" cy="3450000"/>
            </a:xfrm>
            <a:prstGeom prst="rect">
              <a:avLst/>
            </a:prstGeom>
            <a:solidFill>
              <a:schemeClr val="accent4"/>
            </a:solidFill>
            <a:ln>
              <a:noFill/>
            </a:ln>
          </p:spPr>
          <p:txBody>
            <a:bodyPr/>
            <a:lstStyle/>
            <a:p>
              <a:endParaRPr lang="de-DE"/>
            </a:p>
          </p:txBody>
        </p:sp>
        <p:sp>
          <p:nvSpPr>
            <p:cNvPr id="141" name="Symbol Stufe 1"/>
            <p:cNvSpPr/>
            <p:nvPr/>
          </p:nvSpPr>
          <p:spPr>
            <a:xfrm>
              <a:off x="7271733" y="1910000"/>
              <a:ext cx="100000" cy="180000"/>
            </a:xfrm>
            <a:prstGeom prst="rect">
              <a:avLst/>
            </a:prstGeom>
            <a:solidFill>
              <a:schemeClr val="accent1"/>
            </a:solidFill>
            <a:ln>
              <a:noFill/>
            </a:ln>
          </p:spPr>
          <p:txBody>
            <a:bodyPr/>
            <a:lstStyle/>
            <a:p>
              <a:endParaRPr lang="de-DE"/>
            </a:p>
          </p:txBody>
        </p:sp>
        <p:sp>
          <p:nvSpPr>
            <p:cNvPr id="142" name="Symbol Stufe 2"/>
            <p:cNvSpPr/>
            <p:nvPr/>
          </p:nvSpPr>
          <p:spPr>
            <a:xfrm>
              <a:off x="7411733" y="1780000"/>
              <a:ext cx="100000" cy="310000"/>
            </a:xfrm>
            <a:prstGeom prst="rect">
              <a:avLst/>
            </a:prstGeom>
            <a:solidFill>
              <a:schemeClr val="accent1"/>
            </a:solidFill>
            <a:ln>
              <a:noFill/>
            </a:ln>
          </p:spPr>
          <p:txBody>
            <a:bodyPr/>
            <a:lstStyle/>
            <a:p>
              <a:endParaRPr lang="de-DE"/>
            </a:p>
          </p:txBody>
        </p:sp>
        <p:sp>
          <p:nvSpPr>
            <p:cNvPr id="143" name="Symbol Stufe 3"/>
            <p:cNvSpPr/>
            <p:nvPr/>
          </p:nvSpPr>
          <p:spPr>
            <a:xfrm>
              <a:off x="7551733" y="1650000"/>
              <a:ext cx="100000" cy="440000"/>
            </a:xfrm>
            <a:prstGeom prst="rect">
              <a:avLst/>
            </a:prstGeom>
            <a:solidFill>
              <a:schemeClr val="accent1"/>
            </a:solidFill>
            <a:ln>
              <a:noFill/>
            </a:ln>
          </p:spPr>
          <p:txBody>
            <a:bodyPr/>
            <a:lstStyle/>
            <a:p>
              <a:endParaRPr lang="de-DE"/>
            </a:p>
          </p:txBody>
        </p:sp>
        <p:sp>
          <p:nvSpPr>
            <p:cNvPr id="144" name="Symbol Stufe 4"/>
            <p:cNvSpPr/>
            <p:nvPr/>
          </p:nvSpPr>
          <p:spPr>
            <a:xfrm>
              <a:off x="7691733" y="1520000"/>
              <a:ext cx="100000" cy="570000"/>
            </a:xfrm>
            <a:prstGeom prst="rect">
              <a:avLst/>
            </a:prstGeom>
            <a:solidFill>
              <a:schemeClr val="accent1"/>
            </a:solidFill>
            <a:ln>
              <a:noFill/>
            </a:ln>
          </p:spPr>
          <p:txBody>
            <a:bodyPr/>
            <a:lstStyle/>
            <a:p>
              <a:endParaRPr lang="de-DE"/>
            </a:p>
          </p:txBody>
        </p:sp>
        <p:sp>
          <p:nvSpPr>
            <p:cNvPr id="150" name="Nummer"/>
            <p:cNvSpPr/>
            <p:nvPr/>
          </p:nvSpPr>
          <p:spPr>
            <a:xfrm>
              <a:off x="6195999" y="2170000"/>
              <a:ext cx="2711468" cy="520000"/>
            </a:xfrm>
            <a:prstGeom prst="rect">
              <a:avLst/>
            </a:prstGeom>
            <a:noFill/>
            <a:ln>
              <a:noFill/>
            </a:ln>
          </p:spPr>
          <p:txBody>
            <a:bodyPr wrap="square" lIns="91440" tIns="27432" rIns="91440" bIns="27432" anchor="ctr">
              <a:noAutofit/>
            </a:bodyPr>
            <a:lstStyle/>
            <a:p>
              <a:pPr algn="ctr"/>
              <a:r>
                <a:rPr lang="de-DE" sz="3200" b="1" dirty="0">
                  <a:solidFill>
                    <a:schemeClr val="accent1"/>
                  </a:solidFill>
                </a:rPr>
                <a:t>3</a:t>
              </a:r>
            </a:p>
          </p:txBody>
        </p:sp>
        <p:sp>
          <p:nvSpPr>
            <p:cNvPr id="151" name="Ueberschrift"/>
            <p:cNvSpPr/>
            <p:nvPr/>
          </p:nvSpPr>
          <p:spPr>
            <a:xfrm>
              <a:off x="6195999" y="2770000"/>
              <a:ext cx="2711468" cy="480000"/>
            </a:xfrm>
            <a:prstGeom prst="rect">
              <a:avLst/>
            </a:prstGeom>
            <a:noFill/>
            <a:ln>
              <a:noFill/>
            </a:ln>
          </p:spPr>
          <p:txBody>
            <a:bodyPr wrap="square" lIns="91440" tIns="27432" rIns="91440" bIns="27432" anchor="ctr">
              <a:noAutofit/>
            </a:bodyPr>
            <a:lstStyle/>
            <a:p>
              <a:pPr algn="ctr"/>
              <a:r>
                <a:rPr lang="de-DE" sz="1800" b="1" dirty="0">
                  <a:solidFill>
                    <a:schemeClr val="accent1"/>
                  </a:solidFill>
                </a:rPr>
                <a:t>Testtiefe skalieren</a:t>
              </a:r>
            </a:p>
          </p:txBody>
        </p:sp>
        <p:sp>
          <p:nvSpPr>
            <p:cNvPr id="152" name="Erlaeuterung"/>
            <p:cNvSpPr/>
            <p:nvPr/>
          </p:nvSpPr>
          <p:spPr>
            <a:xfrm>
              <a:off x="6195999" y="3300000"/>
              <a:ext cx="2711468" cy="820000"/>
            </a:xfrm>
            <a:prstGeom prst="rect">
              <a:avLst/>
            </a:prstGeom>
            <a:noFill/>
            <a:ln>
              <a:noFill/>
            </a:ln>
          </p:spPr>
          <p:txBody>
            <a:bodyPr wrap="square" lIns="137160" tIns="27432" rIns="137160" bIns="27432" anchor="t">
              <a:noAutofit/>
            </a:bodyPr>
            <a:lstStyle/>
            <a:p>
              <a:pPr algn="ctr"/>
              <a:r>
                <a:rPr lang="de-DE" sz="1400" b="0" dirty="0">
                  <a:solidFill>
                    <a:schemeClr val="accent1"/>
                  </a:solidFill>
                </a:rPr>
                <a:t>Staffelung über SRSL-Stufen</a:t>
              </a:r>
            </a:p>
          </p:txBody>
        </p:sp>
        <p:sp>
          <p:nvSpPr>
            <p:cNvPr id="153" name="Randbeschriftung"/>
            <p:cNvSpPr/>
            <p:nvPr/>
          </p:nvSpPr>
          <p:spPr>
            <a:xfrm>
              <a:off x="6195999" y="4220000"/>
              <a:ext cx="2711468" cy="380000"/>
            </a:xfrm>
            <a:prstGeom prst="rect">
              <a:avLst/>
            </a:prstGeom>
            <a:noFill/>
            <a:ln>
              <a:noFill/>
            </a:ln>
          </p:spPr>
          <p:txBody>
            <a:bodyPr wrap="square" lIns="91440" tIns="27432" rIns="91440" bIns="27432" anchor="ctr">
              <a:noAutofit/>
            </a:bodyPr>
            <a:lstStyle/>
            <a:p>
              <a:pPr algn="ctr"/>
              <a:r>
                <a:rPr lang="de-DE" sz="1400" b="1" dirty="0">
                  <a:solidFill>
                    <a:schemeClr val="accent1"/>
                  </a:solidFill>
                </a:rPr>
                <a:t>mittelfristig</a:t>
              </a:r>
            </a:p>
          </p:txBody>
        </p:sp>
      </p:grpSp>
      <p:grpSp>
        <p:nvGrpSpPr>
          <p:cNvPr id="40" name="Kachel 4"/>
          <p:cNvGrpSpPr/>
          <p:nvPr/>
        </p:nvGrpSpPr>
        <p:grpSpPr>
          <a:xfrm>
            <a:off x="9107467" y="1250000"/>
            <a:ext cx="2711468" cy="3450000"/>
            <a:chOff x="9107467" y="1250000"/>
            <a:chExt cx="2711468" cy="3450000"/>
          </a:xfrm>
        </p:grpSpPr>
        <p:sp>
          <p:nvSpPr>
            <p:cNvPr id="160" name="Kachel"/>
            <p:cNvSpPr/>
            <p:nvPr/>
          </p:nvSpPr>
          <p:spPr>
            <a:xfrm>
              <a:off x="9107467" y="1250000"/>
              <a:ext cx="2711468" cy="3450000"/>
            </a:xfrm>
            <a:prstGeom prst="rect">
              <a:avLst/>
            </a:prstGeom>
            <a:solidFill>
              <a:schemeClr val="accent4"/>
            </a:solidFill>
            <a:ln>
              <a:noFill/>
            </a:ln>
          </p:spPr>
          <p:txBody>
            <a:bodyPr/>
            <a:lstStyle/>
            <a:p>
              <a:endParaRPr lang="de-DE"/>
            </a:p>
          </p:txBody>
        </p:sp>
        <p:sp>
          <p:nvSpPr>
            <p:cNvPr id="161" name="Symbol Kreislauf"/>
            <p:cNvSpPr/>
            <p:nvPr/>
          </p:nvSpPr>
          <p:spPr>
            <a:xfrm>
              <a:off x="10183201" y="1530000"/>
              <a:ext cx="560000" cy="560000"/>
            </a:xfrm>
            <a:prstGeom prst="circularArrow">
              <a:avLst>
                <a:gd name="adj1" fmla="val 12500"/>
                <a:gd name="adj2" fmla="val 1142319"/>
                <a:gd name="adj3" fmla="val 20457681"/>
                <a:gd name="adj4" fmla="val 10800000"/>
                <a:gd name="adj5" fmla="val 12500"/>
              </a:avLst>
            </a:prstGeom>
            <a:solidFill>
              <a:schemeClr val="accent1"/>
            </a:solidFill>
            <a:ln>
              <a:noFill/>
            </a:ln>
          </p:spPr>
          <p:txBody>
            <a:bodyPr/>
            <a:lstStyle/>
            <a:p>
              <a:endParaRPr lang="de-DE"/>
            </a:p>
          </p:txBody>
        </p:sp>
        <p:sp>
          <p:nvSpPr>
            <p:cNvPr id="170" name="Nummer"/>
            <p:cNvSpPr/>
            <p:nvPr/>
          </p:nvSpPr>
          <p:spPr>
            <a:xfrm>
              <a:off x="9107467" y="2170000"/>
              <a:ext cx="2711468" cy="520000"/>
            </a:xfrm>
            <a:prstGeom prst="rect">
              <a:avLst/>
            </a:prstGeom>
            <a:noFill/>
            <a:ln>
              <a:noFill/>
            </a:ln>
          </p:spPr>
          <p:txBody>
            <a:bodyPr wrap="square" lIns="91440" tIns="27432" rIns="91440" bIns="27432" anchor="ctr">
              <a:noAutofit/>
            </a:bodyPr>
            <a:lstStyle/>
            <a:p>
              <a:pPr algn="ctr"/>
              <a:r>
                <a:rPr lang="de-DE" sz="3200" b="1" dirty="0">
                  <a:solidFill>
                    <a:schemeClr val="accent1"/>
                  </a:solidFill>
                </a:rPr>
                <a:t>4</a:t>
              </a:r>
            </a:p>
          </p:txBody>
        </p:sp>
        <p:sp>
          <p:nvSpPr>
            <p:cNvPr id="171" name="Ueberschrift"/>
            <p:cNvSpPr/>
            <p:nvPr/>
          </p:nvSpPr>
          <p:spPr>
            <a:xfrm>
              <a:off x="9107467" y="2770000"/>
              <a:ext cx="2711468" cy="480000"/>
            </a:xfrm>
            <a:prstGeom prst="rect">
              <a:avLst/>
            </a:prstGeom>
            <a:noFill/>
            <a:ln>
              <a:noFill/>
            </a:ln>
          </p:spPr>
          <p:txBody>
            <a:bodyPr wrap="square" lIns="91440" tIns="27432" rIns="91440" bIns="27432" anchor="ctr">
              <a:noAutofit/>
            </a:bodyPr>
            <a:lstStyle/>
            <a:p>
              <a:pPr algn="ctr"/>
              <a:r>
                <a:rPr lang="de-DE" sz="1800" b="1" dirty="0">
                  <a:solidFill>
                    <a:schemeClr val="accent1"/>
                  </a:solidFill>
                </a:rPr>
                <a:t>Methodik verankern</a:t>
              </a:r>
            </a:p>
          </p:txBody>
        </p:sp>
        <p:sp>
          <p:nvSpPr>
            <p:cNvPr id="172" name="Erlaeuterung"/>
            <p:cNvSpPr/>
            <p:nvPr/>
          </p:nvSpPr>
          <p:spPr>
            <a:xfrm>
              <a:off x="9107467" y="3300000"/>
              <a:ext cx="2711468" cy="820000"/>
            </a:xfrm>
            <a:prstGeom prst="rect">
              <a:avLst/>
            </a:prstGeom>
            <a:noFill/>
            <a:ln>
              <a:noFill/>
            </a:ln>
          </p:spPr>
          <p:txBody>
            <a:bodyPr wrap="square" lIns="137160" tIns="27432" rIns="137160" bIns="27432" anchor="t">
              <a:noAutofit/>
            </a:bodyPr>
            <a:lstStyle/>
            <a:p>
              <a:pPr algn="ctr"/>
              <a:r>
                <a:rPr lang="de-DE" sz="1400" b="0" dirty="0">
                  <a:solidFill>
                    <a:schemeClr val="accent1"/>
                  </a:solidFill>
                </a:rPr>
                <a:t>Einbettung in den Secure Development Lifecycle</a:t>
              </a:r>
            </a:p>
          </p:txBody>
        </p:sp>
        <p:sp>
          <p:nvSpPr>
            <p:cNvPr id="173" name="Randbeschriftung"/>
            <p:cNvSpPr/>
            <p:nvPr/>
          </p:nvSpPr>
          <p:spPr>
            <a:xfrm>
              <a:off x="9107467" y="4220000"/>
              <a:ext cx="2711468" cy="380000"/>
            </a:xfrm>
            <a:prstGeom prst="rect">
              <a:avLst/>
            </a:prstGeom>
            <a:noFill/>
            <a:ln>
              <a:noFill/>
            </a:ln>
          </p:spPr>
          <p:txBody>
            <a:bodyPr wrap="square" lIns="91440" tIns="27432" rIns="91440" bIns="27432" anchor="ctr">
              <a:noAutofit/>
            </a:bodyPr>
            <a:lstStyle/>
            <a:p>
              <a:pPr algn="ctr"/>
              <a:r>
                <a:rPr lang="de-DE" sz="1400" b="1" dirty="0">
                  <a:solidFill>
                    <a:schemeClr val="accent1"/>
                  </a:solidFill>
                </a:rPr>
                <a:t>mittelfristig</a:t>
              </a:r>
            </a:p>
          </p:txBody>
        </p:sp>
      </p:grpSp>
      <p:sp>
        <p:nvSpPr>
          <p:cNvPr id="60" name="Abschlussbalken"/>
          <p:cNvSpPr/>
          <p:nvPr/>
        </p:nvSpPr>
        <p:spPr>
          <a:xfrm>
            <a:off x="0" y="5330000"/>
            <a:ext cx="12192000" cy="800000"/>
          </a:xfrm>
          <a:prstGeom prst="rect">
            <a:avLst/>
          </a:prstGeom>
          <a:solidFill>
            <a:schemeClr val="accent1"/>
          </a:solidFill>
          <a:ln>
            <a:noFill/>
          </a:ln>
        </p:spPr>
        <p:txBody>
          <a:bodyPr wrap="square" lIns="182880" tIns="27432" rIns="182880" bIns="27432" anchor="ctr">
            <a:noAutofit/>
          </a:bodyPr>
          <a:lstStyle/>
          <a:p>
            <a:pPr algn="ctr"/>
            <a:r>
              <a:rPr lang="de-DE" sz="1800" b="1" dirty="0">
                <a:solidFill>
                  <a:srgbClr val="FFFFFF"/>
                </a:solidFill>
              </a:rPr>
              <a:t>Die Methodik ist übertragbar, die Demonstration ist der erste Schritt.</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0"/>
                                        </p:tgtEl>
                                        <p:attrNameLst>
                                          <p:attrName>style.visibility</p:attrName>
                                        </p:attrNameLst>
                                      </p:cBhvr>
                                      <p:to>
                                        <p:strVal val="visible"/>
                                      </p:to>
                                    </p:set>
                                    <p:animEffect transition="in" filter="fade">
                                      <p:cBhvr>
                                        <p:cTn id="22" dur="500"/>
                                        <p:tgtEl>
                                          <p:spTgt spid="40"/>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fade">
                                      <p:cBhvr>
                                        <p:cTn id="27" dur="500"/>
                                        <p:tgtEl>
                                          <p:spTgt spid="6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P spid="6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373063" y="330000"/>
            <a:ext cx="11447462" cy="553998"/>
          </a:xfrm>
        </p:spPr>
        <p:txBody>
          <a:bodyPr>
            <a:normAutofit fontScale="90000"/>
          </a:bodyPr>
          <a:lstStyle/>
          <a:p>
            <a:r>
              <a:rPr lang="de-DE" dirty="0"/>
              <a:t>Safe State ist nicht gleich Security</a:t>
            </a:r>
          </a:p>
        </p:txBody>
      </p:sp>
      <p:grpSp>
        <p:nvGrpSpPr>
          <p:cNvPr id="10" name="Functional Safety"/>
          <p:cNvGrpSpPr/>
          <p:nvPr/>
        </p:nvGrpSpPr>
        <p:grpSpPr>
          <a:xfrm>
            <a:off x="1450000" y="1200000"/>
            <a:ext cx="3150000" cy="3150000"/>
            <a:chOff x="1450000" y="1200000"/>
            <a:chExt cx="3150000" cy="3150000"/>
          </a:xfrm>
        </p:grpSpPr>
        <p:sp>
          <p:nvSpPr>
            <p:cNvPr id="11" name="Kreis"/>
            <p:cNvSpPr/>
            <p:nvPr/>
          </p:nvSpPr>
          <p:spPr>
            <a:xfrm>
              <a:off x="1450000" y="1200000"/>
              <a:ext cx="3150000" cy="3150000"/>
            </a:xfrm>
            <a:prstGeom prst="ellipse">
              <a:avLst/>
            </a:prstGeom>
            <a:solidFill>
              <a:schemeClr val="accent4"/>
            </a:solidFill>
            <a:ln>
              <a:noFill/>
            </a:ln>
          </p:spPr>
          <p:txBody>
            <a:bodyPr/>
            <a:lstStyle/>
            <a:p>
              <a:endParaRPr lang="de-DE"/>
            </a:p>
          </p:txBody>
        </p:sp>
        <p:sp>
          <p:nvSpPr>
            <p:cNvPr id="12" name="Kreistext"/>
            <p:cNvSpPr/>
            <p:nvPr/>
          </p:nvSpPr>
          <p:spPr>
            <a:xfrm>
              <a:off x="1830000" y="2000000"/>
              <a:ext cx="2390000" cy="1550000"/>
            </a:xfrm>
            <a:prstGeom prst="rect">
              <a:avLst/>
            </a:prstGeom>
            <a:noFill/>
            <a:ln>
              <a:noFill/>
            </a:ln>
          </p:spPr>
          <p:txBody>
            <a:bodyPr wrap="square" lIns="91440" tIns="45720" rIns="91440" bIns="45720" anchor="ctr">
              <a:noAutofit/>
            </a:bodyPr>
            <a:lstStyle/>
            <a:p>
              <a:pPr algn="ctr"/>
              <a:r>
                <a:rPr lang="de-DE" sz="2000" b="1" dirty="0">
                  <a:solidFill>
                    <a:schemeClr val="accent1"/>
                  </a:solidFill>
                </a:rPr>
                <a:t>Functional Safety</a:t>
              </a:r>
            </a:p>
            <a:p>
              <a:pPr algn="ctr"/>
              <a:r>
                <a:rPr lang="de-DE" sz="900" b="0" dirty="0">
                  <a:solidFill>
                    <a:schemeClr val="accent1"/>
                  </a:solidFill>
                </a:rPr>
                <a:t> </a:t>
              </a:r>
            </a:p>
            <a:p>
              <a:pPr algn="ctr"/>
              <a:r>
                <a:rPr lang="de-DE" sz="1400" b="0" dirty="0">
                  <a:solidFill>
                    <a:schemeClr val="accent1"/>
                  </a:solidFill>
                </a:rPr>
                <a:t>Definierter sicherer Zustand nach einem Fehler</a:t>
              </a:r>
            </a:p>
            <a:p>
              <a:pPr algn="ctr"/>
              <a:r>
                <a:rPr lang="de-DE" sz="1400" b="0" dirty="0">
                  <a:solidFill>
                    <a:schemeClr val="accent1"/>
                  </a:solidFill>
                </a:rPr>
                <a:t>Zufälliger Fehler als Annahme</a:t>
              </a:r>
            </a:p>
          </p:txBody>
        </p:sp>
      </p:grpSp>
      <p:grpSp>
        <p:nvGrpSpPr>
          <p:cNvPr id="20" name="Cybersecurity"/>
          <p:cNvGrpSpPr/>
          <p:nvPr/>
        </p:nvGrpSpPr>
        <p:grpSpPr>
          <a:xfrm>
            <a:off x="7592000" y="1200000"/>
            <a:ext cx="3150000" cy="3150000"/>
            <a:chOff x="7592000" y="1200000"/>
            <a:chExt cx="3150000" cy="3150000"/>
          </a:xfrm>
        </p:grpSpPr>
        <p:sp>
          <p:nvSpPr>
            <p:cNvPr id="21" name="Kreis"/>
            <p:cNvSpPr/>
            <p:nvPr/>
          </p:nvSpPr>
          <p:spPr>
            <a:xfrm>
              <a:off x="7592000" y="1200000"/>
              <a:ext cx="3150000" cy="3150000"/>
            </a:xfrm>
            <a:prstGeom prst="ellipse">
              <a:avLst/>
            </a:prstGeom>
            <a:solidFill>
              <a:schemeClr val="accent5"/>
            </a:solidFill>
            <a:ln>
              <a:noFill/>
            </a:ln>
          </p:spPr>
          <p:txBody>
            <a:bodyPr/>
            <a:lstStyle/>
            <a:p>
              <a:endParaRPr lang="de-DE"/>
            </a:p>
          </p:txBody>
        </p:sp>
        <p:sp>
          <p:nvSpPr>
            <p:cNvPr id="22" name="Kreistext"/>
            <p:cNvSpPr/>
            <p:nvPr/>
          </p:nvSpPr>
          <p:spPr>
            <a:xfrm>
              <a:off x="7972000" y="2000000"/>
              <a:ext cx="2390000" cy="1550000"/>
            </a:xfrm>
            <a:prstGeom prst="rect">
              <a:avLst/>
            </a:prstGeom>
            <a:noFill/>
            <a:ln>
              <a:noFill/>
            </a:ln>
          </p:spPr>
          <p:txBody>
            <a:bodyPr wrap="square" lIns="91440" tIns="45720" rIns="91440" bIns="45720" anchor="ctr">
              <a:noAutofit/>
            </a:bodyPr>
            <a:lstStyle/>
            <a:p>
              <a:pPr algn="ctr"/>
              <a:r>
                <a:rPr lang="de-DE" sz="2000" b="1" dirty="0">
                  <a:solidFill>
                    <a:srgbClr val="FFFFFF"/>
                  </a:solidFill>
                </a:rPr>
                <a:t>Cybersecurity</a:t>
              </a:r>
            </a:p>
            <a:p>
              <a:pPr algn="ctr"/>
              <a:r>
                <a:rPr lang="de-DE" sz="900" b="0" dirty="0">
                  <a:solidFill>
                    <a:srgbClr val="FFFFFF"/>
                  </a:solidFill>
                </a:rPr>
                <a:t> </a:t>
              </a:r>
            </a:p>
            <a:p>
              <a:pPr algn="ctr"/>
              <a:r>
                <a:rPr lang="de-DE" sz="1400" b="0" dirty="0">
                  <a:solidFill>
                    <a:srgbClr val="FFFFFF"/>
                  </a:solidFill>
                </a:rPr>
                <a:t>Zurechenbarkeit, Integrität, Nachvollziehbarkeit</a:t>
              </a:r>
            </a:p>
            <a:p>
              <a:pPr algn="ctr"/>
              <a:r>
                <a:rPr lang="de-DE" sz="1400" b="0" dirty="0">
                  <a:solidFill>
                    <a:srgbClr val="FFFFFF"/>
                  </a:solidFill>
                </a:rPr>
                <a:t>Vorsätzlicher Angreifer als Annahme</a:t>
              </a:r>
            </a:p>
          </p:txBody>
        </p:sp>
      </p:grpSp>
      <p:grpSp>
        <p:nvGrpSpPr>
          <p:cNvPr id="30" name="Ungleich"/>
          <p:cNvGrpSpPr/>
          <p:nvPr/>
        </p:nvGrpSpPr>
        <p:grpSpPr>
          <a:xfrm>
            <a:off x="5496000" y="2275000"/>
            <a:ext cx="1200000" cy="1160000"/>
            <a:chOff x="5496000" y="2275000"/>
            <a:chExt cx="1200000" cy="1160000"/>
          </a:xfrm>
        </p:grpSpPr>
        <p:sp>
          <p:nvSpPr>
            <p:cNvPr id="31" name="Balken oben"/>
            <p:cNvSpPr/>
            <p:nvPr/>
          </p:nvSpPr>
          <p:spPr>
            <a:xfrm>
              <a:off x="5646000" y="2595000"/>
              <a:ext cx="900000" cy="130000"/>
            </a:xfrm>
            <a:prstGeom prst="rect">
              <a:avLst/>
            </a:prstGeom>
            <a:solidFill>
              <a:schemeClr val="accent1"/>
            </a:solidFill>
            <a:ln>
              <a:noFill/>
            </a:ln>
          </p:spPr>
          <p:txBody>
            <a:bodyPr/>
            <a:lstStyle/>
            <a:p>
              <a:endParaRPr lang="de-DE"/>
            </a:p>
          </p:txBody>
        </p:sp>
        <p:sp>
          <p:nvSpPr>
            <p:cNvPr id="32" name="Balken unten"/>
            <p:cNvSpPr/>
            <p:nvPr/>
          </p:nvSpPr>
          <p:spPr>
            <a:xfrm>
              <a:off x="5646000" y="2885000"/>
              <a:ext cx="900000" cy="130000"/>
            </a:xfrm>
            <a:prstGeom prst="rect">
              <a:avLst/>
            </a:prstGeom>
            <a:solidFill>
              <a:schemeClr val="accent1"/>
            </a:solidFill>
            <a:ln>
              <a:noFill/>
            </a:ln>
          </p:spPr>
          <p:txBody>
            <a:bodyPr/>
            <a:lstStyle/>
            <a:p>
              <a:endParaRPr lang="de-DE"/>
            </a:p>
          </p:txBody>
        </p:sp>
        <p:sp>
          <p:nvSpPr>
            <p:cNvPr id="33" name="Durchstrich"/>
            <p:cNvSpPr/>
            <p:nvPr/>
          </p:nvSpPr>
          <p:spPr>
            <a:xfrm rot="1500000">
              <a:off x="6026000" y="2355000"/>
              <a:ext cx="140000" cy="1000000"/>
            </a:xfrm>
            <a:prstGeom prst="rect">
              <a:avLst/>
            </a:prstGeom>
            <a:solidFill>
              <a:schemeClr val="accent1"/>
            </a:solidFill>
            <a:ln>
              <a:noFill/>
            </a:ln>
          </p:spPr>
          <p:txBody>
            <a:bodyPr/>
            <a:lstStyle/>
            <a:p>
              <a:endParaRPr lang="de-DE"/>
            </a:p>
          </p:txBody>
        </p:sp>
      </p:grpSp>
      <p:sp>
        <p:nvSpPr>
          <p:cNvPr id="40" name="Merksatzbalken"/>
          <p:cNvSpPr/>
          <p:nvPr/>
        </p:nvSpPr>
        <p:spPr>
          <a:xfrm>
            <a:off x="0" y="4800000"/>
            <a:ext cx="12192000" cy="900000"/>
          </a:xfrm>
          <a:prstGeom prst="rect">
            <a:avLst/>
          </a:prstGeom>
          <a:solidFill>
            <a:schemeClr val="accent5"/>
          </a:solidFill>
          <a:ln>
            <a:noFill/>
          </a:ln>
        </p:spPr>
        <p:txBody>
          <a:bodyPr wrap="square" lIns="182880" tIns="45720" rIns="182880" bIns="45720" anchor="ctr">
            <a:noAutofit/>
          </a:bodyPr>
          <a:lstStyle/>
          <a:p>
            <a:pPr algn="ctr"/>
            <a:r>
              <a:rPr lang="de-DE" sz="1800" b="1" dirty="0">
                <a:solidFill>
                  <a:srgbClr val="FFFFFF"/>
                </a:solidFill>
              </a:rPr>
              <a:t>Beide Eigenschaften sind trennbar und erfordern eine unabhängige Verifikation.</a:t>
            </a: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0"/>
                                        </p:tgtEl>
                                        <p:attrNameLst>
                                          <p:attrName>style.visibility</p:attrName>
                                        </p:attrNameLst>
                                      </p:cBhvr>
                                      <p:to>
                                        <p:strVal val="visible"/>
                                      </p:to>
                                    </p:set>
                                    <p:animEffect transition="in" filter="fade">
                                      <p:cBhvr>
                                        <p:cTn id="17" dur="500"/>
                                        <p:tgtEl>
                                          <p:spTgt spid="30"/>
                                        </p:tgtEl>
                                      </p:cBhvr>
                                    </p:animEffect>
                                  </p:childTnLst>
                                </p:cTn>
                              </p:par>
                            </p:childTnLst>
                          </p:cTn>
                        </p:par>
                        <p:par>
                          <p:cTn id="18" fill="hold">
                            <p:stCondLst>
                              <p:cond delay="0"/>
                            </p:stCondLst>
                            <p:childTnLst>
                              <p:par>
                                <p:cTn id="19" presetID="1" presetClass="emph" presetSubtype="0" fill="hold" nodeType="afterEffect">
                                  <p:stCondLst>
                                    <p:cond delay="0"/>
                                  </p:stCondLst>
                                  <p:childTnLst>
                                    <p:anim calcmode="lin" valueType="num">
                                      <p:cBhvr>
                                        <p:cTn id="20" dur="500" autoRev="1" fill="hold"/>
                                        <p:tgtEl>
                                          <p:spTgt spid="30"/>
                                        </p:tgtEl>
                                        <p:attrNameLst>
                                          <p:attrName>style.opacity</p:attrName>
                                        </p:attrNameLst>
                                      </p:cBhvr>
                                      <p:tavLst>
                                        <p:tav tm="0">
                                          <p:val>
                                            <p:fltVal val="1"/>
                                          </p:val>
                                        </p:tav>
                                        <p:tav tm="100000">
                                          <p:val>
                                            <p:fltVal val="0.3"/>
                                          </p:val>
                                        </p:tav>
                                      </p:tavLst>
                                    </p:anim>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40"/>
                                        </p:tgtEl>
                                        <p:attrNameLst>
                                          <p:attrName>style.visibility</p:attrName>
                                        </p:attrNameLst>
                                      </p:cBhvr>
                                      <p:to>
                                        <p:strVal val="visible"/>
                                      </p:to>
                                    </p:set>
                                    <p:animEffect transition="in" filter="fade">
                                      <p:cBhvr>
                                        <p:cTn id="25"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20" grpId="0"/>
      <p:bldP spid="30" grpId="0"/>
      <p:bldP spid="40" grpId="0"/>
    </p:bld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3853</Words>
  <Application>Microsoft Office PowerPoint</Application>
  <PresentationFormat>Breitbild</PresentationFormat>
  <Paragraphs>319</Paragraphs>
  <Slides>13</Slides>
  <Notes>10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13</vt:i4>
      </vt:variant>
    </vt:vector>
  </HeadingPairs>
  <TitlesOfParts>
    <vt:vector size="17" baseType="lpstr">
      <vt:lpstr>Aptos</vt:lpstr>
      <vt:lpstr>Aptos Display</vt:lpstr>
      <vt:lpstr>Arial</vt:lpstr>
      <vt:lpstr>Office</vt:lpstr>
      <vt:lpstr>Agenda</vt:lpstr>
      <vt:lpstr>PowerPoint-Präsentation</vt:lpstr>
      <vt:lpstr>Cybersecurity wird zur Pflicht</vt:lpstr>
      <vt:lpstr>Die Lücke zwischen Anspruch und Praxis</vt:lpstr>
      <vt:lpstr>PowerPoint-Präsentation</vt:lpstr>
      <vt:lpstr>Die Lücke</vt:lpstr>
      <vt:lpstr>Ableitung am Beispiel RQ-012</vt:lpstr>
      <vt:lpstr>Ein Beispiel: RQ-003</vt:lpstr>
      <vt:lpstr>PowerPoint-Präsentation</vt:lpstr>
      <vt:lpstr>Der Prüfstand</vt:lpstr>
      <vt:lpstr>Kernbefund: der Interventionsnachweis</vt:lpstr>
      <vt:lpstr>Ausblick</vt:lpstr>
      <vt:lpstr>Safe State ist nicht gleich Security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Nathalie Nuber</dc:creator>
  <cp:lastModifiedBy>Nathalie Nuber</cp:lastModifiedBy>
  <cp:revision>1</cp:revision>
  <dcterms:created xsi:type="dcterms:W3CDTF">2026-09-20T15:25:17Z</dcterms:created>
  <dcterms:modified xsi:type="dcterms:W3CDTF">2026-09-20T15:30:57Z</dcterms:modified>
</cp:coreProperties>
</file>