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361" r:id="rId26"/>
    <p:sldId id="362" r:id="rId27"/>
    <p:sldId id="363" r:id="rId28"/>
    <p:sldId id="364" r:id="rId29"/>
    <p:sldId id="365" r:id="rId30"/>
    <p:sldId id="366" r:id="rId31"/>
    <p:sldId id="36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99B23B-EC83-4686-B30A-512413B5E67A}" styleName="Helle Formatvorlage 3 - Akz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Helle Formatvorlage 3 - Akz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3" autoAdjust="0"/>
    <p:restoredTop sz="72161"/>
  </p:normalViewPr>
  <p:slideViewPr>
    <p:cSldViewPr snapToGrid="0" showGuides="1">
      <p:cViewPr varScale="1">
        <p:scale>
          <a:sx n="89" d="100"/>
          <a:sy n="89" d="100"/>
        </p:scale>
        <p:origin x="1656" y="160"/>
      </p:cViewPr>
      <p:guideLst/>
    </p:cSldViewPr>
  </p:slideViewPr>
  <p:notesTextViewPr>
    <p:cViewPr>
      <p:scale>
        <a:sx n="1" d="1"/>
        <a:sy n="1" d="1"/>
      </p:scale>
      <p:origin x="0" y="0"/>
    </p:cViewPr>
  </p:notesTextViewPr>
  <p:sorterViewPr>
    <p:cViewPr>
      <p:scale>
        <a:sx n="90" d="100"/>
        <a:sy n="90" d="100"/>
      </p:scale>
      <p:origin x="0" y="0"/>
    </p:cViewPr>
  </p:sorterViewPr>
  <p:notesViewPr>
    <p:cSldViewPr snapToGrid="0" showGuides="1">
      <p:cViewPr varScale="1">
        <p:scale>
          <a:sx n="77" d="100"/>
          <a:sy n="77" d="100"/>
        </p:scale>
        <p:origin x="1940" y="8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ber, Nathalie" userId="64826a5e-75fc-44e6-a073-417b106d7220" providerId="ADAL" clId="{1861E7BE-D3CE-5CF8-A69C-C1EA6E9385B8}"/>
    <pc:docChg chg="delSection">
      <pc:chgData name="Nuber, Nathalie" userId="64826a5e-75fc-44e6-a073-417b106d7220" providerId="ADAL" clId="{1861E7BE-D3CE-5CF8-A69C-C1EA6E9385B8}" dt="2026-09-20T10:57:01.001" v="0" actId="17851"/>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8BEB59-B03F-1516-D49A-9B01C9EBDB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03E739C-43EC-06F0-78BD-C84C799ED07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89CB0D-740C-494B-9BDA-DCE1ACE6143C}" type="datetimeFigureOut">
              <a:rPr lang="en-US" smtClean="0"/>
              <a:t>9/20/26</a:t>
            </a:fld>
            <a:endParaRPr lang="en-US"/>
          </a:p>
        </p:txBody>
      </p:sp>
      <p:sp>
        <p:nvSpPr>
          <p:cNvPr id="4" name="Footer Placeholder 3">
            <a:extLst>
              <a:ext uri="{FF2B5EF4-FFF2-40B4-BE49-F238E27FC236}">
                <a16:creationId xmlns:a16="http://schemas.microsoft.com/office/drawing/2014/main" id="{56EB51A1-BCC8-3F2F-A236-B281F68E211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FBE4778-705C-CBF1-D316-F090A61B91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19DDCA-229A-46B2-BF95-595DCDF55B52}" type="slidenum">
              <a:rPr lang="en-US" smtClean="0"/>
              <a:t>‹Nr.›</a:t>
            </a:fld>
            <a:endParaRPr lang="en-US"/>
          </a:p>
        </p:txBody>
      </p:sp>
    </p:spTree>
    <p:extLst>
      <p:ext uri="{BB962C8B-B14F-4D97-AF65-F5344CB8AC3E}">
        <p14:creationId xmlns:p14="http://schemas.microsoft.com/office/powerpoint/2010/main" val="3383321032"/>
      </p:ext>
    </p:extLst>
  </p:cSld>
  <p:clrMap bg1="dk1" tx1="lt1" bg2="dk2" tx2="lt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4FF18E-6B4D-4FA3-9B28-AA54BB56B2C3}" type="datetimeFigureOut">
              <a:rPr lang="en-US" smtClean="0"/>
              <a:t>9/20/26</a:t>
            </a:fld>
            <a:endParaRPr lang="en-US"/>
          </a:p>
        </p:txBody>
      </p:sp>
      <p:sp>
        <p:nvSpPr>
          <p:cNvPr id="4" name="Slide Image Placeholder 3"/>
          <p:cNvSpPr>
            <a:spLocks noGrp="1" noRot="1" noChangeAspect="1"/>
          </p:cNvSpPr>
          <p:nvPr>
            <p:ph type="sldImg" idx="2"/>
          </p:nvPr>
        </p:nvSpPr>
        <p:spPr>
          <a:xfrm>
            <a:off x="1729047" y="840364"/>
            <a:ext cx="3399906" cy="19124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134388"/>
            <a:ext cx="5486400" cy="4866612"/>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CB6471-ACEC-47CF-B768-419C0458B309}" type="slidenum">
              <a:rPr lang="en-US" smtClean="0"/>
              <a:t>‹Nr.›</a:t>
            </a:fld>
            <a:endParaRPr lang="en-US"/>
          </a:p>
        </p:txBody>
      </p:sp>
    </p:spTree>
    <p:extLst>
      <p:ext uri="{BB962C8B-B14F-4D97-AF65-F5344CB8AC3E}">
        <p14:creationId xmlns:p14="http://schemas.microsoft.com/office/powerpoint/2010/main" val="3247464755"/>
      </p:ext>
    </p:extLst>
  </p:cSld>
  <p:clrMap bg1="dk1" tx1="lt1" bg2="dk2" tx2="lt2" accent1="accent1" accent2="accent2" accent3="accent3" accent4="accent4" accent5="accent5" accent6="accent6" hlink="hlink" folHlink="folHlink"/>
  <p:notesStyle>
    <a:lvl1pPr marL="18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2pPr>
    <a:lvl3pPr marL="54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3pPr>
    <a:lvl4pPr marL="72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4pPr>
    <a:lvl5pPr marL="90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5pPr>
    <a:lvl6pPr marL="108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6pPr>
    <a:lvl7pPr marL="126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7pPr>
    <a:lvl8pPr marL="144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8pPr>
    <a:lvl9pPr marL="162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Sehr geehrte Damen und Herren, vielen Dank, dass Sie sich Zeit für die Verteidigung meiner Bachelorarbeit nehmen.</a:t>
            </a:r>
          </a:p>
          <a:p>
            <a:r>
              <a:rPr lang="de-DE" dirty="0"/>
              <a:t>Mein Name ist Nathalie Nuber, ich studiere Elektrotechnik mit der Studienrichtung Automation an der DHBW Ravensburg am Campus Friedrichshafen und habe die Arbeit bei meinem dualen Partner, der ifm ecomatic GmbH in Kressbronn am Bodensee, angefertigt.</a:t>
            </a:r>
          </a:p>
          <a:p>
            <a:r>
              <a:rPr lang="de-DE" dirty="0"/>
              <a:t>Das Thema lautet: Funktionales Testen von Security bei industriellen Gateways unter der neuen Maschinenverordnung.</a:t>
            </a:r>
          </a:p>
          <a:p>
            <a:r>
              <a:rPr lang="de-DE" dirty="0"/>
              <a:t>Betreut wurde die Arbeit von Herrn Till Monzel, begutachtet von Herrn Andreas Lau; beiden möchte ich an dieser Stelle danken.</a:t>
            </a:r>
          </a:p>
          <a:p>
            <a:r>
              <a:rPr lang="de-DE" dirty="0"/>
              <a:t>Warum dieses Thema? Mit der neuen Maschinenverordnung wird Cybersecurity erstmals zu einer rechtlich verbindlichen Anforderung an Maschinen und ihre Komponenten. Industrielle Gateways sind dabei die Schnittstelle zwischen Feldebene und IT und damit ein sicherheitskritischer Punkt.</a:t>
            </a:r>
          </a:p>
          <a:p>
            <a:r>
              <a:rPr lang="de-DE" dirty="0"/>
              <a:t>In den nächsten zwanzig Minuten zeige ich Ihnen, wie sich Security-Anforderungen systematisch in prüfbare, funktionale Tests überführen lassen und welche Ergebnisse der aufgebaute Prüfstand geliefert hat.</a:t>
            </a:r>
          </a:p>
          <a:p>
            <a:r>
              <a:rPr lang="de-DE" dirty="0"/>
              <a:t>Diese Folie ist bewusst ohne Animation gehalten; ich wechsle direkt zur Agenda.</a:t>
            </a:r>
          </a:p>
        </p:txBody>
      </p:sp>
      <p:sp>
        <p:nvSpPr>
          <p:cNvPr id="4" name="Slide Number Placeholder 3"/>
          <p:cNvSpPr>
            <a:spLocks noGrp="1"/>
          </p:cNvSpPr>
          <p:nvPr>
            <p:ph type="sldNum" sz="quarter" idx="5"/>
          </p:nvPr>
        </p:nvSpPr>
        <p:spPr/>
        <p:txBody>
          <a:bodyPr/>
          <a:lstStyle/>
          <a:p>
            <a:fld id="{C4CB6471-ACEC-47CF-B768-419C0458B309}" type="slidenum">
              <a:rPr lang="en-US" smtClean="0"/>
              <a:t>1</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Ich habe meinen Vortrag in fünf Blöcke gegliedert.</a:t>
            </a:r>
          </a:p>
          <a:p>
            <a:r>
              <a:rPr lang="de-DE" dirty="0"/>
              <a:t>[Animationsschritt 1 – Klick: alle fünf Kacheln erscheinen gemeinsam.]</a:t>
            </a:r>
          </a:p>
          <a:p>
            <a:r>
              <a:rPr lang="de-DE" dirty="0"/>
              <a:t>Block eins, Motivation, etwa drei Minuten: Hier ordne ich ein, warum Security durch die neue Maschinenverordnung von einer freiwilligen Maßnahme zur Pflicht wird.</a:t>
            </a:r>
          </a:p>
          <a:p>
            <a:r>
              <a:rPr lang="de-DE" dirty="0"/>
              <a:t>Block zwei, Grundlagen, ebenfalls etwa drei Minuten: Schutzziele, die Bedrohungsanalyse nach STRIDE und der Normenrahmen rund um IEC 62443 bilden die fachliche Basis.</a:t>
            </a:r>
          </a:p>
          <a:p>
            <a:r>
              <a:rPr lang="de-DE" dirty="0"/>
              <a:t>Block drei, Methodik, mit rund sieben Minuten der Schwerpunkt: Ich erläutere, wie ich aus Anforderungen Testfälle ableite, wie Traceability sichergestellt wird und welche Messpunkte definiert sind.</a:t>
            </a:r>
          </a:p>
          <a:p>
            <a:r>
              <a:rPr lang="de-DE" dirty="0"/>
              <a:t>Block vier, Ergebnisse, etwa fünf Minuten: Aufbau des Prüfstands, die wichtigsten Befunde und die daraus abgeleiteten Verdikte.</a:t>
            </a:r>
          </a:p>
          <a:p>
            <a:r>
              <a:rPr lang="de-DE" dirty="0"/>
              <a:t>Block fünf, Fazit, etwa zwei Minuten: Beantwortung der Forschungsfragen und ein kurzer Ausblick.</a:t>
            </a:r>
          </a:p>
          <a:p>
            <a:r>
              <a:rPr lang="de-DE" dirty="0"/>
              <a:t>Fragen beantworte ich gerne im Anschluss, gerne aber auch zwischendurch, wenn etwas unklar bleibt.</a:t>
            </a:r>
          </a:p>
        </p:txBody>
      </p:sp>
      <p:sp>
        <p:nvSpPr>
          <p:cNvPr id="4" name="Slide Number Placeholder 3"/>
          <p:cNvSpPr>
            <a:spLocks noGrp="1"/>
          </p:cNvSpPr>
          <p:nvPr>
            <p:ph type="sldNum" sz="quarter" idx="5"/>
          </p:nvPr>
        </p:nvSpPr>
        <p:spPr/>
        <p:txBody>
          <a:bodyPr/>
          <a:lstStyle/>
          <a:p>
            <a:fld id="{C4CB6471-ACEC-47CF-B768-419C0458B309}" type="slidenum">
              <a:rPr lang="en-US" smtClean="0"/>
              <a:t>2</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Um zu verstehen, warum Security bei Gateways überhaupt ein Thema ist, lohnt ein Blick auf die klassische Automatisierungspyramide.</a:t>
            </a:r>
          </a:p>
          <a:p>
            <a:r>
              <a:rPr lang="de-DE" dirty="0"/>
              <a:t>[Animationsschritt 1 – Klick: die vier Ebenenblöcke erscheinen.] Von links nach rechts sehen Sie die Prozessebene mit Sensorik und Aktorik, die Steuerungsebene mit der SPS, die Leitebene mit HMI und SCADA sowie die Operation IT mit dem ERP-System.</a:t>
            </a:r>
          </a:p>
          <a:p>
            <a:r>
              <a:rPr lang="de-DE" dirty="0"/>
              <a:t>[Animationsschritt 2 – Klick: die beiden Klammern OT und IT mit ihren Schutzzielzeilen erscheinen.] Die beiden linken Ebenen gehören zur Operational Technology, die beiden rechten zur Informationstechnik. Entscheidend ist: Beide Welten priorisieren die Schutzziele genau entgegengesetzt. In der OT gilt Verfügbarkeit vor Integrität vor Vertraulichkeit, denn eine Anlage darf nicht stillstehen. In der IT gilt umgekehrt Vertraulichkeit vor Integrität vor Verfügbarkeit.</a:t>
            </a:r>
          </a:p>
          <a:p>
            <a:r>
              <a:rPr lang="de-DE" dirty="0"/>
              <a:t>[Animationsschritt 3 – Klick: das orange Gateway-Kästchen mit den beiden Pfeilen erscheint.] Genau an der Nahtstelle sitzt das industrielle Gateway. Es übersetzt Protokolle in beide Richtungen und macht damit Daten aus der Feldebene für die IT nutzbar.</a:t>
            </a:r>
          </a:p>
          <a:p>
            <a:r>
              <a:rPr lang="de-DE" dirty="0"/>
              <a:t>Der Preis dieser Durchlässigkeit ist: Eine früher geschlossene OT-Umgebung wird aus dem IT-Netz erreichbar. Das Gateway ist damit nicht nur Übersetzer, sondern auch die neue Angriffsfläche – und deshalb der Prüfgegenstand meiner Arbeit.</a:t>
            </a:r>
          </a:p>
        </p:txBody>
      </p:sp>
      <p:sp>
        <p:nvSpPr>
          <p:cNvPr id="4" name="Slide Number Placeholder 3"/>
          <p:cNvSpPr>
            <a:spLocks noGrp="1"/>
          </p:cNvSpPr>
          <p:nvPr>
            <p:ph type="sldNum" sz="quarter" idx="5"/>
          </p:nvPr>
        </p:nvSpPr>
        <p:spPr/>
        <p:txBody>
          <a:bodyPr/>
          <a:lstStyle/>
          <a:p>
            <a:fld id="{C4CB6471-ACEC-47CF-B768-419C0458B309}" type="slidenum">
              <a:rPr lang="en-US" smtClean="0"/>
              <a:t>3</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Diese technische Entwicklung hat der Gesetzgeber nachvollzogen.</a:t>
            </a:r>
          </a:p>
          <a:p>
            <a:r>
              <a:rPr lang="de-DE" dirty="0"/>
              <a:t>[Animationsschritt 1 – Klick: der Zeitstrahl mit beiden Datumsmarkierungen erscheint.] Am 29. Juni 2023 wurde die neue Maschinenverordnung im Amtsblatt der Europäischen Union veröffentlicht. Nach einer Übergangsfrist gilt sie ab dem 20. Januar 2027 verbindlich. Für Hersteller heißt das: Produkte, die danach in Verkehr gebracht werden, müssen die neuen Anforderungen erfüllen.</a:t>
            </a:r>
          </a:p>
          <a:p>
            <a:r>
              <a:rPr lang="de-DE" dirty="0"/>
              <a:t>[Animationsschritt 2 – Klick: die linke graue Karte erscheint.] Bisher galt die Maschinenrichtlinie 2006/42/EG. Als Richtlinie musste sie national umgesetzt werden, und Cybersecurity war darin keine verpflichtende Anforderung.</a:t>
            </a:r>
          </a:p>
          <a:p>
            <a:r>
              <a:rPr lang="de-DE" dirty="0"/>
              <a:t>[Animationsschritt 3 – Klick: Pfeil und rechte Karte erscheinen gemeinsam.] Die Verordnung (EU) 2023/1230 ist dagegen unmittelbar in allen Mitgliedstaaten gültig. Neu ist vor allem der geforderte Schutz vor Korruption, also vor unbefugter Veränderung sicherheitsrelevanter Funktionen; relevant sind hier Anhang III sowie die Abschnitte 1.1.9 und 1.2.1.</a:t>
            </a:r>
          </a:p>
          <a:p>
            <a:r>
              <a:rPr lang="de-DE" dirty="0"/>
              <a:t>Die eigentliche Pointe lautet: Wenn ein Angreifer eine Sicherheitsfunktion manipulieren kann, ist auch die funktionale Sicherheit nicht mehr gewährleistet. Security wird damit zur Voraussetzung von Safety.</a:t>
            </a:r>
          </a:p>
        </p:txBody>
      </p:sp>
      <p:sp>
        <p:nvSpPr>
          <p:cNvPr id="4" name="Slide Number Placeholder 3"/>
          <p:cNvSpPr>
            <a:spLocks noGrp="1"/>
          </p:cNvSpPr>
          <p:nvPr>
            <p:ph type="sldNum" sz="quarter" idx="5"/>
          </p:nvPr>
        </p:nvSpPr>
        <p:spPr/>
        <p:txBody>
          <a:bodyPr/>
          <a:lstStyle/>
          <a:p>
            <a:fld id="{C4CB6471-ACEC-47CF-B768-419C0458B309}" type="slidenum">
              <a:rPr lang="en-US" smtClean="0"/>
              <a:t>4</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Damit sind wir bei der Lücke, die meine Arbeit adressiert.</a:t>
            </a:r>
          </a:p>
          <a:p>
            <a:r>
              <a:rPr lang="de-DE" dirty="0"/>
              <a:t>[Animationsschritt 1 – Klick: die beiden Kästen mit der unterbrochenen Linie erscheinen.] Auf der einen Seite steht die rechtliche Pflicht aus der Maschinenverordnung, auf der anderen Seite das konkrete Testergebnis am realen Gerät.</a:t>
            </a:r>
          </a:p>
          <a:p>
            <a:r>
              <a:rPr lang="de-DE" dirty="0"/>
              <a:t>[Animationsschritt 2 – Klick: das orange Fragezeichen erscheint.] Zwischen beiden fehlt ein etabliertes Verfahren. Die Verordnung formuliert Schutzziele, aber sie sagt nicht, wie man am Gateway nachweist, dass diese Ziele erreicht sind. Normen wie die IEC 62443 liefern Anforderungen, jedoch keine fertige Prüfvorschrift für ein einzelnes Produkt.</a:t>
            </a:r>
          </a:p>
          <a:p>
            <a:r>
              <a:rPr lang="de-DE" dirty="0"/>
              <a:t>[Animationsschritt 3 – Klick: die drei Forschungsfragen-Kacheln erscheinen gemeinsam.] Daraus leiten sich meine drei Forschungsfragen ab. Erstens: Wie lässt sich die rechtliche Pflicht in eine prüfbare Anforderung überführen? Zweitens: Welche im Unternehmen bereits vorhandenen Testverfahren sind dafür anwendbar? Und drittens: Was lässt sich mit direktem Zugriff auf das Gerät tatsächlich verifizieren – und wo stößt dieser Ansatz an seine Grenzen?</a:t>
            </a:r>
          </a:p>
          <a:p>
            <a:r>
              <a:rPr lang="de-DE" dirty="0"/>
              <a:t>Das Ziel ist eine systematische und rückverfolgbare Testmethodik, die genau diese Brücke schlägt.</a:t>
            </a:r>
          </a:p>
        </p:txBody>
      </p:sp>
      <p:sp>
        <p:nvSpPr>
          <p:cNvPr id="4" name="Slide Number Placeholder 3"/>
          <p:cNvSpPr>
            <a:spLocks noGrp="1"/>
          </p:cNvSpPr>
          <p:nvPr>
            <p:ph type="sldNum" sz="quarter" idx="5"/>
          </p:nvPr>
        </p:nvSpPr>
        <p:spPr/>
        <p:txBody>
          <a:bodyPr/>
          <a:lstStyle/>
          <a:p>
            <a:fld id="{C4CB6471-ACEC-47CF-B768-419C0458B309}" type="slidenum">
              <a:rPr lang="en-US" smtClean="0"/>
              <a:t>5</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Bevor wir über Tests sprechen, müssen wir klären, was eigentlich geschützt werden soll.</a:t>
            </a:r>
          </a:p>
          <a:p>
            <a:r>
              <a:rPr lang="de-DE" dirty="0"/>
              <a:t>[Animationsschritt 1 – Klick: der IT-Stapel erscheint.] In der klassischen Informationssicherheit gilt die Reihenfolge CIA: Vertraulichkeit zuerst, dann Integrität, dann Verfügbarkeit. Daten dürfen vor allem nicht in falsche Hände geraten.</a:t>
            </a:r>
          </a:p>
          <a:p>
            <a:r>
              <a:rPr lang="de-DE" dirty="0"/>
              <a:t>[Animationsschritt 2 – Klick: der OT-Stapel und der orange Pfeil erscheinen.] In der Operational Technology kehrt sich diese Priorität um, man spricht deshalb von AIC. Verfügbarkeit steht an erster Stelle, denn ein ungeplanter Anlagenstillstand ist der teuerste und oft auch der gefährlichste Zustand. Erst danach folgen Integrität und Vertraulichkeit.</a:t>
            </a:r>
          </a:p>
          <a:p>
            <a:r>
              <a:rPr lang="de-DE" dirty="0"/>
              <a:t>[Animationsschritt 3 – Klick: die drei Ergänzungskacheln erscheinen gemeinsam.] Für meine Arbeit reichen diese drei Ziele jedoch nicht aus. Anhang III der Maschinenverordnung verlangt Nachweise darüber, wer eine sicherheitsrelevante Handlung ausgelöst hat. Deshalb kommen drei weitere Ziele hinzu: Authentizität, also die Frage, ob ein Absender wirklich der ist, der er vorgibt zu sein; Nichtabstreitbarkeit, also dass eine Handlung nachträglich nicht geleugnet werden kann; und Zurechenbarkeit, also die eindeutige Zuordnung einer Handlung zu einem Benutzer.</a:t>
            </a:r>
          </a:p>
          <a:p>
            <a:r>
              <a:rPr lang="de-DE" dirty="0"/>
              <a:t>Diese sechs Ziele bilden die Messlatte für alles, was später geprüft wird.</a:t>
            </a:r>
          </a:p>
        </p:txBody>
      </p:sp>
      <p:sp>
        <p:nvSpPr>
          <p:cNvPr id="4" name="Slide Number Placeholder 3"/>
          <p:cNvSpPr>
            <a:spLocks noGrp="1"/>
          </p:cNvSpPr>
          <p:nvPr>
            <p:ph type="sldNum" sz="quarter" idx="5"/>
          </p:nvPr>
        </p:nvSpPr>
        <p:spPr/>
        <p:txBody>
          <a:bodyPr/>
          <a:lstStyle/>
          <a:p>
            <a:fld id="{C4CB6471-ACEC-47CF-B768-419C0458B309}" type="slidenum">
              <a:rPr lang="en-US" smtClean="0"/>
              <a:t>6</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Aus den Schutzzielen lassen sich die Bedrohungen direkt ableiten. Genau das leistet das STRIDE-Modell.</a:t>
            </a:r>
          </a:p>
          <a:p>
            <a:r>
              <a:rPr lang="de-DE" dirty="0"/>
              <a:t>[Animationsschritt 1 – Klick: alle sechs Zeilen erscheinen gemeinsam.] Jede STRIDE-Kategorie ist nichts anderes als ein negiertes Schutzziel. Spoofing verletzt die Authentizität, Tampering die Integrität, Repudiation die Nichtabstreitbarkeit, Information Disclosure die Vertraulichkeit, Denial of Service die Verfügbarkeit und Elevation of Privilege die Autorisierung.</a:t>
            </a:r>
          </a:p>
          <a:p>
            <a:r>
              <a:rPr lang="de-DE" dirty="0"/>
              <a:t>Der praktische Wert liegt in der Systematik: Ich muss mir keine Angriffe ausdenken, sondern gehe die Kategorien strukturiert durch und frage für jede Schnittstelle des Gateways, ob sie betroffen ist. Damit wird die Bedrohungsanalyse nachvollziehbar und vollständig statt intuitiv.</a:t>
            </a:r>
          </a:p>
          <a:p>
            <a:r>
              <a:rPr lang="de-DE" dirty="0"/>
              <a:t>[Animationsschritt 2 – Klick: die orange Hinterlegung der Zeilen R und D erscheint.] Zwei Kategorien möchte ich schon jetzt hervorheben: Repudiation und Denial of Service. Sie sind für ein Gateway besonders kritisch, weil Protokollierung und Verfügbarkeit hier unmittelbar sicherheitsrelevant sind – und genau diese beiden Kategorien führen später im Ergebnisteil zu den einzigen Fail-Verdikten.</a:t>
            </a:r>
          </a:p>
        </p:txBody>
      </p:sp>
      <p:sp>
        <p:nvSpPr>
          <p:cNvPr id="4" name="Slide Number Placeholder 3"/>
          <p:cNvSpPr>
            <a:spLocks noGrp="1"/>
          </p:cNvSpPr>
          <p:nvPr>
            <p:ph type="sldNum" sz="quarter" idx="5"/>
          </p:nvPr>
        </p:nvSpPr>
        <p:spPr/>
        <p:txBody>
          <a:bodyPr/>
          <a:lstStyle/>
          <a:p>
            <a:fld id="{C4CB6471-ACEC-47CF-B768-419C0458B309}" type="slidenum">
              <a:rPr lang="en-US" smtClean="0"/>
              <a:t>7</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Damit stellt sich die zentrale methodische Frage: Wie komme ich von einer Rechtspflicht zu einer konkreten Prüfvorschrift? Der Weg führt über einen Trichter.</a:t>
            </a:r>
          </a:p>
          <a:p>
            <a:r>
              <a:rPr lang="de-DE" dirty="0"/>
              <a:t>[Animationsschritt 1 – Klick: das oberste Band erscheint.] Ganz oben steht die Pflicht: die Verordnung (EU) 2023/1230 mit Anhang III, Abschnitte 1.1.9 und 1.2.1. Sie formuliert das Ziel, aber keine technische Anforderung.</a:t>
            </a:r>
          </a:p>
          <a:p>
            <a:r>
              <a:rPr lang="de-DE" dirty="0"/>
              <a:t>[Animationsschritt 2 – Klick: das mittlere Band mit den beiden Abzweig-Labels erscheint.] Konkretisiert wird sie durch die prEN 50742. Diese Norm unterscheidet zwei Wege: Approach A für Maschinen als Ganzes und Approach B für Netzwerkkomponenten. Da mein Prüfobjekt ein Gateway und damit eine Netzwerkkomponente ist, ist Approach B der richtige Weg.</a:t>
            </a:r>
          </a:p>
          <a:p>
            <a:r>
              <a:rPr lang="de-DE" dirty="0"/>
              <a:t>[Animationsschritt 3 – Klick: das unterste orange Band erscheint.] Approach B verweist auf die IEC 62443-4-2 mit ihren Component Requirements. Hier steht erstmals konkret, was die Komponente technisch können muss.</a:t>
            </a:r>
          </a:p>
          <a:p>
            <a:r>
              <a:rPr lang="de-DE" dirty="0"/>
              <a:t>[Animationsschritt 4 – Klick: der SVV-Kasten mit seinen drei Pfeilen erscheint.] Quer über alle Ebenen liegt die IEC 62443-4-1 mit der Practice Security Verification and Validation Testing. Sie beantwortet nicht, was geprüft wird, sondern wie geprüft und dokumentiert werden muss. Erst beides zusammen ergibt eine belastbare Prüfvorschrift.</a:t>
            </a:r>
          </a:p>
        </p:txBody>
      </p:sp>
      <p:sp>
        <p:nvSpPr>
          <p:cNvPr id="4" name="Slide Number Placeholder 3"/>
          <p:cNvSpPr>
            <a:spLocks noGrp="1"/>
          </p:cNvSpPr>
          <p:nvPr>
            <p:ph type="sldNum" sz="quarter" idx="5"/>
          </p:nvPr>
        </p:nvSpPr>
        <p:spPr/>
        <p:txBody>
          <a:bodyPr/>
          <a:lstStyle/>
          <a:p>
            <a:fld id="{C4CB6471-ACEC-47CF-B768-419C0458B309}" type="slidenum">
              <a:rPr lang="en-US" smtClean="0"/>
              <a:t>8</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Damit komme ich zum methodischen Kern der Arbeit: der Ableitungskette. Die beiden grauen Kacheln unten halten zwei Randbedingungen fest, die durchgehend gelten: Ich bewerte auf Basis von Security Level SL-C 1, also einem pragmatischen Minimum ohne vollständige Risikobeurteilung, und die rechtliche Pflicht trifft formal die Maschine, wird aber an die Komponente vererbt.</a:t>
            </a:r>
          </a:p>
          <a:p>
            <a:r>
              <a:rPr lang="de-DE" dirty="0"/>
              <a:t>[Animationsschritt 1 – Klick: Station 1 erscheint.] Startpunkt ist der Rechtstext: Anhang III mit den Abschnitten 1.1.9 und 1.2.1.</a:t>
            </a:r>
          </a:p>
          <a:p>
            <a:r>
              <a:rPr lang="de-DE" dirty="0"/>
              <a:t>[Animationsschritt 2 – Klick: Pfeil und Station 2 erscheinen.] Über die prEN 50742 und den für Netzwerkkomponenten zutreffenden Approach B wird daraus eine normative Konkretisierung.</a:t>
            </a:r>
          </a:p>
          <a:p>
            <a:r>
              <a:rPr lang="de-DE" dirty="0"/>
              <a:t>[Animationsschritt 3 – Klick: Pfeil und Station 3 erscheinen.] Diese verweist auf die Component Requirements der IEC 62443-4-2, also auf konkrete technische Fähigkeiten der Komponente.</a:t>
            </a:r>
          </a:p>
          <a:p>
            <a:r>
              <a:rPr lang="de-DE" dirty="0"/>
              <a:t>[Animationsschritt 4 – Klick: Pfeil und die orange Station 4 erscheinen.] Das Ergebnis dieser Kette sind vierzehn Anforderungen, die ich mit RQ-001 bis RQ-014 durchnummeriert habe. Sie sind der Übergangspunkt von der Rechtsebene zur Testebene, denn erst auf Komponentenebene lässt sich ein Testfall formulieren, der tatsächlich prüfbar ist.</a:t>
            </a:r>
          </a:p>
        </p:txBody>
      </p:sp>
      <p:sp>
        <p:nvSpPr>
          <p:cNvPr id="4" name="Slide Number Placeholder 3"/>
          <p:cNvSpPr>
            <a:spLocks noGrp="1"/>
          </p:cNvSpPr>
          <p:nvPr>
            <p:ph type="sldNum" sz="quarter" idx="5"/>
          </p:nvPr>
        </p:nvSpPr>
        <p:spPr/>
        <p:txBody>
          <a:bodyPr/>
          <a:lstStyle/>
          <a:p>
            <a:fld id="{C4CB6471-ACEC-47CF-B768-419C0458B309}" type="slidenum">
              <a:rPr lang="en-US" smtClean="0"/>
              <a:t>9</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Wie diese Ableitung konkret aussieht, zeige ich exemplarisch an RQ-003. Links sehen Sie die Kette der vorigen Folie in klein, damit Sie jederzeit wissen, wo wir uns befinden.</a:t>
            </a:r>
          </a:p>
          <a:p>
            <a:r>
              <a:rPr lang="de-DE" dirty="0"/>
              <a:t>[Animationsschritt 1 – Klick: Stufe 1 erscheint.] Ausgangspunkt ist Anhang III, Abschnitt 1.1.9. Dort wird verlangt, dass Nachweise über Eingriffe in sicherheitsrelevante Funktionen gesammelt werden.</a:t>
            </a:r>
          </a:p>
          <a:p>
            <a:r>
              <a:rPr lang="de-DE" dirty="0"/>
              <a:t>[Animationsschritt 2 – Klick: Abwärtspfeil und Stufe 2 erscheinen.] Daraus habe ich die Anforderung RQ-003 formuliert, die das Schutzziel Zurechenbarkeit adressiert: Es muss erkennbar sein, dass etwas geschehen ist, und wem es zuzuordnen ist.</a:t>
            </a:r>
          </a:p>
          <a:p>
            <a:r>
              <a:rPr lang="de-DE" dirty="0"/>
              <a:t>[Animationsschritt 3 – Klick: Abwärtspfeil und Stufe 3 erscheinen.] Die prEN 50742 konkretisiert das in Richtung Evidenz, Protokollierung und Schutz vor physischer Manipulation.</a:t>
            </a:r>
          </a:p>
          <a:p>
            <a:r>
              <a:rPr lang="de-DE" dirty="0"/>
              <a:t>[Animationsschritt 4 – Klick: Abwärtspfeil und die orange Stufe 4 mit den drei Chips erscheinen.] Am Ende stehen drei konkrete Component Requirements: CR 2.8 zur Aufzeichnung von Ereignissen, CR 2.12 zur Nichtabstreitbarkeit und EDR 3.11 zur Rückfallebene. Genau dieses Vorgehen habe ich für alle vierzehn Anforderungen durchgeführt; die vollständige Dokumentation finden Sie in Anhang B der Arbeit.</a:t>
            </a:r>
          </a:p>
        </p:txBody>
      </p:sp>
      <p:sp>
        <p:nvSpPr>
          <p:cNvPr id="4" name="Slide Number Placeholder 3"/>
          <p:cNvSpPr>
            <a:spLocks noGrp="1"/>
          </p:cNvSpPr>
          <p:nvPr>
            <p:ph type="sldNum" sz="quarter" idx="5"/>
          </p:nvPr>
        </p:nvSpPr>
        <p:spPr/>
        <p:txBody>
          <a:bodyPr/>
          <a:lstStyle/>
          <a:p>
            <a:fld id="{C4CB6471-ACEC-47CF-B768-419C0458B309}" type="slidenum">
              <a:rPr lang="en-US" smtClean="0"/>
              <a:t>10</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Damit die Ableitung auch nachweisbar bleibt, habe ich eine durchgehende Traceability-Kette aus neun Gliedern definiert.</a:t>
            </a:r>
          </a:p>
          <a:p>
            <a:r>
              <a:rPr lang="de-DE" dirty="0"/>
              <a:t>[Animationsschritt 1 – Klick: die obere Zeile „Analyse“ erscheint.] Der analytische Teil umfasst vier Glieder: das Requirement, das betroffene Asset, die zugehörige Bedrohung nach STRIDE und die Sicherheitsfunktion, die dieser Bedrohung entgegenwirkt.</a:t>
            </a:r>
          </a:p>
          <a:p>
            <a:r>
              <a:rPr lang="de-DE" dirty="0"/>
              <a:t>[Animationsschritt 2 – Klick: die untere Zeile „Durchführung“ erscheint.] Der praktische Teil umfasst fünf Glieder: das Testziel, die gewählte Testtechnik, die Art des Zugriffs auf das Gerät, die erzeugte Evidenz und schließlich das Ergebnis, also das Verdikt.</a:t>
            </a:r>
          </a:p>
          <a:p>
            <a:r>
              <a:rPr lang="de-DE" dirty="0"/>
              <a:t>[Animationsschritt 3 – Klick: das Glied „Asset“ wird orange hervorgehoben und die Sprechblase erscheint.] Ein Begriff verdient besondere Aufmerksamkeit: das Asset. Ich verstehe darunter jedes Objekt, Artefakt oder Datum mit Wert – also etwa die Firmware, ein Zertifikat, eine Konfigurationsdatei oder auch ein Protokoll. Die Wahl des Assets entscheidet darüber, was überhaupt geprüft wird.</a:t>
            </a:r>
          </a:p>
          <a:p>
            <a:r>
              <a:rPr lang="de-DE" dirty="0"/>
              <a:t>Der Grundsatz der Kette lautet: Kein Test ohne zugrunde liegende Anforderung und kein Verdikt ohne gespeicherte Evidenz. Damit ist jedes Ergebnis bis zum Rechtstext zurückverfolgbar.</a:t>
            </a:r>
          </a:p>
        </p:txBody>
      </p:sp>
      <p:sp>
        <p:nvSpPr>
          <p:cNvPr id="4" name="Slide Number Placeholder 3"/>
          <p:cNvSpPr>
            <a:spLocks noGrp="1"/>
          </p:cNvSpPr>
          <p:nvPr>
            <p:ph type="sldNum" sz="quarter" idx="5"/>
          </p:nvPr>
        </p:nvSpPr>
        <p:spPr/>
        <p:txBody>
          <a:bodyPr/>
          <a:lstStyle/>
          <a:p>
            <a:fld id="{C4CB6471-ACEC-47CF-B768-419C0458B309}" type="slidenum">
              <a:rPr lang="en-US" smtClean="0"/>
              <a:t>11</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Die zweite Forschungsfrage lautete: Welche bereits vorhandenen Firmentests sind überhaupt anwendbar?</a:t>
            </a:r>
          </a:p>
          <a:p>
            <a:r>
              <a:rPr lang="de-DE" dirty="0"/>
              <a:t>[Animationsschritt 1 – Klick: die anthrazitfarbene Kachel mit der Zahl 10 und die vier Pfeile erscheinen.] Ausgangspunkt waren zehn im Unternehmen etablierte Prüfanweisungen, CM-001 bis CM-010. Für jede habe ich systematisch geprüft, ob sie sich auf das Gateway anwenden lässt.</a:t>
            </a:r>
          </a:p>
          <a:p>
            <a:r>
              <a:rPr lang="de-DE" dirty="0"/>
              <a:t>[Animationsschritt 2 – Klick: die Quadranten 1 und 2 erscheinen gemeinsam.] Im günstigsten Fall ist eine Prüfanweisung unverändert anwendbar, weil die vorausgesetzte Schnittstelle am Prüfling vorhanden ist. Im zweiten Fall ist sie mit Anpassung anwendbar, etwa weil eine verwandte Schnittstelle existiert und der Test entsprechend übertragen werden kann.</a:t>
            </a:r>
          </a:p>
          <a:p>
            <a:r>
              <a:rPr lang="de-DE" dirty="0"/>
              <a:t>[Animationsschritt 3 – Klick: die Quadranten 3 und 4 erscheinen gemeinsam.] Im dritten Fall ist die Prüfanweisung nicht anwendbar, weil die vorausgesetzte Schnittstelle am Gerät schlicht fehlt. Im vierten Fall ist sie blockiert, etwa durch Restriktionen der Testumgebung.</a:t>
            </a:r>
          </a:p>
          <a:p>
            <a:r>
              <a:rPr lang="de-DE" dirty="0"/>
              <a:t>Wichtig ist die Abgrenzung, die ich bewusst orange hervorgehoben habe: Nicht anwendbar ist kein Fail. Bewertet wird, ob die vorausgesetzte Schnittstelle existiert, nicht ob das Werkzeug seinen Zweck erfüllt. Diese Unterscheidung verhindert, dass ein fehlender Testpfad fälschlich als Sicherheitsmangel erscheint.</a:t>
            </a:r>
          </a:p>
        </p:txBody>
      </p:sp>
      <p:sp>
        <p:nvSpPr>
          <p:cNvPr id="4" name="Slide Number Placeholder 3"/>
          <p:cNvSpPr>
            <a:spLocks noGrp="1"/>
          </p:cNvSpPr>
          <p:nvPr>
            <p:ph type="sldNum" sz="quarter" idx="5"/>
          </p:nvPr>
        </p:nvSpPr>
        <p:spPr/>
        <p:txBody>
          <a:bodyPr/>
          <a:lstStyle/>
          <a:p>
            <a:fld id="{C4CB6471-ACEC-47CF-B768-419C0458B309}" type="slidenum">
              <a:rPr lang="en-US" smtClean="0"/>
              <a:t>12</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Damit komme ich zu einer Unterscheidung, die für die Ergebnisinterpretation entscheidend ist: Ausführungsstatus und Verdikt sind nicht dasselbe. Die senkrechte Linie in der Mitte trennt die beiden Ebenen.</a:t>
            </a:r>
          </a:p>
          <a:p>
            <a:r>
              <a:rPr lang="de-DE" dirty="0"/>
              <a:t>[Animationsschritt 1 – Klick: die linke Spalte mit ihren vier Chips erscheint.] Links steht der Ausführungsstatus je Testfall. Ein Testfall kann ausgeführt worden sein, er kann nicht anwendbar sein, er kann blockiert sein, oder er ist zwar gelaufen, hat aber keine verwertbare Evidenz hinterlassen – das ist der Status Unevidenced.</a:t>
            </a:r>
          </a:p>
          <a:p>
            <a:r>
              <a:rPr lang="de-DE" dirty="0"/>
              <a:t>[Animationsschritt 2 – Klick: der Aggregations-Pfeil erscheint.] Aus diesen Einzelstatus wird je Anforderung ein Verdikt aggregiert.</a:t>
            </a:r>
          </a:p>
          <a:p>
            <a:r>
              <a:rPr lang="de-DE" dirty="0"/>
              <a:t>[Animationsschritt 3 – Klick: die rechte Spalte mit ihren drei Chips erscheint.] Rechts stehen die drei möglichen Verdikte: Pass, Fail und Not Assessed. Die Aggregationsregeln sind bewusst konservativ: Ein einziges Fail dominiert das gesamte Verdikt. Pass wird nur vergeben, wenn alle zugehörigen Testfälle ausgeführt und belegt sind. Und eine unvollständige Abdeckung wird niemals als Pass berichtet, sondern als Not Assessed. Damit ist ausgeschlossen, dass Lücken in der Prüfung als Sicherheit erscheinen.</a:t>
            </a:r>
          </a:p>
        </p:txBody>
      </p:sp>
      <p:sp>
        <p:nvSpPr>
          <p:cNvPr id="4" name="Slide Number Placeholder 3"/>
          <p:cNvSpPr>
            <a:spLocks noGrp="1"/>
          </p:cNvSpPr>
          <p:nvPr>
            <p:ph type="sldNum" sz="quarter" idx="5"/>
          </p:nvPr>
        </p:nvSpPr>
        <p:spPr/>
        <p:txBody>
          <a:bodyPr/>
          <a:lstStyle/>
          <a:p>
            <a:fld id="{C4CB6471-ACEC-47CF-B768-419C0458B309}" type="slidenum">
              <a:rPr lang="en-US" smtClean="0"/>
              <a:t>13</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Die dritte Forschungsfrage betrifft den Messpunkt, also die Frage, wo das Testsystem im Netz angeschlossen ist. Alle drei Varianten teilen denselben Grundaufbau: SPS und Prüfling hängen an einem Industrial Switch.</a:t>
            </a:r>
          </a:p>
          <a:p>
            <a:r>
              <a:rPr lang="de-DE" dirty="0"/>
              <a:t>[Animationsschritt 1 – Klick: NV1 mit seinem Statusband erscheint.] NV1 ist der Direktzugriff: Das Testsystem hängt als weiterer Teilnehmer am Switch und kommuniziert direkt mit dem Prüfling. Diese Variante habe ich im Rahmen der Arbeit realisiert; sie erlaubt aktive Tests gegen die Dienste des Geräts.</a:t>
            </a:r>
          </a:p>
          <a:p>
            <a:r>
              <a:rPr lang="de-DE" dirty="0"/>
              <a:t>[Animationsschritt 2 – Klick: NV2 mit seinem Statusband erscheint.] NV2 ist die passive Beobachtung über einen Mirror-Port. Sie würde erlauben, den realen Verkehr zwischen SPS und Prüfling mitzuschneiden, ohne ihn zu beeinflussen. Diese Variante ist spezifiziert, aber im Rahmen der Arbeit nicht umgesetzt worden.</a:t>
            </a:r>
          </a:p>
          <a:p>
            <a:r>
              <a:rPr lang="de-DE" dirty="0"/>
              <a:t>[Animationsschritt 3 – Klick: NV3 mit seinem Statusband erscheint.] NV3 ist die In-Path-Manipulation: Das Testsystem sitzt inline zwischen Switch und Prüfling, die direkte Verbindung ist aufgetrennt. Damit ließen sich Manipulationen am Datenstrom nachweisen. Auch diese Variante ist spezifiziert, aber nicht umgesetzt.</a:t>
            </a:r>
          </a:p>
          <a:p>
            <a:r>
              <a:rPr lang="de-DE" dirty="0"/>
              <a:t>Der Messpunkt ist kein Detail der Verkabelung, sondern bestimmt, welcher Nachweis überhaupt erbringbar ist – das erklärt später einen Teil der Not-Assessed-Verdikte.</a:t>
            </a:r>
          </a:p>
        </p:txBody>
      </p:sp>
      <p:sp>
        <p:nvSpPr>
          <p:cNvPr id="4" name="Slide Number Placeholder 3"/>
          <p:cNvSpPr>
            <a:spLocks noGrp="1"/>
          </p:cNvSpPr>
          <p:nvPr>
            <p:ph type="sldNum" sz="quarter" idx="5"/>
          </p:nvPr>
        </p:nvSpPr>
        <p:spPr/>
        <p:txBody>
          <a:bodyPr/>
          <a:lstStyle/>
          <a:p>
            <a:fld id="{C4CB6471-ACEC-47CF-B768-419C0458B309}" type="slidenum">
              <a:rPr lang="en-US" smtClean="0"/>
              <a:t>14</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Für die praktische Demonstration habe ich einen Prüfstand in einer isolierten Laborumgebung aufgebaut.</a:t>
            </a:r>
          </a:p>
          <a:p>
            <a:r>
              <a:rPr lang="de-DE" dirty="0"/>
              <a:t>[Animationsschritt 1 – Klick: Switch und die vier Knoten mit ihren Verbindungslinien erscheinen.] Im Zentrum steht ein Industrial Switch mit der Adresse 192.168.0.91. Daran hängen vier Teilnehmer: die Safety-Steuerung mit der 192.168.0.1, der Prüfling SRIO mit der 192.168.0.2, das Testsystem auf Basis von Kali Linux mit der 192.168.0.80 und der Firmenlaptop als Engineering-Station mit der 192.168.0.7. Der Prüfling ist orange hervorgehoben, weil er das Prüfobjekt ist.</a:t>
            </a:r>
          </a:p>
          <a:p>
            <a:r>
              <a:rPr lang="de-DE" dirty="0"/>
              <a:t>[Animationsschritt 2 – Klick: die Infospalte mit den offenen Ports erscheint.] Ein erster Scan zeigte genau zwei offene Ports: TCP 80 für HTTP und UDP 161 für SNMP. Alles andere war geschlossen. Diese schmale Angriffsfläche bestimmt maßgeblich, welche Tests überhaupt greifen können.</a:t>
            </a:r>
          </a:p>
          <a:p>
            <a:r>
              <a:rPr lang="de-DE" dirty="0"/>
              <a:t>[Animationsschritt 3 – Klick: die drei Statuschips NV1 bis NV3 erscheinen.] Von den drei spezifizierten Messpunkten konnte ich nur NV1 realisieren. NV2 scheiterte am fehlenden Mirror-Port des verfügbaren Switches, NV3 am Zeitbudget der Arbeit.</a:t>
            </a:r>
          </a:p>
          <a:p>
            <a:r>
              <a:rPr lang="de-DE" dirty="0"/>
              <a:t>Wichtig für die Einordnung: Der Aufbau ist bewusst einfach gehalten – ein Switch, ein Adressbereich, keine Segmentierung. Das entspricht nicht einer produktiven Anlage, macht die Ergebnisse aber reproduzierbar.</a:t>
            </a:r>
          </a:p>
        </p:txBody>
      </p:sp>
      <p:sp>
        <p:nvSpPr>
          <p:cNvPr id="4" name="Slide Number Placeholder 3"/>
          <p:cNvSpPr>
            <a:spLocks noGrp="1"/>
          </p:cNvSpPr>
          <p:nvPr>
            <p:ph type="sldNum" sz="quarter" idx="5"/>
          </p:nvPr>
        </p:nvSpPr>
        <p:spPr/>
        <p:txBody>
          <a:bodyPr/>
          <a:lstStyle/>
          <a:p>
            <a:fld id="{C4CB6471-ACEC-47CF-B768-419C0458B309}" type="slidenum">
              <a:rPr lang="en-US" smtClean="0"/>
              <a:t>15</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Zunächst zum Ergebnis der Anwendbarkeitsprüfung der zehn Firmenwerkzeuge.</a:t>
            </a:r>
          </a:p>
          <a:p>
            <a:r>
              <a:rPr lang="de-DE" dirty="0"/>
              <a:t>[Animationsschritt 1 – Klick: die vier Kennzahlen erscheinen gemeinsam.] Vier Prüfanweisungen waren unverändert anwendbar, zwei mit Anpassung, drei nicht anwendbar und eine war blockiert. Die vier direkt anwendbaren Werkzeuge bilden den Kern der Durchführung.</a:t>
            </a:r>
          </a:p>
          <a:p>
            <a:r>
              <a:rPr lang="de-DE" dirty="0"/>
              <a:t>[Animationsschritt 2 – Klick: die drei Karten erscheinen gemeinsam.] Interessanter sind die drei nicht anwendbaren Fälle, weil sie zeigen, woran die Anwendbarkeit jeweils scheitert. Hydra benötigt einen Login-Endpunkt, den der Prüfling nicht anbietet. Lynis setzt eine Betriebssystem-Shell voraus, die auf dem Gerät nicht existiert. Und der Zonen-Scan setzt eine zweite Netzwerkzone voraus, die es im flachen Laboraufbau nicht gibt.</a:t>
            </a:r>
          </a:p>
          <a:p>
            <a:r>
              <a:rPr lang="de-DE" dirty="0"/>
              <a:t>Entscheidend ist: Alle drei Fälle wurden bereits vor der Ausführung erkannt, nämlich anhand der vorausgesetzten Schnittstelle. Damit wurde kein Testaufwand verschwendet, und vor allem entsteht daraus kein Fail-Verdikt, sondern der Status Not Applicable.</a:t>
            </a:r>
          </a:p>
        </p:txBody>
      </p:sp>
      <p:sp>
        <p:nvSpPr>
          <p:cNvPr id="4" name="Slide Number Placeholder 3"/>
          <p:cNvSpPr>
            <a:spLocks noGrp="1"/>
          </p:cNvSpPr>
          <p:nvPr>
            <p:ph type="sldNum" sz="quarter" idx="5"/>
          </p:nvPr>
        </p:nvSpPr>
        <p:spPr/>
        <p:txBody>
          <a:bodyPr/>
          <a:lstStyle/>
          <a:p>
            <a:fld id="{C4CB6471-ACEC-47CF-B768-419C0458B309}" type="slidenum">
              <a:rPr lang="en-US" smtClean="0"/>
              <a:t>16</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Der inhaltlich wichtigste Befund der Arbeit betrifft die Nachvollziehbarkeit von Ereignissen. Ich habe dazu die Log-Einträge des Prüflings über vier Zustände hinweg beobachtet.</a:t>
            </a:r>
          </a:p>
          <a:p>
            <a:r>
              <a:rPr lang="de-DE" dirty="0"/>
              <a:t>[Animationsschritt 1 – Klick: die erste Karte erscheint.] Baseline: System-Tick 20969, null relevante Einträge.</a:t>
            </a:r>
          </a:p>
          <a:p>
            <a:r>
              <a:rPr lang="de-DE" dirty="0"/>
              <a:t>[Animationsschritt 2 – Klick: die zweite Karte erscheint.] Nach dem ersten sicherheitsrelevanten Ereignis steht der Tick bei 68629, und es sind zwei Einträge vorhanden. Das Gerät protokolliert also grundsätzlich.</a:t>
            </a:r>
          </a:p>
          <a:p>
            <a:r>
              <a:rPr lang="de-DE" dirty="0"/>
              <a:t>[Animationsschritt 3 – Klick: die dritte Karte und automatisch der rote Rückwärtspfeil erscheinen.] Nach einem Kaltstart liegt der Tick wieder bei 20459 und die Einträge sind verschwunden. Der Tick-Rücksprung belegt: Der Zähler ist relativ zum Systemstart, und die Einträge liegen ausschließlich im flüchtigen Speicher.</a:t>
            </a:r>
          </a:p>
          <a:p>
            <a:r>
              <a:rPr lang="de-DE" dirty="0"/>
              <a:t>[Animationsschritt 4 – Klick: die vierte Karte, die Spalte „Was fehlt“ und der FAIL-Balken erscheinen.] Nach einem zweiten Ereignis entstehen erneut zwei Einträge – die Funktion arbeitet also, aber ohne Persistenz. Drei Dinge fehlen: ein dediziertes Tracing-Log, ein absoluter Zeitstempel und eine Akteursidentität. Damit sind RQ-003 und RQ-012 mit Fail zu bewerten.</a:t>
            </a:r>
          </a:p>
          <a:p>
            <a:r>
              <a:rPr lang="de-DE" dirty="0"/>
              <a:t>Zur Einordnung, und das ist mir wichtig: Das ist eine fehlende Komponentenfähigkeit. Es ist keine Aussage über die Konformität einer Maschine, denn ein Integrator kann diese Lücke auf Anlagenebene kompensieren, etwa durch externes Logging.</a:t>
            </a:r>
          </a:p>
        </p:txBody>
      </p:sp>
      <p:sp>
        <p:nvSpPr>
          <p:cNvPr id="4" name="Slide Number Placeholder 3"/>
          <p:cNvSpPr>
            <a:spLocks noGrp="1"/>
          </p:cNvSpPr>
          <p:nvPr>
            <p:ph type="sldNum" sz="quarter" idx="5"/>
          </p:nvPr>
        </p:nvSpPr>
        <p:spPr/>
        <p:txBody>
          <a:bodyPr/>
          <a:lstStyle/>
          <a:p>
            <a:fld id="{C4CB6471-ACEC-47CF-B768-419C0458B309}" type="slidenum">
              <a:rPr lang="en-US" smtClean="0"/>
              <a:t>17</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Der zweite wesentliche Befund betrifft die Verfügbarkeit, also das oberste Schutzziel in der OT.</a:t>
            </a:r>
          </a:p>
          <a:p>
            <a:r>
              <a:rPr lang="de-DE" dirty="0"/>
              <a:t>[Animationsschritt 1 – Klick: Slot 1 und Slot 2 erscheinen als belegt.] Der Webdienst des Prüflings hält offenbar nur eine sehr begrenzte Zahl paralleler Verbindungen. Mit zwei gehaltenen Verbindungen sind bereits beide verfügbaren Slots belegt.</a:t>
            </a:r>
          </a:p>
          <a:p>
            <a:r>
              <a:rPr lang="de-DE" dirty="0"/>
              <a:t>[Animationsschritt 2 – Klick: Slot 3 mit dem roten Timeout erscheint.] Ein dritter Verbindungsversuch läuft in einen Timeout. Sobald eine der gehaltenen Verbindungen freigegeben wird, antwortet das Gerät wieder mit HTTP 200 – der Effekt ist also eindeutig auf die Verbindungsslots zurückzuführen und trivial reproduzierbar.</a:t>
            </a:r>
          </a:p>
          <a:p>
            <a:r>
              <a:rPr lang="de-DE" dirty="0"/>
              <a:t>[Animationsschritt 3 – Klick: der Fuzzing-Streifen mit der Kennzahl erscheint.] Der zweite Test mit boofuzz bestätigt das Bild: Nach einundvierzig Sekunden Fuzzing war der Dienst nicht mehr erreichbar, und das Gerät zeigte einen Fehlerzustand an.</a:t>
            </a:r>
          </a:p>
          <a:p>
            <a:r>
              <a:rPr lang="de-DE" dirty="0"/>
              <a:t>[Animationsschritt 4 – Klick: der Balken „NOT ASSESSED“ erscheint.] Trotzdem lautet das Verdikt nicht Fail, sondern Not Assessed. Der Grund ist methodisch: Ob dieser Ausfall auf den Safety-Pfad zurückwirkt, ließe sich nur aus der Beobachtungsposition NV2 zeigen, und die Fehleranzeige des Geräts wurde nicht als Artefakt gesichert. Ohne diesen Nachweis wäre ein Fail-Verdikt nicht belegbar – und genau diese Disziplin verlangt die Methodik.</a:t>
            </a:r>
          </a:p>
        </p:txBody>
      </p:sp>
      <p:sp>
        <p:nvSpPr>
          <p:cNvPr id="4" name="Slide Number Placeholder 3"/>
          <p:cNvSpPr>
            <a:spLocks noGrp="1"/>
          </p:cNvSpPr>
          <p:nvPr>
            <p:ph type="sldNum" sz="quarter" idx="5"/>
          </p:nvPr>
        </p:nvSpPr>
        <p:spPr/>
        <p:txBody>
          <a:bodyPr/>
          <a:lstStyle/>
          <a:p>
            <a:fld id="{C4CB6471-ACEC-47CF-B768-419C0458B309}" type="slidenum">
              <a:rPr lang="en-US" smtClean="0"/>
              <a:t>18</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Fassen wir den Stand über alle vierzehn Anforderungen zusammen.</a:t>
            </a:r>
          </a:p>
          <a:p>
            <a:r>
              <a:rPr lang="de-DE" dirty="0"/>
              <a:t>[Animationsschritt 1 – Klick: die drei Kennzahlen erscheinen gemeinsam.] Zwei Anforderungen sind mit Fail bewertet, zwölf mit Not Assessed, keine einzige mit Pass. Dass kein Pass vergeben wurde, ist kein Zufall, sondern Folge der strengen Aggregationsregel: Pass setzt vollständige Abdeckung mit gesicherter Evidenz voraus.</a:t>
            </a:r>
          </a:p>
          <a:p>
            <a:r>
              <a:rPr lang="de-DE" dirty="0"/>
              <a:t>[Animationsschritt 2 – Klick: die erste Karte erscheint.] Die offenen Fälle zerfallen in zwei Gruppen. In der ersten Gruppe wurde das relevante Ereignis schlicht nie ausgelöst. Diese Tests sind im bestehenden Setup ohne Änderungen nachholbar.</a:t>
            </a:r>
          </a:p>
          <a:p>
            <a:r>
              <a:rPr lang="de-DE" dirty="0"/>
              <a:t>[Animationsschritt 3 – Klick: die zweite Karte erscheint.] In der zweiten Gruppe fehlt die Beobachtungsposition, also NV2 oder NV3. Hier muss zuerst die Topologie erweitert werden, etwa um einen Switch mit Mirror-Port.</a:t>
            </a:r>
          </a:p>
          <a:p>
            <a:r>
              <a:rPr lang="de-DE" dirty="0"/>
              <a:t>Die Kernbotschaft für Ihre Einordnung: Not Assessed bedeutet nicht, dass die Funktion fehlt oder das Gerät unsicher ist. Es ist eine Aussage über die Reichweite der durchgeführten Prüfung, nicht über die Qualität der Methodik.</a:t>
            </a:r>
          </a:p>
        </p:txBody>
      </p:sp>
      <p:sp>
        <p:nvSpPr>
          <p:cNvPr id="4" name="Slide Number Placeholder 3"/>
          <p:cNvSpPr>
            <a:spLocks noGrp="1"/>
          </p:cNvSpPr>
          <p:nvPr>
            <p:ph type="sldNum" sz="quarter" idx="5"/>
          </p:nvPr>
        </p:nvSpPr>
        <p:spPr/>
        <p:txBody>
          <a:bodyPr/>
          <a:lstStyle/>
          <a:p>
            <a:fld id="{C4CB6471-ACEC-47CF-B768-419C0458B309}" type="slidenum">
              <a:rPr lang="en-US" smtClean="0"/>
              <a:t>19</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Damit komme ich zum Fazit und beantworte die drei Forschungsfragen in der Reihenfolge, in der ich sie zu Beginn gestellt habe.</a:t>
            </a:r>
          </a:p>
          <a:p>
            <a:r>
              <a:rPr lang="de-DE" dirty="0"/>
              <a:t>[KLICK 1] Die erste Frage war, wie sich die Security-Anforderungen der Maschinenverordnung in prüfbare Anforderungen überführen lassen. Der Weg führt über die Schutzziele Verfügbarkeit, Integrität und Vertraulichkeit, über die daraus negierten Bedrohungen und schließlich über messbare Akzeptanzkriterien. Jede der vierzehn Anforderungen ist auf diese Weise lückenlos aus dem Rechtstext hergeleitet.</a:t>
            </a:r>
          </a:p>
          <a:p>
            <a:r>
              <a:rPr lang="de-DE" dirty="0"/>
              <a:t>[KLICK 2] Die zweite Frage betraf die vorhandenen Firmentests. Von zehn untersuchten Werkzeugen liefern vier belastbare Nachweise im Sinne der Anforderungen. Die übrigen sechs prüfen zwar sinnvolle Eigenschaften, erzeugen aber kein Ergebnis, das als Konformitätsnachweis taugt.</a:t>
            </a:r>
          </a:p>
          <a:p>
            <a:r>
              <a:rPr lang="de-DE" dirty="0"/>
              <a:t>[KLICK 3] Die dritte Frage war die nach der Belastbarkeit am realen Gateway. Der Nachweis ist nur dann lückenlos, wenn die Messpunkte vorab definiert sind und jedes Ergebnis über die Traceability-Kette bis zur Rechtsgrundlage zurückverfolgt werden kann. Ohne diese beiden Bedingungen bleibt jede Messung eine Momentaufnahme.</a:t>
            </a:r>
          </a:p>
        </p:txBody>
      </p:sp>
      <p:sp>
        <p:nvSpPr>
          <p:cNvPr id="4" name="Slide Number Placeholder 3"/>
          <p:cNvSpPr>
            <a:spLocks noGrp="1"/>
          </p:cNvSpPr>
          <p:nvPr>
            <p:ph type="sldNum" sz="quarter" idx="5"/>
          </p:nvPr>
        </p:nvSpPr>
        <p:spPr/>
        <p:txBody>
          <a:bodyPr/>
          <a:lstStyle/>
          <a:p>
            <a:fld id="{C4CB6471-ACEC-47CF-B768-419C0458B309}" type="slidenum">
              <a:rPr lang="en-US" smtClean="0"/>
              <a:t>20</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Eine Erkenntnis möchte ich besonders hervorheben, weil sie in der Praxis regelmäßig zu Missverständnissen führt: der sichere Zustand ist nicht gleichbedeutend mit Security.</a:t>
            </a:r>
          </a:p>
          <a:p>
            <a:r>
              <a:rPr lang="de-DE" dirty="0"/>
              <a:t>[KLICK 1] Die Functional Safety betrachtet den sicheren Zustand bei Fehlfunktion. Ihr Modell sind zufällige Ausfälle, ihre Normenwelt ist die IEC 61508 mit ihren Sektornormen. Ein Gerät, das bei einem Fehler zuverlässig abschaltet, ist in diesem Sinne sicher.</a:t>
            </a:r>
          </a:p>
          <a:p>
            <a:r>
              <a:rPr lang="de-DE" dirty="0"/>
              <a:t>[KLICK 2] Die Cybersecurity betrachtet dagegen den Schutz vor gezielter Manipulation. Ihr Modell ist der Angreifer, der bewusst und gerichtet vorgeht, ihre Normenwelt ist die IEC 62443. Ein Angreifer wird den sicheren Zustand gegebenenfalls sogar absichtlich auslösen, um die Anlage stillzulegen.</a:t>
            </a:r>
          </a:p>
          <a:p>
            <a:r>
              <a:rPr lang="de-DE" dirty="0"/>
              <a:t>[KLICK 3] Deshalb gilt dieses Gleichheitszeichen ausdrücklich nicht. Ein sicherer Zustand kann selbst das Ziel eines Angriffs sein. Beide Eigenschaften sind voneinander trennbar und müssen unabhängig voneinander verifiziert werden – ein bestandener Safety-Nachweis sagt über die Security nichts aus.</a:t>
            </a:r>
          </a:p>
        </p:txBody>
      </p:sp>
      <p:sp>
        <p:nvSpPr>
          <p:cNvPr id="4" name="Slide Number Placeholder 3"/>
          <p:cNvSpPr>
            <a:spLocks noGrp="1"/>
          </p:cNvSpPr>
          <p:nvPr>
            <p:ph type="sldNum" sz="quarter" idx="5"/>
          </p:nvPr>
        </p:nvSpPr>
        <p:spPr/>
        <p:txBody>
          <a:bodyPr/>
          <a:lstStyle/>
          <a:p>
            <a:fld id="{C4CB6471-ACEC-47CF-B768-419C0458B309}" type="slidenum">
              <a:rPr lang="en-US" smtClean="0"/>
              <a:t>21</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Aus der Arbeit ergibt sich ein klarer Ausblick, den ich in kurzfristige und mittelfristige Schritte gliedere. Der Zeitstrahl läuft von links nach rechts.</a:t>
            </a:r>
          </a:p>
          <a:p>
            <a:r>
              <a:rPr lang="de-DE" dirty="0"/>
              <a:t>[KLICK 1] Kurzfristig steht zweierlei an. Erstens die Automatisierung der Messpunkte: die Erfassung an den drei Netzwerkpunkten sollte fest in die Testumgebung integriert werden, statt manuell aufgesetzt zu werden. Zweitens die werkzeuggestützte Führung der Traceability-Kette, damit die Verknüpfung von Rechtsgrundlage bis Testergebnis nicht in Tabellen gepflegt werden muss.</a:t>
            </a:r>
          </a:p>
          <a:p>
            <a:r>
              <a:rPr lang="de-DE" dirty="0"/>
              <a:t>[KLICK 2] Mittelfristig lässt sich die Methodik auf weitere Gerätefamilien übertragen, denn sie ist nicht an das untersuchte Gateway gebunden. Und sobald die harmonisierten Normen zur Maschinenverordnung vorliegen, müssen die Akzeptanzkriterien mit diesen abgeglichen und gegebenenfalls angepasst werden.</a:t>
            </a:r>
          </a:p>
          <a:p>
            <a:r>
              <a:rPr lang="de-DE" dirty="0"/>
              <a:t>Die Methodik selbst ist damit übertragbar – die Demonstration am Gateway ist der erste Schritt, nicht der letzte.</a:t>
            </a:r>
          </a:p>
        </p:txBody>
      </p:sp>
      <p:sp>
        <p:nvSpPr>
          <p:cNvPr id="4" name="Slide Number Placeholder 3"/>
          <p:cNvSpPr>
            <a:spLocks noGrp="1"/>
          </p:cNvSpPr>
          <p:nvPr>
            <p:ph type="sldNum" sz="quarter" idx="5"/>
          </p:nvPr>
        </p:nvSpPr>
        <p:spPr/>
        <p:txBody>
          <a:bodyPr/>
          <a:lstStyle/>
          <a:p>
            <a:fld id="{C4CB6471-ACEC-47CF-B768-419C0458B309}" type="slidenum">
              <a:rPr lang="en-US" smtClean="0"/>
              <a:t>22</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Damit bin ich am Ende meiner Präsentation angelangt. Ich bedanke mich für Ihre Aufmerksamkeit und stehe Ihnen jetzt gerne für Ihre Fragen zur Verfügung.</a:t>
            </a:r>
          </a:p>
          <a:p>
            <a:r>
              <a:rPr lang="de-DE" dirty="0"/>
              <a:t>Diese Folie bleibt während der Diskussion stehen. Für Rückfragen zu einzelnen Ergebnissen kann ich gezielt auf die Folien zur Werkzeugbewertung, zu den Messpunkten oder zum Zwischenstand der vierzehn Anforderungen zurückspringen.</a:t>
            </a:r>
          </a:p>
        </p:txBody>
      </p:sp>
      <p:sp>
        <p:nvSpPr>
          <p:cNvPr id="4" name="Slide Number Placeholder 3"/>
          <p:cNvSpPr>
            <a:spLocks noGrp="1"/>
          </p:cNvSpPr>
          <p:nvPr>
            <p:ph type="sldNum" sz="quarter" idx="5"/>
          </p:nvPr>
        </p:nvSpPr>
        <p:spPr/>
        <p:txBody>
          <a:bodyPr/>
          <a:lstStyle/>
          <a:p>
            <a:fld id="{C4CB6471-ACEC-47CF-B768-419C0458B309}" type="slidenum">
              <a:rPr lang="en-US" smtClean="0"/>
              <a:t>23</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Diese Backup-Folie zeigt das Forschungsdesign nach der Design Science Research Methodology.</a:t>
            </a:r>
          </a:p>
          <a:p>
            <a:r>
              <a:rPr lang="de-DE" dirty="0"/>
              <a:t>Die sechs Stationen verlaufen von der Problemidentifikation über die Zieldefinition, die Entwicklung des Artefakts, dessen Demonstration und Evaluation bis zur Kommunikation. Jede Station ist einem Kapitel der Arbeit zugeordnet.</a:t>
            </a:r>
          </a:p>
          <a:p>
            <a:r>
              <a:rPr lang="de-DE" dirty="0"/>
              <a:t>Der Schwerpunkt liegt auf den Stationen drei und vier, also auf Design und Entwicklung sowie der Demonstration am realen Gateway. Das Artefakt dieser Arbeit ist die Testmethodik selbst, nicht das einzelne Testergebnis.</a:t>
            </a:r>
          </a:p>
        </p:txBody>
      </p:sp>
      <p:sp>
        <p:nvSpPr>
          <p:cNvPr id="4" name="Slide Number Placeholder 3"/>
          <p:cNvSpPr>
            <a:spLocks noGrp="1"/>
          </p:cNvSpPr>
          <p:nvPr>
            <p:ph type="sldNum" sz="quarter" idx="5"/>
          </p:nvPr>
        </p:nvSpPr>
        <p:spPr/>
        <p:txBody>
          <a:bodyPr/>
          <a:lstStyle/>
          <a:p>
            <a:fld id="{C4CB6471-ACEC-47CF-B768-419C0458B309}" type="slidenum">
              <a:rPr lang="en-US" smtClean="0"/>
              <a:t>24</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Diese Backup-Folie begründet die Wahl des Security Level Capability 1.</a:t>
            </a:r>
          </a:p>
          <a:p>
            <a:r>
              <a:rPr lang="de-DE" dirty="0"/>
              <a:t>Erstens war eine maschinenweite Risikobeurteilung nicht möglich, weil das Gateway als Komponente ohne konkreten Anlagenkontext betrachtet wird; ein höheres Level ließe sich damit nicht begründen.</a:t>
            </a:r>
          </a:p>
          <a:p>
            <a:r>
              <a:rPr lang="de-DE" dirty="0"/>
              <a:t>Zweitens entspricht SL-C 1 nach IEC 62443-4-2 dem Schutz gegen zufällige oder gelegentliche Verstöße – das ist die Basisstufe, die jedes Gerät erfüllen sollte.</a:t>
            </a:r>
          </a:p>
          <a:p>
            <a:r>
              <a:rPr lang="de-DE" dirty="0"/>
              <a:t>Drittens bleibt das Vorgehen übertragbar: Für höhere Security Level ändert sich die Methodik nicht, sondern nur die Akzeptanzkriterien der einzelnen Anforderungen.</a:t>
            </a:r>
          </a:p>
        </p:txBody>
      </p:sp>
      <p:sp>
        <p:nvSpPr>
          <p:cNvPr id="4" name="Slide Number Placeholder 3"/>
          <p:cNvSpPr>
            <a:spLocks noGrp="1"/>
          </p:cNvSpPr>
          <p:nvPr>
            <p:ph type="sldNum" sz="quarter" idx="5"/>
          </p:nvPr>
        </p:nvSpPr>
        <p:spPr/>
        <p:txBody>
          <a:bodyPr/>
          <a:lstStyle/>
          <a:p>
            <a:fld id="{C4CB6471-ACEC-47CF-B768-419C0458B309}" type="slidenum">
              <a:rPr lang="en-US" smtClean="0"/>
              <a:t>25</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Diese Backup-Folie zeigt den vollständigen Stand aller vierzehn Anforderungen auf einen Blick.</a:t>
            </a:r>
          </a:p>
          <a:p>
            <a:r>
              <a:rPr lang="de-DE" dirty="0"/>
              <a:t>Orange markiert sind RQ-003 und RQ-012; beide sind mit Fail bewertet, weil das geforderte Verhalten am Gateway nachweislich nicht eintrat.</a:t>
            </a:r>
          </a:p>
          <a:p>
            <a:r>
              <a:rPr lang="de-DE" dirty="0"/>
              <a:t>Die übrigen zwölf Anforderungen stehen auf Not Assessed. Die Gründe stehen rechts in der Legende: teils war der Messpunkt NV2 oder NV3 erforderlich, teils ließ sich das auslösende Ereignis im Aufbau nicht induzieren, teils wäre das Engineering-Tool des Herstellers nötig gewesen.</a:t>
            </a:r>
          </a:p>
          <a:p>
            <a:r>
              <a:rPr lang="de-DE" dirty="0"/>
              <a:t>Not Assessed bedeutet ausdrücklich nicht, dass die Funktion fehlt, sondern dass im gegebenen Aufbau kein belastbarer Nachweis möglich war.</a:t>
            </a:r>
          </a:p>
        </p:txBody>
      </p:sp>
      <p:sp>
        <p:nvSpPr>
          <p:cNvPr id="4" name="Slide Number Placeholder 3"/>
          <p:cNvSpPr>
            <a:spLocks noGrp="1"/>
          </p:cNvSpPr>
          <p:nvPr>
            <p:ph type="sldNum" sz="quarter" idx="5"/>
          </p:nvPr>
        </p:nvSpPr>
        <p:spPr/>
        <p:txBody>
          <a:bodyPr/>
          <a:lstStyle/>
          <a:p>
            <a:fld id="{C4CB6471-ACEC-47CF-B768-419C0458B309}" type="slidenum">
              <a:rPr lang="en-US" smtClean="0"/>
              <a:t>26</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Diese Backup-Folie stellt die IT- und die OT-Welt detailliert gegenüber.</a:t>
            </a:r>
          </a:p>
          <a:p>
            <a:r>
              <a:rPr lang="de-DE" dirty="0"/>
              <a:t>Die IT betrachtet primär Daten und Informationen, die OT dagegen die Anlage und den physischen Prozess.</a:t>
            </a:r>
          </a:p>
          <a:p>
            <a:r>
              <a:rPr lang="de-DE" dirty="0"/>
              <a:t>Entscheidend ist die orange hinterlegte Zeile: In der IT gilt die Priorität Vertraulichkeit, Integrität, Verfügbarkeit; in der OT kehrt sich diese Reihenfolge um zu Verfügbarkeit, Integrität, Vertraulichkeit. Ein Produktionsstillstand wiegt dort schwerer als ein Datenabfluss.</a:t>
            </a:r>
          </a:p>
          <a:p>
            <a:r>
              <a:rPr lang="de-DE" dirty="0"/>
              <a:t>Auch die Protokolle und die Update-Zyklen unterscheiden sich grundlegend: kurze, regelmäßige Zyklen in der IT gegenüber langen, geplanten Wartungsfenstern in der OT.</a:t>
            </a:r>
          </a:p>
        </p:txBody>
      </p:sp>
      <p:sp>
        <p:nvSpPr>
          <p:cNvPr id="4" name="Slide Number Placeholder 3"/>
          <p:cNvSpPr>
            <a:spLocks noGrp="1"/>
          </p:cNvSpPr>
          <p:nvPr>
            <p:ph type="sldNum" sz="quarter" idx="5"/>
          </p:nvPr>
        </p:nvSpPr>
        <p:spPr/>
        <p:txBody>
          <a:bodyPr/>
          <a:lstStyle/>
          <a:p>
            <a:fld id="{C4CB6471-ACEC-47CF-B768-419C0458B309}" type="slidenum">
              <a:rPr lang="en-US" smtClean="0"/>
              <a:t>27</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Diese Backup-Folie erläutert das Black-Channel-Prinzip von PROFIsafe.</a:t>
            </a:r>
          </a:p>
          <a:p>
            <a:r>
              <a:rPr lang="de-DE" dirty="0"/>
              <a:t>Die Safety-Schicht liegt oberhalb des Übertragungskanals und reicht vom Producer bis zum Consumer. Der Kanal selbst – Kabel, Switches, Stack – gilt dabei ausdrücklich als unsicher und wird nicht zertifiziert.</a:t>
            </a:r>
          </a:p>
          <a:p>
            <a:r>
              <a:rPr lang="de-DE" dirty="0"/>
              <a:t>Abgesichert wird stattdessen die Nutzlast: über eine fortlaufende Folgenummer gegen Verlust, Wiederholung und Vertauschung, über eine CRC gegen Verfälschung, über die Safety-Zieladresse gegen Fehladressierung und über eine Watchdog-Zeit gegen unzulässige Verzögerung.</a:t>
            </a:r>
          </a:p>
          <a:p>
            <a:r>
              <a:rPr lang="de-DE" dirty="0"/>
              <a:t>Wichtig für meine Arbeit: Dieses Prinzip schützt gegen zufällige Übertragungsfehler, nicht gegen einen gezielten Angreifer. Es ersetzt also keine Security-Maßnahme.</a:t>
            </a:r>
          </a:p>
        </p:txBody>
      </p:sp>
      <p:sp>
        <p:nvSpPr>
          <p:cNvPr id="4" name="Slide Number Placeholder 3"/>
          <p:cNvSpPr>
            <a:spLocks noGrp="1"/>
          </p:cNvSpPr>
          <p:nvPr>
            <p:ph type="sldNum" sz="quarter" idx="5"/>
          </p:nvPr>
        </p:nvSpPr>
        <p:spPr/>
        <p:txBody>
          <a:bodyPr/>
          <a:lstStyle/>
          <a:p>
            <a:fld id="{C4CB6471-ACEC-47CF-B768-419C0458B309}" type="slidenum">
              <a:rPr lang="en-US" smtClean="0"/>
              <a:t>28</a:t>
            </a:fld>
            <a:endParaRPr lang="en-US"/>
          </a:p>
        </p:txBody>
      </p:sp>
    </p:spTree>
    <p:extLst>
      <p:ext uri="{BB962C8B-B14F-4D97-AF65-F5344CB8AC3E}">
        <p14:creationId xmlns:p14="http://schemas.microsoft.com/office/powerpoint/2010/main" val="12849965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orange background">
    <p:bg>
      <p:bgPr>
        <a:solidFill>
          <a:schemeClr val="tx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50100DB-63C2-9910-B81D-421C05004ABE}"/>
              </a:ext>
            </a:extLst>
          </p:cNvPr>
          <p:cNvGraphicFramePr>
            <a:graphicFrameLocks noChangeAspect="1"/>
          </p:cNvGraphicFramePr>
          <p:nvPr userDrawn="1">
            <p:custDataLst>
              <p:tags r:id="rId1"/>
            </p:custDataLst>
            <p:extLst>
              <p:ext uri="{D42A27DB-BD31-4B8C-83A1-F6EECF244321}">
                <p14:modId xmlns:p14="http://schemas.microsoft.com/office/powerpoint/2010/main" val="2664289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5" name="think-cell data - do not delete" hidden="1">
                        <a:extLst>
                          <a:ext uri="{FF2B5EF4-FFF2-40B4-BE49-F238E27FC236}">
                            <a16:creationId xmlns:a16="http://schemas.microsoft.com/office/drawing/2014/main" id="{250100DB-63C2-9910-B81D-421C05004AB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a:xfrm>
            <a:off x="373063" y="373063"/>
            <a:ext cx="11447462" cy="830997"/>
          </a:xfrm>
        </p:spPr>
        <p:txBody>
          <a:bodyPr vert="horz" lIns="0" tIns="0" rIns="0" bIns="0" anchor="t">
            <a:spAutoFit/>
          </a:bodyPr>
          <a:lstStyle>
            <a:lvl1pPr algn="l">
              <a:defRPr sz="6000">
                <a:solidFill>
                  <a:schemeClr val="tx1"/>
                </a:solidFill>
                <a:latin typeface="+mj-lt"/>
              </a:defRPr>
            </a:lvl1pPr>
          </a:lstStyle>
          <a:p>
            <a:r>
              <a:rPr lang="en-US" dirty="0"/>
              <a:t>Presentation title</a:t>
            </a:r>
          </a:p>
        </p:txBody>
      </p:sp>
      <p:sp>
        <p:nvSpPr>
          <p:cNvPr id="8" name="Text Placeholder 7">
            <a:extLst>
              <a:ext uri="{FF2B5EF4-FFF2-40B4-BE49-F238E27FC236}">
                <a16:creationId xmlns:a16="http://schemas.microsoft.com/office/drawing/2014/main" id="{3A12F02C-6C8E-FA47-49A4-0D592874E424}"/>
              </a:ext>
            </a:extLst>
          </p:cNvPr>
          <p:cNvSpPr>
            <a:spLocks noGrp="1"/>
          </p:cNvSpPr>
          <p:nvPr>
            <p:ph type="body" sz="quarter" idx="10" hasCustomPrompt="1"/>
          </p:nvPr>
        </p:nvSpPr>
        <p:spPr>
          <a:xfrm>
            <a:off x="373063" y="5956300"/>
            <a:ext cx="5722937" cy="252413"/>
          </a:xfrm>
        </p:spPr>
        <p:txBody>
          <a:bodyPr lIns="0" tIns="0" rIns="0" bIns="0" anchor="b">
            <a:spAutoFit/>
          </a:bodyPr>
          <a:lstStyle>
            <a:lvl1pPr>
              <a:buNone/>
              <a:defRPr sz="1600">
                <a:solidFill>
                  <a:schemeClr val="bg1"/>
                </a:solidFill>
              </a:defRPr>
            </a:lvl1pPr>
            <a:lvl5pPr marL="540000" indent="0">
              <a:buNone/>
              <a:defRPr/>
            </a:lvl5pPr>
          </a:lstStyle>
          <a:p>
            <a:r>
              <a:rPr lang="en-US" dirty="0">
                <a:cs typeface="Arial" panose="020B0604020202020204" pitchFamily="34" charset="0"/>
              </a:rPr>
              <a:t>Date or further information</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a:xfrm>
            <a:off x="1397000" y="6232009"/>
            <a:ext cx="4699000" cy="184666"/>
          </a:xfrm>
        </p:spPr>
        <p:txBody>
          <a:bodyPr lIns="0" tIns="0" rIns="0" bIns="0" anchor="b">
            <a:spAutoFit/>
          </a:bodyPr>
          <a:lstStyle>
            <a:lvl1pPr>
              <a:buNone/>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1"/>
                </a:solidFill>
              </a:rPr>
              <a:t>•</a:t>
            </a:r>
            <a:r>
              <a:rPr lang="en-US" sz="1200" dirty="0">
                <a:solidFill>
                  <a:schemeClr val="bg1"/>
                </a:solidFill>
              </a:rPr>
              <a:t> Author: </a:t>
            </a:r>
          </a:p>
        </p:txBody>
      </p:sp>
      <p:sp>
        <p:nvSpPr>
          <p:cNvPr id="3" name="Subtitle 2">
            <a:extLst>
              <a:ext uri="{FF2B5EF4-FFF2-40B4-BE49-F238E27FC236}">
                <a16:creationId xmlns:a16="http://schemas.microsoft.com/office/drawing/2014/main" id="{8576763F-DB2C-1653-E1D8-F89762942EDD}"/>
              </a:ext>
            </a:extLst>
          </p:cNvPr>
          <p:cNvSpPr>
            <a:spLocks noGrp="1"/>
          </p:cNvSpPr>
          <p:nvPr>
            <p:ph type="subTitle" idx="1" hasCustomPrompt="1"/>
          </p:nvPr>
        </p:nvSpPr>
        <p:spPr>
          <a:xfrm>
            <a:off x="373063" y="1204060"/>
            <a:ext cx="11447462" cy="461665"/>
          </a:xfrm>
        </p:spPr>
        <p:txBody>
          <a:bodyPr lIns="0" tIns="0" rIns="0" bIns="0">
            <a:spAutoFit/>
          </a:bodyPr>
          <a:lstStyle>
            <a:lvl1pPr marL="0" indent="0" algn="l">
              <a:buNone/>
              <a:defRPr sz="3000">
                <a:solidFill>
                  <a:schemeClr val="bg1"/>
                </a:solidFill>
              </a:defRPr>
            </a:lvl1pPr>
            <a:lvl2pPr marL="0" indent="0" algn="l">
              <a:buNone/>
              <a:defRPr sz="3000">
                <a:solidFill>
                  <a:schemeClr val="bg1"/>
                </a:solidFill>
              </a:defRPr>
            </a:lvl2pPr>
            <a:lvl3pPr marL="0" indent="0" algn="l">
              <a:buNone/>
              <a:defRPr sz="3000">
                <a:solidFill>
                  <a:schemeClr val="bg1"/>
                </a:solidFill>
              </a:defRPr>
            </a:lvl3pPr>
            <a:lvl4pPr marL="0" indent="0" algn="l">
              <a:buNone/>
              <a:defRPr sz="3000">
                <a:solidFill>
                  <a:schemeClr val="bg1"/>
                </a:solidFill>
              </a:defRPr>
            </a:lvl4pPr>
            <a:lvl5pPr marL="0" indent="0" algn="l">
              <a:buNone/>
              <a:defRPr sz="3000">
                <a:solidFill>
                  <a:schemeClr val="bg1"/>
                </a:solidFill>
              </a:defRPr>
            </a:lvl5pPr>
            <a:lvl6pPr marL="0" indent="0" algn="l">
              <a:buNone/>
              <a:defRPr sz="3000">
                <a:solidFill>
                  <a:schemeClr val="bg1"/>
                </a:solidFill>
              </a:defRPr>
            </a:lvl6pPr>
            <a:lvl7pPr marL="0" indent="0" algn="l">
              <a:buNone/>
              <a:defRPr sz="3000">
                <a:solidFill>
                  <a:schemeClr val="bg1"/>
                </a:solidFill>
              </a:defRPr>
            </a:lvl7pPr>
            <a:lvl8pPr marL="0" indent="0" algn="l">
              <a:buNone/>
              <a:defRPr sz="3000">
                <a:solidFill>
                  <a:schemeClr val="bg1"/>
                </a:solidFill>
              </a:defRPr>
            </a:lvl8pPr>
            <a:lvl9pPr marL="0" indent="0" algn="l">
              <a:buNone/>
              <a:defRPr sz="3000">
                <a:solidFill>
                  <a:schemeClr val="bg1"/>
                </a:solidFill>
              </a:defRPr>
            </a:lvl9pPr>
          </a:lstStyle>
          <a:p>
            <a:pPr lvl="0"/>
            <a:r>
              <a:rPr lang="en-US" dirty="0"/>
              <a:t>Presentation description</a:t>
            </a:r>
          </a:p>
        </p:txBody>
      </p:sp>
      <p:pic>
        <p:nvPicPr>
          <p:cNvPr id="4" name="Grafik 3">
            <a:extLst>
              <a:ext uri="{FF2B5EF4-FFF2-40B4-BE49-F238E27FC236}">
                <a16:creationId xmlns:a16="http://schemas.microsoft.com/office/drawing/2014/main" id="{CBB39316-0B9B-AC28-B9F9-D76D251744F7}"/>
              </a:ext>
            </a:extLst>
          </p:cNvPr>
          <p:cNvPicPr>
            <a:picLocks noChangeAspect="1"/>
          </p:cNvPicPr>
          <p:nvPr userDrawn="1"/>
        </p:nvPicPr>
        <p:blipFill>
          <a:blip r:embed="rId5"/>
          <a:stretch>
            <a:fillRect/>
          </a:stretch>
        </p:blipFill>
        <p:spPr>
          <a:xfrm>
            <a:off x="6548438" y="2111435"/>
            <a:ext cx="5334000" cy="4749800"/>
          </a:xfrm>
          <a:prstGeom prst="rect">
            <a:avLst/>
          </a:prstGeom>
        </p:spPr>
      </p:pic>
    </p:spTree>
    <p:extLst>
      <p:ext uri="{BB962C8B-B14F-4D97-AF65-F5344CB8AC3E}">
        <p14:creationId xmlns:p14="http://schemas.microsoft.com/office/powerpoint/2010/main" val="14255476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bg>
      <p:bgPr>
        <a:solidFill>
          <a:schemeClr val="bg1"/>
        </a:solidFill>
        <a:effectLst/>
      </p:bgPr>
    </p:bg>
    <p:spTree>
      <p:nvGrpSpPr>
        <p:cNvPr id="1" name=""/>
        <p:cNvGrpSpPr/>
        <p:nvPr/>
      </p:nvGrpSpPr>
      <p:grpSpPr>
        <a:xfrm>
          <a:off x="0" y="0"/>
          <a:ext cx="0" cy="0"/>
          <a:chOff x="0" y="0"/>
          <a:chExt cx="0" cy="0"/>
        </a:xfrm>
      </p:grpSpPr>
      <p:pic>
        <p:nvPicPr>
          <p:cNvPr id="4" name="Grafik 13">
            <a:extLst>
              <a:ext uri="{FF2B5EF4-FFF2-40B4-BE49-F238E27FC236}">
                <a16:creationId xmlns:a16="http://schemas.microsoft.com/office/drawing/2014/main" id="{5A766D3D-C15A-EE82-7498-75239FD227D7}"/>
              </a:ext>
            </a:extLst>
          </p:cNvPr>
          <p:cNvPicPr>
            <a:picLocks noChangeAspect="1"/>
          </p:cNvPicPr>
          <p:nvPr userDrawn="1"/>
        </p:nvPicPr>
        <p:blipFill rotWithShape="1">
          <a:blip r:embed="rId2"/>
          <a:srcRect/>
          <a:stretch>
            <a:fillRect/>
          </a:stretch>
        </p:blipFill>
        <p:spPr>
          <a:xfrm>
            <a:off x="0" y="270"/>
            <a:ext cx="12210089" cy="6857460"/>
          </a:xfrm>
          <a:prstGeom prst="rect">
            <a:avLst/>
          </a:prstGeom>
        </p:spPr>
      </p:pic>
      <p:sp>
        <p:nvSpPr>
          <p:cNvPr id="5" name="Rechteck">
            <a:extLst>
              <a:ext uri="{FF2B5EF4-FFF2-40B4-BE49-F238E27FC236}">
                <a16:creationId xmlns:a16="http://schemas.microsoft.com/office/drawing/2014/main" id="{9E77F99A-7C99-D1E4-541B-7B0C866691E7}"/>
              </a:ext>
            </a:extLst>
          </p:cNvPr>
          <p:cNvSpPr>
            <a:spLocks/>
          </p:cNvSpPr>
          <p:nvPr userDrawn="1"/>
        </p:nvSpPr>
        <p:spPr>
          <a:xfrm>
            <a:off x="0" y="270"/>
            <a:ext cx="12210089" cy="6858000"/>
          </a:xfrm>
          <a:prstGeom prst="rect">
            <a:avLst/>
          </a:prstGeom>
          <a:solidFill>
            <a:srgbClr val="000000">
              <a:alpha val="55000"/>
            </a:srgbClr>
          </a:solidFill>
          <a:ln w="12700">
            <a:miter lim="400000"/>
          </a:ln>
        </p:spPr>
        <p:txBody>
          <a:bodyPr lIns="50800" tIns="50800" rIns="50800" bIns="50800" anchor="ctr"/>
          <a:lstStyle/>
          <a:p>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bwMode="white">
          <a:xfrm>
            <a:off x="373063" y="373063"/>
            <a:ext cx="11447462" cy="830997"/>
          </a:xfrm>
        </p:spPr>
        <p:txBody>
          <a:bodyPr lIns="0" tIns="0" rIns="0" bIns="0" anchor="t">
            <a:spAutoFit/>
          </a:bodyPr>
          <a:lstStyle>
            <a:lvl1pPr algn="l">
              <a:defRPr sz="6000">
                <a:solidFill>
                  <a:schemeClr val="bg1"/>
                </a:solidFill>
                <a:latin typeface="+mj-lt"/>
              </a:defRPr>
            </a:lvl1pPr>
          </a:lstStyle>
          <a:p>
            <a:r>
              <a:rPr lang="en-US" dirty="0"/>
              <a:t>Presentation title</a:t>
            </a:r>
          </a:p>
        </p:txBody>
      </p:sp>
      <p:sp>
        <p:nvSpPr>
          <p:cNvPr id="3" name="Subtitle 2">
            <a:extLst>
              <a:ext uri="{FF2B5EF4-FFF2-40B4-BE49-F238E27FC236}">
                <a16:creationId xmlns:a16="http://schemas.microsoft.com/office/drawing/2014/main" id="{8576763F-DB2C-1653-E1D8-F89762942EDD}"/>
              </a:ext>
            </a:extLst>
          </p:cNvPr>
          <p:cNvSpPr>
            <a:spLocks noGrp="1"/>
          </p:cNvSpPr>
          <p:nvPr>
            <p:ph type="subTitle" idx="1" hasCustomPrompt="1"/>
          </p:nvPr>
        </p:nvSpPr>
        <p:spPr bwMode="white">
          <a:xfrm>
            <a:off x="373063" y="1204060"/>
            <a:ext cx="11447462" cy="461665"/>
          </a:xfrm>
        </p:spPr>
        <p:txBody>
          <a:bodyPr lIns="0" tIns="0" rIns="0" bIns="0">
            <a:spAutoFit/>
          </a:bodyPr>
          <a:lstStyle>
            <a:lvl1pPr marL="0" indent="0" algn="l">
              <a:buNone/>
              <a:defRPr sz="3000">
                <a:solidFill>
                  <a:schemeClr val="bg1"/>
                </a:solidFill>
              </a:defRPr>
            </a:lvl1pPr>
            <a:lvl2pPr marL="0" indent="0" algn="l">
              <a:buNone/>
              <a:defRPr sz="3000">
                <a:solidFill>
                  <a:schemeClr val="bg1"/>
                </a:solidFill>
              </a:defRPr>
            </a:lvl2pPr>
            <a:lvl3pPr marL="0" indent="0" algn="l">
              <a:buNone/>
              <a:defRPr sz="3000">
                <a:solidFill>
                  <a:schemeClr val="bg1"/>
                </a:solidFill>
              </a:defRPr>
            </a:lvl3pPr>
            <a:lvl4pPr marL="0" indent="0" algn="l">
              <a:buNone/>
              <a:defRPr sz="3000">
                <a:solidFill>
                  <a:schemeClr val="bg1"/>
                </a:solidFill>
              </a:defRPr>
            </a:lvl4pPr>
            <a:lvl5pPr marL="0" indent="0" algn="l">
              <a:buNone/>
              <a:defRPr sz="3000">
                <a:solidFill>
                  <a:schemeClr val="bg1"/>
                </a:solidFill>
              </a:defRPr>
            </a:lvl5pPr>
            <a:lvl6pPr marL="0" indent="0" algn="l">
              <a:buNone/>
              <a:defRPr sz="3000">
                <a:solidFill>
                  <a:schemeClr val="bg1"/>
                </a:solidFill>
              </a:defRPr>
            </a:lvl6pPr>
            <a:lvl7pPr marL="0" indent="0" algn="l">
              <a:buNone/>
              <a:defRPr sz="3000">
                <a:solidFill>
                  <a:schemeClr val="bg1"/>
                </a:solidFill>
              </a:defRPr>
            </a:lvl7pPr>
            <a:lvl8pPr marL="0" indent="0" algn="l">
              <a:buNone/>
              <a:defRPr sz="3000">
                <a:solidFill>
                  <a:schemeClr val="bg1"/>
                </a:solidFill>
              </a:defRPr>
            </a:lvl8pPr>
            <a:lvl9pPr marL="0" indent="0" algn="l">
              <a:buNone/>
              <a:defRPr sz="3000">
                <a:solidFill>
                  <a:schemeClr val="bg1"/>
                </a:solidFill>
              </a:defRPr>
            </a:lvl9pPr>
          </a:lstStyle>
          <a:p>
            <a:r>
              <a:rPr lang="en-US" dirty="0"/>
              <a:t>Presentation description</a:t>
            </a:r>
          </a:p>
        </p:txBody>
      </p:sp>
      <p:sp>
        <p:nvSpPr>
          <p:cNvPr id="8" name="Text Placeholder 7">
            <a:extLst>
              <a:ext uri="{FF2B5EF4-FFF2-40B4-BE49-F238E27FC236}">
                <a16:creationId xmlns:a16="http://schemas.microsoft.com/office/drawing/2014/main" id="{3A12F02C-6C8E-FA47-49A4-0D592874E424}"/>
              </a:ext>
            </a:extLst>
          </p:cNvPr>
          <p:cNvSpPr>
            <a:spLocks noGrp="1"/>
          </p:cNvSpPr>
          <p:nvPr>
            <p:ph type="body" sz="quarter" idx="10" hasCustomPrompt="1"/>
          </p:nvPr>
        </p:nvSpPr>
        <p:spPr bwMode="white">
          <a:xfrm>
            <a:off x="373063" y="5956300"/>
            <a:ext cx="5722937" cy="252413"/>
          </a:xfrm>
        </p:spPr>
        <p:txBody>
          <a:bodyPr lIns="0" tIns="0" rIns="0" bIns="0" anchor="b">
            <a:spAutoFit/>
          </a:bodyPr>
          <a:lstStyle>
            <a:lvl1pPr>
              <a:buNone/>
              <a:defRPr sz="1600">
                <a:solidFill>
                  <a:schemeClr val="bg1"/>
                </a:solidFill>
              </a:defRPr>
            </a:lvl1pPr>
            <a:lvl5pPr marL="540000" indent="0">
              <a:buNone/>
              <a:defRPr/>
            </a:lvl5pPr>
          </a:lstStyle>
          <a:p>
            <a:r>
              <a:rPr lang="en-US" dirty="0">
                <a:cs typeface="Arial" panose="020B0604020202020204" pitchFamily="34" charset="0"/>
              </a:rPr>
              <a:t>Date or further information</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bwMode="white">
          <a:xfrm>
            <a:off x="1397000" y="6232009"/>
            <a:ext cx="4699000" cy="184666"/>
          </a:xfrm>
        </p:spPr>
        <p:txBody>
          <a:bodyPr lIns="0" tIns="0" rIns="0" bIns="0" anchor="b">
            <a:sp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bwMode="white">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2"/>
                </a:solidFill>
              </a:rPr>
              <a:t>•</a:t>
            </a:r>
            <a:r>
              <a:rPr lang="en-US" sz="1200" dirty="0">
                <a:solidFill>
                  <a:schemeClr val="bg1"/>
                </a:solidFill>
              </a:rPr>
              <a:t> Author: </a:t>
            </a:r>
          </a:p>
        </p:txBody>
      </p:sp>
      <p:grpSp>
        <p:nvGrpSpPr>
          <p:cNvPr id="27" name="Group 26">
            <a:extLst>
              <a:ext uri="{FF2B5EF4-FFF2-40B4-BE49-F238E27FC236}">
                <a16:creationId xmlns:a16="http://schemas.microsoft.com/office/drawing/2014/main" id="{010968A5-41FD-32D2-7F90-0191942485BD}"/>
              </a:ext>
            </a:extLst>
          </p:cNvPr>
          <p:cNvGrpSpPr/>
          <p:nvPr userDrawn="1"/>
        </p:nvGrpSpPr>
        <p:grpSpPr>
          <a:xfrm>
            <a:off x="6597756" y="2225331"/>
            <a:ext cx="5088778" cy="4811136"/>
            <a:chOff x="6597756" y="2225331"/>
            <a:chExt cx="5088778" cy="4811136"/>
          </a:xfrm>
        </p:grpSpPr>
        <p:sp>
          <p:nvSpPr>
            <p:cNvPr id="25" name="Freeform: Shape 24">
              <a:extLst>
                <a:ext uri="{FF2B5EF4-FFF2-40B4-BE49-F238E27FC236}">
                  <a16:creationId xmlns:a16="http://schemas.microsoft.com/office/drawing/2014/main" id="{68D77FE9-CC05-6AC2-F340-3D2327F4A3FC}"/>
                </a:ext>
              </a:extLst>
            </p:cNvPr>
            <p:cNvSpPr/>
            <p:nvPr/>
          </p:nvSpPr>
          <p:spPr bwMode="gray">
            <a:xfrm rot="21132644">
              <a:off x="6597756" y="2225331"/>
              <a:ext cx="5088778" cy="4811136"/>
            </a:xfrm>
            <a:custGeom>
              <a:avLst/>
              <a:gdLst>
                <a:gd name="connsiteX0" fmla="*/ 2804813 w 5088778"/>
                <a:gd name="connsiteY0" fmla="*/ 13119 h 4811136"/>
                <a:gd name="connsiteX1" fmla="*/ 5088778 w 5088778"/>
                <a:gd name="connsiteY1" fmla="*/ 2544389 h 4811136"/>
                <a:gd name="connsiteX2" fmla="*/ 3757935 w 5088778"/>
                <a:gd name="connsiteY2" fmla="*/ 4782020 h 4811136"/>
                <a:gd name="connsiteX3" fmla="*/ 3697427 w 5088778"/>
                <a:gd name="connsiteY3" fmla="*/ 4811136 h 4811136"/>
                <a:gd name="connsiteX4" fmla="*/ 826279 w 5088778"/>
                <a:gd name="connsiteY4" fmla="*/ 4418385 h 4811136"/>
                <a:gd name="connsiteX5" fmla="*/ 744609 w 5088778"/>
                <a:gd name="connsiteY5" fmla="*/ 4344170 h 4811136"/>
                <a:gd name="connsiteX6" fmla="*/ 1 w 5088778"/>
                <a:gd name="connsiteY6" fmla="*/ 2544389 h 4811136"/>
                <a:gd name="connsiteX7" fmla="*/ 2544389 w 5088778"/>
                <a:gd name="connsiteY7" fmla="*/ 1 h 4811136"/>
                <a:gd name="connsiteX8" fmla="*/ 2804813 w 5088778"/>
                <a:gd name="connsiteY8" fmla="*/ 13119 h 48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8778" h="4811136">
                  <a:moveTo>
                    <a:pt x="2804813" y="13119"/>
                  </a:moveTo>
                  <a:cubicBezTo>
                    <a:pt x="4089029" y="143239"/>
                    <a:pt x="5088778" y="1225425"/>
                    <a:pt x="5088778" y="2544389"/>
                  </a:cubicBezTo>
                  <a:cubicBezTo>
                    <a:pt x="5088778" y="3511630"/>
                    <a:pt x="4551135" y="4351536"/>
                    <a:pt x="3757935" y="4782020"/>
                  </a:cubicBezTo>
                  <a:lnTo>
                    <a:pt x="3697427" y="4811136"/>
                  </a:lnTo>
                  <a:lnTo>
                    <a:pt x="826279" y="4418385"/>
                  </a:lnTo>
                  <a:lnTo>
                    <a:pt x="744609" y="4344170"/>
                  </a:lnTo>
                  <a:cubicBezTo>
                    <a:pt x="284374" y="3883934"/>
                    <a:pt x="0" y="3247837"/>
                    <a:pt x="1" y="2544389"/>
                  </a:cubicBezTo>
                  <a:cubicBezTo>
                    <a:pt x="0" y="1137494"/>
                    <a:pt x="1137494" y="0"/>
                    <a:pt x="2544389" y="1"/>
                  </a:cubicBezTo>
                  <a:cubicBezTo>
                    <a:pt x="2632320" y="1"/>
                    <a:pt x="2719199" y="4444"/>
                    <a:pt x="2804813" y="13119"/>
                  </a:cubicBezTo>
                  <a:close/>
                </a:path>
              </a:pathLst>
            </a:custGeom>
            <a:solidFill>
              <a:schemeClr val="tx2"/>
            </a:solidFill>
            <a:ln w="1748" cap="flat">
              <a:solidFill>
                <a:srgbClr val="FF6E00"/>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1E88DBC-A094-B4D9-2C59-BF333ADBB76D}"/>
                </a:ext>
              </a:extLst>
            </p:cNvPr>
            <p:cNvSpPr/>
            <p:nvPr/>
          </p:nvSpPr>
          <p:spPr bwMode="gray">
            <a:xfrm rot="21132644">
              <a:off x="7048659" y="2839116"/>
              <a:ext cx="4118922" cy="3262805"/>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4" h="323153">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36342" y="60960"/>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F4FFC34-2C72-F723-1336-00BE70E98108}"/>
                </a:ext>
              </a:extLst>
            </p:cNvPr>
            <p:cNvSpPr/>
            <p:nvPr/>
          </p:nvSpPr>
          <p:spPr bwMode="gray">
            <a:xfrm rot="21132644">
              <a:off x="6960598" y="3487392"/>
              <a:ext cx="898018" cy="898018"/>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solidFill>
                <a:srgbClr val="1A1A18"/>
              </a:solidFill>
              <a:prstDash val="solid"/>
              <a:miter/>
            </a:ln>
          </p:spPr>
          <p:txBody>
            <a:bodyPr rtlCol="0" anchor="ctr"/>
            <a:lstStyle/>
            <a:p>
              <a:endParaRPr lang="en-US"/>
            </a:p>
          </p:txBody>
        </p:sp>
      </p:grpSp>
    </p:spTree>
    <p:extLst>
      <p:ext uri="{BB962C8B-B14F-4D97-AF65-F5344CB8AC3E}">
        <p14:creationId xmlns:p14="http://schemas.microsoft.com/office/powerpoint/2010/main" val="25911519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laceholder">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AE8476C-3A63-D1D8-D079-F3F9989CAAAC}"/>
              </a:ext>
            </a:extLst>
          </p:cNvPr>
          <p:cNvGraphicFramePr>
            <a:graphicFrameLocks noChangeAspect="1"/>
          </p:cNvGraphicFramePr>
          <p:nvPr userDrawn="1">
            <p:custDataLst>
              <p:tags r:id="rId1"/>
            </p:custDataLst>
            <p:extLst>
              <p:ext uri="{D42A27DB-BD31-4B8C-83A1-F6EECF244321}">
                <p14:modId xmlns:p14="http://schemas.microsoft.com/office/powerpoint/2010/main" val="3619410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5" name="think-cell data - do not delete" hidden="1">
                        <a:extLst>
                          <a:ext uri="{FF2B5EF4-FFF2-40B4-BE49-F238E27FC236}">
                            <a16:creationId xmlns:a16="http://schemas.microsoft.com/office/drawing/2014/main" id="{4AE8476C-3A63-D1D8-D079-F3F9989CAA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Freeform: Shape 23">
            <a:extLst>
              <a:ext uri="{FF2B5EF4-FFF2-40B4-BE49-F238E27FC236}">
                <a16:creationId xmlns:a16="http://schemas.microsoft.com/office/drawing/2014/main" id="{D3002B38-5B80-698E-BB6F-26F6D80F0006}"/>
              </a:ext>
            </a:extLst>
          </p:cNvPr>
          <p:cNvSpPr>
            <a:spLocks/>
          </p:cNvSpPr>
          <p:nvPr userDrawn="1"/>
        </p:nvSpPr>
        <p:spPr bwMode="blackWhite">
          <a:xfrm>
            <a:off x="0" y="270"/>
            <a:ext cx="12210089" cy="6857460"/>
          </a:xfrm>
          <a:custGeom>
            <a:avLst/>
            <a:gdLst>
              <a:gd name="connsiteX0" fmla="*/ 0 w 12210089"/>
              <a:gd name="connsiteY0" fmla="*/ 0 h 6857460"/>
              <a:gd name="connsiteX1" fmla="*/ 12210089 w 12210089"/>
              <a:gd name="connsiteY1" fmla="*/ 0 h 6857460"/>
              <a:gd name="connsiteX2" fmla="*/ 12210089 w 12210089"/>
              <a:gd name="connsiteY2" fmla="*/ 6857460 h 6857460"/>
              <a:gd name="connsiteX3" fmla="*/ 10610979 w 12210089"/>
              <a:gd name="connsiteY3" fmla="*/ 6857460 h 6857460"/>
              <a:gd name="connsiteX4" fmla="*/ 10666574 w 12210089"/>
              <a:gd name="connsiteY4" fmla="*/ 6820682 h 6857460"/>
              <a:gd name="connsiteX5" fmla="*/ 11681872 w 12210089"/>
              <a:gd name="connsiteY5" fmla="*/ 4423328 h 6857460"/>
              <a:gd name="connsiteX6" fmla="*/ 9075918 w 12210089"/>
              <a:gd name="connsiteY6" fmla="*/ 2224959 h 6857460"/>
              <a:gd name="connsiteX7" fmla="*/ 8816119 w 12210089"/>
              <a:gd name="connsiteY7" fmla="*/ 2247258 h 6857460"/>
              <a:gd name="connsiteX8" fmla="*/ 6640048 w 12210089"/>
              <a:gd name="connsiteY8" fmla="*/ 5113010 h 6857460"/>
              <a:gd name="connsiteX9" fmla="*/ 7621710 w 12210089"/>
              <a:gd name="connsiteY9" fmla="*/ 6795268 h 6857460"/>
              <a:gd name="connsiteX10" fmla="*/ 7712292 w 12210089"/>
              <a:gd name="connsiteY10" fmla="*/ 6857460 h 6857460"/>
              <a:gd name="connsiteX11" fmla="*/ 0 w 12210089"/>
              <a:gd name="connsiteY11" fmla="*/ 6857460 h 685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10089" h="6857460">
                <a:moveTo>
                  <a:pt x="0" y="0"/>
                </a:moveTo>
                <a:lnTo>
                  <a:pt x="12210089" y="0"/>
                </a:lnTo>
                <a:lnTo>
                  <a:pt x="12210089" y="6857460"/>
                </a:lnTo>
                <a:lnTo>
                  <a:pt x="10610979" y="6857460"/>
                </a:lnTo>
                <a:lnTo>
                  <a:pt x="10666574" y="6820682"/>
                </a:lnTo>
                <a:cubicBezTo>
                  <a:pt x="11394112" y="6286668"/>
                  <a:pt x="11812962" y="5381645"/>
                  <a:pt x="11681872" y="4423328"/>
                </a:cubicBezTo>
                <a:cubicBezTo>
                  <a:pt x="11503113" y="3116534"/>
                  <a:pt x="10365920" y="2179829"/>
                  <a:pt x="9075918" y="2224959"/>
                </a:cubicBezTo>
                <a:cubicBezTo>
                  <a:pt x="8989918" y="2227968"/>
                  <a:pt x="8903238" y="2235340"/>
                  <a:pt x="8816119" y="2247258"/>
                </a:cubicBezTo>
                <a:cubicBezTo>
                  <a:pt x="7422205" y="2437933"/>
                  <a:pt x="6449371" y="3719096"/>
                  <a:pt x="6640048" y="5113010"/>
                </a:cubicBezTo>
                <a:cubicBezTo>
                  <a:pt x="6735385" y="5809968"/>
                  <a:pt x="7103346" y="6401655"/>
                  <a:pt x="7621710" y="6795268"/>
                </a:cubicBezTo>
                <a:lnTo>
                  <a:pt x="7712292" y="6857460"/>
                </a:lnTo>
                <a:lnTo>
                  <a:pt x="0" y="6857460"/>
                </a:lnTo>
                <a:close/>
              </a:path>
            </a:pathLst>
          </a:custGeom>
          <a:solidFill>
            <a:srgbClr val="000000">
              <a:alpha val="55000"/>
            </a:srgbClr>
          </a:solidFill>
          <a:ln w="12700">
            <a:miter lim="400000"/>
          </a:ln>
        </p:spPr>
        <p:txBody>
          <a:bodyPr wrap="square" lIns="50800" tIns="50800" rIns="50800" bIns="50800" anchor="ctr">
            <a:noAutofit/>
          </a:bodyPr>
          <a:lstStyle/>
          <a:p>
            <a:endParaRPr lang="en-US" dirty="0">
              <a:latin typeface="Arial" panose="020B0604020202020204" pitchFamily="34" charset="0"/>
              <a:cs typeface="Arial" panose="020B0604020202020204" pitchFamily="34" charset="0"/>
            </a:endParaRPr>
          </a:p>
        </p:txBody>
      </p:sp>
      <p:sp>
        <p:nvSpPr>
          <p:cNvPr id="26" name="Picture Placeholder 25">
            <a:extLst>
              <a:ext uri="{FF2B5EF4-FFF2-40B4-BE49-F238E27FC236}">
                <a16:creationId xmlns:a16="http://schemas.microsoft.com/office/drawing/2014/main" id="{8E65CE29-609E-F244-9891-05422282413A}"/>
              </a:ext>
            </a:extLst>
          </p:cNvPr>
          <p:cNvSpPr>
            <a:spLocks noGrp="1"/>
          </p:cNvSpPr>
          <p:nvPr>
            <p:ph type="pic" sz="quarter" idx="12"/>
          </p:nvPr>
        </p:nvSpPr>
        <p:spPr>
          <a:xfrm>
            <a:off x="0" y="270"/>
            <a:ext cx="12210089" cy="6857460"/>
          </a:xfrm>
          <a:custGeom>
            <a:avLst/>
            <a:gdLst>
              <a:gd name="connsiteX0" fmla="*/ 0 w 12210089"/>
              <a:gd name="connsiteY0" fmla="*/ 0 h 6857460"/>
              <a:gd name="connsiteX1" fmla="*/ 12210089 w 12210089"/>
              <a:gd name="connsiteY1" fmla="*/ 0 h 6857460"/>
              <a:gd name="connsiteX2" fmla="*/ 12210089 w 12210089"/>
              <a:gd name="connsiteY2" fmla="*/ 6857460 h 6857460"/>
              <a:gd name="connsiteX3" fmla="*/ 10610979 w 12210089"/>
              <a:gd name="connsiteY3" fmla="*/ 6857460 h 6857460"/>
              <a:gd name="connsiteX4" fmla="*/ 10666574 w 12210089"/>
              <a:gd name="connsiteY4" fmla="*/ 6820682 h 6857460"/>
              <a:gd name="connsiteX5" fmla="*/ 11681872 w 12210089"/>
              <a:gd name="connsiteY5" fmla="*/ 4423328 h 6857460"/>
              <a:gd name="connsiteX6" fmla="*/ 9075918 w 12210089"/>
              <a:gd name="connsiteY6" fmla="*/ 2224959 h 6857460"/>
              <a:gd name="connsiteX7" fmla="*/ 8816119 w 12210089"/>
              <a:gd name="connsiteY7" fmla="*/ 2247258 h 6857460"/>
              <a:gd name="connsiteX8" fmla="*/ 6640048 w 12210089"/>
              <a:gd name="connsiteY8" fmla="*/ 5113010 h 6857460"/>
              <a:gd name="connsiteX9" fmla="*/ 7621710 w 12210089"/>
              <a:gd name="connsiteY9" fmla="*/ 6795268 h 6857460"/>
              <a:gd name="connsiteX10" fmla="*/ 7712292 w 12210089"/>
              <a:gd name="connsiteY10" fmla="*/ 6857460 h 6857460"/>
              <a:gd name="connsiteX11" fmla="*/ 0 w 12210089"/>
              <a:gd name="connsiteY11" fmla="*/ 6857460 h 685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10089" h="6857460">
                <a:moveTo>
                  <a:pt x="0" y="0"/>
                </a:moveTo>
                <a:lnTo>
                  <a:pt x="12210089" y="0"/>
                </a:lnTo>
                <a:lnTo>
                  <a:pt x="12210089" y="6857460"/>
                </a:lnTo>
                <a:lnTo>
                  <a:pt x="10610979" y="6857460"/>
                </a:lnTo>
                <a:lnTo>
                  <a:pt x="10666574" y="6820682"/>
                </a:lnTo>
                <a:cubicBezTo>
                  <a:pt x="11394112" y="6286668"/>
                  <a:pt x="11812962" y="5381645"/>
                  <a:pt x="11681872" y="4423328"/>
                </a:cubicBezTo>
                <a:cubicBezTo>
                  <a:pt x="11503113" y="3116534"/>
                  <a:pt x="10365920" y="2179829"/>
                  <a:pt x="9075918" y="2224959"/>
                </a:cubicBezTo>
                <a:cubicBezTo>
                  <a:pt x="8989918" y="2227968"/>
                  <a:pt x="8903238" y="2235340"/>
                  <a:pt x="8816119" y="2247258"/>
                </a:cubicBezTo>
                <a:cubicBezTo>
                  <a:pt x="7422205" y="2437933"/>
                  <a:pt x="6449371" y="3719096"/>
                  <a:pt x="6640048" y="5113010"/>
                </a:cubicBezTo>
                <a:cubicBezTo>
                  <a:pt x="6735385" y="5809968"/>
                  <a:pt x="7103346" y="6401655"/>
                  <a:pt x="7621710" y="6795268"/>
                </a:cubicBezTo>
                <a:lnTo>
                  <a:pt x="7712292" y="6857460"/>
                </a:lnTo>
                <a:lnTo>
                  <a:pt x="0" y="6857460"/>
                </a:lnTo>
                <a:close/>
              </a:path>
            </a:pathLst>
          </a:custGeom>
        </p:spPr>
        <p:txBody>
          <a:bodyPr wrap="square">
            <a:noAutofit/>
          </a:bodyPr>
          <a:lstStyle/>
          <a:p>
            <a:r>
              <a:rPr lang="de-DE"/>
              <a:t>Bild durch Klicken auf Symbol hinzufügen</a:t>
            </a:r>
            <a:endParaRPr lang="en-US"/>
          </a:p>
        </p:txBody>
      </p:sp>
      <p:sp>
        <p:nvSpPr>
          <p:cNvPr id="11" name="Rechteck 12">
            <a:extLst>
              <a:ext uri="{FF2B5EF4-FFF2-40B4-BE49-F238E27FC236}">
                <a16:creationId xmlns:a16="http://schemas.microsoft.com/office/drawing/2014/main" id="{DBB08617-5AF7-C3FE-29A0-1802E616C95A}"/>
              </a:ext>
            </a:extLst>
          </p:cNvPr>
          <p:cNvSpPr>
            <a:spLocks/>
          </p:cNvSpPr>
          <p:nvPr userDrawn="1"/>
        </p:nvSpPr>
        <p:spPr>
          <a:xfrm>
            <a:off x="-2488502" y="-1"/>
            <a:ext cx="2298700" cy="5367867"/>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a:t>
            </a:r>
          </a:p>
          <a:p>
            <a:pPr>
              <a:spcAft>
                <a:spcPts val="300"/>
              </a:spcAft>
            </a:pPr>
            <a:endParaRPr lang="en-US" sz="1200" dirty="0">
              <a:solidFill>
                <a:schemeClr val="tx1"/>
              </a:solidFill>
              <a:latin typeface="Arial" panose="020B0604020202020204" pitchFamily="34" charset="0"/>
              <a:cs typeface="Arial" panose="020B0604020202020204" pitchFamily="34" charset="0"/>
            </a:endParaRPr>
          </a:p>
          <a:p>
            <a:pPr>
              <a:spcAft>
                <a:spcPts val="300"/>
              </a:spcAft>
            </a:pPr>
            <a:r>
              <a:rPr lang="en-US" sz="1200" dirty="0">
                <a:solidFill>
                  <a:schemeClr val="tx1"/>
                </a:solidFill>
                <a:latin typeface="Arial" panose="020B0604020202020204" pitchFamily="34" charset="0"/>
                <a:cs typeface="Arial" panose="020B0604020202020204" pitchFamily="34" charset="0"/>
              </a:rPr>
              <a:t>Please use images from this folder:</a:t>
            </a:r>
            <a:br>
              <a:rPr lang="en-US" sz="1200" dirty="0">
                <a:solidFill>
                  <a:schemeClr val="tx1"/>
                </a:solidFill>
                <a:latin typeface="Arial" panose="020B0604020202020204" pitchFamily="34" charset="0"/>
                <a:cs typeface="Arial" panose="020B0604020202020204" pitchFamily="34" charset="0"/>
              </a:rPr>
            </a:br>
            <a:r>
              <a:rPr lang="en-US" sz="1200" b="1" dirty="0" err="1">
                <a:solidFill>
                  <a:schemeClr val="tx1"/>
                </a:solidFill>
                <a:latin typeface="Arial" panose="020B0604020202020204" pitchFamily="34" charset="0"/>
                <a:cs typeface="Arial" panose="020B0604020202020204" pitchFamily="34" charset="0"/>
              </a:rPr>
              <a:t>ifm</a:t>
            </a:r>
            <a:r>
              <a:rPr lang="en-US" sz="1200" b="1" dirty="0">
                <a:solidFill>
                  <a:schemeClr val="tx1"/>
                </a:solidFill>
                <a:latin typeface="Arial" panose="020B0604020202020204" pitchFamily="34" charset="0"/>
                <a:cs typeface="Arial" panose="020B0604020202020204" pitchFamily="34" charset="0"/>
              </a:rPr>
              <a:t> </a:t>
            </a:r>
            <a:r>
              <a:rPr lang="en-US" sz="1200" b="1" dirty="0" err="1">
                <a:solidFill>
                  <a:schemeClr val="tx1"/>
                </a:solidFill>
                <a:latin typeface="Arial" panose="020B0604020202020204" pitchFamily="34" charset="0"/>
                <a:cs typeface="Arial" panose="020B0604020202020204" pitchFamily="34" charset="0"/>
              </a:rPr>
              <a:t>powerpoint</a:t>
            </a:r>
            <a:r>
              <a:rPr lang="en-US" sz="1200" b="1" dirty="0">
                <a:solidFill>
                  <a:schemeClr val="tx1"/>
                </a:solidFill>
                <a:latin typeface="Arial" panose="020B0604020202020204" pitchFamily="34" charset="0"/>
                <a:cs typeface="Arial" panose="020B0604020202020204" pitchFamily="34" charset="0"/>
              </a:rPr>
              <a:t> toolbox Background Images </a:t>
            </a:r>
            <a:r>
              <a:rPr lang="en-US" sz="1200" b="1" dirty="0" err="1">
                <a:solidFill>
                  <a:schemeClr val="tx1"/>
                </a:solidFill>
                <a:latin typeface="Arial" panose="020B0604020202020204" pitchFamily="34" charset="0"/>
                <a:cs typeface="Arial" panose="020B0604020202020204" pitchFamily="34" charset="0"/>
              </a:rPr>
              <a:t>sw</a:t>
            </a:r>
            <a:r>
              <a:rPr lang="en-US" sz="1200" b="1" dirty="0">
                <a:solidFill>
                  <a:schemeClr val="tx1"/>
                </a:solidFill>
                <a:latin typeface="Arial" panose="020B0604020202020204" pitchFamily="34" charset="0"/>
                <a:cs typeface="Arial" panose="020B0604020202020204" pitchFamily="34" charset="0"/>
              </a:rPr>
              <a:t> 1920x1080</a:t>
            </a:r>
            <a:r>
              <a:rPr lang="en-US" sz="1200" dirty="0">
                <a:solidFill>
                  <a:schemeClr val="tx1"/>
                </a:solidFill>
                <a:latin typeface="Arial" panose="020B0604020202020204" pitchFamily="34" charset="0"/>
                <a:cs typeface="Arial" panose="020B0604020202020204" pitchFamily="34" charset="0"/>
              </a:rPr>
              <a:t>.</a:t>
            </a:r>
          </a:p>
          <a:p>
            <a:pPr>
              <a:spcAft>
                <a:spcPts val="300"/>
              </a:spcAft>
            </a:pPr>
            <a:endParaRPr lang="en-US" sz="1200" dirty="0">
              <a:solidFill>
                <a:schemeClr val="tx1"/>
              </a:solidFill>
              <a:latin typeface="Arial" panose="020B0604020202020204" pitchFamily="34" charset="0"/>
              <a:cs typeface="Arial" panose="020B0604020202020204" pitchFamily="34" charset="0"/>
            </a:endParaRPr>
          </a:p>
          <a:p>
            <a:pPr>
              <a:spcAft>
                <a:spcPts val="300"/>
              </a:spcAft>
            </a:pPr>
            <a:r>
              <a:rPr lang="en-US" sz="1200" dirty="0">
                <a:solidFill>
                  <a:schemeClr val="tx1"/>
                </a:solidFill>
                <a:latin typeface="Arial" panose="020B0604020202020204" pitchFamily="34" charset="0"/>
                <a:cs typeface="Arial" panose="020B0604020202020204" pitchFamily="34" charset="0"/>
              </a:rPr>
              <a:t>You can find this collection here:</a:t>
            </a:r>
            <a:br>
              <a:rPr lang="en-US" sz="1200" dirty="0">
                <a:solidFill>
                  <a:schemeClr val="tx1"/>
                </a:solidFill>
                <a:latin typeface="Arial" panose="020B0604020202020204" pitchFamily="34" charset="0"/>
                <a:cs typeface="Arial" panose="020B0604020202020204" pitchFamily="34" charset="0"/>
              </a:rPr>
            </a:br>
            <a:r>
              <a:rPr lang="en-US" sz="1200" b="1" dirty="0">
                <a:solidFill>
                  <a:schemeClr val="tx1"/>
                </a:solidFill>
                <a:latin typeface="Arial" panose="020B0604020202020204" pitchFamily="34" charset="0"/>
                <a:cs typeface="Arial" panose="020B0604020202020204" pitchFamily="34" charset="0"/>
              </a:rPr>
              <a:t>Intranet – About </a:t>
            </a:r>
            <a:r>
              <a:rPr lang="en-US" sz="1200" b="1" dirty="0" err="1">
                <a:solidFill>
                  <a:schemeClr val="tx1"/>
                </a:solidFill>
                <a:latin typeface="Arial" panose="020B0604020202020204" pitchFamily="34" charset="0"/>
                <a:cs typeface="Arial" panose="020B0604020202020204" pitchFamily="34" charset="0"/>
              </a:rPr>
              <a:t>ifm</a:t>
            </a:r>
            <a:r>
              <a:rPr lang="en-US" sz="1200" b="1" dirty="0">
                <a:solidFill>
                  <a:schemeClr val="tx1"/>
                </a:solidFill>
                <a:latin typeface="Arial" panose="020B0604020202020204" pitchFamily="34" charset="0"/>
                <a:cs typeface="Arial" panose="020B0604020202020204" pitchFamily="34" charset="0"/>
              </a:rPr>
              <a:t> – Company Facts – </a:t>
            </a:r>
            <a:r>
              <a:rPr lang="en-US" sz="1200" b="1" dirty="0" err="1">
                <a:solidFill>
                  <a:schemeClr val="tx1"/>
                </a:solidFill>
                <a:latin typeface="Arial" panose="020B0604020202020204" pitchFamily="34" charset="0"/>
                <a:cs typeface="Arial" panose="020B0604020202020204" pitchFamily="34" charset="0"/>
              </a:rPr>
              <a:t>ifm</a:t>
            </a:r>
            <a:r>
              <a:rPr lang="en-US" sz="1200" b="1" dirty="0">
                <a:solidFill>
                  <a:schemeClr val="tx1"/>
                </a:solidFill>
                <a:latin typeface="Arial" panose="020B0604020202020204" pitchFamily="34" charset="0"/>
                <a:cs typeface="Arial" panose="020B0604020202020204" pitchFamily="34" charset="0"/>
              </a:rPr>
              <a:t> </a:t>
            </a:r>
            <a:r>
              <a:rPr lang="en-US" sz="1200" b="1" dirty="0" err="1">
                <a:solidFill>
                  <a:schemeClr val="tx1"/>
                </a:solidFill>
                <a:latin typeface="Arial" panose="020B0604020202020204" pitchFamily="34" charset="0"/>
                <a:cs typeface="Arial" panose="020B0604020202020204" pitchFamily="34" charset="0"/>
              </a:rPr>
              <a:t>powerpoint</a:t>
            </a:r>
            <a:r>
              <a:rPr lang="en-US" sz="1200" b="1" dirty="0">
                <a:solidFill>
                  <a:schemeClr val="tx1"/>
                </a:solidFill>
                <a:latin typeface="Arial" panose="020B0604020202020204" pitchFamily="34" charset="0"/>
                <a:cs typeface="Arial" panose="020B0604020202020204" pitchFamily="34" charset="0"/>
              </a:rPr>
              <a:t> toolbox</a:t>
            </a:r>
          </a:p>
          <a:p>
            <a:pPr>
              <a:spcAft>
                <a:spcPts val="300"/>
              </a:spcAft>
            </a:pPr>
            <a:endParaRPr lang="en-US" sz="1200" b="1" dirty="0">
              <a:solidFill>
                <a:schemeClr val="tx1"/>
              </a:solidFill>
              <a:latin typeface="Arial" panose="020B0604020202020204" pitchFamily="34" charset="0"/>
              <a:cs typeface="Arial" panose="020B0604020202020204" pitchFamily="34" charset="0"/>
            </a:endParaRPr>
          </a:p>
          <a:p>
            <a:pPr>
              <a:spcAft>
                <a:spcPts val="600"/>
              </a:spcAft>
            </a:pPr>
            <a:r>
              <a:rPr lang="en-US" sz="1200" dirty="0"/>
              <a:t>If you use the </a:t>
            </a:r>
            <a:r>
              <a:rPr lang="en-US" sz="1200" b="1" dirty="0"/>
              <a:t>title slide with the image placeholder</a:t>
            </a:r>
            <a:r>
              <a:rPr lang="en-US" sz="1200" dirty="0"/>
              <a:t>, please insert your image </a:t>
            </a:r>
            <a:br>
              <a:rPr lang="en-US" sz="1200" dirty="0"/>
            </a:br>
            <a:r>
              <a:rPr lang="en-US" sz="1200" dirty="0"/>
              <a:t>and set its </a:t>
            </a:r>
            <a:r>
              <a:rPr lang="en-US" sz="1200" b="1" dirty="0"/>
              <a:t>transparency</a:t>
            </a:r>
            <a:r>
              <a:rPr lang="en-US" sz="1200" dirty="0"/>
              <a:t> to </a:t>
            </a:r>
            <a:r>
              <a:rPr lang="en-US" sz="1200" b="1" dirty="0"/>
              <a:t>50%</a:t>
            </a:r>
            <a:r>
              <a:rPr lang="en-US" sz="1200" dirty="0"/>
              <a:t> </a:t>
            </a:r>
          </a:p>
          <a:p>
            <a:pPr>
              <a:spcAft>
                <a:spcPts val="600"/>
              </a:spcAft>
            </a:pPr>
            <a:r>
              <a:rPr lang="en-US" sz="1200" dirty="0"/>
              <a:t>(Picture Format → </a:t>
            </a:r>
            <a:br>
              <a:rPr lang="en-US" sz="1200" dirty="0"/>
            </a:br>
            <a:r>
              <a:rPr lang="en-US" sz="1200" dirty="0"/>
              <a:t>Picture Transparency → 50%).</a:t>
            </a:r>
          </a:p>
          <a:p>
            <a:pPr>
              <a:spcAft>
                <a:spcPts val="600"/>
              </a:spcAft>
            </a:pPr>
            <a:r>
              <a:rPr lang="en-US" sz="1200" dirty="0"/>
              <a:t>When using this slide, inserting an image is mandatory – do not use the black background.</a:t>
            </a:r>
            <a:endParaRPr lang="en-US" sz="1200" b="1" dirty="0"/>
          </a:p>
        </p:txBody>
      </p:sp>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bwMode="blackWhite">
          <a:xfrm>
            <a:off x="373063" y="373063"/>
            <a:ext cx="11447462" cy="830997"/>
          </a:xfrm>
        </p:spPr>
        <p:txBody>
          <a:bodyPr vert="horz" lIns="0" tIns="0" rIns="0" bIns="0" anchor="t">
            <a:spAutoFit/>
          </a:bodyPr>
          <a:lstStyle>
            <a:lvl1pPr algn="l">
              <a:defRPr sz="6000">
                <a:solidFill>
                  <a:schemeClr val="bg1"/>
                </a:solidFill>
                <a:latin typeface="+mj-lt"/>
              </a:defRPr>
            </a:lvl1pPr>
          </a:lstStyle>
          <a:p>
            <a:r>
              <a:rPr lang="en-US" dirty="0"/>
              <a:t>Presentation title</a:t>
            </a:r>
          </a:p>
        </p:txBody>
      </p:sp>
      <p:sp>
        <p:nvSpPr>
          <p:cNvPr id="3" name="Subtitle 2">
            <a:extLst>
              <a:ext uri="{FF2B5EF4-FFF2-40B4-BE49-F238E27FC236}">
                <a16:creationId xmlns:a16="http://schemas.microsoft.com/office/drawing/2014/main" id="{8576763F-DB2C-1653-E1D8-F89762942EDD}"/>
              </a:ext>
            </a:extLst>
          </p:cNvPr>
          <p:cNvSpPr>
            <a:spLocks noGrp="1"/>
          </p:cNvSpPr>
          <p:nvPr>
            <p:ph type="subTitle" idx="1" hasCustomPrompt="1"/>
          </p:nvPr>
        </p:nvSpPr>
        <p:spPr bwMode="blackWhite">
          <a:xfrm>
            <a:off x="373063" y="1204060"/>
            <a:ext cx="11447462" cy="461665"/>
          </a:xfrm>
        </p:spPr>
        <p:txBody>
          <a:bodyPr lIns="0" tIns="0" rIns="0" bIns="0">
            <a:spAutoFit/>
          </a:bodyPr>
          <a:lstStyle>
            <a:lvl1pPr marL="0" indent="0" algn="l">
              <a:buNone/>
              <a:defRPr sz="3000">
                <a:solidFill>
                  <a:schemeClr val="bg1"/>
                </a:solidFill>
              </a:defRPr>
            </a:lvl1pPr>
            <a:lvl2pPr marL="0" indent="0" algn="l">
              <a:buNone/>
              <a:defRPr sz="3000">
                <a:solidFill>
                  <a:schemeClr val="bg1"/>
                </a:solidFill>
              </a:defRPr>
            </a:lvl2pPr>
            <a:lvl3pPr marL="0" indent="0" algn="l">
              <a:buNone/>
              <a:defRPr sz="3000">
                <a:solidFill>
                  <a:schemeClr val="bg1"/>
                </a:solidFill>
              </a:defRPr>
            </a:lvl3pPr>
            <a:lvl4pPr marL="0" indent="0" algn="l">
              <a:buNone/>
              <a:defRPr sz="3000">
                <a:solidFill>
                  <a:schemeClr val="bg1"/>
                </a:solidFill>
              </a:defRPr>
            </a:lvl4pPr>
            <a:lvl5pPr marL="0" indent="0" algn="l">
              <a:buNone/>
              <a:defRPr sz="3000">
                <a:solidFill>
                  <a:schemeClr val="bg1"/>
                </a:solidFill>
              </a:defRPr>
            </a:lvl5pPr>
            <a:lvl6pPr marL="0" indent="0" algn="l">
              <a:buNone/>
              <a:defRPr sz="3000">
                <a:solidFill>
                  <a:schemeClr val="bg1"/>
                </a:solidFill>
              </a:defRPr>
            </a:lvl6pPr>
            <a:lvl7pPr marL="0" indent="0" algn="l">
              <a:buNone/>
              <a:defRPr sz="3000">
                <a:solidFill>
                  <a:schemeClr val="bg1"/>
                </a:solidFill>
              </a:defRPr>
            </a:lvl7pPr>
            <a:lvl8pPr marL="0" indent="0" algn="l">
              <a:buNone/>
              <a:defRPr sz="3000">
                <a:solidFill>
                  <a:schemeClr val="bg1"/>
                </a:solidFill>
              </a:defRPr>
            </a:lvl8pPr>
            <a:lvl9pPr marL="0" indent="0" algn="l">
              <a:buNone/>
              <a:defRPr sz="3000">
                <a:solidFill>
                  <a:schemeClr val="bg1"/>
                </a:solidFill>
              </a:defRPr>
            </a:lvl9pPr>
          </a:lstStyle>
          <a:p>
            <a:r>
              <a:rPr lang="en-US" dirty="0"/>
              <a:t>Presentation description</a:t>
            </a:r>
          </a:p>
        </p:txBody>
      </p:sp>
      <p:sp>
        <p:nvSpPr>
          <p:cNvPr id="8" name="Text Placeholder 7">
            <a:extLst>
              <a:ext uri="{FF2B5EF4-FFF2-40B4-BE49-F238E27FC236}">
                <a16:creationId xmlns:a16="http://schemas.microsoft.com/office/drawing/2014/main" id="{3A12F02C-6C8E-FA47-49A4-0D592874E424}"/>
              </a:ext>
            </a:extLst>
          </p:cNvPr>
          <p:cNvSpPr>
            <a:spLocks noGrp="1"/>
          </p:cNvSpPr>
          <p:nvPr>
            <p:ph type="body" sz="quarter" idx="10" hasCustomPrompt="1"/>
          </p:nvPr>
        </p:nvSpPr>
        <p:spPr bwMode="blackWhite">
          <a:xfrm>
            <a:off x="373063" y="5956300"/>
            <a:ext cx="5722937" cy="252413"/>
          </a:xfrm>
        </p:spPr>
        <p:txBody>
          <a:bodyPr lIns="0" tIns="0" rIns="0" bIns="0" anchor="b">
            <a:spAutoFit/>
          </a:bodyPr>
          <a:lstStyle>
            <a:lvl1pPr>
              <a:buNone/>
              <a:defRPr sz="1600">
                <a:solidFill>
                  <a:schemeClr val="bg1"/>
                </a:solidFill>
              </a:defRPr>
            </a:lvl1pPr>
            <a:lvl5pPr marL="540000" indent="0">
              <a:buNone/>
              <a:defRPr/>
            </a:lvl5pPr>
          </a:lstStyle>
          <a:p>
            <a:r>
              <a:rPr lang="en-US" dirty="0">
                <a:cs typeface="Arial" panose="020B0604020202020204" pitchFamily="34" charset="0"/>
              </a:rPr>
              <a:t>Date or further information</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bwMode="blackWhite">
          <a:xfrm>
            <a:off x="1397000" y="6232009"/>
            <a:ext cx="4699000" cy="184666"/>
          </a:xfrm>
        </p:spPr>
        <p:txBody>
          <a:bodyPr lIns="0" tIns="0" rIns="0" bIns="0" anchor="b">
            <a:sp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bwMode="blackWhite">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2"/>
                </a:solidFill>
              </a:rPr>
              <a:t>•</a:t>
            </a:r>
            <a:r>
              <a:rPr lang="en-US" sz="1200" dirty="0">
                <a:solidFill>
                  <a:schemeClr val="bg1"/>
                </a:solidFill>
              </a:rPr>
              <a:t> Author: </a:t>
            </a:r>
          </a:p>
        </p:txBody>
      </p:sp>
      <p:grpSp>
        <p:nvGrpSpPr>
          <p:cNvPr id="19" name="Group 18">
            <a:extLst>
              <a:ext uri="{FF2B5EF4-FFF2-40B4-BE49-F238E27FC236}">
                <a16:creationId xmlns:a16="http://schemas.microsoft.com/office/drawing/2014/main" id="{07520C57-5E5D-DB50-3769-4784B35DE6AE}"/>
              </a:ext>
            </a:extLst>
          </p:cNvPr>
          <p:cNvGrpSpPr>
            <a:grpSpLocks/>
          </p:cNvGrpSpPr>
          <p:nvPr userDrawn="1"/>
        </p:nvGrpSpPr>
        <p:grpSpPr>
          <a:xfrm>
            <a:off x="6597756" y="2225331"/>
            <a:ext cx="5088778" cy="4811136"/>
            <a:chOff x="6597756" y="2225331"/>
            <a:chExt cx="5088778" cy="4811136"/>
          </a:xfrm>
        </p:grpSpPr>
        <p:sp>
          <p:nvSpPr>
            <p:cNvPr id="20" name="Freeform: Shape 19">
              <a:extLst>
                <a:ext uri="{FF2B5EF4-FFF2-40B4-BE49-F238E27FC236}">
                  <a16:creationId xmlns:a16="http://schemas.microsoft.com/office/drawing/2014/main" id="{6F32EA48-1DF4-3D3A-5586-7E84648EA4D7}"/>
                </a:ext>
              </a:extLst>
            </p:cNvPr>
            <p:cNvSpPr/>
            <p:nvPr/>
          </p:nvSpPr>
          <p:spPr bwMode="gray">
            <a:xfrm rot="21132644">
              <a:off x="6597756" y="2225331"/>
              <a:ext cx="5088778" cy="4811136"/>
            </a:xfrm>
            <a:custGeom>
              <a:avLst/>
              <a:gdLst>
                <a:gd name="connsiteX0" fmla="*/ 2804813 w 5088778"/>
                <a:gd name="connsiteY0" fmla="*/ 13119 h 4811136"/>
                <a:gd name="connsiteX1" fmla="*/ 5088778 w 5088778"/>
                <a:gd name="connsiteY1" fmla="*/ 2544389 h 4811136"/>
                <a:gd name="connsiteX2" fmla="*/ 3757935 w 5088778"/>
                <a:gd name="connsiteY2" fmla="*/ 4782020 h 4811136"/>
                <a:gd name="connsiteX3" fmla="*/ 3697427 w 5088778"/>
                <a:gd name="connsiteY3" fmla="*/ 4811136 h 4811136"/>
                <a:gd name="connsiteX4" fmla="*/ 826279 w 5088778"/>
                <a:gd name="connsiteY4" fmla="*/ 4418385 h 4811136"/>
                <a:gd name="connsiteX5" fmla="*/ 744609 w 5088778"/>
                <a:gd name="connsiteY5" fmla="*/ 4344170 h 4811136"/>
                <a:gd name="connsiteX6" fmla="*/ 1 w 5088778"/>
                <a:gd name="connsiteY6" fmla="*/ 2544389 h 4811136"/>
                <a:gd name="connsiteX7" fmla="*/ 2544389 w 5088778"/>
                <a:gd name="connsiteY7" fmla="*/ 1 h 4811136"/>
                <a:gd name="connsiteX8" fmla="*/ 2804813 w 5088778"/>
                <a:gd name="connsiteY8" fmla="*/ 13119 h 48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8778" h="4811136">
                  <a:moveTo>
                    <a:pt x="2804813" y="13119"/>
                  </a:moveTo>
                  <a:cubicBezTo>
                    <a:pt x="4089029" y="143239"/>
                    <a:pt x="5088778" y="1225425"/>
                    <a:pt x="5088778" y="2544389"/>
                  </a:cubicBezTo>
                  <a:cubicBezTo>
                    <a:pt x="5088778" y="3511630"/>
                    <a:pt x="4551135" y="4351536"/>
                    <a:pt x="3757935" y="4782020"/>
                  </a:cubicBezTo>
                  <a:lnTo>
                    <a:pt x="3697427" y="4811136"/>
                  </a:lnTo>
                  <a:lnTo>
                    <a:pt x="826279" y="4418385"/>
                  </a:lnTo>
                  <a:lnTo>
                    <a:pt x="744609" y="4344170"/>
                  </a:lnTo>
                  <a:cubicBezTo>
                    <a:pt x="284374" y="3883934"/>
                    <a:pt x="0" y="3247837"/>
                    <a:pt x="1" y="2544389"/>
                  </a:cubicBezTo>
                  <a:cubicBezTo>
                    <a:pt x="0" y="1137494"/>
                    <a:pt x="1137494" y="0"/>
                    <a:pt x="2544389" y="1"/>
                  </a:cubicBezTo>
                  <a:cubicBezTo>
                    <a:pt x="2632320" y="1"/>
                    <a:pt x="2719199" y="4444"/>
                    <a:pt x="2804813" y="13119"/>
                  </a:cubicBezTo>
                  <a:close/>
                </a:path>
              </a:pathLst>
            </a:custGeom>
            <a:solidFill>
              <a:schemeClr val="tx2"/>
            </a:solidFill>
            <a:ln w="1748" cap="flat">
              <a:solidFill>
                <a:srgbClr val="FF6E00"/>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4A9AD83-0ACC-5A60-B880-53E7D831B0B7}"/>
                </a:ext>
              </a:extLst>
            </p:cNvPr>
            <p:cNvSpPr/>
            <p:nvPr/>
          </p:nvSpPr>
          <p:spPr bwMode="gray">
            <a:xfrm rot="21132644">
              <a:off x="7048659" y="2839116"/>
              <a:ext cx="4118922" cy="3262805"/>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4" h="323153">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36342" y="60960"/>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475815D-A84D-8187-CE2C-EBE4C33CA938}"/>
                </a:ext>
              </a:extLst>
            </p:cNvPr>
            <p:cNvSpPr/>
            <p:nvPr/>
          </p:nvSpPr>
          <p:spPr bwMode="gray">
            <a:xfrm rot="21132644">
              <a:off x="6960598" y="3487392"/>
              <a:ext cx="898018" cy="898018"/>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solidFill>
                <a:srgbClr val="1A1A18"/>
              </a:solidFill>
              <a:prstDash val="solid"/>
              <a:miter/>
            </a:ln>
          </p:spPr>
          <p:txBody>
            <a:bodyPr rtlCol="0" anchor="ctr"/>
            <a:lstStyle/>
            <a:p>
              <a:endParaRPr lang="en-US"/>
            </a:p>
          </p:txBody>
        </p:sp>
      </p:grpSp>
    </p:spTree>
    <p:extLst>
      <p:ext uri="{BB962C8B-B14F-4D97-AF65-F5344CB8AC3E}">
        <p14:creationId xmlns:p14="http://schemas.microsoft.com/office/powerpoint/2010/main" val="1291707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divider orange background">
    <p:bg>
      <p:bgPr>
        <a:solidFill>
          <a:schemeClr val="tx2"/>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2178A092-4712-C262-2FCB-E37DDCD7F55F}"/>
              </a:ext>
            </a:extLst>
          </p:cNvPr>
          <p:cNvGraphicFramePr>
            <a:graphicFrameLocks noChangeAspect="1"/>
          </p:cNvGraphicFramePr>
          <p:nvPr userDrawn="1">
            <p:custDataLst>
              <p:tags r:id="rId1"/>
            </p:custDataLst>
            <p:extLst>
              <p:ext uri="{D42A27DB-BD31-4B8C-83A1-F6EECF244321}">
                <p14:modId xmlns:p14="http://schemas.microsoft.com/office/powerpoint/2010/main" val="5737024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12" name="think-cell data - do not delete" hidden="1">
                        <a:extLst>
                          <a:ext uri="{FF2B5EF4-FFF2-40B4-BE49-F238E27FC236}">
                            <a16:creationId xmlns:a16="http://schemas.microsoft.com/office/drawing/2014/main" id="{2178A092-4712-C262-2FCB-E37DDCD7F5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a:xfrm>
            <a:off x="373063" y="373063"/>
            <a:ext cx="11447462" cy="498598"/>
          </a:xfrm>
        </p:spPr>
        <p:txBody>
          <a:bodyPr vert="horz" lIns="0" tIns="0" rIns="0" bIns="0" anchor="t">
            <a:spAutoFit/>
          </a:bodyPr>
          <a:lstStyle>
            <a:lvl1pPr algn="l">
              <a:defRPr sz="3500">
                <a:solidFill>
                  <a:schemeClr val="tx1"/>
                </a:solidFill>
                <a:latin typeface="+mj-lt"/>
              </a:defRPr>
            </a:lvl1pPr>
          </a:lstStyle>
          <a:p>
            <a:r>
              <a:rPr lang="en-US" dirty="0"/>
              <a:t>Chapter title</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a:xfrm>
            <a:off x="1397000" y="6232009"/>
            <a:ext cx="4699000" cy="184666"/>
          </a:xfrm>
        </p:spPr>
        <p:txBody>
          <a:bodyPr lIns="0" tIns="0" rIns="0" bIns="0" anchor="b">
            <a:sp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1"/>
                </a:solidFill>
              </a:rPr>
              <a:t>•</a:t>
            </a:r>
            <a:r>
              <a:rPr lang="en-US" sz="1200" dirty="0">
                <a:solidFill>
                  <a:schemeClr val="bg1"/>
                </a:solidFill>
              </a:rPr>
              <a:t> Author: </a:t>
            </a:r>
          </a:p>
        </p:txBody>
      </p:sp>
      <p:pic>
        <p:nvPicPr>
          <p:cNvPr id="9" name="Grafik 8">
            <a:extLst>
              <a:ext uri="{FF2B5EF4-FFF2-40B4-BE49-F238E27FC236}">
                <a16:creationId xmlns:a16="http://schemas.microsoft.com/office/drawing/2014/main" id="{66F77653-073C-6AA9-DAB2-02927701D10B}"/>
              </a:ext>
            </a:extLst>
          </p:cNvPr>
          <p:cNvPicPr>
            <a:picLocks noChangeAspect="1"/>
          </p:cNvPicPr>
          <p:nvPr userDrawn="1"/>
        </p:nvPicPr>
        <p:blipFill>
          <a:blip r:embed="rId5"/>
          <a:stretch>
            <a:fillRect/>
          </a:stretch>
        </p:blipFill>
        <p:spPr>
          <a:xfrm>
            <a:off x="6548438" y="2111435"/>
            <a:ext cx="5334000" cy="4749800"/>
          </a:xfrm>
          <a:prstGeom prst="rect">
            <a:avLst/>
          </a:prstGeom>
        </p:spPr>
      </p:pic>
    </p:spTree>
    <p:extLst>
      <p:ext uri="{BB962C8B-B14F-4D97-AF65-F5344CB8AC3E}">
        <p14:creationId xmlns:p14="http://schemas.microsoft.com/office/powerpoint/2010/main" val="4200446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text list white backgroun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BF1462E-821F-E0BE-6720-CB0771694BAA}"/>
              </a:ext>
            </a:extLst>
          </p:cNvPr>
          <p:cNvGraphicFramePr>
            <a:graphicFrameLocks noChangeAspect="1"/>
          </p:cNvGraphicFramePr>
          <p:nvPr userDrawn="1">
            <p:custDataLst>
              <p:tags r:id="rId1"/>
            </p:custDataLst>
            <p:extLst>
              <p:ext uri="{D42A27DB-BD31-4B8C-83A1-F6EECF244321}">
                <p14:modId xmlns:p14="http://schemas.microsoft.com/office/powerpoint/2010/main" val="317543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6" name="think-cell data - do not delete" hidden="1">
                        <a:extLst>
                          <a:ext uri="{FF2B5EF4-FFF2-40B4-BE49-F238E27FC236}">
                            <a16:creationId xmlns:a16="http://schemas.microsoft.com/office/drawing/2014/main" id="{ABF1462E-821F-E0BE-6720-CB0771694B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vert="horz"/>
          <a:lstStyle>
            <a:lvl1pPr>
              <a:defRPr/>
            </a:lvl1pPr>
          </a:lstStyle>
          <a:p>
            <a:r>
              <a:rPr lang="en-US" dirty="0"/>
              <a:t>Agenda</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11" name="Text Placeholder 10">
            <a:extLst>
              <a:ext uri="{FF2B5EF4-FFF2-40B4-BE49-F238E27FC236}">
                <a16:creationId xmlns:a16="http://schemas.microsoft.com/office/drawing/2014/main" id="{6309C4C4-B494-F634-E921-39ECB35B419E}"/>
              </a:ext>
            </a:extLst>
          </p:cNvPr>
          <p:cNvSpPr>
            <a:spLocks noGrp="1"/>
          </p:cNvSpPr>
          <p:nvPr>
            <p:ph type="body" sz="quarter" idx="15" hasCustomPrompt="1"/>
          </p:nvPr>
        </p:nvSpPr>
        <p:spPr>
          <a:xfrm>
            <a:off x="373592" y="1635656"/>
            <a:ext cx="11447463" cy="4571754"/>
          </a:xfrm>
        </p:spPr>
        <p:txBody>
          <a:bodyPr lIns="0" tIns="0" rIns="0" bIns="0">
            <a:noAutofit/>
          </a:bodyPr>
          <a:lstStyle>
            <a:lvl1pPr marL="360000" indent="-360000">
              <a:spcAft>
                <a:spcPts val="1200"/>
              </a:spcAft>
              <a:buClr>
                <a:schemeClr val="tx2"/>
              </a:buClr>
              <a:buFont typeface="+mj-lt"/>
              <a:buAutoNum type="arabicPeriod"/>
              <a:defRPr/>
            </a:lvl1pPr>
          </a:lstStyle>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spcAft>
                <a:spcPts val="0"/>
              </a:spcAft>
              <a:buNone/>
              <a:defRPr sz="900"/>
            </a:lvl1pPr>
            <a:lvl2pPr marL="0" indent="0">
              <a:spcAft>
                <a:spcPts val="0"/>
              </a:spcAft>
              <a:buNone/>
              <a:defRPr sz="900"/>
            </a:lvl2pPr>
            <a:lvl3pPr marL="0" indent="0">
              <a:spcAft>
                <a:spcPts val="0"/>
              </a:spcAft>
              <a:buNone/>
              <a:defRPr sz="900"/>
            </a:lvl3pPr>
            <a:lvl4pPr marL="0" indent="0">
              <a:spcAft>
                <a:spcPts val="0"/>
              </a:spcAft>
              <a:buNone/>
              <a:defRPr sz="900"/>
            </a:lvl4pPr>
            <a:lvl5pPr marL="0" indent="0">
              <a:spcAft>
                <a:spcPts val="0"/>
              </a:spcAft>
              <a:buNone/>
              <a:defRPr sz="900"/>
            </a:lvl5pPr>
            <a:lvl6pPr marL="0" indent="0">
              <a:spcAft>
                <a:spcPts val="0"/>
              </a:spcAft>
              <a:buNone/>
              <a:defRPr sz="900"/>
            </a:lvl6pPr>
            <a:lvl7pPr marL="0" indent="0">
              <a:spcAft>
                <a:spcPts val="0"/>
              </a:spcAft>
              <a:buNone/>
              <a:defRPr sz="900"/>
            </a:lvl7pPr>
            <a:lvl8pPr marL="0" indent="0">
              <a:spcAft>
                <a:spcPts val="0"/>
              </a:spcAft>
              <a:buNone/>
              <a:defRPr sz="900"/>
            </a:lvl8pPr>
            <a:lvl9pPr marL="0" indent="0">
              <a:spcAft>
                <a:spcPts val="0"/>
              </a:spcAft>
              <a:buNone/>
              <a:defRPr sz="900"/>
            </a:lvl9pPr>
          </a:lstStyle>
          <a:p>
            <a:pPr marL="0" lvl="0"/>
            <a:r>
              <a:rPr lang="en-US" dirty="0"/>
              <a:t>Please add chapter title</a:t>
            </a:r>
            <a:endParaRPr lang="en-US" sz="900" dirty="0"/>
          </a:p>
        </p:txBody>
      </p:sp>
    </p:spTree>
    <p:extLst>
      <p:ext uri="{BB962C8B-B14F-4D97-AF65-F5344CB8AC3E}">
        <p14:creationId xmlns:p14="http://schemas.microsoft.com/office/powerpoint/2010/main" val="2922386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text list grey background">
    <p:bg>
      <p:bgPr>
        <a:solidFill>
          <a:schemeClr val="bg2"/>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42A970C-00C3-B51C-45CA-D053C2244486}"/>
              </a:ext>
            </a:extLst>
          </p:cNvPr>
          <p:cNvGraphicFramePr>
            <a:graphicFrameLocks noChangeAspect="1"/>
          </p:cNvGraphicFramePr>
          <p:nvPr userDrawn="1">
            <p:custDataLst>
              <p:tags r:id="rId1"/>
            </p:custDataLst>
            <p:extLst>
              <p:ext uri="{D42A27DB-BD31-4B8C-83A1-F6EECF244321}">
                <p14:modId xmlns:p14="http://schemas.microsoft.com/office/powerpoint/2010/main" val="1062270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6" name="think-cell data - do not delete" hidden="1">
                        <a:extLst>
                          <a:ext uri="{FF2B5EF4-FFF2-40B4-BE49-F238E27FC236}">
                            <a16:creationId xmlns:a16="http://schemas.microsoft.com/office/drawing/2014/main" id="{242A970C-00C3-B51C-45CA-D053C224448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vert="horz"/>
          <a:lstStyle>
            <a:lvl1pPr>
              <a:defRPr/>
            </a:lvl1pPr>
          </a:lstStyle>
          <a:p>
            <a:r>
              <a:rPr lang="en-US" dirty="0"/>
              <a:t>Agenda</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11" name="Text Placeholder 10">
            <a:extLst>
              <a:ext uri="{FF2B5EF4-FFF2-40B4-BE49-F238E27FC236}">
                <a16:creationId xmlns:a16="http://schemas.microsoft.com/office/drawing/2014/main" id="{6309C4C4-B494-F634-E921-39ECB35B419E}"/>
              </a:ext>
            </a:extLst>
          </p:cNvPr>
          <p:cNvSpPr>
            <a:spLocks noGrp="1"/>
          </p:cNvSpPr>
          <p:nvPr>
            <p:ph type="body" sz="quarter" idx="15" hasCustomPrompt="1"/>
          </p:nvPr>
        </p:nvSpPr>
        <p:spPr>
          <a:xfrm>
            <a:off x="373592" y="1635656"/>
            <a:ext cx="11447463" cy="4571754"/>
          </a:xfrm>
        </p:spPr>
        <p:txBody>
          <a:bodyPr lIns="0" tIns="0" rIns="0" bIns="0">
            <a:noAutofit/>
          </a:bodyPr>
          <a:lstStyle>
            <a:lvl1pPr marL="360000" indent="-360000">
              <a:spcAft>
                <a:spcPts val="600"/>
              </a:spcAft>
              <a:buClr>
                <a:schemeClr val="tx2"/>
              </a:buClr>
              <a:buFont typeface="+mj-lt"/>
              <a:buAutoNum type="arabicPeriod"/>
              <a:defRPr lang="en-US" sz="1800" kern="1200" dirty="0">
                <a:solidFill>
                  <a:schemeClr val="tx1"/>
                </a:solidFill>
                <a:latin typeface="+mn-lt"/>
                <a:ea typeface="+mn-ea"/>
                <a:cs typeface="+mn-cs"/>
              </a:defRPr>
            </a:lvl1pPr>
          </a:lstStyle>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lang="en-US" sz="900" kern="1200" dirty="0" smtClean="0">
                <a:solidFill>
                  <a:schemeClr val="tx1"/>
                </a:solidFill>
                <a:latin typeface="+mn-lt"/>
                <a:ea typeface="+mn-ea"/>
                <a:cs typeface="+mn-cs"/>
              </a:defRPr>
            </a:lvl2pPr>
            <a:lvl3pPr marL="0" indent="0">
              <a:buNone/>
              <a:defRPr lang="en-US" sz="900" kern="1200" dirty="0" smtClean="0">
                <a:solidFill>
                  <a:schemeClr val="tx1"/>
                </a:solidFill>
                <a:latin typeface="+mn-lt"/>
                <a:ea typeface="+mn-ea"/>
                <a:cs typeface="+mn-cs"/>
              </a:defRPr>
            </a:lvl3pPr>
            <a:lvl4pPr marL="0" indent="0">
              <a:buNone/>
              <a:defRPr lang="en-US" sz="900" kern="1200" dirty="0" smtClean="0">
                <a:solidFill>
                  <a:schemeClr val="tx1"/>
                </a:solidFill>
                <a:latin typeface="+mn-lt"/>
                <a:ea typeface="+mn-ea"/>
                <a:cs typeface="+mn-cs"/>
              </a:defRPr>
            </a:lvl4pPr>
            <a:lvl5pPr marL="0" indent="0">
              <a:buNone/>
              <a:defRPr lang="en-US" sz="900" kern="1200" dirty="0" smtClean="0">
                <a:solidFill>
                  <a:schemeClr val="tx1"/>
                </a:solidFill>
                <a:latin typeface="+mn-lt"/>
                <a:ea typeface="+mn-ea"/>
                <a:cs typeface="+mn-cs"/>
              </a:defRPr>
            </a:lvl5pPr>
            <a:lvl6pPr marL="0" indent="0">
              <a:buNone/>
              <a:defRPr lang="en-US" sz="900" kern="1200" dirty="0" smtClean="0">
                <a:solidFill>
                  <a:schemeClr val="tx1"/>
                </a:solidFill>
                <a:latin typeface="+mn-lt"/>
                <a:ea typeface="+mn-ea"/>
                <a:cs typeface="+mn-cs"/>
              </a:defRPr>
            </a:lvl6pPr>
            <a:lvl7pPr marL="0" indent="0">
              <a:buNone/>
              <a:defRPr lang="en-US" sz="900" kern="1200" dirty="0" smtClean="0">
                <a:solidFill>
                  <a:schemeClr val="tx1"/>
                </a:solidFill>
                <a:latin typeface="+mn-lt"/>
                <a:ea typeface="+mn-ea"/>
                <a:cs typeface="+mn-cs"/>
              </a:defRPr>
            </a:lvl7pPr>
            <a:lvl8pPr marL="0" indent="0">
              <a:buNone/>
              <a:defRPr lang="en-US" sz="900" kern="1200" dirty="0" smtClean="0">
                <a:solidFill>
                  <a:schemeClr val="tx1"/>
                </a:solidFill>
                <a:latin typeface="+mn-lt"/>
                <a:ea typeface="+mn-ea"/>
                <a:cs typeface="+mn-cs"/>
              </a:defRPr>
            </a:lvl8pPr>
            <a:lvl9pPr marL="0" indent="0">
              <a:buNone/>
              <a:defRPr lang="en-US" sz="900" kern="1200" dirty="0">
                <a:solidFill>
                  <a:schemeClr val="tx1"/>
                </a:solidFill>
                <a:latin typeface="+mn-lt"/>
                <a:ea typeface="+mn-ea"/>
                <a:cs typeface="+mn-cs"/>
              </a:defRPr>
            </a:lvl9pPr>
          </a:lstStyle>
          <a:p>
            <a:pPr lvl="0"/>
            <a:r>
              <a:rPr lang="en-US" dirty="0"/>
              <a:t>Please add chapter title</a:t>
            </a:r>
          </a:p>
        </p:txBody>
      </p:sp>
    </p:spTree>
    <p:extLst>
      <p:ext uri="{BB962C8B-B14F-4D97-AF65-F5344CB8AC3E}">
        <p14:creationId xmlns:p14="http://schemas.microsoft.com/office/powerpoint/2010/main" val="2241900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Font typeface="Arial" panose="020B0604020202020204" pitchFamily="34" charset="0"/>
              <a:buNone/>
              <a:defRPr/>
            </a:lvl9pPr>
          </a:lstStyle>
          <a:p>
            <a:pPr lvl="0"/>
            <a:r>
              <a:rPr lang="en-US" dirty="0"/>
              <a:t>Please add chapter title</a:t>
            </a:r>
          </a:p>
        </p:txBody>
      </p:sp>
    </p:spTree>
    <p:extLst>
      <p:ext uri="{BB962C8B-B14F-4D97-AF65-F5344CB8AC3E}">
        <p14:creationId xmlns:p14="http://schemas.microsoft.com/office/powerpoint/2010/main" val="2421602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Tree>
    <p:extLst>
      <p:ext uri="{BB962C8B-B14F-4D97-AF65-F5344CB8AC3E}">
        <p14:creationId xmlns:p14="http://schemas.microsoft.com/office/powerpoint/2010/main" val="132963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bullet points one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4" y="1635126"/>
            <a:ext cx="1144746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3" y="2014903"/>
            <a:ext cx="11447462"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94931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bullet points one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4" y="1635126"/>
            <a:ext cx="1144746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3" y="2014903"/>
            <a:ext cx="1144746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3918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bullet points two column white background">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40A459E-5386-0A57-4541-79BDC3011258}"/>
              </a:ext>
            </a:extLst>
          </p:cNvPr>
          <p:cNvGraphicFramePr>
            <a:graphicFrameLocks noChangeAspect="1"/>
          </p:cNvGraphicFramePr>
          <p:nvPr userDrawn="1">
            <p:custDataLst>
              <p:tags r:id="rId1"/>
            </p:custDataLst>
            <p:extLst>
              <p:ext uri="{D42A27DB-BD31-4B8C-83A1-F6EECF244321}">
                <p14:modId xmlns:p14="http://schemas.microsoft.com/office/powerpoint/2010/main" val="3607624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8" name="think-cell data - do not delete" hidden="1">
                        <a:extLst>
                          <a:ext uri="{FF2B5EF4-FFF2-40B4-BE49-F238E27FC236}">
                            <a16:creationId xmlns:a16="http://schemas.microsoft.com/office/drawing/2014/main" id="{340A459E-5386-0A57-4541-79BDC30112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vert="horz"/>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lgn="l">
              <a:buNone/>
              <a:defRPr sz="900"/>
            </a:lvl2pPr>
            <a:lvl3pPr marL="0" indent="0" algn="l">
              <a:buNone/>
              <a:defRPr sz="900"/>
            </a:lvl3pPr>
            <a:lvl4pPr marL="0" indent="0" algn="l">
              <a:buNone/>
              <a:defRPr sz="900"/>
            </a:lvl4pPr>
            <a:lvl5pPr marL="0" indent="0" algn="l">
              <a:buNone/>
              <a:defRPr sz="900"/>
            </a:lvl5pPr>
            <a:lvl6pPr marL="0" indent="0" algn="l">
              <a:buNone/>
              <a:defRPr sz="900"/>
            </a:lvl6pPr>
            <a:lvl7pPr marL="0" indent="0" algn="l">
              <a:buNone/>
              <a:defRPr sz="900"/>
            </a:lvl7pPr>
            <a:lvl8pPr marL="0" indent="0" algn="l">
              <a:buNone/>
              <a:defRPr sz="900"/>
            </a:lvl8pPr>
            <a:lvl9pPr marL="0" indent="0" algn="l">
              <a:buNone/>
              <a:defRPr sz="900"/>
            </a:lvl9pPr>
          </a:lstStyle>
          <a:p>
            <a:pPr lvl="0"/>
            <a:r>
              <a:rPr lang="en-US" dirty="0"/>
              <a:t>Please add chapter title</a:t>
            </a:r>
          </a:p>
        </p:txBody>
      </p:sp>
    </p:spTree>
    <p:extLst>
      <p:ext uri="{BB962C8B-B14F-4D97-AF65-F5344CB8AC3E}">
        <p14:creationId xmlns:p14="http://schemas.microsoft.com/office/powerpoint/2010/main" val="3358591441"/>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ullet points two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055431"/>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two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lvl1pPr marL="0" indent="0">
              <a:buNone/>
              <a:defRPr/>
            </a:lvl1pPr>
          </a:lstStyle>
          <a:p>
            <a:pPr lvl="0"/>
            <a:r>
              <a:rPr lang="en-US" dirty="0"/>
              <a:t>Please insert text</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lvl1pPr marL="0" indent="0">
              <a:buNone/>
              <a:defRPr/>
            </a:lvl1pPr>
            <a:lvl2pPr marL="0" indent="0">
              <a:buNone/>
              <a:defRPr/>
            </a:lvl2pPr>
          </a:lstStyle>
          <a:p>
            <a:pPr lvl="0"/>
            <a:r>
              <a:rPr lang="en-US" dirty="0"/>
              <a:t>Please insert text</a:t>
            </a:r>
          </a:p>
        </p:txBody>
      </p:sp>
    </p:spTree>
    <p:extLst>
      <p:ext uri="{BB962C8B-B14F-4D97-AF65-F5344CB8AC3E}">
        <p14:creationId xmlns:p14="http://schemas.microsoft.com/office/powerpoint/2010/main" val="3893535981"/>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two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lvl1pPr marL="0" indent="0">
              <a:buNone/>
              <a:defRPr/>
            </a:lvl1pPr>
          </a:lstStyle>
          <a:p>
            <a:pPr lvl="0"/>
            <a:r>
              <a:rPr lang="en-US" dirty="0"/>
              <a:t>Please insert text</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lvl1pPr marL="0" indent="0">
              <a:buNone/>
              <a:defRPr/>
            </a:lvl1pPr>
            <a:lvl2pPr marL="0" indent="0">
              <a:buNone/>
              <a:defRPr/>
            </a:lvl2pPr>
          </a:lstStyle>
          <a:p>
            <a:pPr lvl="0"/>
            <a:r>
              <a:rPr lang="en-US" dirty="0"/>
              <a:t>Please insert text</a:t>
            </a:r>
          </a:p>
        </p:txBody>
      </p:sp>
    </p:spTree>
    <p:extLst>
      <p:ext uri="{BB962C8B-B14F-4D97-AF65-F5344CB8AC3E}">
        <p14:creationId xmlns:p14="http://schemas.microsoft.com/office/powerpoint/2010/main" val="2521473672"/>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bullet points three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357582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4308884"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4308884"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8244705"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8244705"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2698579"/>
      </p:ext>
    </p:extLst>
  </p:cSld>
  <p:clrMapOvr>
    <a:masterClrMapping/>
  </p:clrMapOvr>
  <p:extLst>
    <p:ext uri="{DCECCB84-F9BA-43D5-87BE-67443E8EF086}">
      <p15:sldGuideLst xmlns:p15="http://schemas.microsoft.com/office/powerpoint/2012/main">
        <p15:guide id="1" pos="2486" userDrawn="1">
          <p15:clr>
            <a:srgbClr val="FBAE40"/>
          </p15:clr>
        </p15:guide>
        <p15:guide id="2" pos="2714" userDrawn="1">
          <p15:clr>
            <a:srgbClr val="FBAE40"/>
          </p15:clr>
        </p15:guide>
        <p15:guide id="3" pos="4964" userDrawn="1">
          <p15:clr>
            <a:srgbClr val="FBAE40"/>
          </p15:clr>
        </p15:guide>
        <p15:guide id="4" pos="519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bullet points three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357582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4308884"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4308884"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8244705"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8244705"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44515023"/>
      </p:ext>
    </p:extLst>
  </p:cSld>
  <p:clrMapOvr>
    <a:masterClrMapping/>
  </p:clrMapOvr>
  <p:extLst>
    <p:ext uri="{DCECCB84-F9BA-43D5-87BE-67443E8EF086}">
      <p15:sldGuideLst xmlns:p15="http://schemas.microsoft.com/office/powerpoint/2012/main">
        <p15:guide id="1" pos="2486" userDrawn="1">
          <p15:clr>
            <a:srgbClr val="FBAE40"/>
          </p15:clr>
        </p15:guide>
        <p15:guide id="2" pos="2714" userDrawn="1">
          <p15:clr>
            <a:srgbClr val="FBAE40"/>
          </p15:clr>
        </p15:guide>
        <p15:guide id="3" pos="4964" userDrawn="1">
          <p15:clr>
            <a:srgbClr val="FBAE40"/>
          </p15:clr>
        </p15:guide>
        <p15:guide id="4" pos="519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ullet points four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2591866"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3324928"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3324928"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6276794"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6276794"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8">
            <a:extLst>
              <a:ext uri="{FF2B5EF4-FFF2-40B4-BE49-F238E27FC236}">
                <a16:creationId xmlns:a16="http://schemas.microsoft.com/office/drawing/2014/main" id="{D701AD16-077B-F2AD-B09E-56C3B796DF2A}"/>
              </a:ext>
            </a:extLst>
          </p:cNvPr>
          <p:cNvSpPr>
            <a:spLocks noGrp="1"/>
          </p:cNvSpPr>
          <p:nvPr>
            <p:ph type="body" sz="quarter" idx="21" hasCustomPrompt="1"/>
          </p:nvPr>
        </p:nvSpPr>
        <p:spPr>
          <a:xfrm>
            <a:off x="9228661" y="1635125"/>
            <a:ext cx="2591866" cy="307777"/>
          </a:xfrm>
        </p:spPr>
        <p:txBody>
          <a:bodyPr lIns="0" tIns="0" rIns="0" bIns="0">
            <a:noAutofit/>
          </a:bodyPr>
          <a:lstStyle>
            <a:lvl1pPr>
              <a:buNone/>
              <a:defRPr sz="2000">
                <a:solidFill>
                  <a:schemeClr val="tx2"/>
                </a:solidFill>
              </a:defRPr>
            </a:lvl1pPr>
          </a:lstStyle>
          <a:p>
            <a:pPr lvl="0"/>
            <a:r>
              <a:rPr lang="en-US" dirty="0"/>
              <a:t>Headline</a:t>
            </a:r>
          </a:p>
        </p:txBody>
      </p:sp>
      <p:sp>
        <p:nvSpPr>
          <p:cNvPr id="21" name="Text Placeholder 20">
            <a:extLst>
              <a:ext uri="{FF2B5EF4-FFF2-40B4-BE49-F238E27FC236}">
                <a16:creationId xmlns:a16="http://schemas.microsoft.com/office/drawing/2014/main" id="{E31C7AF7-6734-B21E-EC79-33B0E6DB202B}"/>
              </a:ext>
            </a:extLst>
          </p:cNvPr>
          <p:cNvSpPr>
            <a:spLocks noGrp="1"/>
          </p:cNvSpPr>
          <p:nvPr>
            <p:ph type="body" sz="quarter" idx="22" hasCustomPrompt="1"/>
          </p:nvPr>
        </p:nvSpPr>
        <p:spPr>
          <a:xfrm>
            <a:off x="9228661"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87969"/>
      </p:ext>
    </p:extLst>
  </p:cSld>
  <p:clrMapOvr>
    <a:masterClrMapping/>
  </p:clrMapOvr>
  <p:extLst>
    <p:ext uri="{DCECCB84-F9BA-43D5-87BE-67443E8EF086}">
      <p15:sldGuideLst xmlns:p15="http://schemas.microsoft.com/office/powerpoint/2012/main">
        <p15:guide id="1" pos="1867" userDrawn="1">
          <p15:clr>
            <a:srgbClr val="FBAE40"/>
          </p15:clr>
        </p15:guide>
        <p15:guide id="2" pos="2094" userDrawn="1">
          <p15:clr>
            <a:srgbClr val="FBAE40"/>
          </p15:clr>
        </p15:guide>
        <p15:guide id="3" pos="3726" userDrawn="1">
          <p15:clr>
            <a:srgbClr val="FBAE40"/>
          </p15:clr>
        </p15:guide>
        <p15:guide id="4" pos="3954" userDrawn="1">
          <p15:clr>
            <a:srgbClr val="FBAE40"/>
          </p15:clr>
        </p15:guide>
        <p15:guide id="5" pos="5586" userDrawn="1">
          <p15:clr>
            <a:srgbClr val="FBAE40"/>
          </p15:clr>
        </p15:guide>
        <p15:guide id="6" pos="5813"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bullet points four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2591866"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3324928"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3324928"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6276794"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6276794"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8">
            <a:extLst>
              <a:ext uri="{FF2B5EF4-FFF2-40B4-BE49-F238E27FC236}">
                <a16:creationId xmlns:a16="http://schemas.microsoft.com/office/drawing/2014/main" id="{D701AD16-077B-F2AD-B09E-56C3B796DF2A}"/>
              </a:ext>
            </a:extLst>
          </p:cNvPr>
          <p:cNvSpPr>
            <a:spLocks noGrp="1"/>
          </p:cNvSpPr>
          <p:nvPr>
            <p:ph type="body" sz="quarter" idx="21" hasCustomPrompt="1"/>
          </p:nvPr>
        </p:nvSpPr>
        <p:spPr>
          <a:xfrm>
            <a:off x="9228661" y="1635125"/>
            <a:ext cx="2591866" cy="307777"/>
          </a:xfrm>
        </p:spPr>
        <p:txBody>
          <a:bodyPr lIns="0" tIns="0" rIns="0" bIns="0">
            <a:noAutofit/>
          </a:bodyPr>
          <a:lstStyle>
            <a:lvl1pPr>
              <a:buNone/>
              <a:defRPr sz="2000">
                <a:solidFill>
                  <a:schemeClr val="tx2"/>
                </a:solidFill>
              </a:defRPr>
            </a:lvl1pPr>
          </a:lstStyle>
          <a:p>
            <a:pPr lvl="0"/>
            <a:r>
              <a:rPr lang="en-US" dirty="0"/>
              <a:t>Headline</a:t>
            </a:r>
          </a:p>
        </p:txBody>
      </p:sp>
      <p:sp>
        <p:nvSpPr>
          <p:cNvPr id="21" name="Text Placeholder 20">
            <a:extLst>
              <a:ext uri="{FF2B5EF4-FFF2-40B4-BE49-F238E27FC236}">
                <a16:creationId xmlns:a16="http://schemas.microsoft.com/office/drawing/2014/main" id="{E31C7AF7-6734-B21E-EC79-33B0E6DB202B}"/>
              </a:ext>
            </a:extLst>
          </p:cNvPr>
          <p:cNvSpPr>
            <a:spLocks noGrp="1"/>
          </p:cNvSpPr>
          <p:nvPr>
            <p:ph type="body" sz="quarter" idx="22" hasCustomPrompt="1"/>
          </p:nvPr>
        </p:nvSpPr>
        <p:spPr>
          <a:xfrm>
            <a:off x="9228661"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58772003"/>
      </p:ext>
    </p:extLst>
  </p:cSld>
  <p:clrMapOvr>
    <a:masterClrMapping/>
  </p:clrMapOvr>
  <p:extLst>
    <p:ext uri="{DCECCB84-F9BA-43D5-87BE-67443E8EF086}">
      <p15:sldGuideLst xmlns:p15="http://schemas.microsoft.com/office/powerpoint/2012/main">
        <p15:guide id="1" pos="1867" userDrawn="1">
          <p15:clr>
            <a:srgbClr val="FBAE40"/>
          </p15:clr>
        </p15:guide>
        <p15:guide id="2" pos="2094" userDrawn="1">
          <p15:clr>
            <a:srgbClr val="FBAE40"/>
          </p15:clr>
        </p15:guide>
        <p15:guide id="3" pos="3726" userDrawn="1">
          <p15:clr>
            <a:srgbClr val="FBAE40"/>
          </p15:clr>
        </p15:guide>
        <p15:guide id="4" pos="3954" userDrawn="1">
          <p15:clr>
            <a:srgbClr val="FBAE40"/>
          </p15:clr>
        </p15:guide>
        <p15:guide id="5" pos="5586" userDrawn="1">
          <p15:clr>
            <a:srgbClr val="FBAE40"/>
          </p15:clr>
        </p15:guide>
        <p15:guide id="6" pos="581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left image right half side white background">
    <p:bg>
      <p:bgPr>
        <a:solidFill>
          <a:schemeClr val="bg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9BCE1AC-B81E-618D-B379-D9F69D09E522}"/>
              </a:ext>
            </a:extLst>
          </p:cNvPr>
          <p:cNvSpPr>
            <a:spLocks noGrp="1"/>
          </p:cNvSpPr>
          <p:nvPr>
            <p:ph type="pic" sz="quarter" idx="19"/>
          </p:nvPr>
        </p:nvSpPr>
        <p:spPr>
          <a:xfrm>
            <a:off x="6276794" y="0"/>
            <a:ext cx="5915206" cy="6858000"/>
          </a:xfrm>
          <a:custGeom>
            <a:avLst/>
            <a:gdLst>
              <a:gd name="connsiteX0" fmla="*/ 5311503 w 5915206"/>
              <a:gd name="connsiteY0" fmla="*/ 6482964 h 6858000"/>
              <a:gd name="connsiteX1" fmla="*/ 5311503 w 5915206"/>
              <a:gd name="connsiteY1" fmla="*/ 6621463 h 6858000"/>
              <a:gd name="connsiteX2" fmla="*/ 5327378 w 5915206"/>
              <a:gd name="connsiteY2" fmla="*/ 6621463 h 6858000"/>
              <a:gd name="connsiteX3" fmla="*/ 5327378 w 5915206"/>
              <a:gd name="connsiteY3" fmla="*/ 6482964 h 6858000"/>
              <a:gd name="connsiteX4" fmla="*/ 0 w 5915206"/>
              <a:gd name="connsiteY4" fmla="*/ 0 h 6858000"/>
              <a:gd name="connsiteX5" fmla="*/ 5915206 w 5915206"/>
              <a:gd name="connsiteY5" fmla="*/ 0 h 6858000"/>
              <a:gd name="connsiteX6" fmla="*/ 5915206 w 5915206"/>
              <a:gd name="connsiteY6" fmla="*/ 6858000 h 6858000"/>
              <a:gd name="connsiteX7" fmla="*/ 0 w 591520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15206" h="6858000">
                <a:moveTo>
                  <a:pt x="5311503" y="6482964"/>
                </a:moveTo>
                <a:lnTo>
                  <a:pt x="5311503" y="6621463"/>
                </a:lnTo>
                <a:lnTo>
                  <a:pt x="5327378" y="6621463"/>
                </a:lnTo>
                <a:lnTo>
                  <a:pt x="5327378" y="6482964"/>
                </a:lnTo>
                <a:close/>
                <a:moveTo>
                  <a:pt x="0" y="0"/>
                </a:moveTo>
                <a:lnTo>
                  <a:pt x="5915206" y="0"/>
                </a:lnTo>
                <a:lnTo>
                  <a:pt x="5915206" y="6858000"/>
                </a:lnTo>
                <a:lnTo>
                  <a:pt x="0" y="6858000"/>
                </a:lnTo>
                <a:close/>
              </a:path>
            </a:pathLst>
          </a:custGeom>
          <a:blipFill>
            <a:blip r:embed="rId2"/>
            <a:stretch>
              <a:fillRect/>
            </a:stretch>
          </a:blipFill>
        </p:spPr>
        <p:txBody>
          <a:bodyPr wrap="square">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554373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554373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4157941822"/>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left image right half side grey background">
    <p:bg>
      <p:bgPr>
        <a:solidFill>
          <a:schemeClr val="bg2"/>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F6284A0-22D9-A809-F02A-EBC9F8A1F3C4}"/>
              </a:ext>
            </a:extLst>
          </p:cNvPr>
          <p:cNvSpPr>
            <a:spLocks noGrp="1"/>
          </p:cNvSpPr>
          <p:nvPr>
            <p:ph type="pic" sz="quarter" idx="19"/>
          </p:nvPr>
        </p:nvSpPr>
        <p:spPr>
          <a:xfrm>
            <a:off x="6276794" y="0"/>
            <a:ext cx="5915206" cy="6858000"/>
          </a:xfrm>
          <a:custGeom>
            <a:avLst/>
            <a:gdLst>
              <a:gd name="connsiteX0" fmla="*/ 5311503 w 5915206"/>
              <a:gd name="connsiteY0" fmla="*/ 6482964 h 6858000"/>
              <a:gd name="connsiteX1" fmla="*/ 5311503 w 5915206"/>
              <a:gd name="connsiteY1" fmla="*/ 6621463 h 6858000"/>
              <a:gd name="connsiteX2" fmla="*/ 5327378 w 5915206"/>
              <a:gd name="connsiteY2" fmla="*/ 6621463 h 6858000"/>
              <a:gd name="connsiteX3" fmla="*/ 5327378 w 5915206"/>
              <a:gd name="connsiteY3" fmla="*/ 6482964 h 6858000"/>
              <a:gd name="connsiteX4" fmla="*/ 0 w 5915206"/>
              <a:gd name="connsiteY4" fmla="*/ 0 h 6858000"/>
              <a:gd name="connsiteX5" fmla="*/ 5915206 w 5915206"/>
              <a:gd name="connsiteY5" fmla="*/ 0 h 6858000"/>
              <a:gd name="connsiteX6" fmla="*/ 5915206 w 5915206"/>
              <a:gd name="connsiteY6" fmla="*/ 6858000 h 6858000"/>
              <a:gd name="connsiteX7" fmla="*/ 0 w 591520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15206" h="6858000">
                <a:moveTo>
                  <a:pt x="5311503" y="6482964"/>
                </a:moveTo>
                <a:lnTo>
                  <a:pt x="5311503" y="6621463"/>
                </a:lnTo>
                <a:lnTo>
                  <a:pt x="5327378" y="6621463"/>
                </a:lnTo>
                <a:lnTo>
                  <a:pt x="5327378" y="6482964"/>
                </a:lnTo>
                <a:close/>
                <a:moveTo>
                  <a:pt x="0" y="0"/>
                </a:moveTo>
                <a:lnTo>
                  <a:pt x="5915206" y="0"/>
                </a:lnTo>
                <a:lnTo>
                  <a:pt x="5915206" y="6858000"/>
                </a:lnTo>
                <a:lnTo>
                  <a:pt x="0" y="6858000"/>
                </a:lnTo>
                <a:close/>
              </a:path>
            </a:pathLst>
          </a:custGeom>
          <a:blipFill>
            <a:blip r:embed="rId2"/>
            <a:stretch>
              <a:fillRect/>
            </a:stretch>
          </a:blipFill>
        </p:spPr>
        <p:txBody>
          <a:bodyPr wrap="square">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554373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554373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1447631483"/>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full slide white background">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811A31E-6A5D-CF74-924F-6D86B805D6D0}"/>
              </a:ext>
            </a:extLst>
          </p:cNvPr>
          <p:cNvSpPr>
            <a:spLocks noGrp="1"/>
          </p:cNvSpPr>
          <p:nvPr>
            <p:ph type="pic" sz="quarter" idx="19"/>
          </p:nvPr>
        </p:nvSpPr>
        <p:spPr>
          <a:xfrm>
            <a:off x="373064" y="1635126"/>
            <a:ext cx="11447462" cy="4573587"/>
          </a:xfrm>
          <a:blipFill>
            <a:blip r:embed="rId2"/>
            <a:stretch>
              <a:fillRect/>
            </a:stretch>
          </a:blipFill>
        </p:spPr>
        <p:txBody>
          <a:bodyPr>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328954435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full slide grey background">
    <p:bg>
      <p:bgPr>
        <a:solidFill>
          <a:schemeClr val="bg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811A31E-6A5D-CF74-924F-6D86B805D6D0}"/>
              </a:ext>
            </a:extLst>
          </p:cNvPr>
          <p:cNvSpPr>
            <a:spLocks noGrp="1"/>
          </p:cNvSpPr>
          <p:nvPr>
            <p:ph type="pic" sz="quarter" idx="19"/>
          </p:nvPr>
        </p:nvSpPr>
        <p:spPr>
          <a:xfrm>
            <a:off x="373064" y="1635126"/>
            <a:ext cx="11447462" cy="4573587"/>
          </a:xfrm>
          <a:blipFill>
            <a:blip r:embed="rId2"/>
            <a:stretch>
              <a:fillRect/>
            </a:stretch>
          </a:blipFill>
        </p:spPr>
        <p:txBody>
          <a:bodyPr>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777683520"/>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fullscreen">
    <p:bg>
      <p:bgPr>
        <a:solidFill>
          <a:schemeClr val="bg1"/>
        </a:solidFill>
        <a:effectLst/>
      </p:bgPr>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2EB5264C-2D5D-9574-27AF-D173FAE112A0}"/>
              </a:ext>
            </a:extLst>
          </p:cNvPr>
          <p:cNvSpPr>
            <a:spLocks noGrp="1"/>
          </p:cNvSpPr>
          <p:nvPr>
            <p:ph type="pic" sz="quarter" idx="19"/>
          </p:nvPr>
        </p:nvSpPr>
        <p:spPr>
          <a:xfrm>
            <a:off x="0" y="0"/>
            <a:ext cx="12192000" cy="6858000"/>
          </a:xfrm>
          <a:custGeom>
            <a:avLst/>
            <a:gdLst>
              <a:gd name="connsiteX0" fmla="*/ 11588297 w 12192000"/>
              <a:gd name="connsiteY0" fmla="*/ 6482964 h 6858000"/>
              <a:gd name="connsiteX1" fmla="*/ 11588297 w 12192000"/>
              <a:gd name="connsiteY1" fmla="*/ 6621463 h 6858000"/>
              <a:gd name="connsiteX2" fmla="*/ 11604172 w 12192000"/>
              <a:gd name="connsiteY2" fmla="*/ 6621463 h 6858000"/>
              <a:gd name="connsiteX3" fmla="*/ 11604172 w 12192000"/>
              <a:gd name="connsiteY3" fmla="*/ 6482964 h 6858000"/>
              <a:gd name="connsiteX4" fmla="*/ 625138 w 12192000"/>
              <a:gd name="connsiteY4" fmla="*/ 6253686 h 6858000"/>
              <a:gd name="connsiteX5" fmla="*/ 373138 w 12192000"/>
              <a:gd name="connsiteY5" fmla="*/ 6505686 h 6858000"/>
              <a:gd name="connsiteX6" fmla="*/ 625138 w 12192000"/>
              <a:gd name="connsiteY6" fmla="*/ 6757686 h 6858000"/>
              <a:gd name="connsiteX7" fmla="*/ 877138 w 12192000"/>
              <a:gd name="connsiteY7" fmla="*/ 6505686 h 6858000"/>
              <a:gd name="connsiteX8" fmla="*/ 625138 w 12192000"/>
              <a:gd name="connsiteY8" fmla="*/ 6253686 h 6858000"/>
              <a:gd name="connsiteX9" fmla="*/ 0 w 12192000"/>
              <a:gd name="connsiteY9" fmla="*/ 0 h 6858000"/>
              <a:gd name="connsiteX10" fmla="*/ 12192000 w 12192000"/>
              <a:gd name="connsiteY10" fmla="*/ 0 h 6858000"/>
              <a:gd name="connsiteX11" fmla="*/ 12192000 w 12192000"/>
              <a:gd name="connsiteY11" fmla="*/ 6858000 h 6858000"/>
              <a:gd name="connsiteX12" fmla="*/ 0 w 12192000"/>
              <a:gd name="connsiteY1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6858000">
                <a:moveTo>
                  <a:pt x="11588297" y="6482964"/>
                </a:moveTo>
                <a:lnTo>
                  <a:pt x="11588297" y="6621463"/>
                </a:lnTo>
                <a:lnTo>
                  <a:pt x="11604172" y="6621463"/>
                </a:lnTo>
                <a:lnTo>
                  <a:pt x="11604172" y="6482964"/>
                </a:lnTo>
                <a:close/>
                <a:moveTo>
                  <a:pt x="625138" y="6253686"/>
                </a:moveTo>
                <a:cubicBezTo>
                  <a:pt x="485797" y="6253686"/>
                  <a:pt x="373138" y="6366345"/>
                  <a:pt x="373138" y="6505686"/>
                </a:cubicBezTo>
                <a:cubicBezTo>
                  <a:pt x="373138" y="6645027"/>
                  <a:pt x="485797" y="6757686"/>
                  <a:pt x="625138" y="6757686"/>
                </a:cubicBezTo>
                <a:cubicBezTo>
                  <a:pt x="764479" y="6757686"/>
                  <a:pt x="877138" y="6645027"/>
                  <a:pt x="877138" y="6505686"/>
                </a:cubicBezTo>
                <a:cubicBezTo>
                  <a:pt x="877138" y="6366345"/>
                  <a:pt x="764479" y="6253686"/>
                  <a:pt x="625138" y="6253686"/>
                </a:cubicBezTo>
                <a:close/>
                <a:moveTo>
                  <a:pt x="0" y="0"/>
                </a:moveTo>
                <a:lnTo>
                  <a:pt x="12192000" y="0"/>
                </a:lnTo>
                <a:lnTo>
                  <a:pt x="12192000" y="6858000"/>
                </a:lnTo>
                <a:lnTo>
                  <a:pt x="0" y="6858000"/>
                </a:lnTo>
                <a:close/>
              </a:path>
            </a:pathLst>
          </a:custGeom>
          <a:blipFill>
            <a:blip r:embed="rId2"/>
            <a:stretch>
              <a:fillRect/>
            </a:stretch>
          </a:blipFill>
        </p:spPr>
        <p:txBody>
          <a:bodyPr wrap="square">
            <a:noAutofit/>
          </a:bodyPr>
          <a:lstStyle>
            <a:lvl1pPr>
              <a:defRPr/>
            </a:lvl1pPr>
          </a:lstStyle>
          <a:p>
            <a:r>
              <a:rPr lang="de-DE"/>
              <a:t>Bild durch Klicken auf Symbol hinzufügen</a:t>
            </a:r>
            <a:endParaRPr lang="en-US" dirty="0"/>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
        <p:nvSpPr>
          <p:cNvPr id="2" name="Title 1">
            <a:extLst>
              <a:ext uri="{FF2B5EF4-FFF2-40B4-BE49-F238E27FC236}">
                <a16:creationId xmlns:a16="http://schemas.microsoft.com/office/drawing/2014/main" id="{BFD25581-4362-FB11-A968-6293542D65A8}"/>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6" name="Text Placeholder 6">
            <a:extLst>
              <a:ext uri="{FF2B5EF4-FFF2-40B4-BE49-F238E27FC236}">
                <a16:creationId xmlns:a16="http://schemas.microsoft.com/office/drawing/2014/main" id="{A0C27B7E-0F2A-81C0-7993-E73AB597F187}"/>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Tree>
    <p:extLst>
      <p:ext uri="{BB962C8B-B14F-4D97-AF65-F5344CB8AC3E}">
        <p14:creationId xmlns:p14="http://schemas.microsoft.com/office/powerpoint/2010/main" val="208070392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laceholder full slide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6" name="Rechteck 17">
            <a:extLst>
              <a:ext uri="{FF2B5EF4-FFF2-40B4-BE49-F238E27FC236}">
                <a16:creationId xmlns:a16="http://schemas.microsoft.com/office/drawing/2014/main" id="{8D3673CD-5A70-0CB3-C2BE-D00BEBEDAF24}"/>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 table, chart, image, or </a:t>
            </a:r>
            <a:r>
              <a:rPr lang="en-US" sz="1200" dirty="0" err="1">
                <a:solidFill>
                  <a:schemeClr val="tx1"/>
                </a:solidFill>
                <a:latin typeface="Arial" panose="020B0604020202020204" pitchFamily="34" charset="0"/>
                <a:cs typeface="Arial" panose="020B0604020202020204" pitchFamily="34" charset="0"/>
              </a:rPr>
              <a:t>text.Note</a:t>
            </a:r>
            <a:r>
              <a:rPr lang="en-US" sz="1200" dirty="0">
                <a:solidFill>
                  <a:schemeClr val="tx1"/>
                </a:solidFill>
                <a:latin typeface="Arial" panose="020B0604020202020204" pitchFamily="34" charset="0"/>
                <a:cs typeface="Arial" panose="020B0604020202020204" pitchFamily="34" charset="0"/>
              </a:rPr>
              <a:t>: PowerPoint applies </a:t>
            </a:r>
            <a:r>
              <a:rPr lang="en-US" sz="1200" dirty="0" err="1">
                <a:solidFill>
                  <a:schemeClr val="tx1"/>
                </a:solidFill>
                <a:latin typeface="Arial" panose="020B0604020202020204" pitchFamily="34" charset="0"/>
                <a:cs typeface="Arial" panose="020B0604020202020204" pitchFamily="34" charset="0"/>
              </a:rPr>
              <a:t>colours</a:t>
            </a:r>
            <a:r>
              <a:rPr lang="en-US" sz="1200" dirty="0">
                <a:solidFill>
                  <a:schemeClr val="tx1"/>
                </a:solidFill>
                <a:latin typeface="Arial" panose="020B0604020202020204" pitchFamily="34" charset="0"/>
                <a:cs typeface="Arial" panose="020B0604020202020204" pitchFamily="34" charset="0"/>
              </a:rPr>
              <a:t> based on the preset sequence – you may need to adjust them manually.</a:t>
            </a:r>
          </a:p>
        </p:txBody>
      </p:sp>
      <p:sp>
        <p:nvSpPr>
          <p:cNvPr id="11" name="Content Placeholder 10">
            <a:extLst>
              <a:ext uri="{FF2B5EF4-FFF2-40B4-BE49-F238E27FC236}">
                <a16:creationId xmlns:a16="http://schemas.microsoft.com/office/drawing/2014/main" id="{4B5834B2-9DFB-0D16-3E01-188C3232CBAD}"/>
              </a:ext>
            </a:extLst>
          </p:cNvPr>
          <p:cNvSpPr>
            <a:spLocks noGrp="1"/>
          </p:cNvSpPr>
          <p:nvPr>
            <p:ph sz="quarter" idx="20" hasCustomPrompt="1"/>
          </p:nvPr>
        </p:nvSpPr>
        <p:spPr bwMode="ltGray">
          <a:xfrm>
            <a:off x="373064" y="1635126"/>
            <a:ext cx="11447462" cy="4573587"/>
          </a:xfrm>
          <a:pattFill prst="wdUpDiag">
            <a:fgClr>
              <a:schemeClr val="bg2"/>
            </a:fgClr>
            <a:bgClr>
              <a:schemeClr val="bg1"/>
            </a:bgClr>
          </a:pattFill>
        </p:spPr>
        <p:txBody>
          <a:bodyPr>
            <a:noAutofit/>
          </a:bodyPr>
          <a:lstStyle>
            <a:lvl1pPr>
              <a:buNone/>
              <a:defRPr/>
            </a:lvl1pPr>
          </a:lstStyle>
          <a:p>
            <a:pPr lvl="0"/>
            <a:r>
              <a:rPr lang="en-US" dirty="0"/>
              <a:t>Please insert content</a:t>
            </a:r>
          </a:p>
        </p:txBody>
      </p:sp>
    </p:spTree>
    <p:extLst>
      <p:ext uri="{BB962C8B-B14F-4D97-AF65-F5344CB8AC3E}">
        <p14:creationId xmlns:p14="http://schemas.microsoft.com/office/powerpoint/2010/main" val="326534813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laceholder full slide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6" name="Rechteck 17">
            <a:extLst>
              <a:ext uri="{FF2B5EF4-FFF2-40B4-BE49-F238E27FC236}">
                <a16:creationId xmlns:a16="http://schemas.microsoft.com/office/drawing/2014/main" id="{8D3673CD-5A70-0CB3-C2BE-D00BEBEDAF24}"/>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 table, chart, image, or </a:t>
            </a:r>
            <a:r>
              <a:rPr lang="en-US" sz="1200" dirty="0" err="1">
                <a:solidFill>
                  <a:schemeClr val="tx1"/>
                </a:solidFill>
                <a:latin typeface="Arial" panose="020B0604020202020204" pitchFamily="34" charset="0"/>
                <a:cs typeface="Arial" panose="020B0604020202020204" pitchFamily="34" charset="0"/>
              </a:rPr>
              <a:t>text.Note</a:t>
            </a:r>
            <a:r>
              <a:rPr lang="en-US" sz="1200" dirty="0">
                <a:solidFill>
                  <a:schemeClr val="tx1"/>
                </a:solidFill>
                <a:latin typeface="Arial" panose="020B0604020202020204" pitchFamily="34" charset="0"/>
                <a:cs typeface="Arial" panose="020B0604020202020204" pitchFamily="34" charset="0"/>
              </a:rPr>
              <a:t>: PowerPoint applies </a:t>
            </a:r>
            <a:r>
              <a:rPr lang="en-US" sz="1200" dirty="0" err="1">
                <a:solidFill>
                  <a:schemeClr val="tx1"/>
                </a:solidFill>
                <a:latin typeface="Arial" panose="020B0604020202020204" pitchFamily="34" charset="0"/>
                <a:cs typeface="Arial" panose="020B0604020202020204" pitchFamily="34" charset="0"/>
              </a:rPr>
              <a:t>colours</a:t>
            </a:r>
            <a:r>
              <a:rPr lang="en-US" sz="1200" dirty="0">
                <a:solidFill>
                  <a:schemeClr val="tx1"/>
                </a:solidFill>
                <a:latin typeface="Arial" panose="020B0604020202020204" pitchFamily="34" charset="0"/>
                <a:cs typeface="Arial" panose="020B0604020202020204" pitchFamily="34" charset="0"/>
              </a:rPr>
              <a:t> based on the preset sequence – you may need to adjust them manually.</a:t>
            </a:r>
          </a:p>
        </p:txBody>
      </p:sp>
      <p:sp>
        <p:nvSpPr>
          <p:cNvPr id="11" name="Content Placeholder 10">
            <a:extLst>
              <a:ext uri="{FF2B5EF4-FFF2-40B4-BE49-F238E27FC236}">
                <a16:creationId xmlns:a16="http://schemas.microsoft.com/office/drawing/2014/main" id="{4B5834B2-9DFB-0D16-3E01-188C3232CBAD}"/>
              </a:ext>
            </a:extLst>
          </p:cNvPr>
          <p:cNvSpPr>
            <a:spLocks noGrp="1"/>
          </p:cNvSpPr>
          <p:nvPr>
            <p:ph sz="quarter" idx="20" hasCustomPrompt="1"/>
          </p:nvPr>
        </p:nvSpPr>
        <p:spPr bwMode="ltGray">
          <a:xfrm>
            <a:off x="373064" y="1635126"/>
            <a:ext cx="11447462" cy="4573587"/>
          </a:xfrm>
          <a:pattFill prst="wdUpDiag">
            <a:fgClr>
              <a:schemeClr val="bg2"/>
            </a:fgClr>
            <a:bgClr>
              <a:schemeClr val="bg1"/>
            </a:bgClr>
          </a:pattFill>
        </p:spPr>
        <p:txBody>
          <a:bodyPr>
            <a:noAutofit/>
          </a:bodyPr>
          <a:lstStyle>
            <a:lvl1pPr>
              <a:buNone/>
              <a:defRPr/>
            </a:lvl1pPr>
          </a:lstStyle>
          <a:p>
            <a:pPr lvl="0"/>
            <a:r>
              <a:rPr lang="en-US" dirty="0"/>
              <a:t>Please insert content</a:t>
            </a:r>
          </a:p>
        </p:txBody>
      </p:sp>
    </p:spTree>
    <p:extLst>
      <p:ext uri="{BB962C8B-B14F-4D97-AF65-F5344CB8AC3E}">
        <p14:creationId xmlns:p14="http://schemas.microsoft.com/office/powerpoint/2010/main" val="1079744964"/>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quote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pic>
        <p:nvPicPr>
          <p:cNvPr id="6" name="Grafik 4">
            <a:extLst>
              <a:ext uri="{FF2B5EF4-FFF2-40B4-BE49-F238E27FC236}">
                <a16:creationId xmlns:a16="http://schemas.microsoft.com/office/drawing/2014/main" id="{2A2F3C48-8329-B091-DC89-4786DAE4C479}"/>
              </a:ext>
            </a:extLst>
          </p:cNvPr>
          <p:cNvPicPr>
            <a:picLocks noChangeAspect="1"/>
          </p:cNvPicPr>
          <p:nvPr userDrawn="1"/>
        </p:nvPicPr>
        <p:blipFill>
          <a:blip r:embed="rId2">
            <a:alphaModFix amt="5000"/>
          </a:blip>
          <a:stretch>
            <a:fillRect/>
          </a:stretch>
        </p:blipFill>
        <p:spPr>
          <a:xfrm>
            <a:off x="4190143" y="1938216"/>
            <a:ext cx="3811712" cy="3657600"/>
          </a:xfrm>
          <a:prstGeom prst="rect">
            <a:avLst/>
          </a:prstGeom>
        </p:spPr>
      </p:pic>
      <p:sp>
        <p:nvSpPr>
          <p:cNvPr id="10" name="Text Placeholder 9">
            <a:extLst>
              <a:ext uri="{FF2B5EF4-FFF2-40B4-BE49-F238E27FC236}">
                <a16:creationId xmlns:a16="http://schemas.microsoft.com/office/drawing/2014/main" id="{0D4F4A8C-1826-839C-8CA5-2FDAB3BAB203}"/>
              </a:ext>
            </a:extLst>
          </p:cNvPr>
          <p:cNvSpPr>
            <a:spLocks noGrp="1"/>
          </p:cNvSpPr>
          <p:nvPr>
            <p:ph type="body" sz="quarter" idx="15" hasCustomPrompt="1"/>
          </p:nvPr>
        </p:nvSpPr>
        <p:spPr>
          <a:xfrm>
            <a:off x="373063" y="1633539"/>
            <a:ext cx="11447462" cy="2881312"/>
          </a:xfrm>
        </p:spPr>
        <p:txBody>
          <a:bodyPr lIns="0" tIns="0" rIns="0" bIns="0" anchor="ctr">
            <a:noAutofit/>
          </a:bodyPr>
          <a:lstStyle>
            <a:lvl1pPr algn="ctr">
              <a:buNone/>
              <a:defRPr sz="4000" i="1"/>
            </a:lvl1pPr>
            <a:lvl2pPr algn="ctr">
              <a:defRPr/>
            </a:lvl2pPr>
            <a:lvl3pPr algn="ctr">
              <a:defRPr/>
            </a:lvl3pPr>
            <a:lvl4pPr algn="ctr">
              <a:defRPr/>
            </a:lvl4pPr>
            <a:lvl5pPr algn="ctr">
              <a:defRPr/>
            </a:lvl5pPr>
          </a:lstStyle>
          <a:p>
            <a:pPr lvl="0"/>
            <a:r>
              <a:rPr lang="en-US" dirty="0"/>
              <a:t>Please insert quote</a:t>
            </a:r>
          </a:p>
        </p:txBody>
      </p:sp>
      <p:sp>
        <p:nvSpPr>
          <p:cNvPr id="12" name="Text Placeholder 11">
            <a:extLst>
              <a:ext uri="{FF2B5EF4-FFF2-40B4-BE49-F238E27FC236}">
                <a16:creationId xmlns:a16="http://schemas.microsoft.com/office/drawing/2014/main" id="{137E0515-AEF3-1C8B-999D-0437BE459B9F}"/>
              </a:ext>
            </a:extLst>
          </p:cNvPr>
          <p:cNvSpPr>
            <a:spLocks noGrp="1"/>
          </p:cNvSpPr>
          <p:nvPr>
            <p:ph type="body" sz="quarter" idx="16" hasCustomPrompt="1"/>
          </p:nvPr>
        </p:nvSpPr>
        <p:spPr>
          <a:xfrm>
            <a:off x="6096000" y="4586851"/>
            <a:ext cx="5724525" cy="307777"/>
          </a:xfrm>
        </p:spPr>
        <p:txBody>
          <a:bodyPr wrap="square" lIns="0" tIns="0" rIns="0" bIns="0">
            <a:spAutoFit/>
          </a:bodyPr>
          <a:lstStyle>
            <a:lvl1pPr algn="r">
              <a:buNone/>
              <a:defRPr sz="2000">
                <a:solidFill>
                  <a:schemeClr val="accent3"/>
                </a:solidFill>
              </a:defRPr>
            </a:lvl1pPr>
            <a:lvl2pPr algn="r">
              <a:defRPr sz="2000">
                <a:solidFill>
                  <a:schemeClr val="accent3"/>
                </a:solidFill>
              </a:defRPr>
            </a:lvl2pPr>
            <a:lvl3pPr algn="r">
              <a:defRPr sz="2000">
                <a:solidFill>
                  <a:schemeClr val="accent3"/>
                </a:solidFill>
              </a:defRPr>
            </a:lvl3pPr>
            <a:lvl4pPr algn="r">
              <a:defRPr sz="2000">
                <a:solidFill>
                  <a:schemeClr val="accent3"/>
                </a:solidFill>
              </a:defRPr>
            </a:lvl4pPr>
            <a:lvl5pPr algn="r">
              <a:defRPr sz="2000">
                <a:solidFill>
                  <a:schemeClr val="accent3"/>
                </a:solidFill>
              </a:defRPr>
            </a:lvl5pPr>
          </a:lstStyle>
          <a:p>
            <a:pPr lvl="0"/>
            <a:r>
              <a:rPr lang="en-US" dirty="0"/>
              <a:t>Name, Surname</a:t>
            </a:r>
          </a:p>
        </p:txBody>
      </p:sp>
    </p:spTree>
    <p:extLst>
      <p:ext uri="{BB962C8B-B14F-4D97-AF65-F5344CB8AC3E}">
        <p14:creationId xmlns:p14="http://schemas.microsoft.com/office/powerpoint/2010/main" val="40755575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quote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pic>
        <p:nvPicPr>
          <p:cNvPr id="6" name="Grafik 4">
            <a:extLst>
              <a:ext uri="{FF2B5EF4-FFF2-40B4-BE49-F238E27FC236}">
                <a16:creationId xmlns:a16="http://schemas.microsoft.com/office/drawing/2014/main" id="{2A2F3C48-8329-B091-DC89-4786DAE4C479}"/>
              </a:ext>
            </a:extLst>
          </p:cNvPr>
          <p:cNvPicPr>
            <a:picLocks noChangeAspect="1"/>
          </p:cNvPicPr>
          <p:nvPr userDrawn="1"/>
        </p:nvPicPr>
        <p:blipFill>
          <a:blip r:embed="rId2">
            <a:alphaModFix amt="5000"/>
          </a:blip>
          <a:stretch>
            <a:fillRect/>
          </a:stretch>
        </p:blipFill>
        <p:spPr>
          <a:xfrm>
            <a:off x="4190143" y="1938216"/>
            <a:ext cx="3811712" cy="3657600"/>
          </a:xfrm>
          <a:prstGeom prst="rect">
            <a:avLst/>
          </a:prstGeom>
        </p:spPr>
      </p:pic>
      <p:sp>
        <p:nvSpPr>
          <p:cNvPr id="10" name="Text Placeholder 9">
            <a:extLst>
              <a:ext uri="{FF2B5EF4-FFF2-40B4-BE49-F238E27FC236}">
                <a16:creationId xmlns:a16="http://schemas.microsoft.com/office/drawing/2014/main" id="{0D4F4A8C-1826-839C-8CA5-2FDAB3BAB203}"/>
              </a:ext>
            </a:extLst>
          </p:cNvPr>
          <p:cNvSpPr>
            <a:spLocks noGrp="1"/>
          </p:cNvSpPr>
          <p:nvPr>
            <p:ph type="body" sz="quarter" idx="15" hasCustomPrompt="1"/>
          </p:nvPr>
        </p:nvSpPr>
        <p:spPr>
          <a:xfrm>
            <a:off x="373063" y="1633539"/>
            <a:ext cx="11447462" cy="2881312"/>
          </a:xfrm>
        </p:spPr>
        <p:txBody>
          <a:bodyPr lIns="0" tIns="0" rIns="0" bIns="0" anchor="ctr">
            <a:noAutofit/>
          </a:bodyPr>
          <a:lstStyle>
            <a:lvl1pPr algn="ctr">
              <a:buNone/>
              <a:defRPr sz="4000" i="1"/>
            </a:lvl1pPr>
            <a:lvl2pPr algn="ctr">
              <a:defRPr/>
            </a:lvl2pPr>
            <a:lvl3pPr algn="ctr">
              <a:defRPr/>
            </a:lvl3pPr>
            <a:lvl4pPr algn="ctr">
              <a:defRPr/>
            </a:lvl4pPr>
            <a:lvl5pPr algn="ctr">
              <a:defRPr/>
            </a:lvl5pPr>
          </a:lstStyle>
          <a:p>
            <a:pPr lvl="0"/>
            <a:r>
              <a:rPr lang="en-US" dirty="0"/>
              <a:t>Please insert quote</a:t>
            </a:r>
          </a:p>
        </p:txBody>
      </p:sp>
      <p:sp>
        <p:nvSpPr>
          <p:cNvPr id="12" name="Text Placeholder 11">
            <a:extLst>
              <a:ext uri="{FF2B5EF4-FFF2-40B4-BE49-F238E27FC236}">
                <a16:creationId xmlns:a16="http://schemas.microsoft.com/office/drawing/2014/main" id="{137E0515-AEF3-1C8B-999D-0437BE459B9F}"/>
              </a:ext>
            </a:extLst>
          </p:cNvPr>
          <p:cNvSpPr>
            <a:spLocks noGrp="1"/>
          </p:cNvSpPr>
          <p:nvPr>
            <p:ph type="body" sz="quarter" idx="16" hasCustomPrompt="1"/>
          </p:nvPr>
        </p:nvSpPr>
        <p:spPr>
          <a:xfrm>
            <a:off x="6096000" y="4586851"/>
            <a:ext cx="5724525" cy="307777"/>
          </a:xfrm>
        </p:spPr>
        <p:txBody>
          <a:bodyPr wrap="square" lIns="0" tIns="0" rIns="0" bIns="0">
            <a:spAutoFit/>
          </a:bodyPr>
          <a:lstStyle>
            <a:lvl1pPr algn="r">
              <a:buNone/>
              <a:defRPr sz="2000">
                <a:solidFill>
                  <a:schemeClr val="accent2"/>
                </a:solidFill>
              </a:defRPr>
            </a:lvl1pPr>
            <a:lvl2pPr algn="r">
              <a:defRPr sz="2000">
                <a:solidFill>
                  <a:schemeClr val="accent3"/>
                </a:solidFill>
              </a:defRPr>
            </a:lvl2pPr>
            <a:lvl3pPr algn="r">
              <a:defRPr sz="2000">
                <a:solidFill>
                  <a:schemeClr val="accent3"/>
                </a:solidFill>
              </a:defRPr>
            </a:lvl3pPr>
            <a:lvl4pPr algn="r">
              <a:defRPr sz="2000">
                <a:solidFill>
                  <a:schemeClr val="accent3"/>
                </a:solidFill>
              </a:defRPr>
            </a:lvl4pPr>
            <a:lvl5pPr algn="r">
              <a:defRPr sz="2000">
                <a:solidFill>
                  <a:schemeClr val="accent3"/>
                </a:solidFill>
              </a:defRPr>
            </a:lvl5pPr>
          </a:lstStyle>
          <a:p>
            <a:pPr lvl="0"/>
            <a:r>
              <a:rPr lang="en-US" dirty="0"/>
              <a:t>Name, Surname</a:t>
            </a:r>
          </a:p>
        </p:txBody>
      </p:sp>
    </p:spTree>
    <p:extLst>
      <p:ext uri="{BB962C8B-B14F-4D97-AF65-F5344CB8AC3E}">
        <p14:creationId xmlns:p14="http://schemas.microsoft.com/office/powerpoint/2010/main" val="17834071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 slide orange background">
    <p:bg>
      <p:bgPr>
        <a:solidFill>
          <a:schemeClr val="tx2"/>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D7FE9896-5211-23DE-0A2A-059929C8D9CA}"/>
              </a:ext>
            </a:extLst>
          </p:cNvPr>
          <p:cNvGraphicFramePr>
            <a:graphicFrameLocks noChangeAspect="1"/>
          </p:cNvGraphicFramePr>
          <p:nvPr userDrawn="1">
            <p:custDataLst>
              <p:tags r:id="rId1"/>
            </p:custDataLst>
            <p:extLst>
              <p:ext uri="{D42A27DB-BD31-4B8C-83A1-F6EECF244321}">
                <p14:modId xmlns:p14="http://schemas.microsoft.com/office/powerpoint/2010/main" val="3004551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12" name="think-cell data - do not delete" hidden="1">
                        <a:extLst>
                          <a:ext uri="{FF2B5EF4-FFF2-40B4-BE49-F238E27FC236}">
                            <a16:creationId xmlns:a16="http://schemas.microsoft.com/office/drawing/2014/main" id="{D7FE9896-5211-23DE-0A2A-059929C8D9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a:xfrm>
            <a:off x="373063" y="373063"/>
            <a:ext cx="11447462" cy="1384995"/>
          </a:xfrm>
        </p:spPr>
        <p:txBody>
          <a:bodyPr vert="horz" lIns="0" tIns="0" rIns="0" bIns="0" anchor="t">
            <a:spAutoFit/>
          </a:bodyPr>
          <a:lstStyle>
            <a:lvl1pPr algn="l">
              <a:defRPr sz="10000">
                <a:solidFill>
                  <a:schemeClr val="tx1"/>
                </a:solidFill>
                <a:latin typeface="+mj-lt"/>
              </a:defRPr>
            </a:lvl1pPr>
          </a:lstStyle>
          <a:p>
            <a:r>
              <a:rPr lang="en-US" dirty="0"/>
              <a:t>Thank you</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a:xfrm>
            <a:off x="1397000" y="6242050"/>
            <a:ext cx="4699000" cy="174625"/>
          </a:xfrm>
        </p:spPr>
        <p:txBody>
          <a:bodyPr lIns="0" tIns="0" rIns="0" bIns="0" anchor="b">
            <a:no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1"/>
                </a:solidFill>
              </a:rPr>
              <a:t>•</a:t>
            </a:r>
            <a:r>
              <a:rPr lang="en-US" sz="1200" dirty="0">
                <a:solidFill>
                  <a:schemeClr val="bg1"/>
                </a:solidFill>
              </a:rPr>
              <a:t> Author: </a:t>
            </a:r>
          </a:p>
        </p:txBody>
      </p:sp>
      <p:grpSp>
        <p:nvGrpSpPr>
          <p:cNvPr id="3" name="Group 2">
            <a:extLst>
              <a:ext uri="{FF2B5EF4-FFF2-40B4-BE49-F238E27FC236}">
                <a16:creationId xmlns:a16="http://schemas.microsoft.com/office/drawing/2014/main" id="{2A0F817F-E69A-891D-CC85-5FA713C72954}"/>
              </a:ext>
            </a:extLst>
          </p:cNvPr>
          <p:cNvGrpSpPr/>
          <p:nvPr userDrawn="1"/>
        </p:nvGrpSpPr>
        <p:grpSpPr bwMode="gray">
          <a:xfrm>
            <a:off x="6466690" y="2107484"/>
            <a:ext cx="5338938" cy="4959307"/>
            <a:chOff x="6466690" y="2107484"/>
            <a:chExt cx="5338938" cy="4959307"/>
          </a:xfrm>
        </p:grpSpPr>
        <p:sp>
          <p:nvSpPr>
            <p:cNvPr id="4" name="Freeform: Shape 3">
              <a:extLst>
                <a:ext uri="{FF2B5EF4-FFF2-40B4-BE49-F238E27FC236}">
                  <a16:creationId xmlns:a16="http://schemas.microsoft.com/office/drawing/2014/main" id="{0BAEAD06-A4AE-9AE9-9683-066F48BA476D}"/>
                </a:ext>
              </a:extLst>
            </p:cNvPr>
            <p:cNvSpPr>
              <a:spLocks/>
            </p:cNvSpPr>
            <p:nvPr userDrawn="1"/>
          </p:nvSpPr>
          <p:spPr bwMode="gray">
            <a:xfrm rot="21132644">
              <a:off x="6466690" y="2107484"/>
              <a:ext cx="5338938" cy="4959307"/>
            </a:xfrm>
            <a:custGeom>
              <a:avLst/>
              <a:gdLst>
                <a:gd name="connsiteX0" fmla="*/ 2942695 w 5338938"/>
                <a:gd name="connsiteY0" fmla="*/ 13764 h 4959307"/>
                <a:gd name="connsiteX1" fmla="*/ 5338938 w 5338938"/>
                <a:gd name="connsiteY1" fmla="*/ 2669470 h 4959307"/>
                <a:gd name="connsiteX2" fmla="*/ 4095493 w 5338938"/>
                <a:gd name="connsiteY2" fmla="*/ 4927456 h 4959307"/>
                <a:gd name="connsiteX3" fmla="*/ 4041196 w 5338938"/>
                <a:gd name="connsiteY3" fmla="*/ 4959307 h 4959307"/>
                <a:gd name="connsiteX4" fmla="*/ 735181 w 5338938"/>
                <a:gd name="connsiteY4" fmla="*/ 4507070 h 4959307"/>
                <a:gd name="connsiteX5" fmla="*/ 609013 w 5338938"/>
                <a:gd name="connsiteY5" fmla="*/ 4368228 h 4959307"/>
                <a:gd name="connsiteX6" fmla="*/ 1 w 5338938"/>
                <a:gd name="connsiteY6" fmla="*/ 2669470 h 4959307"/>
                <a:gd name="connsiteX7" fmla="*/ 2669469 w 5338938"/>
                <a:gd name="connsiteY7" fmla="*/ 1 h 4959307"/>
                <a:gd name="connsiteX8" fmla="*/ 2942695 w 5338938"/>
                <a:gd name="connsiteY8" fmla="*/ 13764 h 4959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8938" h="4959307">
                  <a:moveTo>
                    <a:pt x="2942695" y="13764"/>
                  </a:moveTo>
                  <a:cubicBezTo>
                    <a:pt x="4290042" y="150280"/>
                    <a:pt x="5338938" y="1285666"/>
                    <a:pt x="5338938" y="2669470"/>
                  </a:cubicBezTo>
                  <a:cubicBezTo>
                    <a:pt x="5338938" y="3620835"/>
                    <a:pt x="4843170" y="4454784"/>
                    <a:pt x="4095493" y="4927456"/>
                  </a:cubicBezTo>
                  <a:lnTo>
                    <a:pt x="4041196" y="4959307"/>
                  </a:lnTo>
                  <a:lnTo>
                    <a:pt x="735181" y="4507070"/>
                  </a:lnTo>
                  <a:lnTo>
                    <a:pt x="609013" y="4368228"/>
                  </a:lnTo>
                  <a:cubicBezTo>
                    <a:pt x="228427" y="3906920"/>
                    <a:pt x="0" y="3315245"/>
                    <a:pt x="1" y="2669470"/>
                  </a:cubicBezTo>
                  <a:cubicBezTo>
                    <a:pt x="0" y="1193413"/>
                    <a:pt x="1193413" y="0"/>
                    <a:pt x="2669469" y="1"/>
                  </a:cubicBezTo>
                  <a:cubicBezTo>
                    <a:pt x="2761723" y="1"/>
                    <a:pt x="2852872" y="4663"/>
                    <a:pt x="2942695" y="13764"/>
                  </a:cubicBezTo>
                  <a:close/>
                </a:path>
              </a:pathLst>
            </a:custGeom>
            <a:solidFill>
              <a:schemeClr val="bg1"/>
            </a:solidFill>
            <a:ln w="1748" cap="flat">
              <a:solidFill>
                <a:srgbClr val="FF6E00"/>
              </a:solidFill>
              <a:prstDash val="solid"/>
              <a:miter/>
            </a:ln>
          </p:spPr>
          <p:txBody>
            <a:bodyPr rtlCol="0" anchor="ctr"/>
            <a:lstStyle/>
            <a:p>
              <a:endParaRPr lang="en-US"/>
            </a:p>
          </p:txBody>
        </p:sp>
        <p:grpSp>
          <p:nvGrpSpPr>
            <p:cNvPr id="5" name="Group 4">
              <a:extLst>
                <a:ext uri="{FF2B5EF4-FFF2-40B4-BE49-F238E27FC236}">
                  <a16:creationId xmlns:a16="http://schemas.microsoft.com/office/drawing/2014/main" id="{FFE94909-5B35-59E7-12FF-2AC456D63924}"/>
                </a:ext>
              </a:extLst>
            </p:cNvPr>
            <p:cNvGrpSpPr>
              <a:grpSpLocks/>
            </p:cNvGrpSpPr>
            <p:nvPr userDrawn="1"/>
          </p:nvGrpSpPr>
          <p:grpSpPr bwMode="gray">
            <a:xfrm>
              <a:off x="6597756" y="2225331"/>
              <a:ext cx="5088778" cy="4811136"/>
              <a:chOff x="6597756" y="2225331"/>
              <a:chExt cx="5088778" cy="4811136"/>
            </a:xfrm>
          </p:grpSpPr>
          <p:sp>
            <p:nvSpPr>
              <p:cNvPr id="6" name="Freeform: Shape 5">
                <a:extLst>
                  <a:ext uri="{FF2B5EF4-FFF2-40B4-BE49-F238E27FC236}">
                    <a16:creationId xmlns:a16="http://schemas.microsoft.com/office/drawing/2014/main" id="{F3B259AE-A8F4-CD19-0A90-1579A649A368}"/>
                  </a:ext>
                </a:extLst>
              </p:cNvPr>
              <p:cNvSpPr/>
              <p:nvPr/>
            </p:nvSpPr>
            <p:spPr bwMode="gray">
              <a:xfrm rot="21132644">
                <a:off x="6597756" y="2225331"/>
                <a:ext cx="5088778" cy="4811136"/>
              </a:xfrm>
              <a:custGeom>
                <a:avLst/>
                <a:gdLst>
                  <a:gd name="connsiteX0" fmla="*/ 2804813 w 5088778"/>
                  <a:gd name="connsiteY0" fmla="*/ 13119 h 4811136"/>
                  <a:gd name="connsiteX1" fmla="*/ 5088778 w 5088778"/>
                  <a:gd name="connsiteY1" fmla="*/ 2544389 h 4811136"/>
                  <a:gd name="connsiteX2" fmla="*/ 3757935 w 5088778"/>
                  <a:gd name="connsiteY2" fmla="*/ 4782020 h 4811136"/>
                  <a:gd name="connsiteX3" fmla="*/ 3697427 w 5088778"/>
                  <a:gd name="connsiteY3" fmla="*/ 4811136 h 4811136"/>
                  <a:gd name="connsiteX4" fmla="*/ 826279 w 5088778"/>
                  <a:gd name="connsiteY4" fmla="*/ 4418385 h 4811136"/>
                  <a:gd name="connsiteX5" fmla="*/ 744609 w 5088778"/>
                  <a:gd name="connsiteY5" fmla="*/ 4344170 h 4811136"/>
                  <a:gd name="connsiteX6" fmla="*/ 1 w 5088778"/>
                  <a:gd name="connsiteY6" fmla="*/ 2544389 h 4811136"/>
                  <a:gd name="connsiteX7" fmla="*/ 2544389 w 5088778"/>
                  <a:gd name="connsiteY7" fmla="*/ 1 h 4811136"/>
                  <a:gd name="connsiteX8" fmla="*/ 2804813 w 5088778"/>
                  <a:gd name="connsiteY8" fmla="*/ 13119 h 48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8778" h="4811136">
                    <a:moveTo>
                      <a:pt x="2804813" y="13119"/>
                    </a:moveTo>
                    <a:cubicBezTo>
                      <a:pt x="4089029" y="143239"/>
                      <a:pt x="5088778" y="1225425"/>
                      <a:pt x="5088778" y="2544389"/>
                    </a:cubicBezTo>
                    <a:cubicBezTo>
                      <a:pt x="5088778" y="3511630"/>
                      <a:pt x="4551135" y="4351536"/>
                      <a:pt x="3757935" y="4782020"/>
                    </a:cubicBezTo>
                    <a:lnTo>
                      <a:pt x="3697427" y="4811136"/>
                    </a:lnTo>
                    <a:lnTo>
                      <a:pt x="826279" y="4418385"/>
                    </a:lnTo>
                    <a:lnTo>
                      <a:pt x="744609" y="4344170"/>
                    </a:lnTo>
                    <a:cubicBezTo>
                      <a:pt x="284374" y="3883934"/>
                      <a:pt x="0" y="3247837"/>
                      <a:pt x="1" y="2544389"/>
                    </a:cubicBezTo>
                    <a:cubicBezTo>
                      <a:pt x="0" y="1137494"/>
                      <a:pt x="1137494" y="0"/>
                      <a:pt x="2544389" y="1"/>
                    </a:cubicBezTo>
                    <a:cubicBezTo>
                      <a:pt x="2632320" y="1"/>
                      <a:pt x="2719199" y="4444"/>
                      <a:pt x="2804813" y="13119"/>
                    </a:cubicBezTo>
                    <a:close/>
                  </a:path>
                </a:pathLst>
              </a:custGeom>
              <a:solidFill>
                <a:schemeClr val="tx2"/>
              </a:solidFill>
              <a:ln w="1748"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251B03F1-E9B4-DAF1-36B2-7945759CD4DF}"/>
                  </a:ext>
                </a:extLst>
              </p:cNvPr>
              <p:cNvSpPr/>
              <p:nvPr/>
            </p:nvSpPr>
            <p:spPr bwMode="gray">
              <a:xfrm rot="21132644">
                <a:off x="7048659" y="2839116"/>
                <a:ext cx="4118922" cy="3262805"/>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4" h="323153">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36342" y="60960"/>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1FC8AC2-AE34-2A49-16F6-68483CB8918A}"/>
                  </a:ext>
                </a:extLst>
              </p:cNvPr>
              <p:cNvSpPr/>
              <p:nvPr/>
            </p:nvSpPr>
            <p:spPr bwMode="gray">
              <a:xfrm rot="21132644">
                <a:off x="6960598" y="3487392"/>
                <a:ext cx="898018" cy="898018"/>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4626424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570FB4C-14D3-D471-76FD-B83B18415E1E}"/>
              </a:ext>
            </a:extLst>
          </p:cNvPr>
          <p:cNvGraphicFramePr>
            <a:graphicFrameLocks noChangeAspect="1"/>
          </p:cNvGraphicFramePr>
          <p:nvPr userDrawn="1">
            <p:custDataLst>
              <p:tags r:id="rId30"/>
            </p:custDataLst>
            <p:extLst>
              <p:ext uri="{D42A27DB-BD31-4B8C-83A1-F6EECF244321}">
                <p14:modId xmlns:p14="http://schemas.microsoft.com/office/powerpoint/2010/main" val="40484549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1" imgW="473" imgH="473" progId="TCLayout.ActiveDocument.1">
                  <p:embed/>
                </p:oleObj>
              </mc:Choice>
              <mc:Fallback>
                <p:oleObj name="think-cell Folie" r:id="rId31" imgW="473" imgH="473" progId="TCLayout.ActiveDocument.1">
                  <p:embed/>
                  <p:pic>
                    <p:nvPicPr>
                      <p:cNvPr id="8" name="think-cell data - do not delete" hidden="1">
                        <a:extLst>
                          <a:ext uri="{FF2B5EF4-FFF2-40B4-BE49-F238E27FC236}">
                            <a16:creationId xmlns:a16="http://schemas.microsoft.com/office/drawing/2014/main" id="{E570FB4C-14D3-D471-76FD-B83B18415E1E}"/>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7DD7D270-4A74-8FD0-3727-36351EE9E73F}"/>
              </a:ext>
            </a:extLst>
          </p:cNvPr>
          <p:cNvSpPr>
            <a:spLocks noGrp="1"/>
          </p:cNvSpPr>
          <p:nvPr>
            <p:ph type="title"/>
          </p:nvPr>
        </p:nvSpPr>
        <p:spPr>
          <a:xfrm>
            <a:off x="373063" y="650060"/>
            <a:ext cx="11447462" cy="553998"/>
          </a:xfrm>
          <a:prstGeom prst="rect">
            <a:avLst/>
          </a:prstGeom>
        </p:spPr>
        <p:txBody>
          <a:bodyPr vert="horz" lIns="0" tIns="0" rIns="0" bIns="0" rtlCol="0" anchor="t">
            <a:spAutoFit/>
          </a:bodyPr>
          <a:lstStyle/>
          <a:p>
            <a:r>
              <a:rPr lang="de-DE"/>
              <a:t>Mastertitelformat bearbeiten</a:t>
            </a:r>
            <a:endParaRPr lang="en-US" dirty="0"/>
          </a:p>
        </p:txBody>
      </p:sp>
      <p:sp>
        <p:nvSpPr>
          <p:cNvPr id="3" name="Text Placeholder 2">
            <a:extLst>
              <a:ext uri="{FF2B5EF4-FFF2-40B4-BE49-F238E27FC236}">
                <a16:creationId xmlns:a16="http://schemas.microsoft.com/office/drawing/2014/main" id="{70F023B7-7FA3-4C51-F71D-B66D0E5532CD}"/>
              </a:ext>
            </a:extLst>
          </p:cNvPr>
          <p:cNvSpPr>
            <a:spLocks noGrp="1"/>
          </p:cNvSpPr>
          <p:nvPr>
            <p:ph type="body" idx="1"/>
          </p:nvPr>
        </p:nvSpPr>
        <p:spPr>
          <a:xfrm>
            <a:off x="373063" y="1635126"/>
            <a:ext cx="11447462" cy="4573587"/>
          </a:xfrm>
          <a:prstGeom prst="rect">
            <a:avLst/>
          </a:prstGeom>
        </p:spPr>
        <p:txBody>
          <a:bodyPr vert="horz" lIns="0" tIns="0" rIns="0" bIns="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a:extLst>
              <a:ext uri="{FF2B5EF4-FFF2-40B4-BE49-F238E27FC236}">
                <a16:creationId xmlns:a16="http://schemas.microsoft.com/office/drawing/2014/main" id="{0C33F049-BC03-8E77-73DB-ECD8DE4B7193}"/>
              </a:ext>
            </a:extLst>
          </p:cNvPr>
          <p:cNvSpPr>
            <a:spLocks noGrp="1"/>
          </p:cNvSpPr>
          <p:nvPr>
            <p:ph type="dt" sz="half" idx="2"/>
          </p:nvPr>
        </p:nvSpPr>
        <p:spPr>
          <a:xfrm>
            <a:off x="10444922" y="6482964"/>
            <a:ext cx="1058860" cy="138499"/>
          </a:xfrm>
          <a:prstGeom prst="rect">
            <a:avLst/>
          </a:prstGeom>
        </p:spPr>
        <p:txBody>
          <a:bodyPr vert="horz" wrap="square" lIns="0" tIns="0" rIns="0" bIns="0" rtlCol="0" anchor="b">
            <a:spAutoFit/>
          </a:bodyPr>
          <a:lstStyle>
            <a:lvl1pPr algn="r">
              <a:defRPr sz="900">
                <a:solidFill>
                  <a:schemeClr val="tx1"/>
                </a:solidFill>
              </a:defRPr>
            </a:lvl1pPr>
          </a:lstStyle>
          <a:p>
            <a:r>
              <a:rPr lang="en-US"/>
              <a:t>01/01/2026</a:t>
            </a:r>
            <a:endParaRPr lang="en-US" dirty="0"/>
          </a:p>
        </p:txBody>
      </p:sp>
      <p:sp>
        <p:nvSpPr>
          <p:cNvPr id="5" name="Footer Placeholder 4">
            <a:extLst>
              <a:ext uri="{FF2B5EF4-FFF2-40B4-BE49-F238E27FC236}">
                <a16:creationId xmlns:a16="http://schemas.microsoft.com/office/drawing/2014/main" id="{1BBB3F0D-8E3C-AF84-65AC-B33EC880DE80}"/>
              </a:ext>
            </a:extLst>
          </p:cNvPr>
          <p:cNvSpPr>
            <a:spLocks noGrp="1"/>
          </p:cNvSpPr>
          <p:nvPr>
            <p:ph type="ftr" sz="quarter" idx="3"/>
          </p:nvPr>
        </p:nvSpPr>
        <p:spPr>
          <a:xfrm>
            <a:off x="952318" y="6482964"/>
            <a:ext cx="3527607" cy="138499"/>
          </a:xfrm>
          <a:prstGeom prst="rect">
            <a:avLst/>
          </a:prstGeom>
        </p:spPr>
        <p:txBody>
          <a:bodyPr vert="horz" wrap="square" lIns="0" tIns="0" rIns="0" bIns="0" rtlCol="0" anchor="b">
            <a:spAutoFit/>
          </a:bodyPr>
          <a:lstStyle>
            <a:lvl1pPr algn="l">
              <a:defRPr sz="900">
                <a:solidFill>
                  <a:schemeClr val="tx1"/>
                </a:solidFill>
              </a:defRPr>
            </a:lvl1pPr>
          </a:lstStyle>
          <a:p>
            <a:r>
              <a:rPr lang="en-US" dirty="0"/>
              <a:t>Please add presentation title</a:t>
            </a:r>
          </a:p>
        </p:txBody>
      </p:sp>
      <p:sp>
        <p:nvSpPr>
          <p:cNvPr id="6" name="Slide Number Placeholder 5">
            <a:extLst>
              <a:ext uri="{FF2B5EF4-FFF2-40B4-BE49-F238E27FC236}">
                <a16:creationId xmlns:a16="http://schemas.microsoft.com/office/drawing/2014/main" id="{2AE0BEDD-665C-0E3B-84AE-32D620530179}"/>
              </a:ext>
            </a:extLst>
          </p:cNvPr>
          <p:cNvSpPr>
            <a:spLocks noGrp="1"/>
          </p:cNvSpPr>
          <p:nvPr>
            <p:ph type="sldNum" sz="quarter" idx="4"/>
          </p:nvPr>
        </p:nvSpPr>
        <p:spPr>
          <a:xfrm>
            <a:off x="11623675" y="6344464"/>
            <a:ext cx="196850" cy="276999"/>
          </a:xfrm>
          <a:prstGeom prst="rect">
            <a:avLst/>
          </a:prstGeom>
        </p:spPr>
        <p:txBody>
          <a:bodyPr vert="horz" wrap="square" lIns="0" tIns="0" rIns="0" bIns="0" rtlCol="0" anchor="b">
            <a:spAutoFit/>
          </a:bodyPr>
          <a:lstStyle>
            <a:lvl1pPr algn="r">
              <a:defRPr sz="900">
                <a:solidFill>
                  <a:schemeClr val="tx1"/>
                </a:solidFill>
              </a:defRPr>
            </a:lvl1pPr>
          </a:lstStyle>
          <a:p>
            <a:fld id="{AFC0DE47-E009-49FD-9AD1-65414DD64D1A}" type="slidenum">
              <a:rPr lang="en-US" smtClean="0"/>
              <a:pPr/>
              <a:t>‹Nr.›</a:t>
            </a:fld>
            <a:endParaRPr lang="en-US" dirty="0"/>
          </a:p>
        </p:txBody>
      </p:sp>
      <p:grpSp>
        <p:nvGrpSpPr>
          <p:cNvPr id="34" name="Group 33">
            <a:extLst>
              <a:ext uri="{FF2B5EF4-FFF2-40B4-BE49-F238E27FC236}">
                <a16:creationId xmlns:a16="http://schemas.microsoft.com/office/drawing/2014/main" id="{72D6DB15-3A3C-A01A-E51C-D63AC65773C7}"/>
              </a:ext>
            </a:extLst>
          </p:cNvPr>
          <p:cNvGrpSpPr/>
          <p:nvPr userDrawn="1"/>
        </p:nvGrpSpPr>
        <p:grpSpPr bwMode="gray">
          <a:xfrm>
            <a:off x="373138" y="6253686"/>
            <a:ext cx="504000" cy="504000"/>
            <a:chOff x="374726" y="6255274"/>
            <a:chExt cx="504000" cy="504000"/>
          </a:xfrm>
        </p:grpSpPr>
        <p:sp>
          <p:nvSpPr>
            <p:cNvPr id="31" name="Freeform: Shape 30">
              <a:extLst>
                <a:ext uri="{FF2B5EF4-FFF2-40B4-BE49-F238E27FC236}">
                  <a16:creationId xmlns:a16="http://schemas.microsoft.com/office/drawing/2014/main" id="{6DD3A6E2-D0AC-A01F-DA6A-914E1B3CDF3E}"/>
                </a:ext>
              </a:extLst>
            </p:cNvPr>
            <p:cNvSpPr/>
            <p:nvPr/>
          </p:nvSpPr>
          <p:spPr bwMode="gray">
            <a:xfrm>
              <a:off x="374726" y="6255274"/>
              <a:ext cx="504000" cy="504000"/>
            </a:xfrm>
            <a:custGeom>
              <a:avLst/>
              <a:gdLst>
                <a:gd name="connsiteX0" fmla="*/ 252000 w 504000"/>
                <a:gd name="connsiteY0" fmla="*/ 0 h 504000"/>
                <a:gd name="connsiteX1" fmla="*/ 504000 w 504000"/>
                <a:gd name="connsiteY1" fmla="*/ 252000 h 504000"/>
                <a:gd name="connsiteX2" fmla="*/ 252000 w 504000"/>
                <a:gd name="connsiteY2" fmla="*/ 504000 h 504000"/>
                <a:gd name="connsiteX3" fmla="*/ 0 w 504000"/>
                <a:gd name="connsiteY3" fmla="*/ 252000 h 504000"/>
                <a:gd name="connsiteX4" fmla="*/ 252000 w 504000"/>
                <a:gd name="connsiteY4" fmla="*/ 0 h 50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000" h="504000">
                  <a:moveTo>
                    <a:pt x="252000" y="0"/>
                  </a:moveTo>
                  <a:cubicBezTo>
                    <a:pt x="391341" y="0"/>
                    <a:pt x="504000" y="112659"/>
                    <a:pt x="504000" y="252000"/>
                  </a:cubicBezTo>
                  <a:cubicBezTo>
                    <a:pt x="504000" y="391341"/>
                    <a:pt x="391341" y="504000"/>
                    <a:pt x="252000" y="504000"/>
                  </a:cubicBezTo>
                  <a:cubicBezTo>
                    <a:pt x="112659" y="504000"/>
                    <a:pt x="0" y="391341"/>
                    <a:pt x="0" y="252000"/>
                  </a:cubicBezTo>
                  <a:cubicBezTo>
                    <a:pt x="0" y="112659"/>
                    <a:pt x="112659" y="0"/>
                    <a:pt x="252000" y="0"/>
                  </a:cubicBezTo>
                  <a:close/>
                </a:path>
              </a:pathLst>
            </a:custGeom>
            <a:solidFill>
              <a:schemeClr val="tx2"/>
            </a:solidFill>
            <a:ln w="1748" cap="flat">
              <a:solidFill>
                <a:srgbClr val="FF6E00"/>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FEB18C8-5D15-EE0D-3549-8A98320EC764}"/>
                </a:ext>
              </a:extLst>
            </p:cNvPr>
            <p:cNvSpPr/>
            <p:nvPr/>
          </p:nvSpPr>
          <p:spPr bwMode="gray">
            <a:xfrm>
              <a:off x="421568" y="6315754"/>
              <a:ext cx="407943" cy="323152"/>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3" h="323152">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62259" y="45064"/>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E463BEB1-1A28-BD9D-D4D3-61DF6C6AFD78}"/>
                </a:ext>
              </a:extLst>
            </p:cNvPr>
            <p:cNvSpPr/>
            <p:nvPr/>
          </p:nvSpPr>
          <p:spPr bwMode="gray">
            <a:xfrm>
              <a:off x="421568" y="6356265"/>
              <a:ext cx="88941" cy="88941"/>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solidFill>
                <a:srgbClr val="1A1A18"/>
              </a:solidFill>
              <a:prstDash val="solid"/>
              <a:miter/>
            </a:ln>
          </p:spPr>
          <p:txBody>
            <a:bodyPr rtlCol="0" anchor="ctr"/>
            <a:lstStyle/>
            <a:p>
              <a:endParaRPr lang="en-US"/>
            </a:p>
          </p:txBody>
        </p:sp>
      </p:grpSp>
      <p:sp>
        <p:nvSpPr>
          <p:cNvPr id="38" name="Freeform: Shape 37">
            <a:extLst>
              <a:ext uri="{FF2B5EF4-FFF2-40B4-BE49-F238E27FC236}">
                <a16:creationId xmlns:a16="http://schemas.microsoft.com/office/drawing/2014/main" id="{0693B4EA-7DB8-B21C-9F67-D5891F9F00C8}"/>
              </a:ext>
            </a:extLst>
          </p:cNvPr>
          <p:cNvSpPr>
            <a:spLocks/>
          </p:cNvSpPr>
          <p:nvPr userDrawn="1"/>
        </p:nvSpPr>
        <p:spPr>
          <a:xfrm>
            <a:off x="11588297" y="6482964"/>
            <a:ext cx="15875" cy="138499"/>
          </a:xfrm>
          <a:custGeom>
            <a:avLst/>
            <a:gdLst>
              <a:gd name="connsiteX0" fmla="*/ 0 w 15875"/>
              <a:gd name="connsiteY0" fmla="*/ 0 h 144463"/>
              <a:gd name="connsiteX1" fmla="*/ 15875 w 15875"/>
              <a:gd name="connsiteY1" fmla="*/ 0 h 144463"/>
              <a:gd name="connsiteX2" fmla="*/ 15875 w 15875"/>
              <a:gd name="connsiteY2" fmla="*/ 144463 h 144463"/>
              <a:gd name="connsiteX3" fmla="*/ 0 w 15875"/>
              <a:gd name="connsiteY3" fmla="*/ 144463 h 144463"/>
              <a:gd name="connsiteX4" fmla="*/ 0 w 15875"/>
              <a:gd name="connsiteY4" fmla="*/ 0 h 144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75" h="144463">
                <a:moveTo>
                  <a:pt x="0" y="0"/>
                </a:moveTo>
                <a:lnTo>
                  <a:pt x="15875" y="0"/>
                </a:lnTo>
                <a:lnTo>
                  <a:pt x="15875" y="144463"/>
                </a:lnTo>
                <a:lnTo>
                  <a:pt x="0" y="144463"/>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dirty="0">
              <a:solidFill>
                <a:schemeClr val="bg1"/>
              </a:solidFill>
            </a:endParaRPr>
          </a:p>
        </p:txBody>
      </p:sp>
      <p:sp>
        <p:nvSpPr>
          <p:cNvPr id="9" name="Textfeld 8">
            <a:extLst>
              <a:ext uri="{FF2B5EF4-FFF2-40B4-BE49-F238E27FC236}">
                <a16:creationId xmlns:a16="http://schemas.microsoft.com/office/drawing/2014/main" id="{38AE55F5-0817-F586-D926-F58CE0560107}"/>
              </a:ext>
            </a:extLst>
          </p:cNvPr>
          <p:cNvSpPr txBox="1"/>
          <p:nvPr userDrawn="1">
            <p:extLst>
              <p:ext uri="{1162E1C5-73C7-4A58-AE30-91384D911F3F}">
                <p184:classification xmlns:p184="http://schemas.microsoft.com/office/powerpoint/2018/4/main" val="ftr"/>
              </p:ext>
            </p:extLst>
          </p:nvPr>
        </p:nvSpPr>
        <p:spPr>
          <a:xfrm>
            <a:off x="5838000" y="6642100"/>
            <a:ext cx="544512" cy="152400"/>
          </a:xfrm>
          <a:prstGeom prst="rect">
            <a:avLst/>
          </a:prstGeom>
        </p:spPr>
        <p:txBody>
          <a:bodyPr horzOverflow="overflow" lIns="0" tIns="0" rIns="0" bIns="0">
            <a:spAutoFit/>
          </a:bodyPr>
          <a:lstStyle/>
          <a:p>
            <a:pPr algn="l"/>
            <a:r>
              <a:rPr lang="de-DE"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1299563448"/>
      </p:ext>
    </p:extLst>
  </p:cSld>
  <p:clrMap bg1="dk1" tx1="lt1" bg2="dk2" tx2="lt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Lst>
  <p:hf hdr="0"/>
  <p:txStyles>
    <p:titleStyle>
      <a:lvl1pPr algn="l" defTabSz="914400" rtl="0" eaLnBrk="1" latinLnBrk="0" hangingPunct="1">
        <a:lnSpc>
          <a:spcPct val="90000"/>
        </a:lnSpc>
        <a:spcBef>
          <a:spcPct val="0"/>
        </a:spcBef>
        <a:buNone/>
        <a:defRPr sz="4000" kern="1200">
          <a:solidFill>
            <a:schemeClr val="tx2"/>
          </a:solidFill>
          <a:latin typeface="+mj-lt"/>
          <a:ea typeface="+mj-ea"/>
          <a:cs typeface="+mj-cs"/>
        </a:defRPr>
      </a:lvl1pPr>
    </p:titleStyle>
    <p:bodyStyle>
      <a:lvl1pPr marL="180000" marR="0" indent="-180000" algn="l" defTabSz="91440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sz="1800" kern="1200">
          <a:solidFill>
            <a:schemeClr val="tx1"/>
          </a:solidFill>
          <a:latin typeface="+mn-lt"/>
          <a:ea typeface="+mn-ea"/>
          <a:cs typeface="+mn-cs"/>
        </a:defRPr>
      </a:lvl1pPr>
      <a:lvl2pPr marL="36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4pPr>
      <a:lvl5pPr marL="900000" marR="0" indent="-180000" algn="l" defTabSz="91440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sz="1800" kern="1200">
          <a:solidFill>
            <a:schemeClr val="tx1"/>
          </a:solidFill>
          <a:latin typeface="+mn-lt"/>
          <a:ea typeface="+mn-ea"/>
          <a:cs typeface="+mn-cs"/>
        </a:defRPr>
      </a:lvl5pPr>
      <a:lvl6pPr marL="108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6pPr>
      <a:lvl7pPr marL="126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7pPr>
      <a:lvl8pPr marL="144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8pPr>
      <a:lvl9pPr marL="162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34" userDrawn="1">
          <p15:clr>
            <a:srgbClr val="F26B43"/>
          </p15:clr>
        </p15:guide>
        <p15:guide id="4" pos="7446" userDrawn="1">
          <p15:clr>
            <a:srgbClr val="F26B43"/>
          </p15:clr>
        </p15:guide>
        <p15:guide id="5" orient="horz" pos="1029" userDrawn="1">
          <p15:clr>
            <a:srgbClr val="F26B43"/>
          </p15:clr>
        </p15:guide>
        <p15:guide id="6" orient="horz" pos="3911" userDrawn="1">
          <p15:clr>
            <a:srgbClr val="F26B43"/>
          </p15:clr>
        </p15:guide>
        <p15:guide id="7" orient="horz" pos="4042" userDrawn="1">
          <p15:clr>
            <a:srgbClr val="F26B43"/>
          </p15:clr>
        </p15:guide>
        <p15:guide id="8" orient="horz" pos="4171" userDrawn="1">
          <p15:clr>
            <a:srgbClr val="F26B43"/>
          </p15:clr>
        </p15:guide>
        <p15:guide id="9" orient="horz" pos="234" userDrawn="1">
          <p15:clr>
            <a:srgbClr val="F26B43"/>
          </p15:clr>
        </p15:guide>
        <p15:guide id="10" orient="horz" pos="40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kzentbalken"/>
          <p:cNvSpPr/>
          <p:nvPr/>
        </p:nvSpPr>
        <p:spPr>
          <a:xfrm>
            <a:off x="914400" y="1325880"/>
            <a:ext cx="1005840" cy="82296"/>
          </a:xfrm>
          <a:prstGeom prst="rect">
            <a:avLst/>
          </a:prstGeom>
          <a:solidFill>
            <a:srgbClr val="FF6E00"/>
          </a:solidFill>
          <a:ln>
            <a:noFill/>
          </a:ln>
        </p:spPr>
        <p:txBody>
          <a:bodyPr/>
          <a:lstStyle/>
          <a:p>
            <a:endParaRPr lang="de-DE"/>
          </a:p>
        </p:txBody>
      </p:sp>
      <p:sp>
        <p:nvSpPr>
          <p:cNvPr id="3" name="Titel"/>
          <p:cNvSpPr txBox="1"/>
          <p:nvPr/>
        </p:nvSpPr>
        <p:spPr>
          <a:xfrm>
            <a:off x="914400" y="1691640"/>
            <a:ext cx="8961120" cy="1737360"/>
          </a:xfrm>
          <a:prstGeom prst="rect">
            <a:avLst/>
          </a:prstGeom>
          <a:noFill/>
        </p:spPr>
        <p:txBody>
          <a:bodyPr wrap="square" lIns="0" tIns="0" rIns="0" bIns="0" anchor="t">
            <a:normAutofit/>
          </a:bodyPr>
          <a:lstStyle/>
          <a:p>
            <a:pPr algn="l">
              <a:lnSpc>
                <a:spcPct val="100000"/>
              </a:lnSpc>
              <a:spcBef>
                <a:spcPts val="0"/>
              </a:spcBef>
            </a:pPr>
            <a:r>
              <a:rPr lang="de-DE" sz="3200" b="1" dirty="0">
                <a:solidFill>
                  <a:srgbClr val="30343A"/>
                </a:solidFill>
                <a:latin typeface="+mn-lt"/>
              </a:rPr>
              <a:t>Funktionales Testen von Security bei industriellen Gateways unter der neuen Maschinenverordnung</a:t>
            </a:r>
          </a:p>
        </p:txBody>
      </p:sp>
      <p:sp>
        <p:nvSpPr>
          <p:cNvPr id="4" name="Untertitel"/>
          <p:cNvSpPr txBox="1"/>
          <p:nvPr/>
        </p:nvSpPr>
        <p:spPr>
          <a:xfrm>
            <a:off x="914400" y="3611880"/>
            <a:ext cx="8961120" cy="548640"/>
          </a:xfrm>
          <a:prstGeom prst="rect">
            <a:avLst/>
          </a:prstGeom>
          <a:noFill/>
        </p:spPr>
        <p:txBody>
          <a:bodyPr wrap="square" lIns="0" tIns="0" rIns="0" bIns="0" anchor="t">
            <a:normAutofit/>
          </a:bodyPr>
          <a:lstStyle/>
          <a:p>
            <a:pPr algn="l">
              <a:lnSpc>
                <a:spcPct val="100000"/>
              </a:lnSpc>
              <a:spcBef>
                <a:spcPts val="0"/>
              </a:spcBef>
            </a:pPr>
            <a:r>
              <a:rPr lang="de-DE" sz="1600" dirty="0">
                <a:solidFill>
                  <a:srgbClr val="5B666F"/>
                </a:solidFill>
                <a:latin typeface="+mn-lt"/>
              </a:rPr>
              <a:t>Bachelorarbeit T3_3300 · Studiengang Elektrotechnik, Studienrichtung Automation</a:t>
            </a:r>
          </a:p>
        </p:txBody>
      </p:sp>
      <p:sp>
        <p:nvSpPr>
          <p:cNvPr id="5" name="Angaben"/>
          <p:cNvSpPr txBox="1"/>
          <p:nvPr/>
        </p:nvSpPr>
        <p:spPr>
          <a:xfrm>
            <a:off x="914400" y="4526280"/>
            <a:ext cx="8961120" cy="1371600"/>
          </a:xfrm>
          <a:prstGeom prst="rect">
            <a:avLst/>
          </a:prstGeom>
          <a:noFill/>
        </p:spPr>
        <p:txBody>
          <a:bodyPr wrap="square" lIns="0" tIns="0" rIns="0" bIns="0" anchor="t">
            <a:normAutofit/>
          </a:bodyPr>
          <a:lstStyle/>
          <a:p>
            <a:pPr algn="l">
              <a:lnSpc>
                <a:spcPct val="100000"/>
              </a:lnSpc>
              <a:spcBef>
                <a:spcPts val="0"/>
              </a:spcBef>
            </a:pPr>
            <a:r>
              <a:rPr lang="de-DE" sz="1100" dirty="0">
                <a:solidFill>
                  <a:srgbClr val="5B666F"/>
                </a:solidFill>
                <a:latin typeface="+mn-lt"/>
              </a:rPr>
              <a:t>Nathalie Nuber · Matrikelnummer 2257314 · Kurs TEA 23</a:t>
            </a:r>
          </a:p>
          <a:p>
            <a:pPr algn="l">
              <a:lnSpc>
                <a:spcPct val="100000"/>
              </a:lnSpc>
              <a:spcBef>
                <a:spcPts val="400"/>
              </a:spcBef>
            </a:pPr>
            <a:r>
              <a:rPr lang="de-DE" sz="1100" dirty="0">
                <a:solidFill>
                  <a:srgbClr val="5B666F"/>
                </a:solidFill>
                <a:latin typeface="+mn-lt"/>
              </a:rPr>
              <a:t>DHBW Ravensburg, Campus Friedrichshafen</a:t>
            </a:r>
          </a:p>
          <a:p>
            <a:pPr algn="l">
              <a:lnSpc>
                <a:spcPct val="100000"/>
              </a:lnSpc>
              <a:spcBef>
                <a:spcPts val="400"/>
              </a:spcBef>
            </a:pPr>
            <a:r>
              <a:rPr lang="de-DE" sz="1100" dirty="0">
                <a:solidFill>
                  <a:srgbClr val="5B666F"/>
                </a:solidFill>
                <a:latin typeface="+mn-lt"/>
              </a:rPr>
              <a:t>Dualer Partner: ifm ecomatic GmbH, Kressbronn am Bodensee</a:t>
            </a:r>
          </a:p>
          <a:p>
            <a:pPr algn="l">
              <a:lnSpc>
                <a:spcPct val="100000"/>
              </a:lnSpc>
              <a:spcBef>
                <a:spcPts val="400"/>
              </a:spcBef>
            </a:pPr>
            <a:r>
              <a:rPr lang="de-DE" sz="1100" dirty="0">
                <a:solidFill>
                  <a:srgbClr val="5B666F"/>
                </a:solidFill>
                <a:latin typeface="+mn-lt"/>
              </a:rPr>
              <a:t>Betreuer: M. Eng. Till Monzel · Gutachter: M. Sc. Andreas Lau</a:t>
            </a:r>
          </a:p>
        </p:txBody>
      </p:sp>
      <p:sp>
        <p:nvSpPr>
          <p:cNvPr id="6" name="Datum"/>
          <p:cNvSpPr txBox="1"/>
          <p:nvPr/>
        </p:nvSpPr>
        <p:spPr>
          <a:xfrm>
            <a:off x="8229600" y="5989320"/>
            <a:ext cx="3017520" cy="320040"/>
          </a:xfrm>
          <a:prstGeom prst="rect">
            <a:avLst/>
          </a:prstGeom>
          <a:noFill/>
        </p:spPr>
        <p:txBody>
          <a:bodyPr wrap="square" lIns="0" tIns="0" rIns="0" bIns="0" anchor="t">
            <a:normAutofit/>
          </a:bodyPr>
          <a:lstStyle/>
          <a:p>
            <a:pPr algn="r">
              <a:lnSpc>
                <a:spcPct val="100000"/>
              </a:lnSpc>
              <a:spcBef>
                <a:spcPts val="0"/>
              </a:spcBef>
            </a:pPr>
            <a:r>
              <a:rPr lang="de-DE" sz="1100" dirty="0">
                <a:solidFill>
                  <a:srgbClr val="5B666F"/>
                </a:solidFill>
                <a:latin typeface="+mn-lt"/>
              </a:rPr>
              <a:t>22.09.2026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eberschrift"/>
          <p:cNvSpPr txBox="1"/>
          <p:nvPr/>
        </p:nvSpPr>
        <p:spPr>
          <a:xfrm>
            <a:off x="777240" y="777240"/>
            <a:ext cx="7315200" cy="731520"/>
          </a:xfrm>
          <a:prstGeom prst="rect">
            <a:avLst/>
          </a:prstGeom>
          <a:noFill/>
        </p:spPr>
        <p:txBody>
          <a:bodyPr wrap="square" lIns="0" tIns="0" rIns="0" bIns="0" anchor="t">
            <a:normAutofit/>
          </a:bodyPr>
          <a:lstStyle/>
          <a:p>
            <a:pPr algn="l">
              <a:lnSpc>
                <a:spcPct val="100000"/>
              </a:lnSpc>
              <a:spcBef>
                <a:spcPts val="0"/>
              </a:spcBef>
            </a:pPr>
            <a:r>
              <a:rPr lang="de-DE" sz="3000" b="1" dirty="0">
                <a:solidFill>
                  <a:srgbClr val="30343A"/>
                </a:solidFill>
                <a:latin typeface="+mn-lt"/>
              </a:rPr>
              <a:t>Agenda</a:t>
            </a:r>
          </a:p>
        </p:txBody>
      </p:sp>
      <p:sp>
        <p:nvSpPr>
          <p:cNvPr id="10" name="Kachel1Linie"/>
          <p:cNvSpPr/>
          <p:nvPr/>
        </p:nvSpPr>
        <p:spPr>
          <a:xfrm>
            <a:off x="777240" y="2057400"/>
            <a:ext cx="1920240" cy="50292"/>
          </a:xfrm>
          <a:prstGeom prst="rect">
            <a:avLst/>
          </a:prstGeom>
          <a:solidFill>
            <a:srgbClr val="FF6E00"/>
          </a:solidFill>
          <a:ln>
            <a:noFill/>
          </a:ln>
        </p:spPr>
        <p:txBody>
          <a:bodyPr/>
          <a:lstStyle/>
          <a:p>
            <a:endParaRPr lang="de-DE"/>
          </a:p>
        </p:txBody>
      </p:sp>
      <p:sp>
        <p:nvSpPr>
          <p:cNvPr id="11" name="Kachel1Text"/>
          <p:cNvSpPr txBox="1"/>
          <p:nvPr/>
        </p:nvSpPr>
        <p:spPr>
          <a:xfrm>
            <a:off x="777240" y="2377440"/>
            <a:ext cx="1920240" cy="2011680"/>
          </a:xfrm>
          <a:prstGeom prst="rect">
            <a:avLst/>
          </a:prstGeom>
          <a:noFill/>
        </p:spPr>
        <p:txBody>
          <a:bodyPr wrap="square" lIns="0" tIns="0" rIns="0" bIns="0" anchor="t">
            <a:normAutofit/>
          </a:bodyPr>
          <a:lstStyle/>
          <a:p>
            <a:pPr algn="l">
              <a:lnSpc>
                <a:spcPct val="100000"/>
              </a:lnSpc>
              <a:spcBef>
                <a:spcPts val="0"/>
              </a:spcBef>
            </a:pPr>
            <a:r>
              <a:rPr lang="de-DE" sz="3400" b="1" dirty="0">
                <a:solidFill>
                  <a:srgbClr val="FF6E00"/>
                </a:solidFill>
                <a:latin typeface="+mn-lt"/>
              </a:rPr>
              <a:t>01</a:t>
            </a:r>
          </a:p>
          <a:p>
            <a:pPr algn="l">
              <a:lnSpc>
                <a:spcPct val="100000"/>
              </a:lnSpc>
              <a:spcBef>
                <a:spcPts val="600"/>
              </a:spcBef>
            </a:pPr>
            <a:r>
              <a:rPr lang="de-DE" sz="1600" b="1" dirty="0">
                <a:solidFill>
                  <a:srgbClr val="30343A"/>
                </a:solidFill>
                <a:latin typeface="+mn-lt"/>
              </a:rPr>
              <a:t>Motivation</a:t>
            </a:r>
          </a:p>
          <a:p>
            <a:pPr algn="l">
              <a:lnSpc>
                <a:spcPct val="100000"/>
              </a:lnSpc>
              <a:spcBef>
                <a:spcPts val="600"/>
              </a:spcBef>
            </a:pPr>
            <a:r>
              <a:rPr lang="de-DE" sz="1100" dirty="0">
                <a:solidFill>
                  <a:srgbClr val="5B666F"/>
                </a:solidFill>
                <a:latin typeface="+mn-lt"/>
              </a:rPr>
              <a:t>Warum Security zur Pflicht wird</a:t>
            </a:r>
          </a:p>
        </p:txBody>
      </p:sp>
      <p:sp>
        <p:nvSpPr>
          <p:cNvPr id="12" name="Kachel2Linie"/>
          <p:cNvSpPr/>
          <p:nvPr/>
        </p:nvSpPr>
        <p:spPr>
          <a:xfrm>
            <a:off x="2953512" y="2057400"/>
            <a:ext cx="1920240" cy="50292"/>
          </a:xfrm>
          <a:prstGeom prst="rect">
            <a:avLst/>
          </a:prstGeom>
          <a:solidFill>
            <a:srgbClr val="5B666F"/>
          </a:solidFill>
          <a:ln>
            <a:noFill/>
          </a:ln>
        </p:spPr>
        <p:txBody>
          <a:bodyPr/>
          <a:lstStyle/>
          <a:p>
            <a:endParaRPr lang="de-DE"/>
          </a:p>
        </p:txBody>
      </p:sp>
      <p:sp>
        <p:nvSpPr>
          <p:cNvPr id="13" name="Kachel2Text"/>
          <p:cNvSpPr txBox="1"/>
          <p:nvPr/>
        </p:nvSpPr>
        <p:spPr>
          <a:xfrm>
            <a:off x="2953512" y="2377440"/>
            <a:ext cx="1920240" cy="2011680"/>
          </a:xfrm>
          <a:prstGeom prst="rect">
            <a:avLst/>
          </a:prstGeom>
          <a:noFill/>
        </p:spPr>
        <p:txBody>
          <a:bodyPr wrap="square" lIns="0" tIns="0" rIns="0" bIns="0" anchor="t">
            <a:normAutofit/>
          </a:bodyPr>
          <a:lstStyle/>
          <a:p>
            <a:pPr algn="l">
              <a:lnSpc>
                <a:spcPct val="100000"/>
              </a:lnSpc>
              <a:spcBef>
                <a:spcPts val="0"/>
              </a:spcBef>
            </a:pPr>
            <a:r>
              <a:rPr lang="de-DE" sz="3400" b="1" dirty="0">
                <a:solidFill>
                  <a:srgbClr val="FF6E00"/>
                </a:solidFill>
                <a:latin typeface="+mn-lt"/>
              </a:rPr>
              <a:t>02</a:t>
            </a:r>
          </a:p>
          <a:p>
            <a:pPr algn="l">
              <a:lnSpc>
                <a:spcPct val="100000"/>
              </a:lnSpc>
              <a:spcBef>
                <a:spcPts val="600"/>
              </a:spcBef>
            </a:pPr>
            <a:r>
              <a:rPr lang="de-DE" sz="1600" b="1" dirty="0">
                <a:solidFill>
                  <a:srgbClr val="30343A"/>
                </a:solidFill>
                <a:latin typeface="+mn-lt"/>
              </a:rPr>
              <a:t>Grundlagen</a:t>
            </a:r>
          </a:p>
          <a:p>
            <a:pPr algn="l">
              <a:lnSpc>
                <a:spcPct val="100000"/>
              </a:lnSpc>
              <a:spcBef>
                <a:spcPts val="600"/>
              </a:spcBef>
            </a:pPr>
            <a:r>
              <a:rPr lang="de-DE" sz="1100" dirty="0">
                <a:solidFill>
                  <a:srgbClr val="5B666F"/>
                </a:solidFill>
                <a:latin typeface="+mn-lt"/>
              </a:rPr>
              <a:t>Schutzziele, STRIDE, Normenrahmen</a:t>
            </a:r>
          </a:p>
        </p:txBody>
      </p:sp>
      <p:sp>
        <p:nvSpPr>
          <p:cNvPr id="14" name="Kachel3Linie"/>
          <p:cNvSpPr/>
          <p:nvPr/>
        </p:nvSpPr>
        <p:spPr>
          <a:xfrm>
            <a:off x="5129784" y="2057400"/>
            <a:ext cx="1920240" cy="50292"/>
          </a:xfrm>
          <a:prstGeom prst="rect">
            <a:avLst/>
          </a:prstGeom>
          <a:solidFill>
            <a:srgbClr val="5B666F"/>
          </a:solidFill>
          <a:ln>
            <a:noFill/>
          </a:ln>
        </p:spPr>
        <p:txBody>
          <a:bodyPr/>
          <a:lstStyle/>
          <a:p>
            <a:endParaRPr lang="de-DE"/>
          </a:p>
        </p:txBody>
      </p:sp>
      <p:sp>
        <p:nvSpPr>
          <p:cNvPr id="15" name="Kachel3Text"/>
          <p:cNvSpPr txBox="1"/>
          <p:nvPr/>
        </p:nvSpPr>
        <p:spPr>
          <a:xfrm>
            <a:off x="5129784" y="2377440"/>
            <a:ext cx="1920240" cy="2011680"/>
          </a:xfrm>
          <a:prstGeom prst="rect">
            <a:avLst/>
          </a:prstGeom>
          <a:noFill/>
        </p:spPr>
        <p:txBody>
          <a:bodyPr wrap="square" lIns="0" tIns="0" rIns="0" bIns="0" anchor="t">
            <a:normAutofit/>
          </a:bodyPr>
          <a:lstStyle/>
          <a:p>
            <a:pPr algn="l">
              <a:lnSpc>
                <a:spcPct val="100000"/>
              </a:lnSpc>
              <a:spcBef>
                <a:spcPts val="0"/>
              </a:spcBef>
            </a:pPr>
            <a:r>
              <a:rPr lang="de-DE" sz="3400" b="1" dirty="0">
                <a:solidFill>
                  <a:srgbClr val="FF6E00"/>
                </a:solidFill>
                <a:latin typeface="+mn-lt"/>
              </a:rPr>
              <a:t>03</a:t>
            </a:r>
          </a:p>
          <a:p>
            <a:pPr algn="l">
              <a:lnSpc>
                <a:spcPct val="100000"/>
              </a:lnSpc>
              <a:spcBef>
                <a:spcPts val="600"/>
              </a:spcBef>
            </a:pPr>
            <a:r>
              <a:rPr lang="de-DE" sz="1600" b="1" dirty="0">
                <a:solidFill>
                  <a:srgbClr val="30343A"/>
                </a:solidFill>
                <a:latin typeface="+mn-lt"/>
              </a:rPr>
              <a:t>Methodik</a:t>
            </a:r>
          </a:p>
          <a:p>
            <a:pPr algn="l">
              <a:lnSpc>
                <a:spcPct val="100000"/>
              </a:lnSpc>
              <a:spcBef>
                <a:spcPts val="600"/>
              </a:spcBef>
            </a:pPr>
            <a:r>
              <a:rPr lang="de-DE" sz="1100" dirty="0">
                <a:solidFill>
                  <a:srgbClr val="5B666F"/>
                </a:solidFill>
                <a:latin typeface="+mn-lt"/>
              </a:rPr>
              <a:t>Ableitung, Traceability, Messpunkte</a:t>
            </a:r>
          </a:p>
        </p:txBody>
      </p:sp>
      <p:sp>
        <p:nvSpPr>
          <p:cNvPr id="16" name="Kachel4Linie"/>
          <p:cNvSpPr/>
          <p:nvPr/>
        </p:nvSpPr>
        <p:spPr>
          <a:xfrm>
            <a:off x="7306056" y="2057400"/>
            <a:ext cx="1920240" cy="50292"/>
          </a:xfrm>
          <a:prstGeom prst="rect">
            <a:avLst/>
          </a:prstGeom>
          <a:solidFill>
            <a:srgbClr val="5B666F"/>
          </a:solidFill>
          <a:ln>
            <a:noFill/>
          </a:ln>
        </p:spPr>
        <p:txBody>
          <a:bodyPr/>
          <a:lstStyle/>
          <a:p>
            <a:endParaRPr lang="de-DE"/>
          </a:p>
        </p:txBody>
      </p:sp>
      <p:sp>
        <p:nvSpPr>
          <p:cNvPr id="17" name="Kachel4Text"/>
          <p:cNvSpPr txBox="1"/>
          <p:nvPr/>
        </p:nvSpPr>
        <p:spPr>
          <a:xfrm>
            <a:off x="7306056" y="2377440"/>
            <a:ext cx="1920240" cy="2011680"/>
          </a:xfrm>
          <a:prstGeom prst="rect">
            <a:avLst/>
          </a:prstGeom>
          <a:noFill/>
        </p:spPr>
        <p:txBody>
          <a:bodyPr wrap="square" lIns="0" tIns="0" rIns="0" bIns="0" anchor="t">
            <a:normAutofit/>
          </a:bodyPr>
          <a:lstStyle/>
          <a:p>
            <a:pPr algn="l">
              <a:lnSpc>
                <a:spcPct val="100000"/>
              </a:lnSpc>
              <a:spcBef>
                <a:spcPts val="0"/>
              </a:spcBef>
            </a:pPr>
            <a:r>
              <a:rPr lang="de-DE" sz="3400" b="1" dirty="0">
                <a:solidFill>
                  <a:srgbClr val="FF6E00"/>
                </a:solidFill>
                <a:latin typeface="+mn-lt"/>
              </a:rPr>
              <a:t>04</a:t>
            </a:r>
          </a:p>
          <a:p>
            <a:pPr algn="l">
              <a:lnSpc>
                <a:spcPct val="100000"/>
              </a:lnSpc>
              <a:spcBef>
                <a:spcPts val="600"/>
              </a:spcBef>
            </a:pPr>
            <a:r>
              <a:rPr lang="de-DE" sz="1600" b="1" dirty="0">
                <a:solidFill>
                  <a:srgbClr val="30343A"/>
                </a:solidFill>
                <a:latin typeface="+mn-lt"/>
              </a:rPr>
              <a:t>Ergebnisse</a:t>
            </a:r>
          </a:p>
          <a:p>
            <a:pPr algn="l">
              <a:lnSpc>
                <a:spcPct val="100000"/>
              </a:lnSpc>
              <a:spcBef>
                <a:spcPts val="600"/>
              </a:spcBef>
            </a:pPr>
            <a:r>
              <a:rPr lang="de-DE" sz="1100" dirty="0">
                <a:solidFill>
                  <a:srgbClr val="5B666F"/>
                </a:solidFill>
                <a:latin typeface="+mn-lt"/>
              </a:rPr>
              <a:t>Prüfstand, Befunde, Verdikte</a:t>
            </a:r>
          </a:p>
        </p:txBody>
      </p:sp>
      <p:sp>
        <p:nvSpPr>
          <p:cNvPr id="18" name="Kachel5Linie"/>
          <p:cNvSpPr/>
          <p:nvPr/>
        </p:nvSpPr>
        <p:spPr>
          <a:xfrm>
            <a:off x="9482328" y="2057400"/>
            <a:ext cx="1920240" cy="50292"/>
          </a:xfrm>
          <a:prstGeom prst="rect">
            <a:avLst/>
          </a:prstGeom>
          <a:solidFill>
            <a:srgbClr val="5B666F"/>
          </a:solidFill>
          <a:ln>
            <a:noFill/>
          </a:ln>
        </p:spPr>
        <p:txBody>
          <a:bodyPr/>
          <a:lstStyle/>
          <a:p>
            <a:endParaRPr lang="de-DE"/>
          </a:p>
        </p:txBody>
      </p:sp>
      <p:sp>
        <p:nvSpPr>
          <p:cNvPr id="19" name="Kachel5Text"/>
          <p:cNvSpPr txBox="1"/>
          <p:nvPr/>
        </p:nvSpPr>
        <p:spPr>
          <a:xfrm>
            <a:off x="9482328" y="2377440"/>
            <a:ext cx="1920240" cy="2011680"/>
          </a:xfrm>
          <a:prstGeom prst="rect">
            <a:avLst/>
          </a:prstGeom>
          <a:noFill/>
        </p:spPr>
        <p:txBody>
          <a:bodyPr wrap="square" lIns="0" tIns="0" rIns="0" bIns="0" anchor="t">
            <a:normAutofit/>
          </a:bodyPr>
          <a:lstStyle/>
          <a:p>
            <a:pPr algn="l">
              <a:lnSpc>
                <a:spcPct val="100000"/>
              </a:lnSpc>
              <a:spcBef>
                <a:spcPts val="0"/>
              </a:spcBef>
            </a:pPr>
            <a:r>
              <a:rPr lang="de-DE" sz="3400" b="1" dirty="0">
                <a:solidFill>
                  <a:srgbClr val="FF6E00"/>
                </a:solidFill>
                <a:latin typeface="+mn-lt"/>
              </a:rPr>
              <a:t>05</a:t>
            </a:r>
          </a:p>
          <a:p>
            <a:pPr algn="l">
              <a:lnSpc>
                <a:spcPct val="100000"/>
              </a:lnSpc>
              <a:spcBef>
                <a:spcPts val="600"/>
              </a:spcBef>
            </a:pPr>
            <a:r>
              <a:rPr lang="de-DE" sz="1600" b="1" dirty="0">
                <a:solidFill>
                  <a:srgbClr val="30343A"/>
                </a:solidFill>
                <a:latin typeface="+mn-lt"/>
              </a:rPr>
              <a:t>Fazit</a:t>
            </a:r>
          </a:p>
          <a:p>
            <a:pPr algn="l">
              <a:lnSpc>
                <a:spcPct val="100000"/>
              </a:lnSpc>
              <a:spcBef>
                <a:spcPts val="600"/>
              </a:spcBef>
            </a:pPr>
            <a:r>
              <a:rPr lang="de-DE" sz="1100" dirty="0">
                <a:solidFill>
                  <a:srgbClr val="5B666F"/>
                </a:solidFill>
                <a:latin typeface="+mn-lt"/>
              </a:rPr>
              <a:t>Forschungsfragen, Ausblick</a:t>
            </a:r>
          </a:p>
        </p:txBody>
      </p:sp>
      <p:sp>
        <p:nvSpPr>
          <p:cNvPr id="60" name="Merksatz"/>
          <p:cNvSpPr txBox="1"/>
          <p:nvPr/>
        </p:nvSpPr>
        <p:spPr>
          <a:xfrm>
            <a:off x="777240" y="5669280"/>
            <a:ext cx="100584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Fünf Blöcke, ein roter Faden: von der Pflicht zum Prüfergebnis.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01 · MOTIVATION</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Zwei Welten, ein Übersetzer</a:t>
            </a:r>
          </a:p>
        </p:txBody>
      </p:sp>
      <p:sp>
        <p:nvSpPr>
          <p:cNvPr id="4" name="Merksatz"/>
          <p:cNvSpPr txBox="1"/>
          <p:nvPr/>
        </p:nvSpPr>
        <p:spPr>
          <a:xfrm>
            <a:off x="777240" y="5806440"/>
            <a:ext cx="105156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Geschlossene OT-Umgebungen werden aus dem IT-Netz erreichbar.</a:t>
            </a:r>
          </a:p>
        </p:txBody>
      </p:sp>
      <p:sp>
        <p:nvSpPr>
          <p:cNvPr id="10" name="Ebene1"/>
          <p:cNvSpPr/>
          <p:nvPr/>
        </p:nvSpPr>
        <p:spPr>
          <a:xfrm>
            <a:off x="1005840" y="2651760"/>
            <a:ext cx="2377440" cy="960120"/>
          </a:xfrm>
          <a:prstGeom prst="rect">
            <a:avLst/>
          </a:prstGeom>
          <a:solidFill>
            <a:srgbClr val="F2F4F5"/>
          </a:solidFill>
          <a:ln>
            <a:noFill/>
          </a:ln>
        </p:spPr>
        <p:txBody>
          <a:bodyPr lIns="45720" tIns="27432" rIns="45720" bIns="27432" anchor="ctr">
            <a:normAutofit/>
          </a:bodyPr>
          <a:lstStyle/>
          <a:p>
            <a:pPr algn="ctr">
              <a:spcBef>
                <a:spcPts val="0"/>
              </a:spcBef>
            </a:pPr>
            <a:r>
              <a:rPr lang="de-DE" sz="1300" b="1" dirty="0">
                <a:solidFill>
                  <a:srgbClr val="30343A"/>
                </a:solidFill>
                <a:latin typeface="+mn-lt"/>
              </a:rPr>
              <a:t>Prozessebene</a:t>
            </a:r>
          </a:p>
          <a:p>
            <a:pPr algn="ctr">
              <a:spcBef>
                <a:spcPts val="300"/>
              </a:spcBef>
            </a:pPr>
            <a:r>
              <a:rPr lang="de-DE" sz="1000" dirty="0">
                <a:solidFill>
                  <a:srgbClr val="5B666F"/>
                </a:solidFill>
                <a:latin typeface="+mn-lt"/>
              </a:rPr>
              <a:t>Sensorik/Aktorik</a:t>
            </a:r>
          </a:p>
        </p:txBody>
      </p:sp>
      <p:sp>
        <p:nvSpPr>
          <p:cNvPr id="11" name="Ebene2"/>
          <p:cNvSpPr/>
          <p:nvPr/>
        </p:nvSpPr>
        <p:spPr>
          <a:xfrm>
            <a:off x="3611880" y="2651760"/>
            <a:ext cx="2377440" cy="960120"/>
          </a:xfrm>
          <a:prstGeom prst="rect">
            <a:avLst/>
          </a:prstGeom>
          <a:solidFill>
            <a:srgbClr val="F2F4F5"/>
          </a:solidFill>
          <a:ln>
            <a:noFill/>
          </a:ln>
        </p:spPr>
        <p:txBody>
          <a:bodyPr lIns="45720" tIns="27432" rIns="45720" bIns="27432" anchor="ctr">
            <a:normAutofit/>
          </a:bodyPr>
          <a:lstStyle/>
          <a:p>
            <a:pPr algn="ctr">
              <a:spcBef>
                <a:spcPts val="0"/>
              </a:spcBef>
            </a:pPr>
            <a:r>
              <a:rPr lang="de-DE" sz="1300" b="1" dirty="0">
                <a:solidFill>
                  <a:srgbClr val="30343A"/>
                </a:solidFill>
                <a:latin typeface="+mn-lt"/>
              </a:rPr>
              <a:t>Steuerungsebene</a:t>
            </a:r>
          </a:p>
          <a:p>
            <a:pPr algn="ctr">
              <a:spcBef>
                <a:spcPts val="300"/>
              </a:spcBef>
            </a:pPr>
            <a:r>
              <a:rPr lang="de-DE" sz="1000" dirty="0">
                <a:solidFill>
                  <a:srgbClr val="5B666F"/>
                </a:solidFill>
                <a:latin typeface="+mn-lt"/>
              </a:rPr>
              <a:t>SPS</a:t>
            </a:r>
          </a:p>
        </p:txBody>
      </p:sp>
      <p:sp>
        <p:nvSpPr>
          <p:cNvPr id="12" name="Ebene3"/>
          <p:cNvSpPr/>
          <p:nvPr/>
        </p:nvSpPr>
        <p:spPr>
          <a:xfrm>
            <a:off x="6217920" y="2651760"/>
            <a:ext cx="2377440" cy="960120"/>
          </a:xfrm>
          <a:prstGeom prst="rect">
            <a:avLst/>
          </a:prstGeom>
          <a:solidFill>
            <a:srgbClr val="F2F4F5"/>
          </a:solidFill>
          <a:ln>
            <a:noFill/>
          </a:ln>
        </p:spPr>
        <p:txBody>
          <a:bodyPr lIns="45720" tIns="27432" rIns="45720" bIns="27432" anchor="ctr">
            <a:normAutofit/>
          </a:bodyPr>
          <a:lstStyle/>
          <a:p>
            <a:pPr algn="ctr">
              <a:spcBef>
                <a:spcPts val="0"/>
              </a:spcBef>
            </a:pPr>
            <a:r>
              <a:rPr lang="de-DE" sz="1300" b="1" dirty="0">
                <a:solidFill>
                  <a:srgbClr val="30343A"/>
                </a:solidFill>
                <a:latin typeface="+mn-lt"/>
              </a:rPr>
              <a:t>Leitebene</a:t>
            </a:r>
          </a:p>
          <a:p>
            <a:pPr algn="ctr">
              <a:spcBef>
                <a:spcPts val="300"/>
              </a:spcBef>
            </a:pPr>
            <a:r>
              <a:rPr lang="de-DE" sz="1000" dirty="0">
                <a:solidFill>
                  <a:srgbClr val="5B666F"/>
                </a:solidFill>
                <a:latin typeface="+mn-lt"/>
              </a:rPr>
              <a:t>HMI/SCADA</a:t>
            </a:r>
          </a:p>
        </p:txBody>
      </p:sp>
      <p:sp>
        <p:nvSpPr>
          <p:cNvPr id="13" name="Ebene4"/>
          <p:cNvSpPr/>
          <p:nvPr/>
        </p:nvSpPr>
        <p:spPr>
          <a:xfrm>
            <a:off x="8823960" y="2651760"/>
            <a:ext cx="2377440" cy="960120"/>
          </a:xfrm>
          <a:prstGeom prst="rect">
            <a:avLst/>
          </a:prstGeom>
          <a:solidFill>
            <a:srgbClr val="F2F4F5"/>
          </a:solidFill>
          <a:ln>
            <a:noFill/>
          </a:ln>
        </p:spPr>
        <p:txBody>
          <a:bodyPr lIns="45720" tIns="27432" rIns="45720" bIns="27432" anchor="ctr">
            <a:normAutofit/>
          </a:bodyPr>
          <a:lstStyle/>
          <a:p>
            <a:pPr algn="ctr">
              <a:spcBef>
                <a:spcPts val="0"/>
              </a:spcBef>
            </a:pPr>
            <a:r>
              <a:rPr lang="de-DE" sz="1300" b="1" dirty="0">
                <a:solidFill>
                  <a:srgbClr val="30343A"/>
                </a:solidFill>
                <a:latin typeface="+mn-lt"/>
              </a:rPr>
              <a:t>Operation IT</a:t>
            </a:r>
          </a:p>
          <a:p>
            <a:pPr algn="ctr">
              <a:spcBef>
                <a:spcPts val="300"/>
              </a:spcBef>
            </a:pPr>
            <a:r>
              <a:rPr lang="de-DE" sz="1000" dirty="0">
                <a:solidFill>
                  <a:srgbClr val="5B666F"/>
                </a:solidFill>
                <a:latin typeface="+mn-lt"/>
              </a:rPr>
              <a:t>ERP</a:t>
            </a:r>
          </a:p>
        </p:txBody>
      </p:sp>
      <p:sp>
        <p:nvSpPr>
          <p:cNvPr id="14" name="KlammerOT"/>
          <p:cNvSpPr/>
          <p:nvPr/>
        </p:nvSpPr>
        <p:spPr>
          <a:xfrm>
            <a:off x="1005840" y="3840480"/>
            <a:ext cx="4983480" cy="32004"/>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15" name="LabelOT"/>
          <p:cNvSpPr txBox="1"/>
          <p:nvPr/>
        </p:nvSpPr>
        <p:spPr>
          <a:xfrm>
            <a:off x="1005840" y="3950208"/>
            <a:ext cx="4983480" cy="320040"/>
          </a:xfrm>
          <a:prstGeom prst="rect">
            <a:avLst/>
          </a:prstGeom>
          <a:noFill/>
        </p:spPr>
        <p:txBody>
          <a:bodyPr wrap="square" lIns="0" tIns="0" rIns="0" bIns="0" anchor="t">
            <a:normAutofit/>
          </a:bodyPr>
          <a:lstStyle/>
          <a:p>
            <a:pPr algn="ctr">
              <a:lnSpc>
                <a:spcPct val="100000"/>
              </a:lnSpc>
              <a:spcBef>
                <a:spcPts val="0"/>
              </a:spcBef>
            </a:pPr>
            <a:r>
              <a:rPr lang="de-DE" sz="1400" b="1" dirty="0">
                <a:solidFill>
                  <a:srgbClr val="30343A"/>
                </a:solidFill>
                <a:latin typeface="+mn-lt"/>
              </a:rPr>
              <a:t>OT</a:t>
            </a:r>
          </a:p>
        </p:txBody>
      </p:sp>
      <p:sp>
        <p:nvSpPr>
          <p:cNvPr id="16" name="ZielOT"/>
          <p:cNvSpPr txBox="1"/>
          <p:nvPr/>
        </p:nvSpPr>
        <p:spPr>
          <a:xfrm>
            <a:off x="1005840" y="4343400"/>
            <a:ext cx="4983480" cy="320040"/>
          </a:xfrm>
          <a:prstGeom prst="rect">
            <a:avLst/>
          </a:prstGeom>
          <a:noFill/>
        </p:spPr>
        <p:txBody>
          <a:bodyPr wrap="square" lIns="0" tIns="0" rIns="0" bIns="0" anchor="t">
            <a:normAutofit/>
          </a:bodyPr>
          <a:lstStyle/>
          <a:p>
            <a:pPr algn="ctr">
              <a:lnSpc>
                <a:spcPct val="100000"/>
              </a:lnSpc>
              <a:spcBef>
                <a:spcPts val="0"/>
              </a:spcBef>
            </a:pPr>
            <a:r>
              <a:rPr lang="de-DE" sz="1000" dirty="0">
                <a:solidFill>
                  <a:srgbClr val="5B666F"/>
                </a:solidFill>
                <a:latin typeface="+mn-lt"/>
              </a:rPr>
              <a:t>Verfügbarkeit vor Integrität vor Vertraulichkeit</a:t>
            </a:r>
          </a:p>
        </p:txBody>
      </p:sp>
      <p:sp>
        <p:nvSpPr>
          <p:cNvPr id="17" name="KlammerIT"/>
          <p:cNvSpPr/>
          <p:nvPr/>
        </p:nvSpPr>
        <p:spPr>
          <a:xfrm>
            <a:off x="6217920" y="3840480"/>
            <a:ext cx="4983480" cy="32004"/>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18" name="LabelIT"/>
          <p:cNvSpPr txBox="1"/>
          <p:nvPr/>
        </p:nvSpPr>
        <p:spPr>
          <a:xfrm>
            <a:off x="6217920" y="3950208"/>
            <a:ext cx="4983480" cy="320040"/>
          </a:xfrm>
          <a:prstGeom prst="rect">
            <a:avLst/>
          </a:prstGeom>
          <a:noFill/>
        </p:spPr>
        <p:txBody>
          <a:bodyPr wrap="square" lIns="0" tIns="0" rIns="0" bIns="0" anchor="t">
            <a:normAutofit/>
          </a:bodyPr>
          <a:lstStyle/>
          <a:p>
            <a:pPr algn="ctr">
              <a:lnSpc>
                <a:spcPct val="100000"/>
              </a:lnSpc>
              <a:spcBef>
                <a:spcPts val="0"/>
              </a:spcBef>
            </a:pPr>
            <a:r>
              <a:rPr lang="de-DE" sz="1400" b="1" dirty="0">
                <a:solidFill>
                  <a:srgbClr val="30343A"/>
                </a:solidFill>
                <a:latin typeface="+mn-lt"/>
              </a:rPr>
              <a:t>IT</a:t>
            </a:r>
          </a:p>
        </p:txBody>
      </p:sp>
      <p:sp>
        <p:nvSpPr>
          <p:cNvPr id="19" name="ZielIT"/>
          <p:cNvSpPr txBox="1"/>
          <p:nvPr/>
        </p:nvSpPr>
        <p:spPr>
          <a:xfrm>
            <a:off x="6217920" y="4343400"/>
            <a:ext cx="4983480" cy="320040"/>
          </a:xfrm>
          <a:prstGeom prst="rect">
            <a:avLst/>
          </a:prstGeom>
          <a:noFill/>
        </p:spPr>
        <p:txBody>
          <a:bodyPr wrap="square" lIns="0" tIns="0" rIns="0" bIns="0" anchor="t">
            <a:normAutofit/>
          </a:bodyPr>
          <a:lstStyle/>
          <a:p>
            <a:pPr algn="ctr">
              <a:lnSpc>
                <a:spcPct val="100000"/>
              </a:lnSpc>
              <a:spcBef>
                <a:spcPts val="0"/>
              </a:spcBef>
            </a:pPr>
            <a:r>
              <a:rPr lang="de-DE" sz="1000" dirty="0">
                <a:solidFill>
                  <a:srgbClr val="5B666F"/>
                </a:solidFill>
                <a:latin typeface="+mn-lt"/>
              </a:rPr>
              <a:t>Vertraulichkeit vor Integrität vor Verfügbarkeit</a:t>
            </a:r>
          </a:p>
        </p:txBody>
      </p:sp>
      <p:sp>
        <p:nvSpPr>
          <p:cNvPr id="20" name="Gateway"/>
          <p:cNvSpPr/>
          <p:nvPr/>
        </p:nvSpPr>
        <p:spPr>
          <a:xfrm>
            <a:off x="5097780" y="1600200"/>
            <a:ext cx="2011680" cy="640080"/>
          </a:xfrm>
          <a:prstGeom prst="rect">
            <a:avLst/>
          </a:prstGeom>
          <a:solidFill>
            <a:srgbClr val="FF6E00"/>
          </a:solidFill>
          <a:ln>
            <a:noFill/>
          </a:ln>
        </p:spPr>
        <p:txBody>
          <a:bodyPr lIns="45720" tIns="27432" rIns="45720" bIns="27432" anchor="ctr">
            <a:normAutofit/>
          </a:bodyPr>
          <a:lstStyle/>
          <a:p>
            <a:pPr algn="ctr">
              <a:spcBef>
                <a:spcPts val="0"/>
              </a:spcBef>
            </a:pPr>
            <a:r>
              <a:rPr lang="de-DE" sz="1300" b="1" dirty="0">
                <a:solidFill>
                  <a:srgbClr val="30343A"/>
                </a:solidFill>
                <a:latin typeface="+mn-lt"/>
              </a:rPr>
              <a:t>Industrial Gateway</a:t>
            </a:r>
          </a:p>
        </p:txBody>
      </p:sp>
      <p:sp>
        <p:nvSpPr>
          <p:cNvPr id="21" name="PfeilLinks"/>
          <p:cNvSpPr/>
          <p:nvPr/>
        </p:nvSpPr>
        <p:spPr>
          <a:xfrm>
            <a:off x="5097780" y="2304288"/>
            <a:ext cx="914400" cy="256032"/>
          </a:xfrm>
          <a:prstGeom prst="leftArrow">
            <a:avLst/>
          </a:prstGeom>
          <a:solidFill>
            <a:srgbClr val="FF6E00"/>
          </a:solidFill>
          <a:ln>
            <a:noFill/>
          </a:ln>
        </p:spPr>
        <p:txBody>
          <a:bodyPr lIns="45720" tIns="27432" rIns="45720" bIns="27432" anchor="ctr">
            <a:normAutofit fontScale="32500" lnSpcReduction="20000"/>
          </a:bodyPr>
          <a:lstStyle/>
          <a:p>
            <a:endParaRPr lang="de-DE"/>
          </a:p>
        </p:txBody>
      </p:sp>
      <p:sp>
        <p:nvSpPr>
          <p:cNvPr id="22" name="PfeilRechts"/>
          <p:cNvSpPr/>
          <p:nvPr/>
        </p:nvSpPr>
        <p:spPr>
          <a:xfrm>
            <a:off x="6195060" y="2304288"/>
            <a:ext cx="914400" cy="256032"/>
          </a:xfrm>
          <a:prstGeom prst="rightArrow">
            <a:avLst/>
          </a:prstGeom>
          <a:solidFill>
            <a:srgbClr val="FF6E00"/>
          </a:solidFill>
          <a:ln>
            <a:noFill/>
          </a:ln>
        </p:spPr>
        <p:txBody>
          <a:bodyPr lIns="45720" tIns="27432" rIns="45720" bIns="27432" anchor="ctr">
            <a:normAutofit fontScale="32500" lnSpcReduction="20000"/>
          </a:bodyPr>
          <a:lstStyle/>
          <a:p>
            <a:endParaRPr lang="de-D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01 · MOTIVATION</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2006/42/EG → (EU) 2023/1230</a:t>
            </a:r>
          </a:p>
        </p:txBody>
      </p:sp>
      <p:sp>
        <p:nvSpPr>
          <p:cNvPr id="4" name="Merksatz"/>
          <p:cNvSpPr txBox="1"/>
          <p:nvPr/>
        </p:nvSpPr>
        <p:spPr>
          <a:xfrm>
            <a:off x="777240" y="5806440"/>
            <a:ext cx="105156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Security wird zur Voraussetzung von Safety.</a:t>
            </a:r>
          </a:p>
        </p:txBody>
      </p:sp>
      <p:sp>
        <p:nvSpPr>
          <p:cNvPr id="10" name="Zeitstrahl"/>
          <p:cNvSpPr/>
          <p:nvPr/>
        </p:nvSpPr>
        <p:spPr>
          <a:xfrm>
            <a:off x="1188720" y="2212848"/>
            <a:ext cx="9144000" cy="27432"/>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11" name="Strecke"/>
          <p:cNvSpPr/>
          <p:nvPr/>
        </p:nvSpPr>
        <p:spPr>
          <a:xfrm>
            <a:off x="2743200" y="2194560"/>
            <a:ext cx="6309360" cy="54864"/>
          </a:xfrm>
          <a:prstGeom prst="rect">
            <a:avLst/>
          </a:prstGeom>
          <a:noFill/>
          <a:ln w="15875">
            <a:solidFill>
              <a:srgbClr val="5B666F"/>
            </a:solidFill>
            <a:prstDash val="dash"/>
          </a:ln>
        </p:spPr>
        <p:txBody>
          <a:bodyPr lIns="45720" tIns="27432" rIns="45720" bIns="27432" anchor="ctr">
            <a:normAutofit fontScale="25000" lnSpcReduction="20000"/>
          </a:bodyPr>
          <a:lstStyle/>
          <a:p>
            <a:endParaRPr lang="de-DE"/>
          </a:p>
        </p:txBody>
      </p:sp>
      <p:sp>
        <p:nvSpPr>
          <p:cNvPr id="12" name="Uebergang"/>
          <p:cNvSpPr txBox="1"/>
          <p:nvPr/>
        </p:nvSpPr>
        <p:spPr>
          <a:xfrm>
            <a:off x="2743200" y="1828800"/>
            <a:ext cx="6309360" cy="274320"/>
          </a:xfrm>
          <a:prstGeom prst="rect">
            <a:avLst/>
          </a:prstGeom>
          <a:noFill/>
        </p:spPr>
        <p:txBody>
          <a:bodyPr wrap="square" lIns="0" tIns="0" rIns="0" bIns="0" anchor="t">
            <a:normAutofit/>
          </a:bodyPr>
          <a:lstStyle/>
          <a:p>
            <a:pPr algn="ctr">
              <a:lnSpc>
                <a:spcPct val="100000"/>
              </a:lnSpc>
              <a:spcBef>
                <a:spcPts val="0"/>
              </a:spcBef>
            </a:pPr>
            <a:r>
              <a:rPr lang="de-DE" sz="1000" dirty="0">
                <a:solidFill>
                  <a:srgbClr val="5B666F"/>
                </a:solidFill>
                <a:latin typeface="+mn-lt"/>
              </a:rPr>
              <a:t>Übergangsfrist</a:t>
            </a:r>
          </a:p>
        </p:txBody>
      </p:sp>
      <p:sp>
        <p:nvSpPr>
          <p:cNvPr id="13" name="Punkt1"/>
          <p:cNvSpPr/>
          <p:nvPr/>
        </p:nvSpPr>
        <p:spPr>
          <a:xfrm>
            <a:off x="1371600" y="2093976"/>
            <a:ext cx="256032" cy="256032"/>
          </a:xfrm>
          <a:prstGeom prst="ellipse">
            <a:avLst/>
          </a:prstGeom>
          <a:solidFill>
            <a:srgbClr val="5B666F"/>
          </a:solidFill>
          <a:ln>
            <a:noFill/>
          </a:ln>
        </p:spPr>
        <p:txBody>
          <a:bodyPr lIns="45720" tIns="27432" rIns="45720" bIns="27432" anchor="ctr">
            <a:normAutofit fontScale="55000" lnSpcReduction="20000"/>
          </a:bodyPr>
          <a:lstStyle/>
          <a:p>
            <a:endParaRPr lang="de-DE"/>
          </a:p>
        </p:txBody>
      </p:sp>
      <p:sp>
        <p:nvSpPr>
          <p:cNvPr id="14" name="Datum1"/>
          <p:cNvSpPr txBox="1"/>
          <p:nvPr/>
        </p:nvSpPr>
        <p:spPr>
          <a:xfrm>
            <a:off x="1188720" y="2487168"/>
            <a:ext cx="3657600" cy="365760"/>
          </a:xfrm>
          <a:prstGeom prst="rect">
            <a:avLst/>
          </a:prstGeom>
          <a:noFill/>
        </p:spPr>
        <p:txBody>
          <a:bodyPr wrap="square" lIns="0" tIns="0" rIns="0" bIns="0" anchor="t">
            <a:normAutofit/>
          </a:bodyPr>
          <a:lstStyle/>
          <a:p>
            <a:pPr algn="l">
              <a:lnSpc>
                <a:spcPct val="100000"/>
              </a:lnSpc>
              <a:spcBef>
                <a:spcPts val="0"/>
              </a:spcBef>
            </a:pPr>
            <a:r>
              <a:rPr lang="de-DE" sz="1000" dirty="0">
                <a:solidFill>
                  <a:srgbClr val="5B666F"/>
                </a:solidFill>
                <a:latin typeface="+mn-lt"/>
              </a:rPr>
              <a:t>29.06.2023 · Veröffentlichung im Amtsblatt</a:t>
            </a:r>
          </a:p>
        </p:txBody>
      </p:sp>
      <p:sp>
        <p:nvSpPr>
          <p:cNvPr id="15" name="Punkt2"/>
          <p:cNvSpPr/>
          <p:nvPr/>
        </p:nvSpPr>
        <p:spPr>
          <a:xfrm>
            <a:off x="9710928" y="2002536"/>
            <a:ext cx="438912" cy="438912"/>
          </a:xfrm>
          <a:prstGeom prst="ellipse">
            <a:avLst/>
          </a:prstGeom>
          <a:solidFill>
            <a:srgbClr val="FF6E00"/>
          </a:solidFill>
          <a:ln>
            <a:noFill/>
          </a:ln>
        </p:spPr>
        <p:txBody>
          <a:bodyPr lIns="45720" tIns="27432" rIns="45720" bIns="27432" anchor="ctr">
            <a:normAutofit lnSpcReduction="10000"/>
          </a:bodyPr>
          <a:lstStyle/>
          <a:p>
            <a:endParaRPr lang="de-DE"/>
          </a:p>
        </p:txBody>
      </p:sp>
      <p:sp>
        <p:nvSpPr>
          <p:cNvPr id="16" name="Datum2"/>
          <p:cNvSpPr txBox="1"/>
          <p:nvPr/>
        </p:nvSpPr>
        <p:spPr>
          <a:xfrm>
            <a:off x="6675120" y="2578608"/>
            <a:ext cx="3657600" cy="365760"/>
          </a:xfrm>
          <a:prstGeom prst="rect">
            <a:avLst/>
          </a:prstGeom>
          <a:noFill/>
        </p:spPr>
        <p:txBody>
          <a:bodyPr wrap="square" lIns="0" tIns="0" rIns="0" bIns="0" anchor="t">
            <a:normAutofit/>
          </a:bodyPr>
          <a:lstStyle/>
          <a:p>
            <a:pPr algn="r">
              <a:lnSpc>
                <a:spcPct val="100000"/>
              </a:lnSpc>
              <a:spcBef>
                <a:spcPts val="0"/>
              </a:spcBef>
            </a:pPr>
            <a:r>
              <a:rPr lang="de-DE" sz="1100" b="1" dirty="0">
                <a:solidFill>
                  <a:srgbClr val="30343A"/>
                </a:solidFill>
                <a:latin typeface="+mn-lt"/>
              </a:rPr>
              <a:t>20.01.2027 · verbindliche Anwendung</a:t>
            </a:r>
          </a:p>
        </p:txBody>
      </p:sp>
      <p:sp>
        <p:nvSpPr>
          <p:cNvPr id="17" name="KarteLinks"/>
          <p:cNvSpPr/>
          <p:nvPr/>
        </p:nvSpPr>
        <p:spPr>
          <a:xfrm>
            <a:off x="1188720" y="3246120"/>
            <a:ext cx="4206240" cy="2057400"/>
          </a:xfrm>
          <a:prstGeom prst="rect">
            <a:avLst/>
          </a:prstGeom>
          <a:solidFill>
            <a:srgbClr val="F2F4F5"/>
          </a:solidFill>
          <a:ln>
            <a:noFill/>
          </a:ln>
        </p:spPr>
        <p:txBody>
          <a:bodyPr lIns="45720" tIns="27432" rIns="45720" bIns="27432" anchor="ctr">
            <a:normAutofit/>
          </a:bodyPr>
          <a:lstStyle/>
          <a:p>
            <a:endParaRPr lang="de-DE"/>
          </a:p>
        </p:txBody>
      </p:sp>
      <p:sp>
        <p:nvSpPr>
          <p:cNvPr id="18" name="KarteLinksText"/>
          <p:cNvSpPr txBox="1"/>
          <p:nvPr/>
        </p:nvSpPr>
        <p:spPr>
          <a:xfrm>
            <a:off x="1463040" y="3520440"/>
            <a:ext cx="3657600" cy="155448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Maschinenrichtlinie 2006/42/EG</a:t>
            </a:r>
          </a:p>
          <a:p>
            <a:pPr algn="l">
              <a:lnSpc>
                <a:spcPct val="100000"/>
              </a:lnSpc>
              <a:spcBef>
                <a:spcPts val="1000"/>
              </a:spcBef>
            </a:pPr>
            <a:r>
              <a:rPr lang="de-DE" sz="1100" dirty="0">
                <a:solidFill>
                  <a:srgbClr val="5B666F"/>
                </a:solidFill>
                <a:latin typeface="+mn-lt"/>
              </a:rPr>
              <a:t>Richtlinie, national umgesetzt</a:t>
            </a:r>
          </a:p>
          <a:p>
            <a:pPr algn="l">
              <a:lnSpc>
                <a:spcPct val="100000"/>
              </a:lnSpc>
              <a:spcBef>
                <a:spcPts val="600"/>
              </a:spcBef>
            </a:pPr>
            <a:r>
              <a:rPr lang="de-DE" sz="1100" dirty="0">
                <a:solidFill>
                  <a:srgbClr val="5B666F"/>
                </a:solidFill>
                <a:latin typeface="+mn-lt"/>
              </a:rPr>
              <a:t>Cybersecurity nicht verpflichtend</a:t>
            </a:r>
          </a:p>
        </p:txBody>
      </p:sp>
      <p:sp>
        <p:nvSpPr>
          <p:cNvPr id="19" name="Pfeil"/>
          <p:cNvSpPr/>
          <p:nvPr/>
        </p:nvSpPr>
        <p:spPr>
          <a:xfrm>
            <a:off x="5669280" y="4069080"/>
            <a:ext cx="822960" cy="365760"/>
          </a:xfrm>
          <a:prstGeom prst="rightArrow">
            <a:avLst/>
          </a:prstGeom>
          <a:solidFill>
            <a:srgbClr val="FF6E00"/>
          </a:solidFill>
          <a:ln>
            <a:noFill/>
          </a:ln>
        </p:spPr>
        <p:txBody>
          <a:bodyPr lIns="45720" tIns="27432" rIns="45720" bIns="27432" anchor="ctr">
            <a:normAutofit fontScale="55000" lnSpcReduction="20000"/>
          </a:bodyPr>
          <a:lstStyle/>
          <a:p>
            <a:endParaRPr lang="de-DE"/>
          </a:p>
        </p:txBody>
      </p:sp>
      <p:sp>
        <p:nvSpPr>
          <p:cNvPr id="20" name="KarteRechts"/>
          <p:cNvSpPr/>
          <p:nvPr/>
        </p:nvSpPr>
        <p:spPr>
          <a:xfrm>
            <a:off x="6766560" y="3246120"/>
            <a:ext cx="4206240" cy="2057400"/>
          </a:xfrm>
          <a:prstGeom prst="rect">
            <a:avLst/>
          </a:prstGeom>
          <a:solidFill>
            <a:srgbClr val="30343A"/>
          </a:solidFill>
          <a:ln w="19050">
            <a:solidFill>
              <a:srgbClr val="FF6E00"/>
            </a:solidFill>
          </a:ln>
        </p:spPr>
        <p:txBody>
          <a:bodyPr lIns="45720" tIns="27432" rIns="45720" bIns="27432" anchor="ctr">
            <a:normAutofit/>
          </a:bodyPr>
          <a:lstStyle/>
          <a:p>
            <a:endParaRPr lang="de-DE"/>
          </a:p>
        </p:txBody>
      </p:sp>
      <p:sp>
        <p:nvSpPr>
          <p:cNvPr id="21" name="KarteRechtsText"/>
          <p:cNvSpPr txBox="1"/>
          <p:nvPr/>
        </p:nvSpPr>
        <p:spPr>
          <a:xfrm>
            <a:off x="7040880" y="3520440"/>
            <a:ext cx="3657600" cy="164592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FFFFFF"/>
                </a:solidFill>
                <a:latin typeface="+mn-lt"/>
              </a:rPr>
              <a:t>Verordnung (EU) 2023/1230</a:t>
            </a:r>
          </a:p>
          <a:p>
            <a:pPr algn="l">
              <a:lnSpc>
                <a:spcPct val="100000"/>
              </a:lnSpc>
              <a:spcBef>
                <a:spcPts val="1000"/>
              </a:spcBef>
            </a:pPr>
            <a:r>
              <a:rPr lang="de-DE" sz="1100" dirty="0">
                <a:solidFill>
                  <a:srgbClr val="FFFFFF"/>
                </a:solidFill>
                <a:latin typeface="+mn-lt"/>
              </a:rPr>
              <a:t>unmittelbar gültig</a:t>
            </a:r>
          </a:p>
          <a:p>
            <a:pPr algn="l">
              <a:lnSpc>
                <a:spcPct val="100000"/>
              </a:lnSpc>
              <a:spcBef>
                <a:spcPts val="600"/>
              </a:spcBef>
            </a:pPr>
            <a:r>
              <a:rPr lang="de-DE" sz="1100" dirty="0">
                <a:solidFill>
                  <a:srgbClr val="FFFFFF"/>
                </a:solidFill>
                <a:latin typeface="+mn-lt"/>
              </a:rPr>
              <a:t>Schutz vor Korruption in der Konformitätsbewertung</a:t>
            </a:r>
          </a:p>
          <a:p>
            <a:pPr algn="l">
              <a:lnSpc>
                <a:spcPct val="100000"/>
              </a:lnSpc>
              <a:spcBef>
                <a:spcPts val="600"/>
              </a:spcBef>
            </a:pPr>
            <a:r>
              <a:rPr lang="de-DE" sz="1100" b="1" dirty="0">
                <a:solidFill>
                  <a:srgbClr val="FF6E00"/>
                </a:solidFill>
                <a:latin typeface="+mn-lt"/>
              </a:rPr>
              <a:t>Anhang III · 1.1.9 · 1.2.1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01 · MOTIVATION</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Die Lücke</a:t>
            </a:r>
          </a:p>
        </p:txBody>
      </p:sp>
      <p:sp>
        <p:nvSpPr>
          <p:cNvPr id="4" name="Merksatz"/>
          <p:cNvSpPr txBox="1"/>
          <p:nvPr/>
        </p:nvSpPr>
        <p:spPr>
          <a:xfrm>
            <a:off x="777240" y="5806440"/>
            <a:ext cx="105156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Ziel: eine systematische, rückverfolgbare Testmethodik.</a:t>
            </a:r>
          </a:p>
        </p:txBody>
      </p:sp>
      <p:sp>
        <p:nvSpPr>
          <p:cNvPr id="10" name="KastenLinks"/>
          <p:cNvSpPr/>
          <p:nvPr/>
        </p:nvSpPr>
        <p:spPr>
          <a:xfrm>
            <a:off x="1188720" y="1874520"/>
            <a:ext cx="3474720" cy="914400"/>
          </a:xfrm>
          <a:prstGeom prst="rect">
            <a:avLst/>
          </a:prstGeom>
          <a:solidFill>
            <a:srgbClr val="F2F4F5"/>
          </a:solidFill>
          <a:ln>
            <a:noFill/>
          </a:ln>
        </p:spPr>
        <p:txBody>
          <a:bodyPr lIns="45720" tIns="27432" rIns="45720" bIns="27432" anchor="ctr">
            <a:normAutofit/>
          </a:bodyPr>
          <a:lstStyle/>
          <a:p>
            <a:pPr algn="ctr">
              <a:spcBef>
                <a:spcPts val="0"/>
              </a:spcBef>
            </a:pPr>
            <a:r>
              <a:rPr lang="de-DE" sz="1300" b="1" dirty="0">
                <a:solidFill>
                  <a:srgbClr val="30343A"/>
                </a:solidFill>
                <a:latin typeface="+mn-lt"/>
              </a:rPr>
              <a:t>Pflicht der Maschinenverordnung</a:t>
            </a:r>
          </a:p>
        </p:txBody>
      </p:sp>
      <p:sp>
        <p:nvSpPr>
          <p:cNvPr id="11" name="KastenRechts"/>
          <p:cNvSpPr/>
          <p:nvPr/>
        </p:nvSpPr>
        <p:spPr>
          <a:xfrm>
            <a:off x="7498080" y="1874520"/>
            <a:ext cx="3474720" cy="914400"/>
          </a:xfrm>
          <a:prstGeom prst="rect">
            <a:avLst/>
          </a:prstGeom>
          <a:solidFill>
            <a:srgbClr val="F2F4F5"/>
          </a:solidFill>
          <a:ln>
            <a:noFill/>
          </a:ln>
        </p:spPr>
        <p:txBody>
          <a:bodyPr lIns="45720" tIns="27432" rIns="45720" bIns="27432" anchor="ctr">
            <a:normAutofit/>
          </a:bodyPr>
          <a:lstStyle/>
          <a:p>
            <a:pPr algn="ctr">
              <a:spcBef>
                <a:spcPts val="0"/>
              </a:spcBef>
            </a:pPr>
            <a:r>
              <a:rPr lang="de-DE" sz="1300" b="1" dirty="0">
                <a:solidFill>
                  <a:srgbClr val="30343A"/>
                </a:solidFill>
                <a:latin typeface="+mn-lt"/>
              </a:rPr>
              <a:t>Testergebnis am Gerät</a:t>
            </a:r>
          </a:p>
        </p:txBody>
      </p:sp>
      <p:sp>
        <p:nvSpPr>
          <p:cNvPr id="12" name="LinieA"/>
          <p:cNvSpPr/>
          <p:nvPr/>
        </p:nvSpPr>
        <p:spPr>
          <a:xfrm>
            <a:off x="4754880" y="2313432"/>
            <a:ext cx="822960" cy="27432"/>
          </a:xfrm>
          <a:prstGeom prst="rect">
            <a:avLst/>
          </a:prstGeom>
          <a:noFill/>
          <a:ln w="15875">
            <a:solidFill>
              <a:srgbClr val="5B666F"/>
            </a:solidFill>
            <a:prstDash val="dash"/>
          </a:ln>
        </p:spPr>
        <p:txBody>
          <a:bodyPr lIns="45720" tIns="27432" rIns="45720" bIns="27432" anchor="ctr">
            <a:normAutofit fontScale="25000" lnSpcReduction="20000"/>
          </a:bodyPr>
          <a:lstStyle/>
          <a:p>
            <a:endParaRPr lang="de-DE"/>
          </a:p>
        </p:txBody>
      </p:sp>
      <p:sp>
        <p:nvSpPr>
          <p:cNvPr id="13" name="LinieB"/>
          <p:cNvSpPr/>
          <p:nvPr/>
        </p:nvSpPr>
        <p:spPr>
          <a:xfrm>
            <a:off x="6583680" y="2313432"/>
            <a:ext cx="822960" cy="27432"/>
          </a:xfrm>
          <a:prstGeom prst="rect">
            <a:avLst/>
          </a:prstGeom>
          <a:noFill/>
          <a:ln w="15875">
            <a:solidFill>
              <a:srgbClr val="5B666F"/>
            </a:solidFill>
            <a:prstDash val="dash"/>
          </a:ln>
        </p:spPr>
        <p:txBody>
          <a:bodyPr lIns="45720" tIns="27432" rIns="45720" bIns="27432" anchor="ctr">
            <a:normAutofit fontScale="25000" lnSpcReduction="20000"/>
          </a:bodyPr>
          <a:lstStyle/>
          <a:p>
            <a:endParaRPr lang="de-DE"/>
          </a:p>
        </p:txBody>
      </p:sp>
      <p:sp>
        <p:nvSpPr>
          <p:cNvPr id="14" name="Fragezeichen"/>
          <p:cNvSpPr txBox="1"/>
          <p:nvPr/>
        </p:nvSpPr>
        <p:spPr>
          <a:xfrm>
            <a:off x="5577840" y="1783080"/>
            <a:ext cx="1005840" cy="914400"/>
          </a:xfrm>
          <a:prstGeom prst="rect">
            <a:avLst/>
          </a:prstGeom>
          <a:noFill/>
        </p:spPr>
        <p:txBody>
          <a:bodyPr wrap="square" lIns="0" tIns="0" rIns="0" bIns="0" anchor="t">
            <a:normAutofit/>
          </a:bodyPr>
          <a:lstStyle/>
          <a:p>
            <a:pPr algn="ctr">
              <a:lnSpc>
                <a:spcPct val="100000"/>
              </a:lnSpc>
              <a:spcBef>
                <a:spcPts val="0"/>
              </a:spcBef>
            </a:pPr>
            <a:r>
              <a:rPr lang="de-DE" sz="5400" b="1" dirty="0">
                <a:solidFill>
                  <a:srgbClr val="FF6E00"/>
                </a:solidFill>
                <a:latin typeface="+mn-lt"/>
              </a:rPr>
              <a:t>?</a:t>
            </a:r>
          </a:p>
        </p:txBody>
      </p:sp>
      <p:sp>
        <p:nvSpPr>
          <p:cNvPr id="15" name="KeinVerfahren"/>
          <p:cNvSpPr txBox="1"/>
          <p:nvPr/>
        </p:nvSpPr>
        <p:spPr>
          <a:xfrm>
            <a:off x="5349240" y="2788920"/>
            <a:ext cx="1463040" cy="274320"/>
          </a:xfrm>
          <a:prstGeom prst="rect">
            <a:avLst/>
          </a:prstGeom>
          <a:noFill/>
        </p:spPr>
        <p:txBody>
          <a:bodyPr wrap="square" lIns="0" tIns="0" rIns="0" bIns="0" anchor="t">
            <a:normAutofit/>
          </a:bodyPr>
          <a:lstStyle/>
          <a:p>
            <a:pPr algn="ctr">
              <a:lnSpc>
                <a:spcPct val="100000"/>
              </a:lnSpc>
              <a:spcBef>
                <a:spcPts val="0"/>
              </a:spcBef>
            </a:pPr>
            <a:r>
              <a:rPr lang="de-DE" sz="1000" dirty="0">
                <a:solidFill>
                  <a:srgbClr val="5B666F"/>
                </a:solidFill>
                <a:latin typeface="+mn-lt"/>
              </a:rPr>
              <a:t>kein Verfahren</a:t>
            </a:r>
          </a:p>
        </p:txBody>
      </p:sp>
      <p:sp>
        <p:nvSpPr>
          <p:cNvPr id="16" name="Badge1"/>
          <p:cNvSpPr/>
          <p:nvPr/>
        </p:nvSpPr>
        <p:spPr>
          <a:xfrm>
            <a:off x="1188720" y="3794760"/>
            <a:ext cx="777240" cy="310896"/>
          </a:xfrm>
          <a:prstGeom prst="rect">
            <a:avLst/>
          </a:prstGeom>
          <a:solidFill>
            <a:srgbClr val="FF6E00"/>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FF1</a:t>
            </a:r>
          </a:p>
        </p:txBody>
      </p:sp>
      <p:sp>
        <p:nvSpPr>
          <p:cNvPr id="17" name="Frage1"/>
          <p:cNvSpPr txBox="1"/>
          <p:nvPr/>
        </p:nvSpPr>
        <p:spPr>
          <a:xfrm>
            <a:off x="1188720" y="4279392"/>
            <a:ext cx="3017520" cy="1005840"/>
          </a:xfrm>
          <a:prstGeom prst="rect">
            <a:avLst/>
          </a:prstGeom>
          <a:noFill/>
        </p:spPr>
        <p:txBody>
          <a:bodyPr wrap="square" lIns="0" tIns="0" rIns="0" bIns="0" anchor="t">
            <a:normAutofit/>
          </a:bodyPr>
          <a:lstStyle/>
          <a:p>
            <a:pPr algn="l">
              <a:lnSpc>
                <a:spcPct val="100000"/>
              </a:lnSpc>
              <a:spcBef>
                <a:spcPts val="0"/>
              </a:spcBef>
            </a:pPr>
            <a:r>
              <a:rPr lang="de-DE" sz="1500" b="1" dirty="0">
                <a:solidFill>
                  <a:srgbClr val="30343A"/>
                </a:solidFill>
                <a:latin typeface="+mn-lt"/>
              </a:rPr>
              <a:t>Pflicht zur prüfbaren Anforderung?</a:t>
            </a:r>
          </a:p>
        </p:txBody>
      </p:sp>
      <p:sp>
        <p:nvSpPr>
          <p:cNvPr id="18" name="Badge2"/>
          <p:cNvSpPr/>
          <p:nvPr/>
        </p:nvSpPr>
        <p:spPr>
          <a:xfrm>
            <a:off x="4617720" y="3794760"/>
            <a:ext cx="777240" cy="310896"/>
          </a:xfrm>
          <a:prstGeom prst="rect">
            <a:avLst/>
          </a:prstGeom>
          <a:solidFill>
            <a:srgbClr val="FF6E00"/>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FF2</a:t>
            </a:r>
          </a:p>
        </p:txBody>
      </p:sp>
      <p:sp>
        <p:nvSpPr>
          <p:cNvPr id="19" name="Frage2"/>
          <p:cNvSpPr txBox="1"/>
          <p:nvPr/>
        </p:nvSpPr>
        <p:spPr>
          <a:xfrm>
            <a:off x="4617720" y="4279392"/>
            <a:ext cx="3017520" cy="1005840"/>
          </a:xfrm>
          <a:prstGeom prst="rect">
            <a:avLst/>
          </a:prstGeom>
          <a:noFill/>
        </p:spPr>
        <p:txBody>
          <a:bodyPr wrap="square" lIns="0" tIns="0" rIns="0" bIns="0" anchor="t">
            <a:normAutofit/>
          </a:bodyPr>
          <a:lstStyle/>
          <a:p>
            <a:pPr algn="l">
              <a:lnSpc>
                <a:spcPct val="100000"/>
              </a:lnSpc>
              <a:spcBef>
                <a:spcPts val="0"/>
              </a:spcBef>
            </a:pPr>
            <a:r>
              <a:rPr lang="de-DE" sz="1500" b="1" dirty="0">
                <a:solidFill>
                  <a:srgbClr val="30343A"/>
                </a:solidFill>
                <a:latin typeface="+mn-lt"/>
              </a:rPr>
              <a:t>Welche Firmentests sind anwendbar?</a:t>
            </a:r>
          </a:p>
        </p:txBody>
      </p:sp>
      <p:sp>
        <p:nvSpPr>
          <p:cNvPr id="20" name="Badge3"/>
          <p:cNvSpPr/>
          <p:nvPr/>
        </p:nvSpPr>
        <p:spPr>
          <a:xfrm>
            <a:off x="8046720" y="3794760"/>
            <a:ext cx="777240" cy="310896"/>
          </a:xfrm>
          <a:prstGeom prst="rect">
            <a:avLst/>
          </a:prstGeom>
          <a:solidFill>
            <a:srgbClr val="FF6E00"/>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FF3</a:t>
            </a:r>
          </a:p>
        </p:txBody>
      </p:sp>
      <p:sp>
        <p:nvSpPr>
          <p:cNvPr id="21" name="Frage3"/>
          <p:cNvSpPr txBox="1"/>
          <p:nvPr/>
        </p:nvSpPr>
        <p:spPr>
          <a:xfrm>
            <a:off x="8046720" y="4279392"/>
            <a:ext cx="3017520" cy="1005840"/>
          </a:xfrm>
          <a:prstGeom prst="rect">
            <a:avLst/>
          </a:prstGeom>
          <a:noFill/>
        </p:spPr>
        <p:txBody>
          <a:bodyPr wrap="square" lIns="0" tIns="0" rIns="0" bIns="0" anchor="t">
            <a:normAutofit/>
          </a:bodyPr>
          <a:lstStyle/>
          <a:p>
            <a:pPr algn="l">
              <a:lnSpc>
                <a:spcPct val="100000"/>
              </a:lnSpc>
              <a:spcBef>
                <a:spcPts val="0"/>
              </a:spcBef>
            </a:pPr>
            <a:r>
              <a:rPr lang="de-DE" sz="1500" b="1" dirty="0">
                <a:solidFill>
                  <a:srgbClr val="30343A"/>
                </a:solidFill>
                <a:latin typeface="+mn-lt"/>
              </a:rPr>
              <a:t>Was kann Direktzugriff verifizieren – und was nicht?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02 · GRUNDLAGEN</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CIA wird zu AIC</a:t>
            </a:r>
          </a:p>
        </p:txBody>
      </p:sp>
      <p:sp>
        <p:nvSpPr>
          <p:cNvPr id="4" name="Merksatz"/>
          <p:cNvSpPr txBox="1"/>
          <p:nvPr/>
        </p:nvSpPr>
        <p:spPr>
          <a:xfrm>
            <a:off x="777240" y="5806440"/>
            <a:ext cx="105156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Anhang III verlangt Nachweise – drei Ziele reichen dafür nicht.</a:t>
            </a:r>
          </a:p>
        </p:txBody>
      </p:sp>
      <p:sp>
        <p:nvSpPr>
          <p:cNvPr id="10" name="KopfIT"/>
          <p:cNvSpPr txBox="1"/>
          <p:nvPr/>
        </p:nvSpPr>
        <p:spPr>
          <a:xfrm>
            <a:off x="1188720" y="1783080"/>
            <a:ext cx="2377440" cy="320040"/>
          </a:xfrm>
          <a:prstGeom prst="rect">
            <a:avLst/>
          </a:prstGeom>
          <a:noFill/>
        </p:spPr>
        <p:txBody>
          <a:bodyPr wrap="square" lIns="0" tIns="0" rIns="0" bIns="0" anchor="t">
            <a:normAutofit/>
          </a:bodyPr>
          <a:lstStyle/>
          <a:p>
            <a:pPr algn="ctr">
              <a:lnSpc>
                <a:spcPct val="100000"/>
              </a:lnSpc>
              <a:spcBef>
                <a:spcPts val="0"/>
              </a:spcBef>
            </a:pPr>
            <a:r>
              <a:rPr lang="de-DE" sz="1400" b="1" dirty="0">
                <a:solidFill>
                  <a:srgbClr val="30343A"/>
                </a:solidFill>
                <a:latin typeface="+mn-lt"/>
              </a:rPr>
              <a:t>IT</a:t>
            </a:r>
          </a:p>
        </p:txBody>
      </p:sp>
      <p:sp>
        <p:nvSpPr>
          <p:cNvPr id="11" name="IT0"/>
          <p:cNvSpPr/>
          <p:nvPr/>
        </p:nvSpPr>
        <p:spPr>
          <a:xfrm>
            <a:off x="1188720" y="2194560"/>
            <a:ext cx="2377440" cy="566928"/>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Vertraulichkeit</a:t>
            </a:r>
          </a:p>
        </p:txBody>
      </p:sp>
      <p:sp>
        <p:nvSpPr>
          <p:cNvPr id="12" name="IT1"/>
          <p:cNvSpPr/>
          <p:nvPr/>
        </p:nvSpPr>
        <p:spPr>
          <a:xfrm>
            <a:off x="1188720" y="2871216"/>
            <a:ext cx="2377440" cy="566928"/>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Integrität</a:t>
            </a:r>
          </a:p>
        </p:txBody>
      </p:sp>
      <p:sp>
        <p:nvSpPr>
          <p:cNvPr id="13" name="IT2"/>
          <p:cNvSpPr/>
          <p:nvPr/>
        </p:nvSpPr>
        <p:spPr>
          <a:xfrm>
            <a:off x="1188720" y="3547872"/>
            <a:ext cx="2377440" cy="566928"/>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Verfügbarkeit</a:t>
            </a:r>
          </a:p>
        </p:txBody>
      </p:sp>
      <p:sp>
        <p:nvSpPr>
          <p:cNvPr id="14" name="KopfOT"/>
          <p:cNvSpPr txBox="1"/>
          <p:nvPr/>
        </p:nvSpPr>
        <p:spPr>
          <a:xfrm>
            <a:off x="4846320" y="1783080"/>
            <a:ext cx="2377440" cy="320040"/>
          </a:xfrm>
          <a:prstGeom prst="rect">
            <a:avLst/>
          </a:prstGeom>
          <a:noFill/>
        </p:spPr>
        <p:txBody>
          <a:bodyPr wrap="square" lIns="0" tIns="0" rIns="0" bIns="0" anchor="t">
            <a:normAutofit/>
          </a:bodyPr>
          <a:lstStyle/>
          <a:p>
            <a:pPr algn="ctr">
              <a:lnSpc>
                <a:spcPct val="100000"/>
              </a:lnSpc>
              <a:spcBef>
                <a:spcPts val="0"/>
              </a:spcBef>
            </a:pPr>
            <a:r>
              <a:rPr lang="de-DE" sz="1400" b="1" dirty="0">
                <a:solidFill>
                  <a:srgbClr val="30343A"/>
                </a:solidFill>
                <a:latin typeface="+mn-lt"/>
              </a:rPr>
              <a:t>OT</a:t>
            </a:r>
          </a:p>
        </p:txBody>
      </p:sp>
      <p:sp>
        <p:nvSpPr>
          <p:cNvPr id="15" name="OT0"/>
          <p:cNvSpPr/>
          <p:nvPr/>
        </p:nvSpPr>
        <p:spPr>
          <a:xfrm>
            <a:off x="4846320" y="2194560"/>
            <a:ext cx="2377440" cy="566928"/>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Verfügbarkeit</a:t>
            </a:r>
          </a:p>
        </p:txBody>
      </p:sp>
      <p:sp>
        <p:nvSpPr>
          <p:cNvPr id="16" name="OT1"/>
          <p:cNvSpPr/>
          <p:nvPr/>
        </p:nvSpPr>
        <p:spPr>
          <a:xfrm>
            <a:off x="4846320" y="2871216"/>
            <a:ext cx="2377440" cy="566928"/>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Integrität</a:t>
            </a:r>
          </a:p>
        </p:txBody>
      </p:sp>
      <p:sp>
        <p:nvSpPr>
          <p:cNvPr id="17" name="OT2"/>
          <p:cNvSpPr/>
          <p:nvPr/>
        </p:nvSpPr>
        <p:spPr>
          <a:xfrm>
            <a:off x="4846320" y="3547872"/>
            <a:ext cx="2377440" cy="566928"/>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Vertraulichkeit</a:t>
            </a:r>
          </a:p>
        </p:txBody>
      </p:sp>
      <p:sp>
        <p:nvSpPr>
          <p:cNvPr id="18" name="Pfeil"/>
          <p:cNvSpPr/>
          <p:nvPr/>
        </p:nvSpPr>
        <p:spPr>
          <a:xfrm>
            <a:off x="3794760" y="2606040"/>
            <a:ext cx="914400" cy="822960"/>
          </a:xfrm>
          <a:prstGeom prst="curvedRightArrow">
            <a:avLst/>
          </a:prstGeom>
          <a:solidFill>
            <a:srgbClr val="FF6E00"/>
          </a:solidFill>
          <a:ln>
            <a:noFill/>
          </a:ln>
        </p:spPr>
        <p:txBody>
          <a:bodyPr lIns="45720" tIns="27432" rIns="45720" bIns="27432" anchor="ctr">
            <a:normAutofit/>
          </a:bodyPr>
          <a:lstStyle/>
          <a:p>
            <a:endParaRPr lang="de-DE"/>
          </a:p>
        </p:txBody>
      </p:sp>
      <p:sp>
        <p:nvSpPr>
          <p:cNvPr id="19" name="PfeilLabel"/>
          <p:cNvSpPr txBox="1"/>
          <p:nvPr/>
        </p:nvSpPr>
        <p:spPr>
          <a:xfrm>
            <a:off x="3429000" y="3611880"/>
            <a:ext cx="1645920" cy="457200"/>
          </a:xfrm>
          <a:prstGeom prst="rect">
            <a:avLst/>
          </a:prstGeom>
          <a:noFill/>
        </p:spPr>
        <p:txBody>
          <a:bodyPr wrap="square" lIns="0" tIns="0" rIns="0" bIns="0" anchor="t">
            <a:normAutofit/>
          </a:bodyPr>
          <a:lstStyle/>
          <a:p>
            <a:pPr algn="ctr">
              <a:lnSpc>
                <a:spcPct val="100000"/>
              </a:lnSpc>
              <a:spcBef>
                <a:spcPts val="0"/>
              </a:spcBef>
            </a:pPr>
            <a:r>
              <a:rPr lang="de-DE" sz="1000" dirty="0">
                <a:solidFill>
                  <a:srgbClr val="5B666F"/>
                </a:solidFill>
                <a:latin typeface="+mn-lt"/>
              </a:rPr>
              <a:t>Priorität kehrt sich um</a:t>
            </a:r>
          </a:p>
        </p:txBody>
      </p:sp>
      <p:sp>
        <p:nvSpPr>
          <p:cNvPr id="20" name="Karte1"/>
          <p:cNvSpPr/>
          <p:nvPr/>
        </p:nvSpPr>
        <p:spPr>
          <a:xfrm>
            <a:off x="7863840" y="2194560"/>
            <a:ext cx="3200400" cy="749808"/>
          </a:xfrm>
          <a:prstGeom prst="rect">
            <a:avLst/>
          </a:prstGeom>
          <a:solidFill>
            <a:srgbClr val="30343A"/>
          </a:solidFill>
          <a:ln>
            <a:noFill/>
          </a:ln>
        </p:spPr>
        <p:txBody>
          <a:bodyPr lIns="45720" tIns="27432" rIns="45720" bIns="27432" anchor="t">
            <a:normAutofit/>
          </a:bodyPr>
          <a:lstStyle/>
          <a:p>
            <a:pPr algn="l">
              <a:spcBef>
                <a:spcPts val="0"/>
              </a:spcBef>
            </a:pPr>
            <a:r>
              <a:rPr lang="de-DE" sz="1200" b="1" dirty="0">
                <a:solidFill>
                  <a:srgbClr val="FFFFFF"/>
                </a:solidFill>
                <a:latin typeface="+mn-lt"/>
              </a:rPr>
              <a:t>Authentizität</a:t>
            </a:r>
          </a:p>
        </p:txBody>
      </p:sp>
      <p:sp>
        <p:nvSpPr>
          <p:cNvPr id="21" name="KarteSub1"/>
          <p:cNvSpPr txBox="1"/>
          <p:nvPr/>
        </p:nvSpPr>
        <p:spPr>
          <a:xfrm>
            <a:off x="8001000" y="2596896"/>
            <a:ext cx="2926080" cy="274320"/>
          </a:xfrm>
          <a:prstGeom prst="rect">
            <a:avLst/>
          </a:prstGeom>
          <a:noFill/>
        </p:spPr>
        <p:txBody>
          <a:bodyPr wrap="square" lIns="0" tIns="0" rIns="0" bIns="0" anchor="t">
            <a:normAutofit/>
          </a:bodyPr>
          <a:lstStyle/>
          <a:p>
            <a:pPr algn="l">
              <a:lnSpc>
                <a:spcPct val="100000"/>
              </a:lnSpc>
              <a:spcBef>
                <a:spcPts val="0"/>
              </a:spcBef>
            </a:pPr>
            <a:r>
              <a:rPr lang="de-DE" sz="1000" dirty="0">
                <a:solidFill>
                  <a:srgbClr val="FF6E00"/>
                </a:solidFill>
                <a:latin typeface="+mn-lt"/>
              </a:rPr>
              <a:t>ist der Absender echt?</a:t>
            </a:r>
          </a:p>
        </p:txBody>
      </p:sp>
      <p:sp>
        <p:nvSpPr>
          <p:cNvPr id="22" name="Karte2"/>
          <p:cNvSpPr/>
          <p:nvPr/>
        </p:nvSpPr>
        <p:spPr>
          <a:xfrm>
            <a:off x="7863840" y="3108960"/>
            <a:ext cx="3200400" cy="749808"/>
          </a:xfrm>
          <a:prstGeom prst="rect">
            <a:avLst/>
          </a:prstGeom>
          <a:solidFill>
            <a:srgbClr val="30343A"/>
          </a:solidFill>
          <a:ln>
            <a:noFill/>
          </a:ln>
        </p:spPr>
        <p:txBody>
          <a:bodyPr lIns="45720" tIns="27432" rIns="45720" bIns="27432" anchor="t">
            <a:normAutofit/>
          </a:bodyPr>
          <a:lstStyle/>
          <a:p>
            <a:pPr algn="l">
              <a:spcBef>
                <a:spcPts val="0"/>
              </a:spcBef>
            </a:pPr>
            <a:r>
              <a:rPr lang="de-DE" sz="1200" b="1" dirty="0">
                <a:solidFill>
                  <a:srgbClr val="FFFFFF"/>
                </a:solidFill>
                <a:latin typeface="+mn-lt"/>
              </a:rPr>
              <a:t>Nichtabstreitbarkeit</a:t>
            </a:r>
          </a:p>
        </p:txBody>
      </p:sp>
      <p:sp>
        <p:nvSpPr>
          <p:cNvPr id="23" name="KarteSub2"/>
          <p:cNvSpPr txBox="1"/>
          <p:nvPr/>
        </p:nvSpPr>
        <p:spPr>
          <a:xfrm>
            <a:off x="8001000" y="3511296"/>
            <a:ext cx="2926080" cy="274320"/>
          </a:xfrm>
          <a:prstGeom prst="rect">
            <a:avLst/>
          </a:prstGeom>
          <a:noFill/>
        </p:spPr>
        <p:txBody>
          <a:bodyPr wrap="square" lIns="0" tIns="0" rIns="0" bIns="0" anchor="t">
            <a:normAutofit/>
          </a:bodyPr>
          <a:lstStyle/>
          <a:p>
            <a:pPr algn="l">
              <a:lnSpc>
                <a:spcPct val="100000"/>
              </a:lnSpc>
              <a:spcBef>
                <a:spcPts val="0"/>
              </a:spcBef>
            </a:pPr>
            <a:r>
              <a:rPr lang="de-DE" sz="1000" dirty="0">
                <a:solidFill>
                  <a:srgbClr val="FF6E00"/>
                </a:solidFill>
                <a:latin typeface="+mn-lt"/>
              </a:rPr>
              <a:t>Handlung nicht leugbar</a:t>
            </a:r>
          </a:p>
        </p:txBody>
      </p:sp>
      <p:sp>
        <p:nvSpPr>
          <p:cNvPr id="24" name="Karte3"/>
          <p:cNvSpPr/>
          <p:nvPr/>
        </p:nvSpPr>
        <p:spPr>
          <a:xfrm>
            <a:off x="7863840" y="4023360"/>
            <a:ext cx="3200400" cy="749808"/>
          </a:xfrm>
          <a:prstGeom prst="rect">
            <a:avLst/>
          </a:prstGeom>
          <a:solidFill>
            <a:srgbClr val="30343A"/>
          </a:solidFill>
          <a:ln>
            <a:noFill/>
          </a:ln>
        </p:spPr>
        <p:txBody>
          <a:bodyPr lIns="45720" tIns="27432" rIns="45720" bIns="27432" anchor="t">
            <a:normAutofit/>
          </a:bodyPr>
          <a:lstStyle/>
          <a:p>
            <a:pPr algn="l">
              <a:spcBef>
                <a:spcPts val="0"/>
              </a:spcBef>
            </a:pPr>
            <a:r>
              <a:rPr lang="de-DE" sz="1200" b="1" dirty="0">
                <a:solidFill>
                  <a:srgbClr val="FFFFFF"/>
                </a:solidFill>
                <a:latin typeface="+mn-lt"/>
              </a:rPr>
              <a:t>Zurechenbarkeit</a:t>
            </a:r>
          </a:p>
        </p:txBody>
      </p:sp>
      <p:sp>
        <p:nvSpPr>
          <p:cNvPr id="25" name="KarteSub3"/>
          <p:cNvSpPr txBox="1"/>
          <p:nvPr/>
        </p:nvSpPr>
        <p:spPr>
          <a:xfrm>
            <a:off x="8001000" y="4425696"/>
            <a:ext cx="2926080" cy="274320"/>
          </a:xfrm>
          <a:prstGeom prst="rect">
            <a:avLst/>
          </a:prstGeom>
          <a:noFill/>
        </p:spPr>
        <p:txBody>
          <a:bodyPr wrap="square" lIns="0" tIns="0" rIns="0" bIns="0" anchor="t">
            <a:normAutofit/>
          </a:bodyPr>
          <a:lstStyle/>
          <a:p>
            <a:pPr algn="l">
              <a:lnSpc>
                <a:spcPct val="100000"/>
              </a:lnSpc>
              <a:spcBef>
                <a:spcPts val="0"/>
              </a:spcBef>
            </a:pPr>
            <a:r>
              <a:rPr lang="de-DE" sz="1000" dirty="0">
                <a:solidFill>
                  <a:srgbClr val="FF6E00"/>
                </a:solidFill>
                <a:latin typeface="+mn-lt"/>
              </a:rPr>
              <a:t>wer war 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02 · GRUNDLAGEN</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Bedrohung = negiertes Schutzziel</a:t>
            </a:r>
          </a:p>
        </p:txBody>
      </p:sp>
      <p:sp>
        <p:nvSpPr>
          <p:cNvPr id="4" name="Merksatz"/>
          <p:cNvSpPr txBox="1"/>
          <p:nvPr/>
        </p:nvSpPr>
        <p:spPr>
          <a:xfrm>
            <a:off x="777240" y="5806440"/>
            <a:ext cx="105156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Zwei dieser Kategorien führen später zu den einzigen Fail-Verdikten.</a:t>
            </a:r>
          </a:p>
        </p:txBody>
      </p:sp>
      <p:sp>
        <p:nvSpPr>
          <p:cNvPr id="10" name="HLR"/>
          <p:cNvSpPr/>
          <p:nvPr/>
        </p:nvSpPr>
        <p:spPr>
          <a:xfrm>
            <a:off x="1051560" y="2999232"/>
            <a:ext cx="9692640" cy="548640"/>
          </a:xfrm>
          <a:prstGeom prst="rect">
            <a:avLst/>
          </a:prstGeom>
          <a:solidFill>
            <a:srgbClr val="FFE9D9"/>
          </a:solidFill>
          <a:ln>
            <a:noFill/>
          </a:ln>
        </p:spPr>
        <p:txBody>
          <a:bodyPr lIns="45720" tIns="27432" rIns="45720" bIns="27432" anchor="ctr">
            <a:normAutofit/>
          </a:bodyPr>
          <a:lstStyle/>
          <a:p>
            <a:endParaRPr lang="de-DE"/>
          </a:p>
        </p:txBody>
      </p:sp>
      <p:sp>
        <p:nvSpPr>
          <p:cNvPr id="11" name="HLD"/>
          <p:cNvSpPr/>
          <p:nvPr/>
        </p:nvSpPr>
        <p:spPr>
          <a:xfrm>
            <a:off x="1051560" y="4242816"/>
            <a:ext cx="9692640" cy="548640"/>
          </a:xfrm>
          <a:prstGeom prst="rect">
            <a:avLst/>
          </a:prstGeom>
          <a:solidFill>
            <a:srgbClr val="FFE9D9"/>
          </a:solidFill>
          <a:ln>
            <a:noFill/>
          </a:ln>
        </p:spPr>
        <p:txBody>
          <a:bodyPr lIns="45720" tIns="27432" rIns="45720" bIns="27432" anchor="ctr">
            <a:normAutofit/>
          </a:bodyPr>
          <a:lstStyle/>
          <a:p>
            <a:endParaRPr lang="de-DE"/>
          </a:p>
        </p:txBody>
      </p:sp>
      <p:sp>
        <p:nvSpPr>
          <p:cNvPr id="12" name="QS"/>
          <p:cNvSpPr/>
          <p:nvPr/>
        </p:nvSpPr>
        <p:spPr>
          <a:xfrm>
            <a:off x="1188720" y="1783080"/>
            <a:ext cx="457200" cy="457200"/>
          </a:xfrm>
          <a:prstGeom prst="rect">
            <a:avLst/>
          </a:prstGeom>
          <a:solidFill>
            <a:srgbClr val="30343A"/>
          </a:solidFill>
          <a:ln>
            <a:noFill/>
          </a:ln>
        </p:spPr>
        <p:txBody>
          <a:bodyPr lIns="45720" tIns="27432" rIns="45720" bIns="27432" anchor="ctr">
            <a:normAutofit/>
          </a:bodyPr>
          <a:lstStyle/>
          <a:p>
            <a:pPr algn="ctr">
              <a:spcBef>
                <a:spcPts val="0"/>
              </a:spcBef>
            </a:pPr>
            <a:r>
              <a:rPr lang="de-DE" sz="1600" b="1" dirty="0">
                <a:solidFill>
                  <a:srgbClr val="FFFFFF"/>
                </a:solidFill>
                <a:latin typeface="+mn-lt"/>
              </a:rPr>
              <a:t>S</a:t>
            </a:r>
          </a:p>
        </p:txBody>
      </p:sp>
      <p:sp>
        <p:nvSpPr>
          <p:cNvPr id="13" name="TS"/>
          <p:cNvSpPr txBox="1"/>
          <p:nvPr/>
        </p:nvSpPr>
        <p:spPr>
          <a:xfrm>
            <a:off x="1920240" y="1892808"/>
            <a:ext cx="310896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Spoofing</a:t>
            </a:r>
          </a:p>
        </p:txBody>
      </p:sp>
      <p:sp>
        <p:nvSpPr>
          <p:cNvPr id="14" name="AS"/>
          <p:cNvSpPr txBox="1"/>
          <p:nvPr/>
        </p:nvSpPr>
        <p:spPr>
          <a:xfrm>
            <a:off x="5212080" y="1892808"/>
            <a:ext cx="45720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a:t>
            </a:r>
          </a:p>
        </p:txBody>
      </p:sp>
      <p:sp>
        <p:nvSpPr>
          <p:cNvPr id="15" name="GS"/>
          <p:cNvSpPr txBox="1"/>
          <p:nvPr/>
        </p:nvSpPr>
        <p:spPr>
          <a:xfrm>
            <a:off x="5943600" y="1892808"/>
            <a:ext cx="4114800" cy="3200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FF6E00"/>
                </a:solidFill>
                <a:latin typeface="+mn-lt"/>
              </a:rPr>
              <a:t>Authentizität</a:t>
            </a:r>
          </a:p>
        </p:txBody>
      </p:sp>
      <p:sp>
        <p:nvSpPr>
          <p:cNvPr id="16" name="QT"/>
          <p:cNvSpPr/>
          <p:nvPr/>
        </p:nvSpPr>
        <p:spPr>
          <a:xfrm>
            <a:off x="1188720" y="2404872"/>
            <a:ext cx="457200" cy="457200"/>
          </a:xfrm>
          <a:prstGeom prst="rect">
            <a:avLst/>
          </a:prstGeom>
          <a:solidFill>
            <a:srgbClr val="30343A"/>
          </a:solidFill>
          <a:ln>
            <a:noFill/>
          </a:ln>
        </p:spPr>
        <p:txBody>
          <a:bodyPr lIns="45720" tIns="27432" rIns="45720" bIns="27432" anchor="ctr">
            <a:normAutofit/>
          </a:bodyPr>
          <a:lstStyle/>
          <a:p>
            <a:pPr algn="ctr">
              <a:spcBef>
                <a:spcPts val="0"/>
              </a:spcBef>
            </a:pPr>
            <a:r>
              <a:rPr lang="de-DE" sz="1600" b="1" dirty="0">
                <a:solidFill>
                  <a:srgbClr val="FFFFFF"/>
                </a:solidFill>
                <a:latin typeface="+mn-lt"/>
              </a:rPr>
              <a:t>T</a:t>
            </a:r>
          </a:p>
        </p:txBody>
      </p:sp>
      <p:sp>
        <p:nvSpPr>
          <p:cNvPr id="17" name="TT"/>
          <p:cNvSpPr txBox="1"/>
          <p:nvPr/>
        </p:nvSpPr>
        <p:spPr>
          <a:xfrm>
            <a:off x="1920240" y="2514600"/>
            <a:ext cx="310896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Tampering</a:t>
            </a:r>
          </a:p>
        </p:txBody>
      </p:sp>
      <p:sp>
        <p:nvSpPr>
          <p:cNvPr id="18" name="AT"/>
          <p:cNvSpPr txBox="1"/>
          <p:nvPr/>
        </p:nvSpPr>
        <p:spPr>
          <a:xfrm>
            <a:off x="5212080" y="2514600"/>
            <a:ext cx="45720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a:t>
            </a:r>
          </a:p>
        </p:txBody>
      </p:sp>
      <p:sp>
        <p:nvSpPr>
          <p:cNvPr id="19" name="GT"/>
          <p:cNvSpPr txBox="1"/>
          <p:nvPr/>
        </p:nvSpPr>
        <p:spPr>
          <a:xfrm>
            <a:off x="5943600" y="2514600"/>
            <a:ext cx="4114800" cy="3200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FF6E00"/>
                </a:solidFill>
                <a:latin typeface="+mn-lt"/>
              </a:rPr>
              <a:t>Integrität</a:t>
            </a:r>
          </a:p>
        </p:txBody>
      </p:sp>
      <p:sp>
        <p:nvSpPr>
          <p:cNvPr id="20" name="QR"/>
          <p:cNvSpPr/>
          <p:nvPr/>
        </p:nvSpPr>
        <p:spPr>
          <a:xfrm>
            <a:off x="1188720" y="3026664"/>
            <a:ext cx="457200" cy="457200"/>
          </a:xfrm>
          <a:prstGeom prst="rect">
            <a:avLst/>
          </a:prstGeom>
          <a:solidFill>
            <a:srgbClr val="30343A"/>
          </a:solidFill>
          <a:ln>
            <a:noFill/>
          </a:ln>
        </p:spPr>
        <p:txBody>
          <a:bodyPr lIns="45720" tIns="27432" rIns="45720" bIns="27432" anchor="ctr">
            <a:normAutofit/>
          </a:bodyPr>
          <a:lstStyle/>
          <a:p>
            <a:pPr algn="ctr">
              <a:spcBef>
                <a:spcPts val="0"/>
              </a:spcBef>
            </a:pPr>
            <a:r>
              <a:rPr lang="de-DE" sz="1600" b="1" dirty="0">
                <a:solidFill>
                  <a:srgbClr val="FFFFFF"/>
                </a:solidFill>
                <a:latin typeface="+mn-lt"/>
              </a:rPr>
              <a:t>R</a:t>
            </a:r>
          </a:p>
        </p:txBody>
      </p:sp>
      <p:sp>
        <p:nvSpPr>
          <p:cNvPr id="21" name="TR"/>
          <p:cNvSpPr txBox="1"/>
          <p:nvPr/>
        </p:nvSpPr>
        <p:spPr>
          <a:xfrm>
            <a:off x="1920240" y="3136392"/>
            <a:ext cx="310896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Repudiation</a:t>
            </a:r>
          </a:p>
        </p:txBody>
      </p:sp>
      <p:sp>
        <p:nvSpPr>
          <p:cNvPr id="22" name="AR"/>
          <p:cNvSpPr txBox="1"/>
          <p:nvPr/>
        </p:nvSpPr>
        <p:spPr>
          <a:xfrm>
            <a:off x="5212080" y="3136392"/>
            <a:ext cx="45720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a:t>
            </a:r>
          </a:p>
        </p:txBody>
      </p:sp>
      <p:sp>
        <p:nvSpPr>
          <p:cNvPr id="23" name="GR"/>
          <p:cNvSpPr txBox="1"/>
          <p:nvPr/>
        </p:nvSpPr>
        <p:spPr>
          <a:xfrm>
            <a:off x="5943600" y="3136392"/>
            <a:ext cx="4114800" cy="3200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FF6E00"/>
                </a:solidFill>
                <a:latin typeface="+mn-lt"/>
              </a:rPr>
              <a:t>Nichtabstreitbarkeit</a:t>
            </a:r>
          </a:p>
        </p:txBody>
      </p:sp>
      <p:sp>
        <p:nvSpPr>
          <p:cNvPr id="24" name="QI"/>
          <p:cNvSpPr/>
          <p:nvPr/>
        </p:nvSpPr>
        <p:spPr>
          <a:xfrm>
            <a:off x="1188720" y="3648456"/>
            <a:ext cx="457200" cy="457200"/>
          </a:xfrm>
          <a:prstGeom prst="rect">
            <a:avLst/>
          </a:prstGeom>
          <a:solidFill>
            <a:srgbClr val="30343A"/>
          </a:solidFill>
          <a:ln>
            <a:noFill/>
          </a:ln>
        </p:spPr>
        <p:txBody>
          <a:bodyPr lIns="45720" tIns="27432" rIns="45720" bIns="27432" anchor="ctr">
            <a:normAutofit/>
          </a:bodyPr>
          <a:lstStyle/>
          <a:p>
            <a:pPr algn="ctr">
              <a:spcBef>
                <a:spcPts val="0"/>
              </a:spcBef>
            </a:pPr>
            <a:r>
              <a:rPr lang="de-DE" sz="1600" b="1" dirty="0">
                <a:solidFill>
                  <a:srgbClr val="FFFFFF"/>
                </a:solidFill>
                <a:latin typeface="+mn-lt"/>
              </a:rPr>
              <a:t>I</a:t>
            </a:r>
          </a:p>
        </p:txBody>
      </p:sp>
      <p:sp>
        <p:nvSpPr>
          <p:cNvPr id="25" name="TI"/>
          <p:cNvSpPr txBox="1"/>
          <p:nvPr/>
        </p:nvSpPr>
        <p:spPr>
          <a:xfrm>
            <a:off x="1920240" y="3758184"/>
            <a:ext cx="310896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Information Disclosure</a:t>
            </a:r>
          </a:p>
        </p:txBody>
      </p:sp>
      <p:sp>
        <p:nvSpPr>
          <p:cNvPr id="26" name="AI"/>
          <p:cNvSpPr txBox="1"/>
          <p:nvPr/>
        </p:nvSpPr>
        <p:spPr>
          <a:xfrm>
            <a:off x="5212080" y="3758184"/>
            <a:ext cx="45720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a:t>
            </a:r>
          </a:p>
        </p:txBody>
      </p:sp>
      <p:sp>
        <p:nvSpPr>
          <p:cNvPr id="27" name="GI"/>
          <p:cNvSpPr txBox="1"/>
          <p:nvPr/>
        </p:nvSpPr>
        <p:spPr>
          <a:xfrm>
            <a:off x="5943600" y="3758184"/>
            <a:ext cx="4114800" cy="3200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FF6E00"/>
                </a:solidFill>
                <a:latin typeface="+mn-lt"/>
              </a:rPr>
              <a:t>Vertraulichkeit</a:t>
            </a:r>
          </a:p>
        </p:txBody>
      </p:sp>
      <p:sp>
        <p:nvSpPr>
          <p:cNvPr id="28" name="QD"/>
          <p:cNvSpPr/>
          <p:nvPr/>
        </p:nvSpPr>
        <p:spPr>
          <a:xfrm>
            <a:off x="1188720" y="4270248"/>
            <a:ext cx="457200" cy="457200"/>
          </a:xfrm>
          <a:prstGeom prst="rect">
            <a:avLst/>
          </a:prstGeom>
          <a:solidFill>
            <a:srgbClr val="30343A"/>
          </a:solidFill>
          <a:ln>
            <a:noFill/>
          </a:ln>
        </p:spPr>
        <p:txBody>
          <a:bodyPr lIns="45720" tIns="27432" rIns="45720" bIns="27432" anchor="ctr">
            <a:normAutofit/>
          </a:bodyPr>
          <a:lstStyle/>
          <a:p>
            <a:pPr algn="ctr">
              <a:spcBef>
                <a:spcPts val="0"/>
              </a:spcBef>
            </a:pPr>
            <a:r>
              <a:rPr lang="de-DE" sz="1600" b="1" dirty="0">
                <a:solidFill>
                  <a:srgbClr val="FFFFFF"/>
                </a:solidFill>
                <a:latin typeface="+mn-lt"/>
              </a:rPr>
              <a:t>D</a:t>
            </a:r>
          </a:p>
        </p:txBody>
      </p:sp>
      <p:sp>
        <p:nvSpPr>
          <p:cNvPr id="29" name="TD"/>
          <p:cNvSpPr txBox="1"/>
          <p:nvPr/>
        </p:nvSpPr>
        <p:spPr>
          <a:xfrm>
            <a:off x="1920240" y="4379976"/>
            <a:ext cx="310896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Denial of Service</a:t>
            </a:r>
          </a:p>
        </p:txBody>
      </p:sp>
      <p:sp>
        <p:nvSpPr>
          <p:cNvPr id="30" name="AD"/>
          <p:cNvSpPr txBox="1"/>
          <p:nvPr/>
        </p:nvSpPr>
        <p:spPr>
          <a:xfrm>
            <a:off x="5212080" y="4379976"/>
            <a:ext cx="45720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a:t>
            </a:r>
          </a:p>
        </p:txBody>
      </p:sp>
      <p:sp>
        <p:nvSpPr>
          <p:cNvPr id="31" name="GD"/>
          <p:cNvSpPr txBox="1"/>
          <p:nvPr/>
        </p:nvSpPr>
        <p:spPr>
          <a:xfrm>
            <a:off x="5943600" y="4379976"/>
            <a:ext cx="4114800" cy="3200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FF6E00"/>
                </a:solidFill>
                <a:latin typeface="+mn-lt"/>
              </a:rPr>
              <a:t>Verfügbarkeit</a:t>
            </a:r>
          </a:p>
        </p:txBody>
      </p:sp>
      <p:sp>
        <p:nvSpPr>
          <p:cNvPr id="32" name="QE"/>
          <p:cNvSpPr/>
          <p:nvPr/>
        </p:nvSpPr>
        <p:spPr>
          <a:xfrm>
            <a:off x="1188720" y="4892040"/>
            <a:ext cx="457200" cy="457200"/>
          </a:xfrm>
          <a:prstGeom prst="rect">
            <a:avLst/>
          </a:prstGeom>
          <a:solidFill>
            <a:srgbClr val="30343A"/>
          </a:solidFill>
          <a:ln>
            <a:noFill/>
          </a:ln>
        </p:spPr>
        <p:txBody>
          <a:bodyPr lIns="45720" tIns="27432" rIns="45720" bIns="27432" anchor="ctr">
            <a:normAutofit/>
          </a:bodyPr>
          <a:lstStyle/>
          <a:p>
            <a:pPr algn="ctr">
              <a:spcBef>
                <a:spcPts val="0"/>
              </a:spcBef>
            </a:pPr>
            <a:r>
              <a:rPr lang="de-DE" sz="1600" b="1" dirty="0">
                <a:solidFill>
                  <a:srgbClr val="FFFFFF"/>
                </a:solidFill>
                <a:latin typeface="+mn-lt"/>
              </a:rPr>
              <a:t>E</a:t>
            </a:r>
          </a:p>
        </p:txBody>
      </p:sp>
      <p:sp>
        <p:nvSpPr>
          <p:cNvPr id="33" name="TE"/>
          <p:cNvSpPr txBox="1"/>
          <p:nvPr/>
        </p:nvSpPr>
        <p:spPr>
          <a:xfrm>
            <a:off x="1920240" y="5001768"/>
            <a:ext cx="310896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Elevation of Privilege</a:t>
            </a:r>
          </a:p>
        </p:txBody>
      </p:sp>
      <p:sp>
        <p:nvSpPr>
          <p:cNvPr id="34" name="AE"/>
          <p:cNvSpPr txBox="1"/>
          <p:nvPr/>
        </p:nvSpPr>
        <p:spPr>
          <a:xfrm>
            <a:off x="5212080" y="5001768"/>
            <a:ext cx="457200" cy="320040"/>
          </a:xfrm>
          <a:prstGeom prst="rect">
            <a:avLst/>
          </a:prstGeom>
          <a:noFill/>
        </p:spPr>
        <p:txBody>
          <a:bodyPr wrap="square" lIns="0" tIns="0" rIns="0" bIns="0" anchor="t">
            <a:normAutofit/>
          </a:bodyPr>
          <a:lstStyle/>
          <a:p>
            <a:pPr algn="l">
              <a:lnSpc>
                <a:spcPct val="100000"/>
              </a:lnSpc>
              <a:spcBef>
                <a:spcPts val="0"/>
              </a:spcBef>
            </a:pPr>
            <a:r>
              <a:rPr lang="de-DE" sz="1400" dirty="0">
                <a:solidFill>
                  <a:srgbClr val="5B666F"/>
                </a:solidFill>
                <a:latin typeface="+mn-lt"/>
              </a:rPr>
              <a:t>→</a:t>
            </a:r>
          </a:p>
        </p:txBody>
      </p:sp>
      <p:sp>
        <p:nvSpPr>
          <p:cNvPr id="35" name="GE"/>
          <p:cNvSpPr txBox="1"/>
          <p:nvPr/>
        </p:nvSpPr>
        <p:spPr>
          <a:xfrm>
            <a:off x="5943600" y="5001768"/>
            <a:ext cx="4114800" cy="3200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FF6E00"/>
                </a:solidFill>
                <a:latin typeface="+mn-lt"/>
              </a:rPr>
              <a:t>Autorisierung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02 · GRUNDLAGEN</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Von der Pflicht zur Prüfvorschrift</a:t>
            </a:r>
          </a:p>
        </p:txBody>
      </p:sp>
      <p:sp>
        <p:nvSpPr>
          <p:cNvPr id="4" name="Merksatz"/>
          <p:cNvSpPr txBox="1"/>
          <p:nvPr/>
        </p:nvSpPr>
        <p:spPr>
          <a:xfrm>
            <a:off x="777240" y="5806440"/>
            <a:ext cx="105156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Approach B – das Prüfobjekt ist eine Netzwerkkomponente.</a:t>
            </a:r>
          </a:p>
        </p:txBody>
      </p:sp>
      <p:sp>
        <p:nvSpPr>
          <p:cNvPr id="10" name="Band1"/>
          <p:cNvSpPr/>
          <p:nvPr/>
        </p:nvSpPr>
        <p:spPr>
          <a:xfrm>
            <a:off x="914400" y="1828800"/>
            <a:ext cx="5486400" cy="868680"/>
          </a:xfrm>
          <a:prstGeom prst="rect">
            <a:avLst/>
          </a:prstGeom>
          <a:solidFill>
            <a:srgbClr val="F2F4F5"/>
          </a:solidFill>
          <a:ln>
            <a:noFill/>
          </a:ln>
        </p:spPr>
        <p:txBody>
          <a:bodyPr lIns="45720" tIns="27432" rIns="45720" bIns="27432" anchor="ctr">
            <a:normAutofit/>
          </a:bodyPr>
          <a:lstStyle/>
          <a:p>
            <a:endParaRPr lang="de-DE"/>
          </a:p>
        </p:txBody>
      </p:sp>
      <p:sp>
        <p:nvSpPr>
          <p:cNvPr id="11" name="BandText1"/>
          <p:cNvSpPr txBox="1"/>
          <p:nvPr/>
        </p:nvSpPr>
        <p:spPr>
          <a:xfrm>
            <a:off x="1097280" y="1993392"/>
            <a:ext cx="5120640" cy="548640"/>
          </a:xfrm>
          <a:prstGeom prst="rect">
            <a:avLst/>
          </a:prstGeom>
          <a:noFill/>
        </p:spPr>
        <p:txBody>
          <a:bodyPr wrap="square" lIns="0" tIns="0" rIns="0" bIns="0" anchor="t">
            <a:normAutofit/>
          </a:bodyPr>
          <a:lstStyle/>
          <a:p>
            <a:pPr algn="ctr">
              <a:lnSpc>
                <a:spcPct val="100000"/>
              </a:lnSpc>
              <a:spcBef>
                <a:spcPts val="0"/>
              </a:spcBef>
            </a:pPr>
            <a:r>
              <a:rPr lang="de-DE" sz="1300" b="1" dirty="0">
                <a:solidFill>
                  <a:srgbClr val="30343A"/>
                </a:solidFill>
                <a:latin typeface="+mn-lt"/>
              </a:rPr>
              <a:t>Verordnung (EU) 2023/1230 · Anhang III 1.1.9 und 1.2.1</a:t>
            </a:r>
          </a:p>
          <a:p>
            <a:pPr algn="ctr">
              <a:lnSpc>
                <a:spcPct val="100000"/>
              </a:lnSpc>
              <a:spcBef>
                <a:spcPts val="400"/>
              </a:spcBef>
            </a:pPr>
            <a:r>
              <a:rPr lang="de-DE" sz="1000" dirty="0">
                <a:solidFill>
                  <a:srgbClr val="5B666F"/>
                </a:solidFill>
                <a:latin typeface="+mn-lt"/>
              </a:rPr>
              <a:t>die Pflicht</a:t>
            </a:r>
          </a:p>
        </p:txBody>
      </p:sp>
      <p:sp>
        <p:nvSpPr>
          <p:cNvPr id="12" name="Band2"/>
          <p:cNvSpPr/>
          <p:nvPr/>
        </p:nvSpPr>
        <p:spPr>
          <a:xfrm>
            <a:off x="1463040" y="2880360"/>
            <a:ext cx="4389120" cy="868680"/>
          </a:xfrm>
          <a:prstGeom prst="rect">
            <a:avLst/>
          </a:prstGeom>
          <a:solidFill>
            <a:srgbClr val="F2F4F5"/>
          </a:solidFill>
          <a:ln>
            <a:noFill/>
          </a:ln>
        </p:spPr>
        <p:txBody>
          <a:bodyPr lIns="45720" tIns="27432" rIns="45720" bIns="27432" anchor="ctr">
            <a:normAutofit/>
          </a:bodyPr>
          <a:lstStyle/>
          <a:p>
            <a:endParaRPr lang="de-DE"/>
          </a:p>
        </p:txBody>
      </p:sp>
      <p:sp>
        <p:nvSpPr>
          <p:cNvPr id="13" name="BandText2"/>
          <p:cNvSpPr txBox="1"/>
          <p:nvPr/>
        </p:nvSpPr>
        <p:spPr>
          <a:xfrm>
            <a:off x="1645920" y="3044952"/>
            <a:ext cx="4023360" cy="548640"/>
          </a:xfrm>
          <a:prstGeom prst="rect">
            <a:avLst/>
          </a:prstGeom>
          <a:noFill/>
        </p:spPr>
        <p:txBody>
          <a:bodyPr wrap="square" lIns="0" tIns="0" rIns="0" bIns="0" anchor="t">
            <a:normAutofit/>
          </a:bodyPr>
          <a:lstStyle/>
          <a:p>
            <a:pPr algn="ctr">
              <a:lnSpc>
                <a:spcPct val="100000"/>
              </a:lnSpc>
              <a:spcBef>
                <a:spcPts val="0"/>
              </a:spcBef>
            </a:pPr>
            <a:r>
              <a:rPr lang="de-DE" sz="1300" b="1" dirty="0">
                <a:solidFill>
                  <a:srgbClr val="30343A"/>
                </a:solidFill>
                <a:latin typeface="+mn-lt"/>
              </a:rPr>
              <a:t>prEN 50742</a:t>
            </a:r>
          </a:p>
          <a:p>
            <a:pPr algn="ctr">
              <a:lnSpc>
                <a:spcPct val="100000"/>
              </a:lnSpc>
              <a:spcBef>
                <a:spcPts val="400"/>
              </a:spcBef>
            </a:pPr>
            <a:r>
              <a:rPr lang="de-DE" sz="1000" dirty="0">
                <a:solidFill>
                  <a:srgbClr val="5B666F"/>
                </a:solidFill>
                <a:latin typeface="+mn-lt"/>
              </a:rPr>
              <a:t>die Konkretisierung</a:t>
            </a:r>
          </a:p>
        </p:txBody>
      </p:sp>
      <p:sp>
        <p:nvSpPr>
          <p:cNvPr id="14" name="ApproachA"/>
          <p:cNvSpPr txBox="1"/>
          <p:nvPr/>
        </p:nvSpPr>
        <p:spPr>
          <a:xfrm>
            <a:off x="6035040" y="2926080"/>
            <a:ext cx="1463040" cy="274320"/>
          </a:xfrm>
          <a:prstGeom prst="rect">
            <a:avLst/>
          </a:prstGeom>
          <a:noFill/>
        </p:spPr>
        <p:txBody>
          <a:bodyPr wrap="square" lIns="0" tIns="0" rIns="0" bIns="0" anchor="t">
            <a:normAutofit/>
          </a:bodyPr>
          <a:lstStyle/>
          <a:p>
            <a:pPr algn="l">
              <a:lnSpc>
                <a:spcPct val="100000"/>
              </a:lnSpc>
              <a:spcBef>
                <a:spcPts val="0"/>
              </a:spcBef>
            </a:pPr>
            <a:r>
              <a:rPr lang="de-DE" sz="1000" dirty="0">
                <a:solidFill>
                  <a:srgbClr val="7B858C"/>
                </a:solidFill>
                <a:latin typeface="+mn-lt"/>
              </a:rPr>
              <a:t>Approach A</a:t>
            </a:r>
          </a:p>
        </p:txBody>
      </p:sp>
      <p:sp>
        <p:nvSpPr>
          <p:cNvPr id="15" name="ApproachB"/>
          <p:cNvSpPr txBox="1"/>
          <p:nvPr/>
        </p:nvSpPr>
        <p:spPr>
          <a:xfrm>
            <a:off x="6035040" y="3291840"/>
            <a:ext cx="146304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FF6E00"/>
                </a:solidFill>
                <a:latin typeface="+mn-lt"/>
              </a:rPr>
              <a:t>✓ Approach B</a:t>
            </a:r>
          </a:p>
        </p:txBody>
      </p:sp>
      <p:sp>
        <p:nvSpPr>
          <p:cNvPr id="16" name="Band3"/>
          <p:cNvSpPr/>
          <p:nvPr/>
        </p:nvSpPr>
        <p:spPr>
          <a:xfrm>
            <a:off x="2011680" y="3931920"/>
            <a:ext cx="3291840" cy="868680"/>
          </a:xfrm>
          <a:prstGeom prst="rect">
            <a:avLst/>
          </a:prstGeom>
          <a:solidFill>
            <a:srgbClr val="FF6E00"/>
          </a:solidFill>
          <a:ln>
            <a:noFill/>
          </a:ln>
        </p:spPr>
        <p:txBody>
          <a:bodyPr lIns="45720" tIns="27432" rIns="45720" bIns="27432" anchor="ctr">
            <a:normAutofit/>
          </a:bodyPr>
          <a:lstStyle/>
          <a:p>
            <a:endParaRPr lang="de-DE"/>
          </a:p>
        </p:txBody>
      </p:sp>
      <p:sp>
        <p:nvSpPr>
          <p:cNvPr id="17" name="BandText3"/>
          <p:cNvSpPr txBox="1"/>
          <p:nvPr/>
        </p:nvSpPr>
        <p:spPr>
          <a:xfrm>
            <a:off x="2194560" y="4096512"/>
            <a:ext cx="2926080" cy="548640"/>
          </a:xfrm>
          <a:prstGeom prst="rect">
            <a:avLst/>
          </a:prstGeom>
          <a:noFill/>
        </p:spPr>
        <p:txBody>
          <a:bodyPr wrap="square" lIns="0" tIns="0" rIns="0" bIns="0" anchor="t">
            <a:normAutofit lnSpcReduction="10000"/>
          </a:bodyPr>
          <a:lstStyle/>
          <a:p>
            <a:pPr algn="ctr">
              <a:lnSpc>
                <a:spcPct val="100000"/>
              </a:lnSpc>
              <a:spcBef>
                <a:spcPts val="0"/>
              </a:spcBef>
            </a:pPr>
            <a:r>
              <a:rPr lang="de-DE" sz="1300" b="1" dirty="0">
                <a:solidFill>
                  <a:srgbClr val="30343A"/>
                </a:solidFill>
                <a:latin typeface="+mn-lt"/>
              </a:rPr>
              <a:t>IEC 62443-4-2 · Component Requirements</a:t>
            </a:r>
          </a:p>
          <a:p>
            <a:pPr algn="ctr">
              <a:lnSpc>
                <a:spcPct val="100000"/>
              </a:lnSpc>
              <a:spcBef>
                <a:spcPts val="400"/>
              </a:spcBef>
            </a:pPr>
            <a:r>
              <a:rPr lang="de-DE" sz="1000" dirty="0">
                <a:solidFill>
                  <a:srgbClr val="30343A"/>
                </a:solidFill>
                <a:latin typeface="+mn-lt"/>
              </a:rPr>
              <a:t>was die Komponente können muss</a:t>
            </a:r>
          </a:p>
        </p:txBody>
      </p:sp>
      <p:sp>
        <p:nvSpPr>
          <p:cNvPr id="18" name="SVV"/>
          <p:cNvSpPr/>
          <p:nvPr/>
        </p:nvSpPr>
        <p:spPr>
          <a:xfrm>
            <a:off x="8503920" y="1828800"/>
            <a:ext cx="2468880" cy="2971800"/>
          </a:xfrm>
          <a:prstGeom prst="rect">
            <a:avLst/>
          </a:prstGeom>
          <a:noFill/>
          <a:ln w="15875">
            <a:solidFill>
              <a:srgbClr val="30343A"/>
            </a:solidFill>
          </a:ln>
        </p:spPr>
        <p:txBody>
          <a:bodyPr lIns="45720" tIns="27432" rIns="45720" bIns="27432" anchor="ctr">
            <a:normAutofit/>
          </a:bodyPr>
          <a:lstStyle/>
          <a:p>
            <a:pPr algn="ctr">
              <a:spcBef>
                <a:spcPts val="0"/>
              </a:spcBef>
            </a:pPr>
            <a:r>
              <a:rPr lang="de-DE" sz="1300" b="1" dirty="0">
                <a:solidFill>
                  <a:srgbClr val="30343A"/>
                </a:solidFill>
                <a:latin typeface="+mn-lt"/>
              </a:rPr>
              <a:t>IEC 62443-4-1</a:t>
            </a:r>
          </a:p>
          <a:p>
            <a:pPr algn="ctr">
              <a:spcBef>
                <a:spcPts val="600"/>
              </a:spcBef>
            </a:pPr>
            <a:r>
              <a:rPr lang="de-DE" sz="1200" b="1" dirty="0">
                <a:solidFill>
                  <a:srgbClr val="FF6E00"/>
                </a:solidFill>
                <a:latin typeface="+mn-lt"/>
              </a:rPr>
              <a:t>Practice SVV</a:t>
            </a:r>
          </a:p>
          <a:p>
            <a:pPr algn="ctr">
              <a:spcBef>
                <a:spcPts val="600"/>
              </a:spcBef>
            </a:pPr>
            <a:r>
              <a:rPr lang="de-DE" sz="1000" dirty="0">
                <a:solidFill>
                  <a:srgbClr val="5B666F"/>
                </a:solidFill>
                <a:latin typeface="+mn-lt"/>
              </a:rPr>
              <a:t>wie geprüft wird</a:t>
            </a:r>
          </a:p>
        </p:txBody>
      </p:sp>
      <p:sp>
        <p:nvSpPr>
          <p:cNvPr id="19" name="SVVPfeil1"/>
          <p:cNvSpPr/>
          <p:nvPr/>
        </p:nvSpPr>
        <p:spPr>
          <a:xfrm>
            <a:off x="7726680" y="2130552"/>
            <a:ext cx="685800" cy="256032"/>
          </a:xfrm>
          <a:prstGeom prst="leftArrow">
            <a:avLst/>
          </a:prstGeom>
          <a:solidFill>
            <a:srgbClr val="30343A"/>
          </a:solidFill>
          <a:ln>
            <a:noFill/>
          </a:ln>
        </p:spPr>
        <p:txBody>
          <a:bodyPr lIns="45720" tIns="27432" rIns="45720" bIns="27432" anchor="ctr">
            <a:normAutofit fontScale="32500" lnSpcReduction="20000"/>
          </a:bodyPr>
          <a:lstStyle/>
          <a:p>
            <a:endParaRPr lang="de-DE"/>
          </a:p>
        </p:txBody>
      </p:sp>
      <p:sp>
        <p:nvSpPr>
          <p:cNvPr id="20" name="SVVPfeil2"/>
          <p:cNvSpPr/>
          <p:nvPr/>
        </p:nvSpPr>
        <p:spPr>
          <a:xfrm>
            <a:off x="7726680" y="3182112"/>
            <a:ext cx="685800" cy="256032"/>
          </a:xfrm>
          <a:prstGeom prst="leftArrow">
            <a:avLst/>
          </a:prstGeom>
          <a:solidFill>
            <a:srgbClr val="30343A"/>
          </a:solidFill>
          <a:ln>
            <a:noFill/>
          </a:ln>
        </p:spPr>
        <p:txBody>
          <a:bodyPr lIns="45720" tIns="27432" rIns="45720" bIns="27432" anchor="ctr">
            <a:normAutofit fontScale="32500" lnSpcReduction="20000"/>
          </a:bodyPr>
          <a:lstStyle/>
          <a:p>
            <a:endParaRPr lang="de-DE"/>
          </a:p>
        </p:txBody>
      </p:sp>
      <p:sp>
        <p:nvSpPr>
          <p:cNvPr id="21" name="SVVPfeil3"/>
          <p:cNvSpPr/>
          <p:nvPr/>
        </p:nvSpPr>
        <p:spPr>
          <a:xfrm>
            <a:off x="7726680" y="4233672"/>
            <a:ext cx="685800" cy="256032"/>
          </a:xfrm>
          <a:prstGeom prst="leftArrow">
            <a:avLst/>
          </a:prstGeom>
          <a:solidFill>
            <a:srgbClr val="30343A"/>
          </a:solidFill>
          <a:ln>
            <a:noFill/>
          </a:ln>
        </p:spPr>
        <p:txBody>
          <a:bodyPr lIns="45720" tIns="27432" rIns="45720" bIns="27432" anchor="ctr">
            <a:normAutofit fontScale="32500" lnSpcReduction="20000"/>
          </a:bodyPr>
          <a:lstStyle/>
          <a:p>
            <a:endParaRPr lang="de-D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03 · METHODIK</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Vom Rechtstext zur prüfbaren Anforderung</a:t>
            </a:r>
          </a:p>
        </p:txBody>
      </p:sp>
      <p:sp>
        <p:nvSpPr>
          <p:cNvPr id="4" name="Merksatz"/>
          <p:cNvSpPr txBox="1"/>
          <p:nvPr/>
        </p:nvSpPr>
        <p:spPr>
          <a:xfrm>
            <a:off x="777240" y="5806440"/>
            <a:ext cx="105156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Erst auf Komponentenebene entsteht ein prüfbarer Testfall.</a:t>
            </a:r>
          </a:p>
        </p:txBody>
      </p:sp>
      <p:sp>
        <p:nvSpPr>
          <p:cNvPr id="10" name="Station1"/>
          <p:cNvSpPr/>
          <p:nvPr/>
        </p:nvSpPr>
        <p:spPr>
          <a:xfrm>
            <a:off x="822960" y="2103120"/>
            <a:ext cx="2103120" cy="914400"/>
          </a:xfrm>
          <a:prstGeom prst="rect">
            <a:avLst/>
          </a:prstGeom>
          <a:solidFill>
            <a:srgbClr val="30343A"/>
          </a:solidFill>
          <a:ln>
            <a:noFill/>
          </a:ln>
        </p:spPr>
        <p:txBody>
          <a:bodyPr lIns="45720" tIns="27432" rIns="45720" bIns="27432" anchor="ctr">
            <a:normAutofit/>
          </a:bodyPr>
          <a:lstStyle/>
          <a:p>
            <a:pPr algn="ctr">
              <a:spcBef>
                <a:spcPts val="0"/>
              </a:spcBef>
            </a:pPr>
            <a:r>
              <a:rPr lang="de-DE" sz="1200" b="1" dirty="0">
                <a:solidFill>
                  <a:srgbClr val="FFFFFF"/>
                </a:solidFill>
                <a:latin typeface="+mn-lt"/>
              </a:rPr>
              <a:t>Anhang III · 1.1.9 · 1.2.1</a:t>
            </a:r>
          </a:p>
        </p:txBody>
      </p:sp>
      <p:sp>
        <p:nvSpPr>
          <p:cNvPr id="11" name="Pfeil1"/>
          <p:cNvSpPr/>
          <p:nvPr/>
        </p:nvSpPr>
        <p:spPr>
          <a:xfrm>
            <a:off x="2971800" y="2450592"/>
            <a:ext cx="365760" cy="219456"/>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2" name="Station2"/>
          <p:cNvSpPr/>
          <p:nvPr/>
        </p:nvSpPr>
        <p:spPr>
          <a:xfrm>
            <a:off x="3383280" y="2103120"/>
            <a:ext cx="2103120" cy="914400"/>
          </a:xfrm>
          <a:prstGeom prst="rect">
            <a:avLst/>
          </a:prstGeom>
          <a:solidFill>
            <a:srgbClr val="F2F4F5"/>
          </a:solidFill>
          <a:ln>
            <a:noFill/>
          </a:ln>
        </p:spPr>
        <p:txBody>
          <a:bodyPr lIns="45720" tIns="27432" rIns="45720" bIns="27432" anchor="ctr">
            <a:normAutofit/>
          </a:bodyPr>
          <a:lstStyle/>
          <a:p>
            <a:pPr algn="ctr">
              <a:spcBef>
                <a:spcPts val="0"/>
              </a:spcBef>
            </a:pPr>
            <a:r>
              <a:rPr lang="de-DE" sz="1200" b="1" dirty="0">
                <a:solidFill>
                  <a:srgbClr val="30343A"/>
                </a:solidFill>
                <a:latin typeface="+mn-lt"/>
              </a:rPr>
              <a:t>prEN 50742 · Approach B</a:t>
            </a:r>
          </a:p>
        </p:txBody>
      </p:sp>
      <p:sp>
        <p:nvSpPr>
          <p:cNvPr id="13" name="Pfeil2"/>
          <p:cNvSpPr/>
          <p:nvPr/>
        </p:nvSpPr>
        <p:spPr>
          <a:xfrm>
            <a:off x="5532120" y="2450592"/>
            <a:ext cx="365760" cy="219456"/>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4" name="Station3"/>
          <p:cNvSpPr/>
          <p:nvPr/>
        </p:nvSpPr>
        <p:spPr>
          <a:xfrm>
            <a:off x="5943600" y="2103120"/>
            <a:ext cx="2103120" cy="914400"/>
          </a:xfrm>
          <a:prstGeom prst="rect">
            <a:avLst/>
          </a:prstGeom>
          <a:solidFill>
            <a:srgbClr val="F2F4F5"/>
          </a:solidFill>
          <a:ln>
            <a:noFill/>
          </a:ln>
        </p:spPr>
        <p:txBody>
          <a:bodyPr lIns="45720" tIns="27432" rIns="45720" bIns="27432" anchor="ctr">
            <a:normAutofit/>
          </a:bodyPr>
          <a:lstStyle/>
          <a:p>
            <a:pPr algn="ctr">
              <a:spcBef>
                <a:spcPts val="0"/>
              </a:spcBef>
            </a:pPr>
            <a:r>
              <a:rPr lang="de-DE" sz="1200" b="1" dirty="0">
                <a:solidFill>
                  <a:srgbClr val="30343A"/>
                </a:solidFill>
                <a:latin typeface="+mn-lt"/>
              </a:rPr>
              <a:t>IEC 62443-4-2 · Component Requirements</a:t>
            </a:r>
          </a:p>
        </p:txBody>
      </p:sp>
      <p:sp>
        <p:nvSpPr>
          <p:cNvPr id="15" name="Pfeil3"/>
          <p:cNvSpPr/>
          <p:nvPr/>
        </p:nvSpPr>
        <p:spPr>
          <a:xfrm>
            <a:off x="8092440" y="2450592"/>
            <a:ext cx="365760" cy="219456"/>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6" name="Station4"/>
          <p:cNvSpPr/>
          <p:nvPr/>
        </p:nvSpPr>
        <p:spPr>
          <a:xfrm>
            <a:off x="8503920" y="1920240"/>
            <a:ext cx="2743200" cy="1280160"/>
          </a:xfrm>
          <a:prstGeom prst="rect">
            <a:avLst/>
          </a:prstGeom>
          <a:solidFill>
            <a:srgbClr val="FF6E00"/>
          </a:solidFill>
          <a:ln>
            <a:noFill/>
          </a:ln>
        </p:spPr>
        <p:txBody>
          <a:bodyPr lIns="45720" tIns="27432" rIns="45720" bIns="27432" anchor="ctr">
            <a:normAutofit/>
          </a:bodyPr>
          <a:lstStyle/>
          <a:p>
            <a:pPr algn="ctr">
              <a:spcBef>
                <a:spcPts val="0"/>
              </a:spcBef>
            </a:pPr>
            <a:r>
              <a:rPr lang="de-DE" sz="1400" b="1" dirty="0">
                <a:solidFill>
                  <a:srgbClr val="30343A"/>
                </a:solidFill>
                <a:latin typeface="+mn-lt"/>
              </a:rPr>
              <a:t>14 Anforderungen · RQ-001 bis RQ-014</a:t>
            </a:r>
          </a:p>
        </p:txBody>
      </p:sp>
      <p:sp>
        <p:nvSpPr>
          <p:cNvPr id="60" name="Fuss1"/>
          <p:cNvSpPr/>
          <p:nvPr/>
        </p:nvSpPr>
        <p:spPr>
          <a:xfrm>
            <a:off x="822960" y="3977640"/>
            <a:ext cx="4754880" cy="73152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5B666F"/>
                </a:solidFill>
                <a:latin typeface="+mn-lt"/>
              </a:rPr>
              <a:t>Bewertungsbasis SL-C 1 – pragmatisches Minimum ohne Risikobeurteilung</a:t>
            </a:r>
          </a:p>
        </p:txBody>
      </p:sp>
      <p:sp>
        <p:nvSpPr>
          <p:cNvPr id="61" name="Fuss2"/>
          <p:cNvSpPr/>
          <p:nvPr/>
        </p:nvSpPr>
        <p:spPr>
          <a:xfrm>
            <a:off x="5943600" y="3977640"/>
            <a:ext cx="4754880" cy="73152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5B666F"/>
                </a:solidFill>
                <a:latin typeface="+mn-lt"/>
              </a:rPr>
              <a:t>Maschine trägt die Pflicht, Komponente erbt sie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03 · METHODIK</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Ein Beispiel: RQ-003</a:t>
            </a:r>
          </a:p>
        </p:txBody>
      </p:sp>
      <p:sp>
        <p:nvSpPr>
          <p:cNvPr id="5" name="MiniLabel"/>
          <p:cNvSpPr txBox="1"/>
          <p:nvPr/>
        </p:nvSpPr>
        <p:spPr>
          <a:xfrm>
            <a:off x="777240" y="1737360"/>
            <a:ext cx="1645920" cy="27432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828C93"/>
                </a:solidFill>
                <a:latin typeface="+mn-lt"/>
              </a:rPr>
              <a:t>Ableitungskette</a:t>
            </a:r>
          </a:p>
        </p:txBody>
      </p:sp>
      <p:sp>
        <p:nvSpPr>
          <p:cNvPr id="10" name="Mini1"/>
          <p:cNvSpPr/>
          <p:nvPr/>
        </p:nvSpPr>
        <p:spPr>
          <a:xfrm>
            <a:off x="777240" y="2057400"/>
            <a:ext cx="1645920" cy="347472"/>
          </a:xfrm>
          <a:prstGeom prst="rect">
            <a:avLst/>
          </a:prstGeom>
          <a:solidFill>
            <a:srgbClr val="F7F8F9"/>
          </a:solidFill>
          <a:ln>
            <a:noFill/>
          </a:ln>
        </p:spPr>
        <p:txBody>
          <a:bodyPr lIns="45720" tIns="27432" rIns="45720" bIns="27432" anchor="ctr">
            <a:normAutofit/>
          </a:bodyPr>
          <a:lstStyle/>
          <a:p>
            <a:pPr algn="ctr">
              <a:spcBef>
                <a:spcPts val="0"/>
              </a:spcBef>
            </a:pPr>
            <a:r>
              <a:rPr lang="de-DE" sz="800" dirty="0">
                <a:solidFill>
                  <a:srgbClr val="828C93"/>
                </a:solidFill>
                <a:latin typeface="+mn-lt"/>
              </a:rPr>
              <a:t>Anhang III</a:t>
            </a:r>
          </a:p>
        </p:txBody>
      </p:sp>
      <p:sp>
        <p:nvSpPr>
          <p:cNvPr id="11" name="Mini2"/>
          <p:cNvSpPr/>
          <p:nvPr/>
        </p:nvSpPr>
        <p:spPr>
          <a:xfrm>
            <a:off x="777240" y="2514600"/>
            <a:ext cx="1645920" cy="347472"/>
          </a:xfrm>
          <a:prstGeom prst="rect">
            <a:avLst/>
          </a:prstGeom>
          <a:solidFill>
            <a:srgbClr val="F7F8F9"/>
          </a:solidFill>
          <a:ln>
            <a:noFill/>
          </a:ln>
        </p:spPr>
        <p:txBody>
          <a:bodyPr lIns="45720" tIns="27432" rIns="45720" bIns="27432" anchor="ctr">
            <a:normAutofit/>
          </a:bodyPr>
          <a:lstStyle/>
          <a:p>
            <a:pPr algn="ctr">
              <a:spcBef>
                <a:spcPts val="0"/>
              </a:spcBef>
            </a:pPr>
            <a:r>
              <a:rPr lang="de-DE" sz="800" dirty="0">
                <a:solidFill>
                  <a:srgbClr val="828C93"/>
                </a:solidFill>
                <a:latin typeface="+mn-lt"/>
              </a:rPr>
              <a:t>prEN 50742</a:t>
            </a:r>
          </a:p>
        </p:txBody>
      </p:sp>
      <p:sp>
        <p:nvSpPr>
          <p:cNvPr id="12" name="Mini3"/>
          <p:cNvSpPr/>
          <p:nvPr/>
        </p:nvSpPr>
        <p:spPr>
          <a:xfrm>
            <a:off x="777240" y="2971800"/>
            <a:ext cx="1645920" cy="347472"/>
          </a:xfrm>
          <a:prstGeom prst="rect">
            <a:avLst/>
          </a:prstGeom>
          <a:solidFill>
            <a:srgbClr val="F7F8F9"/>
          </a:solidFill>
          <a:ln>
            <a:noFill/>
          </a:ln>
        </p:spPr>
        <p:txBody>
          <a:bodyPr lIns="45720" tIns="27432" rIns="45720" bIns="27432" anchor="ctr">
            <a:normAutofit/>
          </a:bodyPr>
          <a:lstStyle/>
          <a:p>
            <a:pPr algn="ctr">
              <a:spcBef>
                <a:spcPts val="0"/>
              </a:spcBef>
            </a:pPr>
            <a:r>
              <a:rPr lang="de-DE" sz="800" dirty="0">
                <a:solidFill>
                  <a:srgbClr val="828C93"/>
                </a:solidFill>
                <a:latin typeface="+mn-lt"/>
              </a:rPr>
              <a:t>IEC 62443-4-2</a:t>
            </a:r>
          </a:p>
        </p:txBody>
      </p:sp>
      <p:sp>
        <p:nvSpPr>
          <p:cNvPr id="13" name="Mini4"/>
          <p:cNvSpPr/>
          <p:nvPr/>
        </p:nvSpPr>
        <p:spPr>
          <a:xfrm>
            <a:off x="777240" y="3429000"/>
            <a:ext cx="1645920" cy="347472"/>
          </a:xfrm>
          <a:prstGeom prst="rect">
            <a:avLst/>
          </a:prstGeom>
          <a:solidFill>
            <a:srgbClr val="F7F8F9"/>
          </a:solidFill>
          <a:ln>
            <a:noFill/>
          </a:ln>
        </p:spPr>
        <p:txBody>
          <a:bodyPr lIns="45720" tIns="27432" rIns="45720" bIns="27432" anchor="ctr">
            <a:normAutofit/>
          </a:bodyPr>
          <a:lstStyle/>
          <a:p>
            <a:pPr algn="ctr">
              <a:spcBef>
                <a:spcPts val="0"/>
              </a:spcBef>
            </a:pPr>
            <a:r>
              <a:rPr lang="de-DE" sz="800" dirty="0">
                <a:solidFill>
                  <a:srgbClr val="828C93"/>
                </a:solidFill>
                <a:latin typeface="+mn-lt"/>
              </a:rPr>
              <a:t>RQ-001 … RQ-014</a:t>
            </a:r>
          </a:p>
        </p:txBody>
      </p:sp>
      <p:sp>
        <p:nvSpPr>
          <p:cNvPr id="6" name="Randnotiz"/>
          <p:cNvSpPr txBox="1"/>
          <p:nvPr/>
        </p:nvSpPr>
        <p:spPr>
          <a:xfrm>
            <a:off x="777240" y="3977640"/>
            <a:ext cx="1828800" cy="54864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5B666F"/>
                </a:solidFill>
                <a:latin typeface="+mn-lt"/>
              </a:rPr>
              <a:t>analog für alle 14 Anforderungen · Anhang B</a:t>
            </a:r>
          </a:p>
        </p:txBody>
      </p:sp>
      <p:sp>
        <p:nvSpPr>
          <p:cNvPr id="14" name="Stufe1"/>
          <p:cNvSpPr/>
          <p:nvPr/>
        </p:nvSpPr>
        <p:spPr>
          <a:xfrm>
            <a:off x="3108960" y="1600200"/>
            <a:ext cx="7680960" cy="777240"/>
          </a:xfrm>
          <a:prstGeom prst="rect">
            <a:avLst/>
          </a:prstGeom>
          <a:solidFill>
            <a:srgbClr val="F2F4F5"/>
          </a:solidFill>
          <a:ln>
            <a:noFill/>
          </a:ln>
        </p:spPr>
        <p:txBody>
          <a:bodyPr lIns="45720" tIns="27432" rIns="45720" bIns="27432" anchor="ctr">
            <a:normAutofit/>
          </a:bodyPr>
          <a:lstStyle/>
          <a:p>
            <a:endParaRPr lang="de-DE"/>
          </a:p>
        </p:txBody>
      </p:sp>
      <p:sp>
        <p:nvSpPr>
          <p:cNvPr id="15" name="StufeText1"/>
          <p:cNvSpPr txBox="1"/>
          <p:nvPr/>
        </p:nvSpPr>
        <p:spPr>
          <a:xfrm>
            <a:off x="3383280" y="1755648"/>
            <a:ext cx="7132320" cy="5486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Anhang III, 1.1.9</a:t>
            </a:r>
          </a:p>
          <a:p>
            <a:pPr algn="l">
              <a:lnSpc>
                <a:spcPct val="100000"/>
              </a:lnSpc>
              <a:spcBef>
                <a:spcPts val="400"/>
              </a:spcBef>
            </a:pPr>
            <a:r>
              <a:rPr lang="de-DE" sz="1000" dirty="0">
                <a:solidFill>
                  <a:srgbClr val="5B666F"/>
                </a:solidFill>
                <a:latin typeface="+mn-lt"/>
              </a:rPr>
              <a:t>Nachweise über Eingriffe sammeln</a:t>
            </a:r>
          </a:p>
        </p:txBody>
      </p:sp>
      <p:sp>
        <p:nvSpPr>
          <p:cNvPr id="16" name="Ab1"/>
          <p:cNvSpPr/>
          <p:nvPr/>
        </p:nvSpPr>
        <p:spPr>
          <a:xfrm>
            <a:off x="6821424" y="2404872"/>
            <a:ext cx="256032" cy="256032"/>
          </a:xfrm>
          <a:prstGeom prst="downArrow">
            <a:avLst/>
          </a:prstGeom>
          <a:solidFill>
            <a:srgbClr val="5B666F"/>
          </a:solidFill>
          <a:ln>
            <a:noFill/>
          </a:ln>
        </p:spPr>
        <p:txBody>
          <a:bodyPr lIns="45720" tIns="27432" rIns="45720" bIns="27432" anchor="ctr">
            <a:normAutofit fontScale="62500" lnSpcReduction="20000"/>
          </a:bodyPr>
          <a:lstStyle/>
          <a:p>
            <a:endParaRPr lang="de-DE"/>
          </a:p>
        </p:txBody>
      </p:sp>
      <p:sp>
        <p:nvSpPr>
          <p:cNvPr id="17" name="Stufe2"/>
          <p:cNvSpPr/>
          <p:nvPr/>
        </p:nvSpPr>
        <p:spPr>
          <a:xfrm>
            <a:off x="3108960" y="2697480"/>
            <a:ext cx="7680960" cy="777240"/>
          </a:xfrm>
          <a:prstGeom prst="rect">
            <a:avLst/>
          </a:prstGeom>
          <a:solidFill>
            <a:srgbClr val="F2F4F5"/>
          </a:solidFill>
          <a:ln>
            <a:noFill/>
          </a:ln>
        </p:spPr>
        <p:txBody>
          <a:bodyPr lIns="45720" tIns="27432" rIns="45720" bIns="27432" anchor="ctr">
            <a:normAutofit/>
          </a:bodyPr>
          <a:lstStyle/>
          <a:p>
            <a:endParaRPr lang="de-DE"/>
          </a:p>
        </p:txBody>
      </p:sp>
      <p:sp>
        <p:nvSpPr>
          <p:cNvPr id="18" name="StufeText2"/>
          <p:cNvSpPr txBox="1"/>
          <p:nvPr/>
        </p:nvSpPr>
        <p:spPr>
          <a:xfrm>
            <a:off x="3383280" y="2852928"/>
            <a:ext cx="7132320" cy="5486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RQ-003 · Zurechenbarkeit</a:t>
            </a:r>
          </a:p>
          <a:p>
            <a:pPr algn="l">
              <a:lnSpc>
                <a:spcPct val="100000"/>
              </a:lnSpc>
              <a:spcBef>
                <a:spcPts val="400"/>
              </a:spcBef>
            </a:pPr>
            <a:r>
              <a:rPr lang="de-DE" sz="1000" dirty="0">
                <a:solidFill>
                  <a:srgbClr val="5B666F"/>
                </a:solidFill>
                <a:latin typeface="+mn-lt"/>
              </a:rPr>
              <a:t>Erkennbarkeit, dass etwas geschah</a:t>
            </a:r>
          </a:p>
        </p:txBody>
      </p:sp>
      <p:sp>
        <p:nvSpPr>
          <p:cNvPr id="19" name="Ab2"/>
          <p:cNvSpPr/>
          <p:nvPr/>
        </p:nvSpPr>
        <p:spPr>
          <a:xfrm>
            <a:off x="6821424" y="3502152"/>
            <a:ext cx="256032" cy="256032"/>
          </a:xfrm>
          <a:prstGeom prst="downArrow">
            <a:avLst/>
          </a:prstGeom>
          <a:solidFill>
            <a:srgbClr val="5B666F"/>
          </a:solidFill>
          <a:ln>
            <a:noFill/>
          </a:ln>
        </p:spPr>
        <p:txBody>
          <a:bodyPr lIns="45720" tIns="27432" rIns="45720" bIns="27432" anchor="ctr">
            <a:normAutofit fontScale="62500" lnSpcReduction="20000"/>
          </a:bodyPr>
          <a:lstStyle/>
          <a:p>
            <a:endParaRPr lang="de-DE"/>
          </a:p>
        </p:txBody>
      </p:sp>
      <p:sp>
        <p:nvSpPr>
          <p:cNvPr id="20" name="Stufe3"/>
          <p:cNvSpPr/>
          <p:nvPr/>
        </p:nvSpPr>
        <p:spPr>
          <a:xfrm>
            <a:off x="3108960" y="3794760"/>
            <a:ext cx="7680960" cy="777240"/>
          </a:xfrm>
          <a:prstGeom prst="rect">
            <a:avLst/>
          </a:prstGeom>
          <a:solidFill>
            <a:srgbClr val="F2F4F5"/>
          </a:solidFill>
          <a:ln>
            <a:noFill/>
          </a:ln>
        </p:spPr>
        <p:txBody>
          <a:bodyPr lIns="45720" tIns="27432" rIns="45720" bIns="27432" anchor="ctr">
            <a:normAutofit/>
          </a:bodyPr>
          <a:lstStyle/>
          <a:p>
            <a:endParaRPr lang="de-DE"/>
          </a:p>
        </p:txBody>
      </p:sp>
      <p:sp>
        <p:nvSpPr>
          <p:cNvPr id="21" name="StufeText3"/>
          <p:cNvSpPr txBox="1"/>
          <p:nvPr/>
        </p:nvSpPr>
        <p:spPr>
          <a:xfrm>
            <a:off x="3383280" y="3950208"/>
            <a:ext cx="7132320" cy="5486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prEN 50742</a:t>
            </a:r>
          </a:p>
          <a:p>
            <a:pPr algn="l">
              <a:lnSpc>
                <a:spcPct val="100000"/>
              </a:lnSpc>
              <a:spcBef>
                <a:spcPts val="400"/>
              </a:spcBef>
            </a:pPr>
            <a:r>
              <a:rPr lang="de-DE" sz="1000" dirty="0">
                <a:solidFill>
                  <a:srgbClr val="5B666F"/>
                </a:solidFill>
                <a:latin typeface="+mn-lt"/>
              </a:rPr>
              <a:t>Evidenz · Protokollierung · physische Manipulation</a:t>
            </a:r>
          </a:p>
        </p:txBody>
      </p:sp>
      <p:sp>
        <p:nvSpPr>
          <p:cNvPr id="22" name="Ab3"/>
          <p:cNvSpPr/>
          <p:nvPr/>
        </p:nvSpPr>
        <p:spPr>
          <a:xfrm>
            <a:off x="6821424" y="4599432"/>
            <a:ext cx="256032" cy="256032"/>
          </a:xfrm>
          <a:prstGeom prst="downArrow">
            <a:avLst/>
          </a:prstGeom>
          <a:solidFill>
            <a:srgbClr val="5B666F"/>
          </a:solidFill>
          <a:ln>
            <a:noFill/>
          </a:ln>
        </p:spPr>
        <p:txBody>
          <a:bodyPr lIns="45720" tIns="27432" rIns="45720" bIns="27432" anchor="ctr">
            <a:normAutofit fontScale="62500" lnSpcReduction="20000"/>
          </a:bodyPr>
          <a:lstStyle/>
          <a:p>
            <a:endParaRPr lang="de-DE"/>
          </a:p>
        </p:txBody>
      </p:sp>
      <p:sp>
        <p:nvSpPr>
          <p:cNvPr id="23" name="Stufe4"/>
          <p:cNvSpPr/>
          <p:nvPr/>
        </p:nvSpPr>
        <p:spPr>
          <a:xfrm>
            <a:off x="3108960" y="4892040"/>
            <a:ext cx="7680960" cy="914400"/>
          </a:xfrm>
          <a:prstGeom prst="rect">
            <a:avLst/>
          </a:prstGeom>
          <a:solidFill>
            <a:srgbClr val="FF6E00"/>
          </a:solidFill>
          <a:ln>
            <a:noFill/>
          </a:ln>
        </p:spPr>
        <p:txBody>
          <a:bodyPr lIns="45720" tIns="27432" rIns="45720" bIns="27432" anchor="ctr">
            <a:normAutofit/>
          </a:bodyPr>
          <a:lstStyle/>
          <a:p>
            <a:endParaRPr lang="de-DE"/>
          </a:p>
        </p:txBody>
      </p:sp>
      <p:sp>
        <p:nvSpPr>
          <p:cNvPr id="24" name="Chip1"/>
          <p:cNvSpPr/>
          <p:nvPr/>
        </p:nvSpPr>
        <p:spPr>
          <a:xfrm>
            <a:off x="3337560" y="5138928"/>
            <a:ext cx="2286000" cy="438912"/>
          </a:xfrm>
          <a:prstGeom prst="rect">
            <a:avLst/>
          </a:prstGeom>
          <a:solidFill>
            <a:srgbClr val="FFFFFF"/>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CR 2.8 Ereignisse</a:t>
            </a:r>
          </a:p>
        </p:txBody>
      </p:sp>
      <p:sp>
        <p:nvSpPr>
          <p:cNvPr id="25" name="Chip2"/>
          <p:cNvSpPr/>
          <p:nvPr/>
        </p:nvSpPr>
        <p:spPr>
          <a:xfrm>
            <a:off x="5788152" y="5138928"/>
            <a:ext cx="2286000" cy="438912"/>
          </a:xfrm>
          <a:prstGeom prst="rect">
            <a:avLst/>
          </a:prstGeom>
          <a:solidFill>
            <a:srgbClr val="FFFFFF"/>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CR 2.12 Nichtabstreitbarkeit</a:t>
            </a:r>
          </a:p>
        </p:txBody>
      </p:sp>
      <p:sp>
        <p:nvSpPr>
          <p:cNvPr id="26" name="Chip3"/>
          <p:cNvSpPr/>
          <p:nvPr/>
        </p:nvSpPr>
        <p:spPr>
          <a:xfrm>
            <a:off x="8238744" y="5138928"/>
            <a:ext cx="2286000" cy="438912"/>
          </a:xfrm>
          <a:prstGeom prst="rect">
            <a:avLst/>
          </a:prstGeom>
          <a:solidFill>
            <a:srgbClr val="FFFFFF"/>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EDR 3.11 Rückfallebene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03 · METHODIK</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Neun Glieder bis zum Ergebnis</a:t>
            </a:r>
          </a:p>
        </p:txBody>
      </p:sp>
      <p:sp>
        <p:nvSpPr>
          <p:cNvPr id="4" name="Merksatz"/>
          <p:cNvSpPr txBox="1"/>
          <p:nvPr/>
        </p:nvSpPr>
        <p:spPr>
          <a:xfrm>
            <a:off x="777240" y="5806440"/>
            <a:ext cx="105156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Kein Test ohne Anforderung, kein Verdikt ohne gespeicherte Evidenz.</a:t>
            </a:r>
          </a:p>
        </p:txBody>
      </p:sp>
      <p:sp>
        <p:nvSpPr>
          <p:cNvPr id="5" name="Bereich1"/>
          <p:cNvSpPr txBox="1"/>
          <p:nvPr/>
        </p:nvSpPr>
        <p:spPr>
          <a:xfrm>
            <a:off x="1188720" y="1691640"/>
            <a:ext cx="3657600" cy="274320"/>
          </a:xfrm>
          <a:prstGeom prst="rect">
            <a:avLst/>
          </a:prstGeom>
          <a:noFill/>
        </p:spPr>
        <p:txBody>
          <a:bodyPr wrap="square" lIns="0" tIns="0" rIns="0" bIns="0" anchor="t">
            <a:normAutofit/>
          </a:bodyPr>
          <a:lstStyle/>
          <a:p>
            <a:pPr algn="l">
              <a:lnSpc>
                <a:spcPct val="100000"/>
              </a:lnSpc>
              <a:spcBef>
                <a:spcPts val="0"/>
              </a:spcBef>
            </a:pPr>
            <a:r>
              <a:rPr lang="de-DE" sz="1200" b="1" dirty="0">
                <a:solidFill>
                  <a:srgbClr val="5B666F"/>
                </a:solidFill>
                <a:latin typeface="+mn-lt"/>
              </a:rPr>
              <a:t>Analyse</a:t>
            </a:r>
          </a:p>
        </p:txBody>
      </p:sp>
      <p:sp>
        <p:nvSpPr>
          <p:cNvPr id="10" name="G10"/>
          <p:cNvSpPr/>
          <p:nvPr/>
        </p:nvSpPr>
        <p:spPr>
          <a:xfrm>
            <a:off x="1188720" y="2057400"/>
            <a:ext cx="2011680" cy="685800"/>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Requirement</a:t>
            </a:r>
          </a:p>
        </p:txBody>
      </p:sp>
      <p:sp>
        <p:nvSpPr>
          <p:cNvPr id="11" name="P11"/>
          <p:cNvSpPr/>
          <p:nvPr/>
        </p:nvSpPr>
        <p:spPr>
          <a:xfrm>
            <a:off x="3246120" y="2304288"/>
            <a:ext cx="292608"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2" name="G11"/>
          <p:cNvSpPr/>
          <p:nvPr/>
        </p:nvSpPr>
        <p:spPr>
          <a:xfrm>
            <a:off x="3657600" y="2057400"/>
            <a:ext cx="2011680" cy="685800"/>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Asset</a:t>
            </a:r>
          </a:p>
        </p:txBody>
      </p:sp>
      <p:sp>
        <p:nvSpPr>
          <p:cNvPr id="13" name="P12"/>
          <p:cNvSpPr/>
          <p:nvPr/>
        </p:nvSpPr>
        <p:spPr>
          <a:xfrm>
            <a:off x="5715000" y="2304288"/>
            <a:ext cx="292608"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4" name="G12"/>
          <p:cNvSpPr/>
          <p:nvPr/>
        </p:nvSpPr>
        <p:spPr>
          <a:xfrm>
            <a:off x="6126480" y="2057400"/>
            <a:ext cx="2011680" cy="685800"/>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Threat</a:t>
            </a:r>
          </a:p>
        </p:txBody>
      </p:sp>
      <p:sp>
        <p:nvSpPr>
          <p:cNvPr id="15" name="P13"/>
          <p:cNvSpPr/>
          <p:nvPr/>
        </p:nvSpPr>
        <p:spPr>
          <a:xfrm>
            <a:off x="8183880" y="2304288"/>
            <a:ext cx="292608"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6" name="G13"/>
          <p:cNvSpPr/>
          <p:nvPr/>
        </p:nvSpPr>
        <p:spPr>
          <a:xfrm>
            <a:off x="8595360" y="2057400"/>
            <a:ext cx="2011680" cy="685800"/>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Security Function</a:t>
            </a:r>
          </a:p>
        </p:txBody>
      </p:sp>
      <p:sp>
        <p:nvSpPr>
          <p:cNvPr id="6" name="Bereich2"/>
          <p:cNvSpPr txBox="1"/>
          <p:nvPr/>
        </p:nvSpPr>
        <p:spPr>
          <a:xfrm>
            <a:off x="1188720" y="3611880"/>
            <a:ext cx="3657600" cy="274320"/>
          </a:xfrm>
          <a:prstGeom prst="rect">
            <a:avLst/>
          </a:prstGeom>
          <a:noFill/>
        </p:spPr>
        <p:txBody>
          <a:bodyPr wrap="square" lIns="0" tIns="0" rIns="0" bIns="0" anchor="t">
            <a:normAutofit/>
          </a:bodyPr>
          <a:lstStyle/>
          <a:p>
            <a:pPr algn="l">
              <a:lnSpc>
                <a:spcPct val="100000"/>
              </a:lnSpc>
              <a:spcBef>
                <a:spcPts val="0"/>
              </a:spcBef>
            </a:pPr>
            <a:r>
              <a:rPr lang="de-DE" sz="1200" b="1" dirty="0">
                <a:solidFill>
                  <a:srgbClr val="5B666F"/>
                </a:solidFill>
                <a:latin typeface="+mn-lt"/>
              </a:rPr>
              <a:t>Durchführung</a:t>
            </a:r>
          </a:p>
        </p:txBody>
      </p:sp>
      <p:sp>
        <p:nvSpPr>
          <p:cNvPr id="17" name="G20"/>
          <p:cNvSpPr/>
          <p:nvPr/>
        </p:nvSpPr>
        <p:spPr>
          <a:xfrm>
            <a:off x="1188720" y="3977640"/>
            <a:ext cx="1645920" cy="685800"/>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Testziel</a:t>
            </a:r>
          </a:p>
        </p:txBody>
      </p:sp>
      <p:sp>
        <p:nvSpPr>
          <p:cNvPr id="18" name="P21"/>
          <p:cNvSpPr/>
          <p:nvPr/>
        </p:nvSpPr>
        <p:spPr>
          <a:xfrm>
            <a:off x="2871216" y="4224528"/>
            <a:ext cx="256032"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9" name="G21"/>
          <p:cNvSpPr/>
          <p:nvPr/>
        </p:nvSpPr>
        <p:spPr>
          <a:xfrm>
            <a:off x="3200400" y="3977640"/>
            <a:ext cx="1645920" cy="685800"/>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Testtechnik</a:t>
            </a:r>
          </a:p>
        </p:txBody>
      </p:sp>
      <p:sp>
        <p:nvSpPr>
          <p:cNvPr id="20" name="P22"/>
          <p:cNvSpPr/>
          <p:nvPr/>
        </p:nvSpPr>
        <p:spPr>
          <a:xfrm>
            <a:off x="4882896" y="4224528"/>
            <a:ext cx="256032"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21" name="G22"/>
          <p:cNvSpPr/>
          <p:nvPr/>
        </p:nvSpPr>
        <p:spPr>
          <a:xfrm>
            <a:off x="5212080" y="3977640"/>
            <a:ext cx="1645920" cy="685800"/>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Zugriff</a:t>
            </a:r>
          </a:p>
        </p:txBody>
      </p:sp>
      <p:sp>
        <p:nvSpPr>
          <p:cNvPr id="22" name="P23"/>
          <p:cNvSpPr/>
          <p:nvPr/>
        </p:nvSpPr>
        <p:spPr>
          <a:xfrm>
            <a:off x="6894576" y="4224528"/>
            <a:ext cx="256032"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23" name="G23"/>
          <p:cNvSpPr/>
          <p:nvPr/>
        </p:nvSpPr>
        <p:spPr>
          <a:xfrm>
            <a:off x="7223760" y="3977640"/>
            <a:ext cx="1645920" cy="685800"/>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Evidenz</a:t>
            </a:r>
          </a:p>
        </p:txBody>
      </p:sp>
      <p:sp>
        <p:nvSpPr>
          <p:cNvPr id="24" name="P24"/>
          <p:cNvSpPr/>
          <p:nvPr/>
        </p:nvSpPr>
        <p:spPr>
          <a:xfrm>
            <a:off x="8906256" y="4224528"/>
            <a:ext cx="256032"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25" name="G24"/>
          <p:cNvSpPr/>
          <p:nvPr/>
        </p:nvSpPr>
        <p:spPr>
          <a:xfrm>
            <a:off x="9235440" y="3977640"/>
            <a:ext cx="1645920" cy="685800"/>
          </a:xfrm>
          <a:prstGeom prst="rect">
            <a:avLst/>
          </a:prstGeom>
          <a:solidFill>
            <a:srgbClr val="F2F4F5"/>
          </a:solidFill>
          <a:ln>
            <a:noFill/>
          </a:ln>
        </p:spPr>
        <p:txBody>
          <a:bodyPr lIns="45720" tIns="27432" rIns="45720" bIns="27432" anchor="ctr">
            <a:normAutofit/>
          </a:bodyPr>
          <a:lstStyle/>
          <a:p>
            <a:pPr algn="ctr">
              <a:spcBef>
                <a:spcPts val="0"/>
              </a:spcBef>
            </a:pPr>
            <a:r>
              <a:rPr lang="de-DE" sz="1200" dirty="0">
                <a:solidFill>
                  <a:srgbClr val="30343A"/>
                </a:solidFill>
                <a:latin typeface="+mn-lt"/>
              </a:rPr>
              <a:t>Ergebnis</a:t>
            </a:r>
          </a:p>
        </p:txBody>
      </p:sp>
      <p:sp>
        <p:nvSpPr>
          <p:cNvPr id="26" name="AssetHL"/>
          <p:cNvSpPr/>
          <p:nvPr/>
        </p:nvSpPr>
        <p:spPr>
          <a:xfrm>
            <a:off x="3657600" y="2057400"/>
            <a:ext cx="2011680" cy="685800"/>
          </a:xfrm>
          <a:prstGeom prst="rect">
            <a:avLst/>
          </a:prstGeom>
          <a:solidFill>
            <a:srgbClr val="FF6E00"/>
          </a:solidFill>
          <a:ln>
            <a:noFill/>
          </a:ln>
        </p:spPr>
        <p:txBody>
          <a:bodyPr lIns="45720" tIns="27432" rIns="45720" bIns="27432" anchor="ctr">
            <a:normAutofit/>
          </a:bodyPr>
          <a:lstStyle/>
          <a:p>
            <a:pPr algn="ctr">
              <a:spcBef>
                <a:spcPts val="0"/>
              </a:spcBef>
            </a:pPr>
            <a:r>
              <a:rPr lang="de-DE" sz="1200" b="1" dirty="0">
                <a:solidFill>
                  <a:srgbClr val="30343A"/>
                </a:solidFill>
                <a:latin typeface="+mn-lt"/>
              </a:rPr>
              <a:t>Asset</a:t>
            </a:r>
          </a:p>
        </p:txBody>
      </p:sp>
      <p:sp>
        <p:nvSpPr>
          <p:cNvPr id="27" name="Sprechblase"/>
          <p:cNvSpPr/>
          <p:nvPr/>
        </p:nvSpPr>
        <p:spPr>
          <a:xfrm>
            <a:off x="3200400" y="2880360"/>
            <a:ext cx="2926080" cy="548640"/>
          </a:xfrm>
          <a:prstGeom prst="wedgeRoundRectCallout">
            <a:avLst/>
          </a:prstGeom>
          <a:noFill/>
          <a:ln w="12700">
            <a:solidFill>
              <a:srgbClr val="FF6E00"/>
            </a:solidFill>
          </a:ln>
        </p:spPr>
        <p:txBody>
          <a:bodyPr lIns="45720" tIns="27432" rIns="45720" bIns="27432" anchor="ctr">
            <a:normAutofit/>
          </a:bodyPr>
          <a:lstStyle/>
          <a:p>
            <a:pPr algn="ctr">
              <a:spcBef>
                <a:spcPts val="0"/>
              </a:spcBef>
            </a:pPr>
            <a:r>
              <a:rPr lang="de-DE" sz="1000" dirty="0">
                <a:solidFill>
                  <a:srgbClr val="30343A"/>
                </a:solidFill>
                <a:latin typeface="+mn-lt"/>
              </a:rPr>
              <a:t>Objekt, Artefakt oder Datum mit Wert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03 · METHODIK</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Passt das Werkzeug überhaupt?</a:t>
            </a:r>
          </a:p>
        </p:txBody>
      </p:sp>
      <p:sp>
        <p:nvSpPr>
          <p:cNvPr id="4"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100" dirty="0">
                <a:solidFill>
                  <a:srgbClr val="FF6E00"/>
                </a:solidFill>
                <a:latin typeface="+mn-lt"/>
              </a:rPr>
              <a:t>Nicht anwendbar ist kein Fail – geprüft wird die vorausgesetzte Schnittstelle, nicht der Zweck des Werkzeugs.</a:t>
            </a:r>
          </a:p>
        </p:txBody>
      </p:sp>
      <p:sp>
        <p:nvSpPr>
          <p:cNvPr id="10" name="Kachel10"/>
          <p:cNvSpPr/>
          <p:nvPr/>
        </p:nvSpPr>
        <p:spPr>
          <a:xfrm>
            <a:off x="822960" y="2011680"/>
            <a:ext cx="2560320" cy="2377440"/>
          </a:xfrm>
          <a:prstGeom prst="rect">
            <a:avLst/>
          </a:prstGeom>
          <a:solidFill>
            <a:srgbClr val="30343A"/>
          </a:solidFill>
          <a:ln>
            <a:noFill/>
          </a:ln>
        </p:spPr>
        <p:txBody>
          <a:bodyPr lIns="45720" tIns="27432" rIns="45720" bIns="27432" anchor="ctr">
            <a:normAutofit/>
          </a:bodyPr>
          <a:lstStyle/>
          <a:p>
            <a:endParaRPr lang="de-DE"/>
          </a:p>
        </p:txBody>
      </p:sp>
      <p:sp>
        <p:nvSpPr>
          <p:cNvPr id="11" name="Zahl10"/>
          <p:cNvSpPr txBox="1"/>
          <p:nvPr/>
        </p:nvSpPr>
        <p:spPr>
          <a:xfrm>
            <a:off x="1005840" y="2331720"/>
            <a:ext cx="2194560" cy="1097280"/>
          </a:xfrm>
          <a:prstGeom prst="rect">
            <a:avLst/>
          </a:prstGeom>
          <a:noFill/>
        </p:spPr>
        <p:txBody>
          <a:bodyPr wrap="square" lIns="0" tIns="0" rIns="0" bIns="0" anchor="t">
            <a:normAutofit/>
          </a:bodyPr>
          <a:lstStyle/>
          <a:p>
            <a:pPr algn="ctr">
              <a:lnSpc>
                <a:spcPct val="100000"/>
              </a:lnSpc>
              <a:spcBef>
                <a:spcPts val="0"/>
              </a:spcBef>
            </a:pPr>
            <a:r>
              <a:rPr lang="de-DE" sz="4400" b="1" dirty="0">
                <a:solidFill>
                  <a:srgbClr val="FFFFFF"/>
                </a:solidFill>
                <a:latin typeface="+mn-lt"/>
              </a:rPr>
              <a:t>10</a:t>
            </a:r>
          </a:p>
        </p:txBody>
      </p:sp>
      <p:sp>
        <p:nvSpPr>
          <p:cNvPr id="12" name="Zahl10Sub"/>
          <p:cNvSpPr txBox="1"/>
          <p:nvPr/>
        </p:nvSpPr>
        <p:spPr>
          <a:xfrm>
            <a:off x="1005840" y="3429000"/>
            <a:ext cx="2194560" cy="640080"/>
          </a:xfrm>
          <a:prstGeom prst="rect">
            <a:avLst/>
          </a:prstGeom>
          <a:noFill/>
        </p:spPr>
        <p:txBody>
          <a:bodyPr wrap="square" lIns="0" tIns="0" rIns="0" bIns="0" anchor="t">
            <a:normAutofit/>
          </a:bodyPr>
          <a:lstStyle/>
          <a:p>
            <a:pPr algn="ctr">
              <a:lnSpc>
                <a:spcPct val="100000"/>
              </a:lnSpc>
              <a:spcBef>
                <a:spcPts val="0"/>
              </a:spcBef>
            </a:pPr>
            <a:r>
              <a:rPr lang="de-DE" sz="1100" dirty="0">
                <a:solidFill>
                  <a:srgbClr val="FF6E00"/>
                </a:solidFill>
                <a:latin typeface="+mn-lt"/>
              </a:rPr>
              <a:t>Prüfanweisungen CM-001 bis CM-010</a:t>
            </a:r>
          </a:p>
        </p:txBody>
      </p:sp>
      <p:sp>
        <p:nvSpPr>
          <p:cNvPr id="13" name="Pfeil1"/>
          <p:cNvSpPr/>
          <p:nvPr/>
        </p:nvSpPr>
        <p:spPr>
          <a:xfrm>
            <a:off x="3611880" y="2286000"/>
            <a:ext cx="594360"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4" name="Pfeil2"/>
          <p:cNvSpPr/>
          <p:nvPr/>
        </p:nvSpPr>
        <p:spPr>
          <a:xfrm>
            <a:off x="3611880" y="2834640"/>
            <a:ext cx="594360"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5" name="Pfeil3"/>
          <p:cNvSpPr/>
          <p:nvPr/>
        </p:nvSpPr>
        <p:spPr>
          <a:xfrm>
            <a:off x="3611880" y="3383280"/>
            <a:ext cx="594360"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6" name="Pfeil4"/>
          <p:cNvSpPr/>
          <p:nvPr/>
        </p:nvSpPr>
        <p:spPr>
          <a:xfrm>
            <a:off x="3611880" y="3931920"/>
            <a:ext cx="594360" cy="201168"/>
          </a:xfrm>
          <a:prstGeom prst="rightArrow">
            <a:avLst/>
          </a:prstGeom>
          <a:solidFill>
            <a:srgbClr val="5B666F"/>
          </a:solidFill>
          <a:ln>
            <a:noFill/>
          </a:ln>
        </p:spPr>
        <p:txBody>
          <a:bodyPr lIns="45720" tIns="27432" rIns="45720" bIns="27432" anchor="ctr">
            <a:normAutofit fontScale="25000" lnSpcReduction="20000"/>
          </a:bodyPr>
          <a:lstStyle/>
          <a:p>
            <a:endParaRPr lang="de-DE"/>
          </a:p>
        </p:txBody>
      </p:sp>
      <p:sp>
        <p:nvSpPr>
          <p:cNvPr id="17" name="Quad1"/>
          <p:cNvSpPr/>
          <p:nvPr/>
        </p:nvSpPr>
        <p:spPr>
          <a:xfrm>
            <a:off x="4663440" y="2011680"/>
            <a:ext cx="3017520" cy="1097280"/>
          </a:xfrm>
          <a:prstGeom prst="rect">
            <a:avLst/>
          </a:prstGeom>
          <a:solidFill>
            <a:srgbClr val="F2F4F5"/>
          </a:solidFill>
          <a:ln>
            <a:noFill/>
          </a:ln>
        </p:spPr>
        <p:txBody>
          <a:bodyPr lIns="45720" tIns="27432" rIns="45720" bIns="27432" anchor="ctr">
            <a:normAutofit/>
          </a:bodyPr>
          <a:lstStyle/>
          <a:p>
            <a:pPr algn="ctr">
              <a:spcBef>
                <a:spcPts val="0"/>
              </a:spcBef>
            </a:pPr>
            <a:r>
              <a:rPr lang="de-DE" sz="1400" b="1" dirty="0">
                <a:solidFill>
                  <a:srgbClr val="30343A"/>
                </a:solidFill>
                <a:latin typeface="+mn-lt"/>
              </a:rPr>
              <a:t>anwendbar</a:t>
            </a:r>
          </a:p>
          <a:p>
            <a:pPr algn="ctr">
              <a:spcBef>
                <a:spcPts val="500"/>
              </a:spcBef>
            </a:pPr>
            <a:r>
              <a:rPr lang="de-DE" sz="1000" dirty="0">
                <a:solidFill>
                  <a:srgbClr val="5B666F"/>
                </a:solidFill>
                <a:latin typeface="+mn-lt"/>
              </a:rPr>
              <a:t>Schnittstelle vorhanden</a:t>
            </a:r>
          </a:p>
        </p:txBody>
      </p:sp>
      <p:sp>
        <p:nvSpPr>
          <p:cNvPr id="18" name="Quad2"/>
          <p:cNvSpPr/>
          <p:nvPr/>
        </p:nvSpPr>
        <p:spPr>
          <a:xfrm>
            <a:off x="7863840" y="2011680"/>
            <a:ext cx="3017520" cy="1097280"/>
          </a:xfrm>
          <a:prstGeom prst="rect">
            <a:avLst/>
          </a:prstGeom>
          <a:solidFill>
            <a:srgbClr val="F2F4F5"/>
          </a:solidFill>
          <a:ln>
            <a:noFill/>
          </a:ln>
        </p:spPr>
        <p:txBody>
          <a:bodyPr lIns="45720" tIns="27432" rIns="45720" bIns="27432" anchor="ctr">
            <a:normAutofit/>
          </a:bodyPr>
          <a:lstStyle/>
          <a:p>
            <a:pPr algn="ctr">
              <a:spcBef>
                <a:spcPts val="0"/>
              </a:spcBef>
            </a:pPr>
            <a:r>
              <a:rPr lang="de-DE" sz="1400" b="1" dirty="0">
                <a:solidFill>
                  <a:srgbClr val="30343A"/>
                </a:solidFill>
                <a:latin typeface="+mn-lt"/>
              </a:rPr>
              <a:t>mit Anpassung</a:t>
            </a:r>
          </a:p>
          <a:p>
            <a:pPr algn="ctr">
              <a:spcBef>
                <a:spcPts val="500"/>
              </a:spcBef>
            </a:pPr>
            <a:r>
              <a:rPr lang="de-DE" sz="1000" dirty="0">
                <a:solidFill>
                  <a:srgbClr val="5B666F"/>
                </a:solidFill>
                <a:latin typeface="+mn-lt"/>
              </a:rPr>
              <a:t>verwandte Schnittstelle</a:t>
            </a:r>
          </a:p>
        </p:txBody>
      </p:sp>
      <p:sp>
        <p:nvSpPr>
          <p:cNvPr id="19" name="Quad3"/>
          <p:cNvSpPr/>
          <p:nvPr/>
        </p:nvSpPr>
        <p:spPr>
          <a:xfrm>
            <a:off x="4663440" y="3291840"/>
            <a:ext cx="3017520" cy="1097280"/>
          </a:xfrm>
          <a:prstGeom prst="rect">
            <a:avLst/>
          </a:prstGeom>
          <a:solidFill>
            <a:srgbClr val="F2F4F5"/>
          </a:solidFill>
          <a:ln w="28575">
            <a:solidFill>
              <a:srgbClr val="FF6E00"/>
            </a:solidFill>
          </a:ln>
        </p:spPr>
        <p:txBody>
          <a:bodyPr lIns="45720" tIns="27432" rIns="45720" bIns="27432" anchor="ctr">
            <a:normAutofit/>
          </a:bodyPr>
          <a:lstStyle/>
          <a:p>
            <a:pPr algn="ctr">
              <a:spcBef>
                <a:spcPts val="0"/>
              </a:spcBef>
            </a:pPr>
            <a:r>
              <a:rPr lang="de-DE" sz="1400" b="1" dirty="0">
                <a:solidFill>
                  <a:srgbClr val="30343A"/>
                </a:solidFill>
                <a:latin typeface="+mn-lt"/>
              </a:rPr>
              <a:t>nicht anwendbar</a:t>
            </a:r>
          </a:p>
          <a:p>
            <a:pPr algn="ctr">
              <a:spcBef>
                <a:spcPts val="500"/>
              </a:spcBef>
            </a:pPr>
            <a:r>
              <a:rPr lang="de-DE" sz="1000" dirty="0">
                <a:solidFill>
                  <a:srgbClr val="5B666F"/>
                </a:solidFill>
                <a:latin typeface="+mn-lt"/>
              </a:rPr>
              <a:t>Schnittstelle fehlt</a:t>
            </a:r>
          </a:p>
        </p:txBody>
      </p:sp>
      <p:sp>
        <p:nvSpPr>
          <p:cNvPr id="20" name="Quad4"/>
          <p:cNvSpPr/>
          <p:nvPr/>
        </p:nvSpPr>
        <p:spPr>
          <a:xfrm>
            <a:off x="7863840" y="3291840"/>
            <a:ext cx="3017520" cy="1097280"/>
          </a:xfrm>
          <a:prstGeom prst="rect">
            <a:avLst/>
          </a:prstGeom>
          <a:solidFill>
            <a:srgbClr val="F2F4F5"/>
          </a:solidFill>
          <a:ln>
            <a:noFill/>
          </a:ln>
        </p:spPr>
        <p:txBody>
          <a:bodyPr lIns="45720" tIns="27432" rIns="45720" bIns="27432" anchor="ctr">
            <a:normAutofit/>
          </a:bodyPr>
          <a:lstStyle/>
          <a:p>
            <a:pPr algn="ctr">
              <a:spcBef>
                <a:spcPts val="0"/>
              </a:spcBef>
            </a:pPr>
            <a:r>
              <a:rPr lang="de-DE" sz="1400" b="1" dirty="0">
                <a:solidFill>
                  <a:srgbClr val="30343A"/>
                </a:solidFill>
                <a:latin typeface="+mn-lt"/>
              </a:rPr>
              <a:t>blockiert</a:t>
            </a:r>
          </a:p>
          <a:p>
            <a:pPr algn="ctr">
              <a:spcBef>
                <a:spcPts val="500"/>
              </a:spcBef>
            </a:pPr>
            <a:r>
              <a:rPr lang="de-DE" sz="1000" dirty="0">
                <a:solidFill>
                  <a:srgbClr val="5B666F"/>
                </a:solidFill>
                <a:latin typeface="+mn-lt"/>
              </a:rPr>
              <a:t>Umgebungsrestriktion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03 · METHODIK</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Ausführung ≠ Verdikt</a:t>
            </a:r>
          </a:p>
        </p:txBody>
      </p:sp>
      <p:sp>
        <p:nvSpPr>
          <p:cNvPr id="4"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Fail dominiert · Pass nur bei voller Abdeckung · unvollständige Abdeckung wird nie als Pass berichtet.</a:t>
            </a:r>
          </a:p>
        </p:txBody>
      </p:sp>
      <p:sp>
        <p:nvSpPr>
          <p:cNvPr id="5" name="Trennlinie"/>
          <p:cNvSpPr/>
          <p:nvPr/>
        </p:nvSpPr>
        <p:spPr>
          <a:xfrm>
            <a:off x="5989320" y="2331720"/>
            <a:ext cx="32004" cy="3200400"/>
          </a:xfrm>
          <a:prstGeom prst="rect">
            <a:avLst/>
          </a:prstGeom>
          <a:solidFill>
            <a:srgbClr val="30343A"/>
          </a:solidFill>
          <a:ln>
            <a:noFill/>
          </a:ln>
        </p:spPr>
        <p:txBody>
          <a:bodyPr lIns="45720" tIns="27432" rIns="45720" bIns="27432" anchor="ctr">
            <a:normAutofit/>
          </a:bodyPr>
          <a:lstStyle/>
          <a:p>
            <a:endParaRPr lang="de-DE"/>
          </a:p>
        </p:txBody>
      </p:sp>
      <p:sp>
        <p:nvSpPr>
          <p:cNvPr id="10" name="Kopf1"/>
          <p:cNvSpPr txBox="1"/>
          <p:nvPr/>
        </p:nvSpPr>
        <p:spPr>
          <a:xfrm>
            <a:off x="1005840" y="2377440"/>
            <a:ext cx="4206240" cy="274320"/>
          </a:xfrm>
          <a:prstGeom prst="rect">
            <a:avLst/>
          </a:prstGeom>
          <a:noFill/>
        </p:spPr>
        <p:txBody>
          <a:bodyPr wrap="square" lIns="0" tIns="0" rIns="0" bIns="0" anchor="t">
            <a:normAutofit/>
          </a:bodyPr>
          <a:lstStyle/>
          <a:p>
            <a:pPr algn="l">
              <a:lnSpc>
                <a:spcPct val="100000"/>
              </a:lnSpc>
              <a:spcBef>
                <a:spcPts val="0"/>
              </a:spcBef>
            </a:pPr>
            <a:r>
              <a:rPr lang="de-DE" sz="1100" b="1" dirty="0">
                <a:solidFill>
                  <a:srgbClr val="5B666F"/>
                </a:solidFill>
                <a:latin typeface="+mn-lt"/>
              </a:rPr>
              <a:t>je Testfall · Ausführungsstatus</a:t>
            </a:r>
          </a:p>
        </p:txBody>
      </p:sp>
      <p:sp>
        <p:nvSpPr>
          <p:cNvPr id="11" name="L0"/>
          <p:cNvSpPr/>
          <p:nvPr/>
        </p:nvSpPr>
        <p:spPr>
          <a:xfrm>
            <a:off x="1005840" y="2788920"/>
            <a:ext cx="4206240" cy="548640"/>
          </a:xfrm>
          <a:prstGeom prst="rect">
            <a:avLst/>
          </a:prstGeom>
          <a:solidFill>
            <a:srgbClr val="F2F4F5"/>
          </a:solidFill>
          <a:ln>
            <a:noFill/>
          </a:ln>
        </p:spPr>
        <p:txBody>
          <a:bodyPr lIns="45720" tIns="27432" rIns="45720" bIns="27432" anchor="ctr">
            <a:normAutofit/>
          </a:bodyPr>
          <a:lstStyle/>
          <a:p>
            <a:pPr algn="l">
              <a:spcBef>
                <a:spcPts val="0"/>
              </a:spcBef>
            </a:pPr>
            <a:r>
              <a:rPr lang="de-DE" sz="1300" dirty="0">
                <a:solidFill>
                  <a:srgbClr val="30343A"/>
                </a:solidFill>
                <a:latin typeface="+mn-lt"/>
              </a:rPr>
              <a:t>Executed</a:t>
            </a:r>
          </a:p>
        </p:txBody>
      </p:sp>
      <p:sp>
        <p:nvSpPr>
          <p:cNvPr id="12" name="L1"/>
          <p:cNvSpPr/>
          <p:nvPr/>
        </p:nvSpPr>
        <p:spPr>
          <a:xfrm>
            <a:off x="1005840" y="3447288"/>
            <a:ext cx="4206240" cy="548640"/>
          </a:xfrm>
          <a:prstGeom prst="rect">
            <a:avLst/>
          </a:prstGeom>
          <a:solidFill>
            <a:srgbClr val="F2F4F5"/>
          </a:solidFill>
          <a:ln>
            <a:noFill/>
          </a:ln>
        </p:spPr>
        <p:txBody>
          <a:bodyPr lIns="45720" tIns="27432" rIns="45720" bIns="27432" anchor="ctr">
            <a:normAutofit/>
          </a:bodyPr>
          <a:lstStyle/>
          <a:p>
            <a:pPr algn="l">
              <a:spcBef>
                <a:spcPts val="0"/>
              </a:spcBef>
            </a:pPr>
            <a:r>
              <a:rPr lang="de-DE" sz="1300" dirty="0">
                <a:solidFill>
                  <a:srgbClr val="30343A"/>
                </a:solidFill>
                <a:latin typeface="+mn-lt"/>
              </a:rPr>
              <a:t>Not Applicable</a:t>
            </a:r>
          </a:p>
        </p:txBody>
      </p:sp>
      <p:sp>
        <p:nvSpPr>
          <p:cNvPr id="13" name="L2"/>
          <p:cNvSpPr/>
          <p:nvPr/>
        </p:nvSpPr>
        <p:spPr>
          <a:xfrm>
            <a:off x="1005840" y="4105656"/>
            <a:ext cx="4206240" cy="548640"/>
          </a:xfrm>
          <a:prstGeom prst="rect">
            <a:avLst/>
          </a:prstGeom>
          <a:solidFill>
            <a:srgbClr val="F2F4F5"/>
          </a:solidFill>
          <a:ln>
            <a:noFill/>
          </a:ln>
        </p:spPr>
        <p:txBody>
          <a:bodyPr lIns="45720" tIns="27432" rIns="45720" bIns="27432" anchor="ctr">
            <a:normAutofit/>
          </a:bodyPr>
          <a:lstStyle/>
          <a:p>
            <a:pPr algn="l">
              <a:spcBef>
                <a:spcPts val="0"/>
              </a:spcBef>
            </a:pPr>
            <a:r>
              <a:rPr lang="de-DE" sz="1300" dirty="0">
                <a:solidFill>
                  <a:srgbClr val="30343A"/>
                </a:solidFill>
                <a:latin typeface="+mn-lt"/>
              </a:rPr>
              <a:t>Blocked</a:t>
            </a:r>
          </a:p>
        </p:txBody>
      </p:sp>
      <p:sp>
        <p:nvSpPr>
          <p:cNvPr id="14" name="L3"/>
          <p:cNvSpPr/>
          <p:nvPr/>
        </p:nvSpPr>
        <p:spPr>
          <a:xfrm>
            <a:off x="1005840" y="4764024"/>
            <a:ext cx="4206240" cy="548640"/>
          </a:xfrm>
          <a:prstGeom prst="rect">
            <a:avLst/>
          </a:prstGeom>
          <a:solidFill>
            <a:srgbClr val="F2F4F5"/>
          </a:solidFill>
          <a:ln>
            <a:noFill/>
          </a:ln>
        </p:spPr>
        <p:txBody>
          <a:bodyPr lIns="45720" tIns="27432" rIns="45720" bIns="27432" anchor="ctr">
            <a:normAutofit/>
          </a:bodyPr>
          <a:lstStyle/>
          <a:p>
            <a:pPr algn="l">
              <a:spcBef>
                <a:spcPts val="0"/>
              </a:spcBef>
            </a:pPr>
            <a:r>
              <a:rPr lang="de-DE" sz="1300" dirty="0">
                <a:solidFill>
                  <a:srgbClr val="30343A"/>
                </a:solidFill>
                <a:latin typeface="+mn-lt"/>
              </a:rPr>
              <a:t>Unevidenced</a:t>
            </a:r>
          </a:p>
        </p:txBody>
      </p:sp>
      <p:sp>
        <p:nvSpPr>
          <p:cNvPr id="15" name="AggPfeil"/>
          <p:cNvSpPr/>
          <p:nvPr/>
        </p:nvSpPr>
        <p:spPr>
          <a:xfrm>
            <a:off x="4892040" y="1828800"/>
            <a:ext cx="1828800" cy="274320"/>
          </a:xfrm>
          <a:prstGeom prst="rightArrow">
            <a:avLst/>
          </a:prstGeom>
          <a:solidFill>
            <a:srgbClr val="FF6E00"/>
          </a:solidFill>
          <a:ln>
            <a:noFill/>
          </a:ln>
        </p:spPr>
        <p:txBody>
          <a:bodyPr lIns="45720" tIns="27432" rIns="45720" bIns="27432" anchor="ctr">
            <a:normAutofit fontScale="32500" lnSpcReduction="20000"/>
          </a:bodyPr>
          <a:lstStyle/>
          <a:p>
            <a:endParaRPr lang="de-DE"/>
          </a:p>
        </p:txBody>
      </p:sp>
      <p:sp>
        <p:nvSpPr>
          <p:cNvPr id="16" name="AggLabel"/>
          <p:cNvSpPr txBox="1"/>
          <p:nvPr/>
        </p:nvSpPr>
        <p:spPr>
          <a:xfrm>
            <a:off x="4892040" y="1536192"/>
            <a:ext cx="1828800" cy="256032"/>
          </a:xfrm>
          <a:prstGeom prst="rect">
            <a:avLst/>
          </a:prstGeom>
          <a:noFill/>
        </p:spPr>
        <p:txBody>
          <a:bodyPr wrap="square" lIns="0" tIns="0" rIns="0" bIns="0" anchor="t">
            <a:normAutofit/>
          </a:bodyPr>
          <a:lstStyle/>
          <a:p>
            <a:pPr algn="ctr">
              <a:lnSpc>
                <a:spcPct val="100000"/>
              </a:lnSpc>
              <a:spcBef>
                <a:spcPts val="0"/>
              </a:spcBef>
            </a:pPr>
            <a:r>
              <a:rPr lang="de-DE" sz="1100" b="1" dirty="0">
                <a:solidFill>
                  <a:srgbClr val="FF6E00"/>
                </a:solidFill>
                <a:latin typeface="+mn-lt"/>
              </a:rPr>
              <a:t>Aggregation</a:t>
            </a:r>
          </a:p>
        </p:txBody>
      </p:sp>
      <p:sp>
        <p:nvSpPr>
          <p:cNvPr id="17" name="Kopf2"/>
          <p:cNvSpPr txBox="1"/>
          <p:nvPr/>
        </p:nvSpPr>
        <p:spPr>
          <a:xfrm>
            <a:off x="6766560" y="2377440"/>
            <a:ext cx="4206240" cy="274320"/>
          </a:xfrm>
          <a:prstGeom prst="rect">
            <a:avLst/>
          </a:prstGeom>
          <a:noFill/>
        </p:spPr>
        <p:txBody>
          <a:bodyPr wrap="square" lIns="0" tIns="0" rIns="0" bIns="0" anchor="t">
            <a:normAutofit/>
          </a:bodyPr>
          <a:lstStyle/>
          <a:p>
            <a:pPr algn="l">
              <a:lnSpc>
                <a:spcPct val="100000"/>
              </a:lnSpc>
              <a:spcBef>
                <a:spcPts val="0"/>
              </a:spcBef>
            </a:pPr>
            <a:r>
              <a:rPr lang="de-DE" sz="1100" b="1" dirty="0">
                <a:solidFill>
                  <a:srgbClr val="5B666F"/>
                </a:solidFill>
                <a:latin typeface="+mn-lt"/>
              </a:rPr>
              <a:t>je Requirement · Verdikt</a:t>
            </a:r>
          </a:p>
        </p:txBody>
      </p:sp>
      <p:sp>
        <p:nvSpPr>
          <p:cNvPr id="18" name="R0"/>
          <p:cNvSpPr/>
          <p:nvPr/>
        </p:nvSpPr>
        <p:spPr>
          <a:xfrm>
            <a:off x="6766560" y="2788920"/>
            <a:ext cx="4206240" cy="548640"/>
          </a:xfrm>
          <a:prstGeom prst="rect">
            <a:avLst/>
          </a:prstGeom>
          <a:solidFill>
            <a:srgbClr val="F2F4F5"/>
          </a:solidFill>
          <a:ln>
            <a:noFill/>
          </a:ln>
        </p:spPr>
        <p:txBody>
          <a:bodyPr lIns="45720" tIns="27432" rIns="45720" bIns="27432" anchor="ctr">
            <a:normAutofit/>
          </a:bodyPr>
          <a:lstStyle/>
          <a:p>
            <a:pPr algn="l">
              <a:spcBef>
                <a:spcPts val="0"/>
              </a:spcBef>
            </a:pPr>
            <a:r>
              <a:rPr lang="de-DE" sz="1300" b="1" dirty="0">
                <a:solidFill>
                  <a:srgbClr val="30343A"/>
                </a:solidFill>
                <a:latin typeface="+mn-lt"/>
              </a:rPr>
              <a:t>✓   Pass</a:t>
            </a:r>
          </a:p>
        </p:txBody>
      </p:sp>
      <p:sp>
        <p:nvSpPr>
          <p:cNvPr id="19" name="R1"/>
          <p:cNvSpPr/>
          <p:nvPr/>
        </p:nvSpPr>
        <p:spPr>
          <a:xfrm>
            <a:off x="6766560" y="3447288"/>
            <a:ext cx="4206240" cy="548640"/>
          </a:xfrm>
          <a:prstGeom prst="rect">
            <a:avLst/>
          </a:prstGeom>
          <a:solidFill>
            <a:srgbClr val="F2F4F5"/>
          </a:solidFill>
          <a:ln>
            <a:noFill/>
          </a:ln>
        </p:spPr>
        <p:txBody>
          <a:bodyPr lIns="45720" tIns="27432" rIns="45720" bIns="27432" anchor="ctr">
            <a:normAutofit/>
          </a:bodyPr>
          <a:lstStyle/>
          <a:p>
            <a:pPr algn="l">
              <a:spcBef>
                <a:spcPts val="0"/>
              </a:spcBef>
            </a:pPr>
            <a:r>
              <a:rPr lang="de-DE" sz="1300" b="1" dirty="0">
                <a:solidFill>
                  <a:srgbClr val="FF6E00"/>
                </a:solidFill>
                <a:latin typeface="+mn-lt"/>
              </a:rPr>
              <a:t>✗   Fail</a:t>
            </a:r>
          </a:p>
        </p:txBody>
      </p:sp>
      <p:sp>
        <p:nvSpPr>
          <p:cNvPr id="20" name="R2"/>
          <p:cNvSpPr/>
          <p:nvPr/>
        </p:nvSpPr>
        <p:spPr>
          <a:xfrm>
            <a:off x="6766560" y="4105656"/>
            <a:ext cx="4206240" cy="548640"/>
          </a:xfrm>
          <a:prstGeom prst="rect">
            <a:avLst/>
          </a:prstGeom>
          <a:solidFill>
            <a:srgbClr val="F2F4F5"/>
          </a:solidFill>
          <a:ln>
            <a:noFill/>
          </a:ln>
        </p:spPr>
        <p:txBody>
          <a:bodyPr lIns="45720" tIns="27432" rIns="45720" bIns="27432" anchor="ctr">
            <a:normAutofit/>
          </a:bodyPr>
          <a:lstStyle/>
          <a:p>
            <a:pPr algn="l">
              <a:spcBef>
                <a:spcPts val="0"/>
              </a:spcBef>
            </a:pPr>
            <a:r>
              <a:rPr lang="de-DE" sz="1300" b="1" dirty="0">
                <a:solidFill>
                  <a:srgbClr val="5B666F"/>
                </a:solidFill>
                <a:latin typeface="+mn-lt"/>
              </a:rPr>
              <a:t>?   Not Assessed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03 · METHODIK</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Was der Messpunkt bestimmt</a:t>
            </a:r>
          </a:p>
        </p:txBody>
      </p:sp>
      <p:sp>
        <p:nvSpPr>
          <p:cNvPr id="4"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Der Messpunkt entscheidet, welcher Nachweis überhaupt erbringbar ist.</a:t>
            </a:r>
          </a:p>
        </p:txBody>
      </p:sp>
      <p:sp>
        <p:nvSpPr>
          <p:cNvPr id="10" name="NV0Label"/>
          <p:cNvSpPr txBox="1"/>
          <p:nvPr/>
        </p:nvSpPr>
        <p:spPr>
          <a:xfrm>
            <a:off x="822960" y="1801368"/>
            <a:ext cx="1828800" cy="548640"/>
          </a:xfrm>
          <a:prstGeom prst="rect">
            <a:avLst/>
          </a:prstGeom>
          <a:noFill/>
        </p:spPr>
        <p:txBody>
          <a:bodyPr wrap="square" lIns="0" tIns="0" rIns="0" bIns="0" anchor="t">
            <a:normAutofit/>
          </a:bodyPr>
          <a:lstStyle/>
          <a:p>
            <a:pPr algn="l">
              <a:lnSpc>
                <a:spcPct val="100000"/>
              </a:lnSpc>
              <a:spcBef>
                <a:spcPts val="0"/>
              </a:spcBef>
            </a:pPr>
            <a:r>
              <a:rPr lang="de-DE" sz="1300" b="1" dirty="0">
                <a:solidFill>
                  <a:srgbClr val="FF6E00"/>
                </a:solidFill>
                <a:latin typeface="+mn-lt"/>
              </a:rPr>
              <a:t>NV1</a:t>
            </a:r>
          </a:p>
          <a:p>
            <a:pPr algn="l">
              <a:lnSpc>
                <a:spcPct val="100000"/>
              </a:lnSpc>
              <a:spcBef>
                <a:spcPts val="300"/>
              </a:spcBef>
            </a:pPr>
            <a:r>
              <a:rPr lang="de-DE" sz="1100" b="1" dirty="0">
                <a:solidFill>
                  <a:srgbClr val="30343A"/>
                </a:solidFill>
                <a:latin typeface="+mn-lt"/>
              </a:rPr>
              <a:t>Direktzugriff</a:t>
            </a:r>
          </a:p>
        </p:txBody>
      </p:sp>
      <p:sp>
        <p:nvSpPr>
          <p:cNvPr id="11" name="SPS0"/>
          <p:cNvSpPr/>
          <p:nvPr/>
        </p:nvSpPr>
        <p:spPr>
          <a:xfrm>
            <a:off x="2743200" y="1737360"/>
            <a:ext cx="109728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SPS</a:t>
            </a:r>
          </a:p>
        </p:txBody>
      </p:sp>
      <p:sp>
        <p:nvSpPr>
          <p:cNvPr id="12" name="C10"/>
          <p:cNvSpPr/>
          <p:nvPr/>
        </p:nvSpPr>
        <p:spPr>
          <a:xfrm>
            <a:off x="3840480" y="1929384"/>
            <a:ext cx="411480" cy="22860"/>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13" name="SW0"/>
          <p:cNvSpPr/>
          <p:nvPr/>
        </p:nvSpPr>
        <p:spPr>
          <a:xfrm>
            <a:off x="4251960" y="1737360"/>
            <a:ext cx="137160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Industrial Switch</a:t>
            </a:r>
          </a:p>
        </p:txBody>
      </p:sp>
      <p:sp>
        <p:nvSpPr>
          <p:cNvPr id="14" name="C20"/>
          <p:cNvSpPr/>
          <p:nvPr/>
        </p:nvSpPr>
        <p:spPr>
          <a:xfrm>
            <a:off x="5623560" y="1929384"/>
            <a:ext cx="457200" cy="22860"/>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15" name="PL0"/>
          <p:cNvSpPr/>
          <p:nvPr/>
        </p:nvSpPr>
        <p:spPr>
          <a:xfrm>
            <a:off x="6080760" y="1737360"/>
            <a:ext cx="128016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Prüfling</a:t>
            </a:r>
          </a:p>
        </p:txBody>
      </p:sp>
      <p:sp>
        <p:nvSpPr>
          <p:cNvPr id="16" name="V0"/>
          <p:cNvSpPr/>
          <p:nvPr/>
        </p:nvSpPr>
        <p:spPr>
          <a:xfrm>
            <a:off x="4919472" y="2148840"/>
            <a:ext cx="18288" cy="292608"/>
          </a:xfrm>
          <a:prstGeom prst="rect">
            <a:avLst/>
          </a:prstGeom>
          <a:solidFill>
            <a:srgbClr val="5B666F"/>
          </a:solidFill>
          <a:ln>
            <a:noFill/>
          </a:ln>
        </p:spPr>
        <p:txBody>
          <a:bodyPr lIns="45720" tIns="27432" rIns="45720" bIns="27432" anchor="ctr">
            <a:normAutofit fontScale="92500" lnSpcReduction="10000"/>
          </a:bodyPr>
          <a:lstStyle/>
          <a:p>
            <a:endParaRPr lang="de-DE"/>
          </a:p>
        </p:txBody>
      </p:sp>
      <p:sp>
        <p:nvSpPr>
          <p:cNvPr id="17" name="TS0"/>
          <p:cNvSpPr/>
          <p:nvPr/>
        </p:nvSpPr>
        <p:spPr>
          <a:xfrm>
            <a:off x="4251960" y="2441448"/>
            <a:ext cx="1371600" cy="384048"/>
          </a:xfrm>
          <a:prstGeom prst="rect">
            <a:avLst/>
          </a:prstGeom>
          <a:solidFill>
            <a:srgbClr val="FF6E00"/>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Testsystem</a:t>
            </a:r>
          </a:p>
        </p:txBody>
      </p:sp>
      <p:sp>
        <p:nvSpPr>
          <p:cNvPr id="18" name="Status0"/>
          <p:cNvSpPr/>
          <p:nvPr/>
        </p:nvSpPr>
        <p:spPr>
          <a:xfrm>
            <a:off x="9235440" y="1737360"/>
            <a:ext cx="1920240" cy="411480"/>
          </a:xfrm>
          <a:prstGeom prst="rect">
            <a:avLst/>
          </a:prstGeom>
          <a:solidFill>
            <a:srgbClr val="2E7D32"/>
          </a:solidFill>
          <a:ln>
            <a:noFill/>
          </a:ln>
        </p:spPr>
        <p:txBody>
          <a:bodyPr lIns="45720" tIns="27432" rIns="45720" bIns="27432" anchor="ctr">
            <a:normAutofit/>
          </a:bodyPr>
          <a:lstStyle/>
          <a:p>
            <a:pPr algn="ctr">
              <a:spcBef>
                <a:spcPts val="0"/>
              </a:spcBef>
            </a:pPr>
            <a:r>
              <a:rPr lang="de-DE" sz="900" b="1" dirty="0">
                <a:solidFill>
                  <a:srgbClr val="FFFFFF"/>
                </a:solidFill>
                <a:latin typeface="+mn-lt"/>
              </a:rPr>
              <a:t>realisiert</a:t>
            </a:r>
          </a:p>
        </p:txBody>
      </p:sp>
      <p:sp>
        <p:nvSpPr>
          <p:cNvPr id="19" name="NV1Label"/>
          <p:cNvSpPr txBox="1"/>
          <p:nvPr/>
        </p:nvSpPr>
        <p:spPr>
          <a:xfrm>
            <a:off x="822960" y="3172968"/>
            <a:ext cx="1828800" cy="548640"/>
          </a:xfrm>
          <a:prstGeom prst="rect">
            <a:avLst/>
          </a:prstGeom>
          <a:noFill/>
        </p:spPr>
        <p:txBody>
          <a:bodyPr wrap="square" lIns="0" tIns="0" rIns="0" bIns="0" anchor="t">
            <a:normAutofit/>
          </a:bodyPr>
          <a:lstStyle/>
          <a:p>
            <a:pPr algn="l">
              <a:lnSpc>
                <a:spcPct val="100000"/>
              </a:lnSpc>
              <a:spcBef>
                <a:spcPts val="0"/>
              </a:spcBef>
            </a:pPr>
            <a:r>
              <a:rPr lang="de-DE" sz="1300" b="1" dirty="0">
                <a:solidFill>
                  <a:srgbClr val="FF6E00"/>
                </a:solidFill>
                <a:latin typeface="+mn-lt"/>
              </a:rPr>
              <a:t>NV2</a:t>
            </a:r>
          </a:p>
          <a:p>
            <a:pPr algn="l">
              <a:lnSpc>
                <a:spcPct val="100000"/>
              </a:lnSpc>
              <a:spcBef>
                <a:spcPts val="300"/>
              </a:spcBef>
            </a:pPr>
            <a:r>
              <a:rPr lang="de-DE" sz="1100" b="1" dirty="0">
                <a:solidFill>
                  <a:srgbClr val="30343A"/>
                </a:solidFill>
                <a:latin typeface="+mn-lt"/>
              </a:rPr>
              <a:t>Passive Beobachtung</a:t>
            </a:r>
          </a:p>
        </p:txBody>
      </p:sp>
      <p:sp>
        <p:nvSpPr>
          <p:cNvPr id="20" name="SPS1"/>
          <p:cNvSpPr/>
          <p:nvPr/>
        </p:nvSpPr>
        <p:spPr>
          <a:xfrm>
            <a:off x="2743200" y="3108960"/>
            <a:ext cx="109728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SPS</a:t>
            </a:r>
          </a:p>
        </p:txBody>
      </p:sp>
      <p:sp>
        <p:nvSpPr>
          <p:cNvPr id="21" name="C11"/>
          <p:cNvSpPr/>
          <p:nvPr/>
        </p:nvSpPr>
        <p:spPr>
          <a:xfrm>
            <a:off x="3840480" y="3300984"/>
            <a:ext cx="411480" cy="22860"/>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22" name="SW1"/>
          <p:cNvSpPr/>
          <p:nvPr/>
        </p:nvSpPr>
        <p:spPr>
          <a:xfrm>
            <a:off x="4251960" y="3108960"/>
            <a:ext cx="137160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Industrial Switch</a:t>
            </a:r>
          </a:p>
        </p:txBody>
      </p:sp>
      <p:sp>
        <p:nvSpPr>
          <p:cNvPr id="23" name="C21"/>
          <p:cNvSpPr/>
          <p:nvPr/>
        </p:nvSpPr>
        <p:spPr>
          <a:xfrm>
            <a:off x="5623560" y="3300984"/>
            <a:ext cx="457200" cy="22860"/>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24" name="PL1"/>
          <p:cNvSpPr/>
          <p:nvPr/>
        </p:nvSpPr>
        <p:spPr>
          <a:xfrm>
            <a:off x="6080760" y="3108960"/>
            <a:ext cx="128016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Prüfling</a:t>
            </a:r>
          </a:p>
        </p:txBody>
      </p:sp>
      <p:sp>
        <p:nvSpPr>
          <p:cNvPr id="25" name="V1"/>
          <p:cNvSpPr/>
          <p:nvPr/>
        </p:nvSpPr>
        <p:spPr>
          <a:xfrm>
            <a:off x="4919472" y="3520440"/>
            <a:ext cx="18288" cy="292608"/>
          </a:xfrm>
          <a:prstGeom prst="rect">
            <a:avLst/>
          </a:prstGeom>
          <a:noFill/>
          <a:ln w="15875">
            <a:solidFill>
              <a:srgbClr val="5B666F"/>
            </a:solidFill>
            <a:prstDash val="dash"/>
          </a:ln>
        </p:spPr>
        <p:txBody>
          <a:bodyPr lIns="45720" tIns="27432" rIns="45720" bIns="27432" anchor="ctr">
            <a:normAutofit fontScale="92500" lnSpcReduction="10000"/>
          </a:bodyPr>
          <a:lstStyle/>
          <a:p>
            <a:endParaRPr lang="de-DE"/>
          </a:p>
        </p:txBody>
      </p:sp>
      <p:sp>
        <p:nvSpPr>
          <p:cNvPr id="26" name="TS1"/>
          <p:cNvSpPr/>
          <p:nvPr/>
        </p:nvSpPr>
        <p:spPr>
          <a:xfrm>
            <a:off x="4251960" y="3813048"/>
            <a:ext cx="1371600" cy="384048"/>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Testsystem</a:t>
            </a:r>
          </a:p>
        </p:txBody>
      </p:sp>
      <p:sp>
        <p:nvSpPr>
          <p:cNvPr id="27" name="MP1"/>
          <p:cNvSpPr txBox="1"/>
          <p:nvPr/>
        </p:nvSpPr>
        <p:spPr>
          <a:xfrm>
            <a:off x="5760720" y="3840480"/>
            <a:ext cx="1828800" cy="27432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5B666F"/>
                </a:solidFill>
                <a:latin typeface="+mn-lt"/>
              </a:rPr>
              <a:t>Mirror-Port</a:t>
            </a:r>
          </a:p>
        </p:txBody>
      </p:sp>
      <p:sp>
        <p:nvSpPr>
          <p:cNvPr id="28" name="Status1"/>
          <p:cNvSpPr/>
          <p:nvPr/>
        </p:nvSpPr>
        <p:spPr>
          <a:xfrm>
            <a:off x="9235440" y="3108960"/>
            <a:ext cx="1920240" cy="411480"/>
          </a:xfrm>
          <a:prstGeom prst="rect">
            <a:avLst/>
          </a:prstGeom>
          <a:solidFill>
            <a:srgbClr val="5B666F"/>
          </a:solidFill>
          <a:ln>
            <a:noFill/>
          </a:ln>
        </p:spPr>
        <p:txBody>
          <a:bodyPr lIns="45720" tIns="27432" rIns="45720" bIns="27432" anchor="ctr">
            <a:normAutofit/>
          </a:bodyPr>
          <a:lstStyle/>
          <a:p>
            <a:pPr algn="ctr">
              <a:spcBef>
                <a:spcPts val="0"/>
              </a:spcBef>
            </a:pPr>
            <a:r>
              <a:rPr lang="de-DE" sz="900" b="1" dirty="0">
                <a:solidFill>
                  <a:srgbClr val="FFFFFF"/>
                </a:solidFill>
                <a:latin typeface="+mn-lt"/>
              </a:rPr>
              <a:t>spezifiziert, nicht umgesetzt</a:t>
            </a:r>
          </a:p>
        </p:txBody>
      </p:sp>
      <p:sp>
        <p:nvSpPr>
          <p:cNvPr id="29" name="NV2Label"/>
          <p:cNvSpPr txBox="1"/>
          <p:nvPr/>
        </p:nvSpPr>
        <p:spPr>
          <a:xfrm>
            <a:off x="822960" y="4544568"/>
            <a:ext cx="1828800" cy="548640"/>
          </a:xfrm>
          <a:prstGeom prst="rect">
            <a:avLst/>
          </a:prstGeom>
          <a:noFill/>
        </p:spPr>
        <p:txBody>
          <a:bodyPr wrap="square" lIns="0" tIns="0" rIns="0" bIns="0" anchor="t">
            <a:normAutofit/>
          </a:bodyPr>
          <a:lstStyle/>
          <a:p>
            <a:pPr algn="l">
              <a:lnSpc>
                <a:spcPct val="100000"/>
              </a:lnSpc>
              <a:spcBef>
                <a:spcPts val="0"/>
              </a:spcBef>
            </a:pPr>
            <a:r>
              <a:rPr lang="de-DE" sz="1300" b="1" dirty="0">
                <a:solidFill>
                  <a:srgbClr val="FF6E00"/>
                </a:solidFill>
                <a:latin typeface="+mn-lt"/>
              </a:rPr>
              <a:t>NV3</a:t>
            </a:r>
          </a:p>
          <a:p>
            <a:pPr algn="l">
              <a:lnSpc>
                <a:spcPct val="100000"/>
              </a:lnSpc>
              <a:spcBef>
                <a:spcPts val="300"/>
              </a:spcBef>
            </a:pPr>
            <a:r>
              <a:rPr lang="de-DE" sz="1100" b="1" dirty="0">
                <a:solidFill>
                  <a:srgbClr val="30343A"/>
                </a:solidFill>
                <a:latin typeface="+mn-lt"/>
              </a:rPr>
              <a:t>In-Path-Manipulation</a:t>
            </a:r>
          </a:p>
        </p:txBody>
      </p:sp>
      <p:sp>
        <p:nvSpPr>
          <p:cNvPr id="30" name="SPS2"/>
          <p:cNvSpPr/>
          <p:nvPr/>
        </p:nvSpPr>
        <p:spPr>
          <a:xfrm>
            <a:off x="2743200" y="4480560"/>
            <a:ext cx="109728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SPS</a:t>
            </a:r>
          </a:p>
        </p:txBody>
      </p:sp>
      <p:sp>
        <p:nvSpPr>
          <p:cNvPr id="31" name="C12"/>
          <p:cNvSpPr/>
          <p:nvPr/>
        </p:nvSpPr>
        <p:spPr>
          <a:xfrm>
            <a:off x="3840480" y="4672584"/>
            <a:ext cx="411480" cy="22860"/>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32" name="SW2"/>
          <p:cNvSpPr/>
          <p:nvPr/>
        </p:nvSpPr>
        <p:spPr>
          <a:xfrm>
            <a:off x="4251960" y="4480560"/>
            <a:ext cx="137160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Industrial Switch</a:t>
            </a:r>
          </a:p>
        </p:txBody>
      </p:sp>
      <p:sp>
        <p:nvSpPr>
          <p:cNvPr id="33" name="C22"/>
          <p:cNvSpPr/>
          <p:nvPr/>
        </p:nvSpPr>
        <p:spPr>
          <a:xfrm>
            <a:off x="5623560" y="4672584"/>
            <a:ext cx="320040" cy="22860"/>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34" name="TS2"/>
          <p:cNvSpPr/>
          <p:nvPr/>
        </p:nvSpPr>
        <p:spPr>
          <a:xfrm>
            <a:off x="5943600" y="4480560"/>
            <a:ext cx="1371600" cy="411480"/>
          </a:xfrm>
          <a:prstGeom prst="rect">
            <a:avLst/>
          </a:prstGeom>
          <a:solidFill>
            <a:srgbClr val="FF6E00"/>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Testsystem</a:t>
            </a:r>
          </a:p>
        </p:txBody>
      </p:sp>
      <p:sp>
        <p:nvSpPr>
          <p:cNvPr id="35" name="C32"/>
          <p:cNvSpPr/>
          <p:nvPr/>
        </p:nvSpPr>
        <p:spPr>
          <a:xfrm>
            <a:off x="7315200" y="4672584"/>
            <a:ext cx="320040" cy="22860"/>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36" name="PL2"/>
          <p:cNvSpPr/>
          <p:nvPr/>
        </p:nvSpPr>
        <p:spPr>
          <a:xfrm>
            <a:off x="7635240" y="4480560"/>
            <a:ext cx="128016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000" dirty="0">
                <a:solidFill>
                  <a:srgbClr val="30343A"/>
                </a:solidFill>
                <a:latin typeface="+mn-lt"/>
              </a:rPr>
              <a:t>Prüfling</a:t>
            </a:r>
          </a:p>
        </p:txBody>
      </p:sp>
      <p:sp>
        <p:nvSpPr>
          <p:cNvPr id="37" name="Note2"/>
          <p:cNvSpPr txBox="1"/>
          <p:nvPr/>
        </p:nvSpPr>
        <p:spPr>
          <a:xfrm>
            <a:off x="5943600" y="4983480"/>
            <a:ext cx="2926080" cy="27432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5B666F"/>
                </a:solidFill>
                <a:latin typeface="+mn-lt"/>
              </a:rPr>
              <a:t>direkte Verbindung aufgetrennt</a:t>
            </a:r>
          </a:p>
        </p:txBody>
      </p:sp>
      <p:sp>
        <p:nvSpPr>
          <p:cNvPr id="38" name="Status2"/>
          <p:cNvSpPr/>
          <p:nvPr/>
        </p:nvSpPr>
        <p:spPr>
          <a:xfrm>
            <a:off x="9235440" y="4480560"/>
            <a:ext cx="1920240" cy="411480"/>
          </a:xfrm>
          <a:prstGeom prst="rect">
            <a:avLst/>
          </a:prstGeom>
          <a:solidFill>
            <a:srgbClr val="5B666F"/>
          </a:solidFill>
          <a:ln>
            <a:noFill/>
          </a:ln>
        </p:spPr>
        <p:txBody>
          <a:bodyPr lIns="45720" tIns="27432" rIns="45720" bIns="27432" anchor="ctr">
            <a:normAutofit/>
          </a:bodyPr>
          <a:lstStyle/>
          <a:p>
            <a:pPr algn="ctr">
              <a:spcBef>
                <a:spcPts val="0"/>
              </a:spcBef>
            </a:pPr>
            <a:r>
              <a:rPr lang="de-DE" sz="900" b="1" dirty="0">
                <a:solidFill>
                  <a:srgbClr val="FFFFFF"/>
                </a:solidFill>
                <a:latin typeface="+mn-lt"/>
              </a:rPr>
              <a:t>spezifiziert, nicht umgesetzt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04 · DEMONSTRATION</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Der Prüfstand</a:t>
            </a:r>
          </a:p>
        </p:txBody>
      </p:sp>
      <p:sp>
        <p:nvSpPr>
          <p:cNvPr id="4"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Ein Switch, ein Adressbereich, keine Segmentierung.</a:t>
            </a:r>
          </a:p>
        </p:txBody>
      </p:sp>
      <p:sp>
        <p:nvSpPr>
          <p:cNvPr id="5" name="Rahmen"/>
          <p:cNvSpPr/>
          <p:nvPr/>
        </p:nvSpPr>
        <p:spPr>
          <a:xfrm>
            <a:off x="1920240" y="1600200"/>
            <a:ext cx="7406640" cy="3794760"/>
          </a:xfrm>
          <a:prstGeom prst="rect">
            <a:avLst/>
          </a:prstGeom>
          <a:noFill/>
          <a:ln w="12700">
            <a:solidFill>
              <a:srgbClr val="5B666F"/>
            </a:solidFill>
            <a:prstDash val="dash"/>
          </a:ln>
        </p:spPr>
        <p:txBody>
          <a:bodyPr lIns="45720" tIns="27432" rIns="45720" bIns="27432" anchor="ctr">
            <a:normAutofit/>
          </a:bodyPr>
          <a:lstStyle/>
          <a:p>
            <a:endParaRPr lang="de-DE"/>
          </a:p>
        </p:txBody>
      </p:sp>
      <p:sp>
        <p:nvSpPr>
          <p:cNvPr id="6" name="RahmenLabel"/>
          <p:cNvSpPr txBox="1"/>
          <p:nvPr/>
        </p:nvSpPr>
        <p:spPr>
          <a:xfrm>
            <a:off x="2057400" y="5047488"/>
            <a:ext cx="2743200" cy="27432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5B666F"/>
                </a:solidFill>
                <a:latin typeface="+mn-lt"/>
              </a:rPr>
              <a:t>isolierte Laborumgebung</a:t>
            </a:r>
          </a:p>
        </p:txBody>
      </p:sp>
      <p:sp>
        <p:nvSpPr>
          <p:cNvPr id="10" name="L1"/>
          <p:cNvSpPr/>
          <p:nvPr/>
        </p:nvSpPr>
        <p:spPr>
          <a:xfrm>
            <a:off x="4206240" y="2514600"/>
            <a:ext cx="640080" cy="594360"/>
          </a:xfrm>
          <a:prstGeom prst="line">
            <a:avLst/>
          </a:prstGeom>
          <a:noFill/>
          <a:ln w="12700">
            <a:solidFill>
              <a:srgbClr val="5B666F"/>
            </a:solidFill>
          </a:ln>
        </p:spPr>
        <p:txBody>
          <a:bodyPr lIns="45720" tIns="27432" rIns="45720" bIns="27432" anchor="ctr">
            <a:normAutofit fontScale="25000" lnSpcReduction="20000"/>
          </a:bodyPr>
          <a:lstStyle/>
          <a:p>
            <a:endParaRPr lang="de-DE"/>
          </a:p>
        </p:txBody>
      </p:sp>
      <p:sp>
        <p:nvSpPr>
          <p:cNvPr id="11" name="L2"/>
          <p:cNvSpPr/>
          <p:nvPr/>
        </p:nvSpPr>
        <p:spPr>
          <a:xfrm flipV="1">
            <a:off x="6035040" y="2377440"/>
            <a:ext cx="640080" cy="731520"/>
          </a:xfrm>
          <a:prstGeom prst="line">
            <a:avLst/>
          </a:prstGeom>
          <a:noFill/>
          <a:ln w="12700">
            <a:solidFill>
              <a:srgbClr val="5B666F"/>
            </a:solidFill>
          </a:ln>
        </p:spPr>
        <p:txBody>
          <a:bodyPr lIns="45720" tIns="27432" rIns="45720" bIns="27432" anchor="ctr">
            <a:normAutofit fontScale="25000" lnSpcReduction="20000"/>
          </a:bodyPr>
          <a:lstStyle/>
          <a:p>
            <a:endParaRPr lang="de-DE"/>
          </a:p>
        </p:txBody>
      </p:sp>
      <p:sp>
        <p:nvSpPr>
          <p:cNvPr id="12" name="L3"/>
          <p:cNvSpPr/>
          <p:nvPr/>
        </p:nvSpPr>
        <p:spPr>
          <a:xfrm flipV="1">
            <a:off x="4206240" y="3657600"/>
            <a:ext cx="640080" cy="548640"/>
          </a:xfrm>
          <a:prstGeom prst="line">
            <a:avLst/>
          </a:prstGeom>
          <a:noFill/>
          <a:ln w="12700">
            <a:solidFill>
              <a:srgbClr val="5B666F"/>
            </a:solidFill>
          </a:ln>
        </p:spPr>
        <p:txBody>
          <a:bodyPr lIns="45720" tIns="27432" rIns="45720" bIns="27432" anchor="ctr">
            <a:normAutofit fontScale="25000" lnSpcReduction="20000"/>
          </a:bodyPr>
          <a:lstStyle/>
          <a:p>
            <a:endParaRPr lang="de-DE"/>
          </a:p>
        </p:txBody>
      </p:sp>
      <p:sp>
        <p:nvSpPr>
          <p:cNvPr id="13" name="L4"/>
          <p:cNvSpPr/>
          <p:nvPr/>
        </p:nvSpPr>
        <p:spPr>
          <a:xfrm>
            <a:off x="6035040" y="3657600"/>
            <a:ext cx="640080" cy="548640"/>
          </a:xfrm>
          <a:prstGeom prst="line">
            <a:avLst/>
          </a:prstGeom>
          <a:noFill/>
          <a:ln w="12700">
            <a:solidFill>
              <a:srgbClr val="5B666F"/>
            </a:solidFill>
          </a:ln>
        </p:spPr>
        <p:txBody>
          <a:bodyPr lIns="45720" tIns="27432" rIns="45720" bIns="27432" anchor="ctr">
            <a:normAutofit fontScale="25000" lnSpcReduction="20000"/>
          </a:bodyPr>
          <a:lstStyle/>
          <a:p>
            <a:endParaRPr lang="de-DE"/>
          </a:p>
        </p:txBody>
      </p:sp>
      <p:sp>
        <p:nvSpPr>
          <p:cNvPr id="14" name="Switch"/>
          <p:cNvSpPr/>
          <p:nvPr/>
        </p:nvSpPr>
        <p:spPr>
          <a:xfrm>
            <a:off x="4572000" y="3063240"/>
            <a:ext cx="1737360" cy="640080"/>
          </a:xfrm>
          <a:prstGeom prst="rect">
            <a:avLst/>
          </a:prstGeom>
          <a:solidFill>
            <a:srgbClr val="30343A"/>
          </a:solidFill>
          <a:ln>
            <a:noFill/>
          </a:ln>
        </p:spPr>
        <p:txBody>
          <a:bodyPr lIns="45720" tIns="27432" rIns="45720" bIns="27432" anchor="ctr">
            <a:normAutofit/>
          </a:bodyPr>
          <a:lstStyle/>
          <a:p>
            <a:pPr algn="ctr">
              <a:spcBef>
                <a:spcPts val="0"/>
              </a:spcBef>
            </a:pPr>
            <a:r>
              <a:rPr lang="de-DE" sz="1100" b="1" dirty="0">
                <a:solidFill>
                  <a:srgbClr val="FFFFFF"/>
                </a:solidFill>
                <a:latin typeface="+mn-lt"/>
              </a:rPr>
              <a:t>Industrial Switch</a:t>
            </a:r>
          </a:p>
          <a:p>
            <a:pPr algn="ctr">
              <a:spcBef>
                <a:spcPts val="200"/>
              </a:spcBef>
            </a:pPr>
            <a:r>
              <a:rPr lang="de-DE" sz="900" dirty="0">
                <a:solidFill>
                  <a:srgbClr val="FF6E00"/>
                </a:solidFill>
                <a:latin typeface="+mn-lt"/>
              </a:rPr>
              <a:t>192.168.0.91</a:t>
            </a:r>
          </a:p>
        </p:txBody>
      </p:sp>
      <p:sp>
        <p:nvSpPr>
          <p:cNvPr id="15" name="Node0"/>
          <p:cNvSpPr/>
          <p:nvPr/>
        </p:nvSpPr>
        <p:spPr>
          <a:xfrm>
            <a:off x="2286000" y="1828800"/>
            <a:ext cx="1920240" cy="731520"/>
          </a:xfrm>
          <a:prstGeom prst="rect">
            <a:avLst/>
          </a:prstGeom>
          <a:solidFill>
            <a:srgbClr val="F2F4F5"/>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SPS</a:t>
            </a:r>
          </a:p>
          <a:p>
            <a:pPr algn="ctr">
              <a:spcBef>
                <a:spcPts val="200"/>
              </a:spcBef>
            </a:pPr>
            <a:r>
              <a:rPr lang="de-DE" sz="900" dirty="0">
                <a:solidFill>
                  <a:srgbClr val="30343A"/>
                </a:solidFill>
                <a:latin typeface="+mn-lt"/>
              </a:rPr>
              <a:t>192.168.0.1</a:t>
            </a:r>
          </a:p>
          <a:p>
            <a:pPr algn="ctr">
              <a:spcBef>
                <a:spcPts val="100"/>
              </a:spcBef>
            </a:pPr>
            <a:r>
              <a:rPr lang="de-DE" sz="900" dirty="0">
                <a:solidFill>
                  <a:srgbClr val="5B666F"/>
                </a:solidFill>
                <a:latin typeface="+mn-lt"/>
              </a:rPr>
              <a:t>Safety-Steuerung</a:t>
            </a:r>
          </a:p>
        </p:txBody>
      </p:sp>
      <p:sp>
        <p:nvSpPr>
          <p:cNvPr id="16" name="Node1"/>
          <p:cNvSpPr/>
          <p:nvPr/>
        </p:nvSpPr>
        <p:spPr>
          <a:xfrm>
            <a:off x="6675120" y="1645920"/>
            <a:ext cx="2286000" cy="914400"/>
          </a:xfrm>
          <a:prstGeom prst="rect">
            <a:avLst/>
          </a:prstGeom>
          <a:solidFill>
            <a:srgbClr val="FF6E00"/>
          </a:solidFill>
          <a:ln>
            <a:noFill/>
          </a:ln>
        </p:spPr>
        <p:txBody>
          <a:bodyPr lIns="45720" tIns="27432" rIns="45720" bIns="27432" anchor="ctr">
            <a:normAutofit/>
          </a:bodyPr>
          <a:lstStyle/>
          <a:p>
            <a:pPr algn="ctr">
              <a:spcBef>
                <a:spcPts val="0"/>
              </a:spcBef>
            </a:pPr>
            <a:r>
              <a:rPr lang="de-DE" sz="1300" b="1" dirty="0">
                <a:solidFill>
                  <a:srgbClr val="30343A"/>
                </a:solidFill>
                <a:latin typeface="+mn-lt"/>
              </a:rPr>
              <a:t>SRIO</a:t>
            </a:r>
          </a:p>
          <a:p>
            <a:pPr algn="ctr">
              <a:spcBef>
                <a:spcPts val="200"/>
              </a:spcBef>
            </a:pPr>
            <a:r>
              <a:rPr lang="de-DE" sz="900" dirty="0">
                <a:solidFill>
                  <a:srgbClr val="30343A"/>
                </a:solidFill>
                <a:latin typeface="+mn-lt"/>
              </a:rPr>
              <a:t>192.168.0.2</a:t>
            </a:r>
          </a:p>
          <a:p>
            <a:pPr algn="ctr">
              <a:spcBef>
                <a:spcPts val="100"/>
              </a:spcBef>
            </a:pPr>
            <a:r>
              <a:rPr lang="de-DE" sz="900" dirty="0">
                <a:solidFill>
                  <a:srgbClr val="30343A"/>
                </a:solidFill>
                <a:latin typeface="+mn-lt"/>
              </a:rPr>
              <a:t>Prüfling</a:t>
            </a:r>
          </a:p>
        </p:txBody>
      </p:sp>
      <p:sp>
        <p:nvSpPr>
          <p:cNvPr id="17" name="Node2"/>
          <p:cNvSpPr/>
          <p:nvPr/>
        </p:nvSpPr>
        <p:spPr>
          <a:xfrm>
            <a:off x="2286000" y="4206240"/>
            <a:ext cx="1920240" cy="731520"/>
          </a:xfrm>
          <a:prstGeom prst="rect">
            <a:avLst/>
          </a:prstGeom>
          <a:solidFill>
            <a:srgbClr val="F2F4F5"/>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Kali Linux</a:t>
            </a:r>
          </a:p>
          <a:p>
            <a:pPr algn="ctr">
              <a:spcBef>
                <a:spcPts val="200"/>
              </a:spcBef>
            </a:pPr>
            <a:r>
              <a:rPr lang="de-DE" sz="900" dirty="0">
                <a:solidFill>
                  <a:srgbClr val="30343A"/>
                </a:solidFill>
                <a:latin typeface="+mn-lt"/>
              </a:rPr>
              <a:t>192.168.0.80</a:t>
            </a:r>
          </a:p>
          <a:p>
            <a:pPr algn="ctr">
              <a:spcBef>
                <a:spcPts val="100"/>
              </a:spcBef>
            </a:pPr>
            <a:r>
              <a:rPr lang="de-DE" sz="900" dirty="0">
                <a:solidFill>
                  <a:srgbClr val="5B666F"/>
                </a:solidFill>
                <a:latin typeface="+mn-lt"/>
              </a:rPr>
              <a:t>Testsystem</a:t>
            </a:r>
          </a:p>
        </p:txBody>
      </p:sp>
      <p:sp>
        <p:nvSpPr>
          <p:cNvPr id="18" name="Node3"/>
          <p:cNvSpPr/>
          <p:nvPr/>
        </p:nvSpPr>
        <p:spPr>
          <a:xfrm>
            <a:off x="6675120" y="4206240"/>
            <a:ext cx="2103120" cy="731520"/>
          </a:xfrm>
          <a:prstGeom prst="rect">
            <a:avLst/>
          </a:prstGeom>
          <a:solidFill>
            <a:srgbClr val="F2F4F5"/>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Firmenlaptop</a:t>
            </a:r>
          </a:p>
          <a:p>
            <a:pPr algn="ctr">
              <a:spcBef>
                <a:spcPts val="200"/>
              </a:spcBef>
            </a:pPr>
            <a:r>
              <a:rPr lang="de-DE" sz="900" dirty="0">
                <a:solidFill>
                  <a:srgbClr val="30343A"/>
                </a:solidFill>
                <a:latin typeface="+mn-lt"/>
              </a:rPr>
              <a:t>192.168.0.7</a:t>
            </a:r>
          </a:p>
          <a:p>
            <a:pPr algn="ctr">
              <a:spcBef>
                <a:spcPts val="100"/>
              </a:spcBef>
            </a:pPr>
            <a:r>
              <a:rPr lang="de-DE" sz="900" dirty="0">
                <a:solidFill>
                  <a:srgbClr val="5B666F"/>
                </a:solidFill>
                <a:latin typeface="+mn-lt"/>
              </a:rPr>
              <a:t>Engineering-Station</a:t>
            </a:r>
          </a:p>
        </p:txBody>
      </p:sp>
      <p:sp>
        <p:nvSpPr>
          <p:cNvPr id="19" name="PortTitel"/>
          <p:cNvSpPr txBox="1"/>
          <p:nvPr/>
        </p:nvSpPr>
        <p:spPr>
          <a:xfrm>
            <a:off x="9601200" y="1783080"/>
            <a:ext cx="2194560" cy="274320"/>
          </a:xfrm>
          <a:prstGeom prst="rect">
            <a:avLst/>
          </a:prstGeom>
          <a:noFill/>
        </p:spPr>
        <p:txBody>
          <a:bodyPr wrap="square" lIns="0" tIns="0" rIns="0" bIns="0" anchor="t">
            <a:normAutofit/>
          </a:bodyPr>
          <a:lstStyle/>
          <a:p>
            <a:pPr algn="l">
              <a:lnSpc>
                <a:spcPct val="100000"/>
              </a:lnSpc>
              <a:spcBef>
                <a:spcPts val="0"/>
              </a:spcBef>
            </a:pPr>
            <a:r>
              <a:rPr lang="de-DE" sz="1100" b="1" dirty="0">
                <a:solidFill>
                  <a:srgbClr val="5B666F"/>
                </a:solidFill>
                <a:latin typeface="+mn-lt"/>
              </a:rPr>
              <a:t>offene Ports</a:t>
            </a:r>
          </a:p>
        </p:txBody>
      </p:sp>
      <p:sp>
        <p:nvSpPr>
          <p:cNvPr id="20" name="Port0"/>
          <p:cNvSpPr/>
          <p:nvPr/>
        </p:nvSpPr>
        <p:spPr>
          <a:xfrm>
            <a:off x="9601200" y="2103120"/>
            <a:ext cx="219456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TCP/80 · HTTP</a:t>
            </a:r>
          </a:p>
        </p:txBody>
      </p:sp>
      <p:sp>
        <p:nvSpPr>
          <p:cNvPr id="21" name="Port1"/>
          <p:cNvSpPr/>
          <p:nvPr/>
        </p:nvSpPr>
        <p:spPr>
          <a:xfrm>
            <a:off x="9601200" y="2606040"/>
            <a:ext cx="2194560" cy="411480"/>
          </a:xfrm>
          <a:prstGeom prst="rect">
            <a:avLst/>
          </a:prstGeom>
          <a:solidFill>
            <a:srgbClr val="F2F4F5"/>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UDP/161 · SNMP</a:t>
            </a:r>
          </a:p>
        </p:txBody>
      </p:sp>
      <p:sp>
        <p:nvSpPr>
          <p:cNvPr id="22" name="Geschlossen"/>
          <p:cNvSpPr txBox="1"/>
          <p:nvPr/>
        </p:nvSpPr>
        <p:spPr>
          <a:xfrm>
            <a:off x="9601200" y="3154680"/>
            <a:ext cx="2194560" cy="27432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5B666F"/>
                </a:solidFill>
                <a:latin typeface="+mn-lt"/>
              </a:rPr>
              <a:t>alles andere geschlossen</a:t>
            </a:r>
          </a:p>
        </p:txBody>
      </p:sp>
      <p:sp>
        <p:nvSpPr>
          <p:cNvPr id="23" name="NVChip0"/>
          <p:cNvSpPr/>
          <p:nvPr/>
        </p:nvSpPr>
        <p:spPr>
          <a:xfrm>
            <a:off x="9601200" y="3566160"/>
            <a:ext cx="2194560" cy="365760"/>
          </a:xfrm>
          <a:prstGeom prst="rect">
            <a:avLst/>
          </a:prstGeom>
          <a:solidFill>
            <a:srgbClr val="F2F4F5"/>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NV1  ✓</a:t>
            </a:r>
          </a:p>
        </p:txBody>
      </p:sp>
      <p:sp>
        <p:nvSpPr>
          <p:cNvPr id="24" name="NVChip1"/>
          <p:cNvSpPr/>
          <p:nvPr/>
        </p:nvSpPr>
        <p:spPr>
          <a:xfrm>
            <a:off x="9601200" y="4023360"/>
            <a:ext cx="2194560" cy="365760"/>
          </a:xfrm>
          <a:prstGeom prst="rect">
            <a:avLst/>
          </a:prstGeom>
          <a:solidFill>
            <a:srgbClr val="F2F4F5"/>
          </a:solidFill>
          <a:ln>
            <a:noFill/>
          </a:ln>
        </p:spPr>
        <p:txBody>
          <a:bodyPr lIns="45720" tIns="27432" rIns="45720" bIns="27432" anchor="ctr">
            <a:normAutofit/>
          </a:bodyPr>
          <a:lstStyle/>
          <a:p>
            <a:pPr algn="ctr">
              <a:spcBef>
                <a:spcPts val="0"/>
              </a:spcBef>
            </a:pPr>
            <a:r>
              <a:rPr lang="de-DE" sz="1100" b="1" dirty="0">
                <a:solidFill>
                  <a:srgbClr val="5B666F"/>
                </a:solidFill>
                <a:latin typeface="+mn-lt"/>
              </a:rPr>
              <a:t>NV2  ✕</a:t>
            </a:r>
          </a:p>
        </p:txBody>
      </p:sp>
      <p:sp>
        <p:nvSpPr>
          <p:cNvPr id="25" name="NVChip2"/>
          <p:cNvSpPr/>
          <p:nvPr/>
        </p:nvSpPr>
        <p:spPr>
          <a:xfrm>
            <a:off x="9601200" y="4480560"/>
            <a:ext cx="2194560" cy="365760"/>
          </a:xfrm>
          <a:prstGeom prst="rect">
            <a:avLst/>
          </a:prstGeom>
          <a:solidFill>
            <a:srgbClr val="F2F4F5"/>
          </a:solidFill>
          <a:ln>
            <a:noFill/>
          </a:ln>
        </p:spPr>
        <p:txBody>
          <a:bodyPr lIns="45720" tIns="27432" rIns="45720" bIns="27432" anchor="ctr">
            <a:normAutofit/>
          </a:bodyPr>
          <a:lstStyle/>
          <a:p>
            <a:pPr algn="ctr">
              <a:spcBef>
                <a:spcPts val="0"/>
              </a:spcBef>
            </a:pPr>
            <a:r>
              <a:rPr lang="de-DE" sz="1100" b="1" dirty="0">
                <a:solidFill>
                  <a:srgbClr val="5B666F"/>
                </a:solidFill>
                <a:latin typeface="+mn-lt"/>
              </a:rPr>
              <a:t>NV3  ✕</a:t>
            </a:r>
          </a:p>
        </p:txBody>
      </p:sp>
      <p:sp>
        <p:nvSpPr>
          <p:cNvPr id="26" name="NVFuss"/>
          <p:cNvSpPr txBox="1"/>
          <p:nvPr/>
        </p:nvSpPr>
        <p:spPr>
          <a:xfrm>
            <a:off x="9601200" y="4983480"/>
            <a:ext cx="2194560" cy="36576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5B666F"/>
                </a:solidFill>
                <a:latin typeface="+mn-lt"/>
              </a:rPr>
              <a:t>kein Mirror-Port · keine Zeit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04 · ERGEBNISSE</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10 Werkzeuge, 4 Ergebnisse</a:t>
            </a:r>
          </a:p>
        </p:txBody>
      </p:sp>
      <p:sp>
        <p:nvSpPr>
          <p:cNvPr id="4"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Alle drei vor der Ausführung erkannt.</a:t>
            </a:r>
          </a:p>
        </p:txBody>
      </p:sp>
      <p:sp>
        <p:nvSpPr>
          <p:cNvPr id="10" name="KPI0"/>
          <p:cNvSpPr txBox="1"/>
          <p:nvPr/>
        </p:nvSpPr>
        <p:spPr>
          <a:xfrm>
            <a:off x="822960" y="1783080"/>
            <a:ext cx="2560320" cy="1097280"/>
          </a:xfrm>
          <a:prstGeom prst="rect">
            <a:avLst/>
          </a:prstGeom>
          <a:noFill/>
        </p:spPr>
        <p:txBody>
          <a:bodyPr wrap="square" lIns="0" tIns="0" rIns="0" bIns="0" anchor="t">
            <a:normAutofit/>
          </a:bodyPr>
          <a:lstStyle/>
          <a:p>
            <a:pPr algn="ctr">
              <a:lnSpc>
                <a:spcPct val="100000"/>
              </a:lnSpc>
              <a:spcBef>
                <a:spcPts val="0"/>
              </a:spcBef>
            </a:pPr>
            <a:r>
              <a:rPr lang="de-DE" sz="5400" b="1" dirty="0">
                <a:solidFill>
                  <a:srgbClr val="FF6E00"/>
                </a:solidFill>
                <a:latin typeface="+mn-lt"/>
              </a:rPr>
              <a:t>4</a:t>
            </a:r>
          </a:p>
        </p:txBody>
      </p:sp>
      <p:sp>
        <p:nvSpPr>
          <p:cNvPr id="11" name="KPILabel0"/>
          <p:cNvSpPr txBox="1"/>
          <p:nvPr/>
        </p:nvSpPr>
        <p:spPr>
          <a:xfrm>
            <a:off x="822960" y="2880360"/>
            <a:ext cx="2560320" cy="320040"/>
          </a:xfrm>
          <a:prstGeom prst="rect">
            <a:avLst/>
          </a:prstGeom>
          <a:noFill/>
        </p:spPr>
        <p:txBody>
          <a:bodyPr wrap="square" lIns="0" tIns="0" rIns="0" bIns="0" anchor="t">
            <a:normAutofit/>
          </a:bodyPr>
          <a:lstStyle/>
          <a:p>
            <a:pPr algn="ctr">
              <a:lnSpc>
                <a:spcPct val="100000"/>
              </a:lnSpc>
              <a:spcBef>
                <a:spcPts val="0"/>
              </a:spcBef>
            </a:pPr>
            <a:r>
              <a:rPr lang="de-DE" sz="1200" dirty="0">
                <a:solidFill>
                  <a:srgbClr val="5B666F"/>
                </a:solidFill>
                <a:latin typeface="+mn-lt"/>
              </a:rPr>
              <a:t>anwendbar</a:t>
            </a:r>
          </a:p>
        </p:txBody>
      </p:sp>
      <p:sp>
        <p:nvSpPr>
          <p:cNvPr id="12" name="KPI1"/>
          <p:cNvSpPr txBox="1"/>
          <p:nvPr/>
        </p:nvSpPr>
        <p:spPr>
          <a:xfrm>
            <a:off x="3520440" y="1783080"/>
            <a:ext cx="2560320" cy="1097280"/>
          </a:xfrm>
          <a:prstGeom prst="rect">
            <a:avLst/>
          </a:prstGeom>
          <a:noFill/>
        </p:spPr>
        <p:txBody>
          <a:bodyPr wrap="square" lIns="0" tIns="0" rIns="0" bIns="0" anchor="t">
            <a:normAutofit/>
          </a:bodyPr>
          <a:lstStyle/>
          <a:p>
            <a:pPr algn="ctr">
              <a:lnSpc>
                <a:spcPct val="100000"/>
              </a:lnSpc>
              <a:spcBef>
                <a:spcPts val="0"/>
              </a:spcBef>
            </a:pPr>
            <a:r>
              <a:rPr lang="de-DE" sz="5400" b="1" dirty="0">
                <a:solidFill>
                  <a:srgbClr val="30343A"/>
                </a:solidFill>
                <a:latin typeface="+mn-lt"/>
              </a:rPr>
              <a:t>2</a:t>
            </a:r>
          </a:p>
        </p:txBody>
      </p:sp>
      <p:sp>
        <p:nvSpPr>
          <p:cNvPr id="13" name="KPILabel1"/>
          <p:cNvSpPr txBox="1"/>
          <p:nvPr/>
        </p:nvSpPr>
        <p:spPr>
          <a:xfrm>
            <a:off x="3520440" y="2880360"/>
            <a:ext cx="2560320" cy="320040"/>
          </a:xfrm>
          <a:prstGeom prst="rect">
            <a:avLst/>
          </a:prstGeom>
          <a:noFill/>
        </p:spPr>
        <p:txBody>
          <a:bodyPr wrap="square" lIns="0" tIns="0" rIns="0" bIns="0" anchor="t">
            <a:normAutofit/>
          </a:bodyPr>
          <a:lstStyle/>
          <a:p>
            <a:pPr algn="ctr">
              <a:lnSpc>
                <a:spcPct val="100000"/>
              </a:lnSpc>
              <a:spcBef>
                <a:spcPts val="0"/>
              </a:spcBef>
            </a:pPr>
            <a:r>
              <a:rPr lang="de-DE" sz="1200" dirty="0">
                <a:solidFill>
                  <a:srgbClr val="5B666F"/>
                </a:solidFill>
                <a:latin typeface="+mn-lt"/>
              </a:rPr>
              <a:t>mit Anpassung</a:t>
            </a:r>
          </a:p>
        </p:txBody>
      </p:sp>
      <p:sp>
        <p:nvSpPr>
          <p:cNvPr id="14" name="KPI2"/>
          <p:cNvSpPr txBox="1"/>
          <p:nvPr/>
        </p:nvSpPr>
        <p:spPr>
          <a:xfrm>
            <a:off x="6217920" y="1783080"/>
            <a:ext cx="2560320" cy="1097280"/>
          </a:xfrm>
          <a:prstGeom prst="rect">
            <a:avLst/>
          </a:prstGeom>
          <a:noFill/>
        </p:spPr>
        <p:txBody>
          <a:bodyPr wrap="square" lIns="0" tIns="0" rIns="0" bIns="0" anchor="t">
            <a:normAutofit/>
          </a:bodyPr>
          <a:lstStyle/>
          <a:p>
            <a:pPr algn="ctr">
              <a:lnSpc>
                <a:spcPct val="100000"/>
              </a:lnSpc>
              <a:spcBef>
                <a:spcPts val="0"/>
              </a:spcBef>
            </a:pPr>
            <a:r>
              <a:rPr lang="de-DE" sz="5400" b="1" dirty="0">
                <a:solidFill>
                  <a:srgbClr val="30343A"/>
                </a:solidFill>
                <a:latin typeface="+mn-lt"/>
              </a:rPr>
              <a:t>3</a:t>
            </a:r>
          </a:p>
        </p:txBody>
      </p:sp>
      <p:sp>
        <p:nvSpPr>
          <p:cNvPr id="15" name="KPILabel2"/>
          <p:cNvSpPr txBox="1"/>
          <p:nvPr/>
        </p:nvSpPr>
        <p:spPr>
          <a:xfrm>
            <a:off x="6217920" y="2880360"/>
            <a:ext cx="2560320" cy="320040"/>
          </a:xfrm>
          <a:prstGeom prst="rect">
            <a:avLst/>
          </a:prstGeom>
          <a:noFill/>
        </p:spPr>
        <p:txBody>
          <a:bodyPr wrap="square" lIns="0" tIns="0" rIns="0" bIns="0" anchor="t">
            <a:normAutofit/>
          </a:bodyPr>
          <a:lstStyle/>
          <a:p>
            <a:pPr algn="ctr">
              <a:lnSpc>
                <a:spcPct val="100000"/>
              </a:lnSpc>
              <a:spcBef>
                <a:spcPts val="0"/>
              </a:spcBef>
            </a:pPr>
            <a:r>
              <a:rPr lang="de-DE" sz="1200" dirty="0">
                <a:solidFill>
                  <a:srgbClr val="5B666F"/>
                </a:solidFill>
                <a:latin typeface="+mn-lt"/>
              </a:rPr>
              <a:t>nicht anwendbar</a:t>
            </a:r>
          </a:p>
        </p:txBody>
      </p:sp>
      <p:sp>
        <p:nvSpPr>
          <p:cNvPr id="16" name="KPI3"/>
          <p:cNvSpPr txBox="1"/>
          <p:nvPr/>
        </p:nvSpPr>
        <p:spPr>
          <a:xfrm>
            <a:off x="8915400" y="1783080"/>
            <a:ext cx="2560320" cy="1097280"/>
          </a:xfrm>
          <a:prstGeom prst="rect">
            <a:avLst/>
          </a:prstGeom>
          <a:noFill/>
        </p:spPr>
        <p:txBody>
          <a:bodyPr wrap="square" lIns="0" tIns="0" rIns="0" bIns="0" anchor="t">
            <a:normAutofit/>
          </a:bodyPr>
          <a:lstStyle/>
          <a:p>
            <a:pPr algn="ctr">
              <a:lnSpc>
                <a:spcPct val="100000"/>
              </a:lnSpc>
              <a:spcBef>
                <a:spcPts val="0"/>
              </a:spcBef>
            </a:pPr>
            <a:r>
              <a:rPr lang="de-DE" sz="5400" b="1" dirty="0">
                <a:solidFill>
                  <a:srgbClr val="30343A"/>
                </a:solidFill>
                <a:latin typeface="+mn-lt"/>
              </a:rPr>
              <a:t>1</a:t>
            </a:r>
          </a:p>
        </p:txBody>
      </p:sp>
      <p:sp>
        <p:nvSpPr>
          <p:cNvPr id="17" name="KPILabel3"/>
          <p:cNvSpPr txBox="1"/>
          <p:nvPr/>
        </p:nvSpPr>
        <p:spPr>
          <a:xfrm>
            <a:off x="8915400" y="2880360"/>
            <a:ext cx="2560320" cy="320040"/>
          </a:xfrm>
          <a:prstGeom prst="rect">
            <a:avLst/>
          </a:prstGeom>
          <a:noFill/>
        </p:spPr>
        <p:txBody>
          <a:bodyPr wrap="square" lIns="0" tIns="0" rIns="0" bIns="0" anchor="t">
            <a:normAutofit/>
          </a:bodyPr>
          <a:lstStyle/>
          <a:p>
            <a:pPr algn="ctr">
              <a:lnSpc>
                <a:spcPct val="100000"/>
              </a:lnSpc>
              <a:spcBef>
                <a:spcPts val="0"/>
              </a:spcBef>
            </a:pPr>
            <a:r>
              <a:rPr lang="de-DE" sz="1200" dirty="0">
                <a:solidFill>
                  <a:srgbClr val="5B666F"/>
                </a:solidFill>
                <a:latin typeface="+mn-lt"/>
              </a:rPr>
              <a:t>blockiert</a:t>
            </a:r>
          </a:p>
        </p:txBody>
      </p:sp>
      <p:sp>
        <p:nvSpPr>
          <p:cNvPr id="18" name="Karte0"/>
          <p:cNvSpPr/>
          <p:nvPr/>
        </p:nvSpPr>
        <p:spPr>
          <a:xfrm>
            <a:off x="1188720" y="3840480"/>
            <a:ext cx="3017520" cy="1188720"/>
          </a:xfrm>
          <a:prstGeom prst="rect">
            <a:avLst/>
          </a:prstGeom>
          <a:solidFill>
            <a:srgbClr val="F2F4F5"/>
          </a:solidFill>
          <a:ln>
            <a:noFill/>
          </a:ln>
        </p:spPr>
        <p:txBody>
          <a:bodyPr lIns="45720" tIns="27432" rIns="45720" bIns="27432" anchor="ctr">
            <a:normAutofit/>
          </a:bodyPr>
          <a:lstStyle/>
          <a:p>
            <a:endParaRPr lang="de-DE"/>
          </a:p>
        </p:txBody>
      </p:sp>
      <p:sp>
        <p:nvSpPr>
          <p:cNvPr id="19" name="KarteText0"/>
          <p:cNvSpPr txBox="1"/>
          <p:nvPr/>
        </p:nvSpPr>
        <p:spPr>
          <a:xfrm>
            <a:off x="1417320" y="4069080"/>
            <a:ext cx="2560320" cy="82296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Hydra</a:t>
            </a:r>
          </a:p>
          <a:p>
            <a:pPr algn="l">
              <a:lnSpc>
                <a:spcPct val="100000"/>
              </a:lnSpc>
              <a:spcBef>
                <a:spcPts val="800"/>
              </a:spcBef>
            </a:pPr>
            <a:r>
              <a:rPr lang="de-DE" sz="1100" b="1" dirty="0">
                <a:solidFill>
                  <a:srgbClr val="FF6E00"/>
                </a:solidFill>
                <a:latin typeface="+mn-lt"/>
              </a:rPr>
              <a:t>✕  kein Login-Endpunkt</a:t>
            </a:r>
          </a:p>
        </p:txBody>
      </p:sp>
      <p:sp>
        <p:nvSpPr>
          <p:cNvPr id="20" name="Karte1"/>
          <p:cNvSpPr/>
          <p:nvPr/>
        </p:nvSpPr>
        <p:spPr>
          <a:xfrm>
            <a:off x="4617720" y="3840480"/>
            <a:ext cx="3017520" cy="1188720"/>
          </a:xfrm>
          <a:prstGeom prst="rect">
            <a:avLst/>
          </a:prstGeom>
          <a:solidFill>
            <a:srgbClr val="F2F4F5"/>
          </a:solidFill>
          <a:ln>
            <a:noFill/>
          </a:ln>
        </p:spPr>
        <p:txBody>
          <a:bodyPr lIns="45720" tIns="27432" rIns="45720" bIns="27432" anchor="ctr">
            <a:normAutofit/>
          </a:bodyPr>
          <a:lstStyle/>
          <a:p>
            <a:endParaRPr lang="de-DE"/>
          </a:p>
        </p:txBody>
      </p:sp>
      <p:sp>
        <p:nvSpPr>
          <p:cNvPr id="21" name="KarteText1"/>
          <p:cNvSpPr txBox="1"/>
          <p:nvPr/>
        </p:nvSpPr>
        <p:spPr>
          <a:xfrm>
            <a:off x="4846320" y="4069080"/>
            <a:ext cx="2560320" cy="82296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Lynis</a:t>
            </a:r>
          </a:p>
          <a:p>
            <a:pPr algn="l">
              <a:lnSpc>
                <a:spcPct val="100000"/>
              </a:lnSpc>
              <a:spcBef>
                <a:spcPts val="800"/>
              </a:spcBef>
            </a:pPr>
            <a:r>
              <a:rPr lang="de-DE" sz="1100" b="1" dirty="0">
                <a:solidFill>
                  <a:srgbClr val="FF6E00"/>
                </a:solidFill>
                <a:latin typeface="+mn-lt"/>
              </a:rPr>
              <a:t>✕  keine OS-Shell</a:t>
            </a:r>
          </a:p>
        </p:txBody>
      </p:sp>
      <p:sp>
        <p:nvSpPr>
          <p:cNvPr id="22" name="Karte2"/>
          <p:cNvSpPr/>
          <p:nvPr/>
        </p:nvSpPr>
        <p:spPr>
          <a:xfrm>
            <a:off x="8046720" y="3840480"/>
            <a:ext cx="3017520" cy="1188720"/>
          </a:xfrm>
          <a:prstGeom prst="rect">
            <a:avLst/>
          </a:prstGeom>
          <a:solidFill>
            <a:srgbClr val="F2F4F5"/>
          </a:solidFill>
          <a:ln>
            <a:noFill/>
          </a:ln>
        </p:spPr>
        <p:txBody>
          <a:bodyPr lIns="45720" tIns="27432" rIns="45720" bIns="27432" anchor="ctr">
            <a:normAutofit/>
          </a:bodyPr>
          <a:lstStyle/>
          <a:p>
            <a:endParaRPr lang="de-DE"/>
          </a:p>
        </p:txBody>
      </p:sp>
      <p:sp>
        <p:nvSpPr>
          <p:cNvPr id="23" name="KarteText2"/>
          <p:cNvSpPr txBox="1"/>
          <p:nvPr/>
        </p:nvSpPr>
        <p:spPr>
          <a:xfrm>
            <a:off x="8275320" y="4069080"/>
            <a:ext cx="2560320" cy="82296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Zonen-Scan</a:t>
            </a:r>
          </a:p>
          <a:p>
            <a:pPr algn="l">
              <a:lnSpc>
                <a:spcPct val="100000"/>
              </a:lnSpc>
              <a:spcBef>
                <a:spcPts val="800"/>
              </a:spcBef>
            </a:pPr>
            <a:r>
              <a:rPr lang="de-DE" sz="1100" b="1" dirty="0">
                <a:solidFill>
                  <a:srgbClr val="FF6E00"/>
                </a:solidFill>
                <a:latin typeface="+mn-lt"/>
              </a:rPr>
              <a:t>✕  keine zweite Zone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04 · ERGEBNISSE</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Der Kaltstart löscht die Spur</a:t>
            </a:r>
          </a:p>
        </p:txBody>
      </p:sp>
      <p:sp>
        <p:nvSpPr>
          <p:cNvPr id="4"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Das einzige verfügbare Ersatzartefakt überlebt keinen Kaltstart.</a:t>
            </a:r>
          </a:p>
        </p:txBody>
      </p:sp>
      <p:sp>
        <p:nvSpPr>
          <p:cNvPr id="10" name="Card0"/>
          <p:cNvSpPr/>
          <p:nvPr/>
        </p:nvSpPr>
        <p:spPr>
          <a:xfrm>
            <a:off x="822960" y="1783080"/>
            <a:ext cx="2011680" cy="1371600"/>
          </a:xfrm>
          <a:prstGeom prst="rect">
            <a:avLst/>
          </a:prstGeom>
          <a:solidFill>
            <a:srgbClr val="F2F4F5"/>
          </a:solidFill>
          <a:ln>
            <a:noFill/>
          </a:ln>
        </p:spPr>
        <p:txBody>
          <a:bodyPr lIns="45720" tIns="27432" rIns="45720" bIns="27432" anchor="ctr">
            <a:normAutofit/>
          </a:bodyPr>
          <a:lstStyle/>
          <a:p>
            <a:endParaRPr lang="de-DE"/>
          </a:p>
        </p:txBody>
      </p:sp>
      <p:sp>
        <p:nvSpPr>
          <p:cNvPr id="11" name="CardText0"/>
          <p:cNvSpPr txBox="1"/>
          <p:nvPr/>
        </p:nvSpPr>
        <p:spPr>
          <a:xfrm>
            <a:off x="960120" y="2011680"/>
            <a:ext cx="1737360" cy="1005840"/>
          </a:xfrm>
          <a:prstGeom prst="rect">
            <a:avLst/>
          </a:prstGeom>
          <a:noFill/>
        </p:spPr>
        <p:txBody>
          <a:bodyPr wrap="square" lIns="0" tIns="0" rIns="0" bIns="0" anchor="t">
            <a:normAutofit/>
          </a:bodyPr>
          <a:lstStyle/>
          <a:p>
            <a:pPr algn="ctr">
              <a:lnSpc>
                <a:spcPct val="100000"/>
              </a:lnSpc>
              <a:spcBef>
                <a:spcPts val="0"/>
              </a:spcBef>
            </a:pPr>
            <a:r>
              <a:rPr lang="de-DE" sz="1200" b="1" dirty="0">
                <a:solidFill>
                  <a:srgbClr val="30343A"/>
                </a:solidFill>
                <a:latin typeface="+mn-lt"/>
              </a:rPr>
              <a:t>Baseline</a:t>
            </a:r>
          </a:p>
          <a:p>
            <a:pPr algn="ctr">
              <a:lnSpc>
                <a:spcPct val="100000"/>
              </a:lnSpc>
              <a:spcBef>
                <a:spcPts val="800"/>
              </a:spcBef>
            </a:pPr>
            <a:r>
              <a:rPr lang="de-DE" sz="1100" dirty="0">
                <a:solidFill>
                  <a:srgbClr val="5B666F"/>
                </a:solidFill>
                <a:latin typeface="+mn-lt"/>
              </a:rPr>
              <a:t>Tick 20969</a:t>
            </a:r>
          </a:p>
          <a:p>
            <a:pPr algn="ctr">
              <a:lnSpc>
                <a:spcPct val="100000"/>
              </a:lnSpc>
              <a:spcBef>
                <a:spcPts val="400"/>
              </a:spcBef>
            </a:pPr>
            <a:r>
              <a:rPr lang="de-DE" sz="1100" b="1" dirty="0">
                <a:solidFill>
                  <a:srgbClr val="30343A"/>
                </a:solidFill>
                <a:latin typeface="+mn-lt"/>
              </a:rPr>
              <a:t>0 Einträge</a:t>
            </a:r>
          </a:p>
        </p:txBody>
      </p:sp>
      <p:sp>
        <p:nvSpPr>
          <p:cNvPr id="12" name="Card1"/>
          <p:cNvSpPr/>
          <p:nvPr/>
        </p:nvSpPr>
        <p:spPr>
          <a:xfrm>
            <a:off x="2926080" y="1783080"/>
            <a:ext cx="2011680" cy="1371600"/>
          </a:xfrm>
          <a:prstGeom prst="rect">
            <a:avLst/>
          </a:prstGeom>
          <a:solidFill>
            <a:srgbClr val="F2F4F5"/>
          </a:solidFill>
          <a:ln>
            <a:noFill/>
          </a:ln>
        </p:spPr>
        <p:txBody>
          <a:bodyPr lIns="45720" tIns="27432" rIns="45720" bIns="27432" anchor="ctr">
            <a:normAutofit/>
          </a:bodyPr>
          <a:lstStyle/>
          <a:p>
            <a:endParaRPr lang="de-DE"/>
          </a:p>
        </p:txBody>
      </p:sp>
      <p:sp>
        <p:nvSpPr>
          <p:cNvPr id="13" name="CardText1"/>
          <p:cNvSpPr txBox="1"/>
          <p:nvPr/>
        </p:nvSpPr>
        <p:spPr>
          <a:xfrm>
            <a:off x="3063240" y="2011680"/>
            <a:ext cx="1737360" cy="1005840"/>
          </a:xfrm>
          <a:prstGeom prst="rect">
            <a:avLst/>
          </a:prstGeom>
          <a:noFill/>
        </p:spPr>
        <p:txBody>
          <a:bodyPr wrap="square" lIns="0" tIns="0" rIns="0" bIns="0" anchor="t">
            <a:normAutofit/>
          </a:bodyPr>
          <a:lstStyle/>
          <a:p>
            <a:pPr algn="ctr">
              <a:lnSpc>
                <a:spcPct val="100000"/>
              </a:lnSpc>
              <a:spcBef>
                <a:spcPts val="0"/>
              </a:spcBef>
            </a:pPr>
            <a:r>
              <a:rPr lang="de-DE" sz="1200" b="1" dirty="0">
                <a:solidFill>
                  <a:srgbClr val="30343A"/>
                </a:solidFill>
                <a:latin typeface="+mn-lt"/>
              </a:rPr>
              <a:t>Nach Ereignis 1</a:t>
            </a:r>
          </a:p>
          <a:p>
            <a:pPr algn="ctr">
              <a:lnSpc>
                <a:spcPct val="100000"/>
              </a:lnSpc>
              <a:spcBef>
                <a:spcPts val="800"/>
              </a:spcBef>
            </a:pPr>
            <a:r>
              <a:rPr lang="de-DE" sz="1100" dirty="0">
                <a:solidFill>
                  <a:srgbClr val="5B666F"/>
                </a:solidFill>
                <a:latin typeface="+mn-lt"/>
              </a:rPr>
              <a:t>Tick 68629</a:t>
            </a:r>
          </a:p>
          <a:p>
            <a:pPr algn="ctr">
              <a:lnSpc>
                <a:spcPct val="100000"/>
              </a:lnSpc>
              <a:spcBef>
                <a:spcPts val="400"/>
              </a:spcBef>
            </a:pPr>
            <a:r>
              <a:rPr lang="de-DE" sz="1100" b="1" dirty="0">
                <a:solidFill>
                  <a:srgbClr val="30343A"/>
                </a:solidFill>
                <a:latin typeface="+mn-lt"/>
              </a:rPr>
              <a:t>2 Einträge</a:t>
            </a:r>
          </a:p>
        </p:txBody>
      </p:sp>
      <p:sp>
        <p:nvSpPr>
          <p:cNvPr id="14" name="Card2"/>
          <p:cNvSpPr/>
          <p:nvPr/>
        </p:nvSpPr>
        <p:spPr>
          <a:xfrm>
            <a:off x="5029200" y="1783080"/>
            <a:ext cx="2011680" cy="1371600"/>
          </a:xfrm>
          <a:prstGeom prst="rect">
            <a:avLst/>
          </a:prstGeom>
          <a:solidFill>
            <a:srgbClr val="F2F4F5"/>
          </a:solidFill>
          <a:ln w="28575">
            <a:solidFill>
              <a:srgbClr val="C62828"/>
            </a:solidFill>
          </a:ln>
        </p:spPr>
        <p:txBody>
          <a:bodyPr lIns="45720" tIns="27432" rIns="45720" bIns="27432" anchor="ctr">
            <a:normAutofit/>
          </a:bodyPr>
          <a:lstStyle/>
          <a:p>
            <a:endParaRPr lang="de-DE"/>
          </a:p>
        </p:txBody>
      </p:sp>
      <p:sp>
        <p:nvSpPr>
          <p:cNvPr id="15" name="CardText2"/>
          <p:cNvSpPr txBox="1"/>
          <p:nvPr/>
        </p:nvSpPr>
        <p:spPr>
          <a:xfrm>
            <a:off x="5166360" y="2011680"/>
            <a:ext cx="1737360" cy="1005840"/>
          </a:xfrm>
          <a:prstGeom prst="rect">
            <a:avLst/>
          </a:prstGeom>
          <a:noFill/>
        </p:spPr>
        <p:txBody>
          <a:bodyPr wrap="square" lIns="0" tIns="0" rIns="0" bIns="0" anchor="t">
            <a:normAutofit/>
          </a:bodyPr>
          <a:lstStyle/>
          <a:p>
            <a:pPr algn="ctr">
              <a:lnSpc>
                <a:spcPct val="100000"/>
              </a:lnSpc>
              <a:spcBef>
                <a:spcPts val="0"/>
              </a:spcBef>
            </a:pPr>
            <a:r>
              <a:rPr lang="de-DE" sz="1200" b="1" dirty="0">
                <a:solidFill>
                  <a:srgbClr val="C62828"/>
                </a:solidFill>
                <a:latin typeface="+mn-lt"/>
              </a:rPr>
              <a:t>Nach Kaltstart</a:t>
            </a:r>
          </a:p>
          <a:p>
            <a:pPr algn="ctr">
              <a:lnSpc>
                <a:spcPct val="100000"/>
              </a:lnSpc>
              <a:spcBef>
                <a:spcPts val="800"/>
              </a:spcBef>
            </a:pPr>
            <a:r>
              <a:rPr lang="de-DE" sz="1100" dirty="0">
                <a:solidFill>
                  <a:srgbClr val="5B666F"/>
                </a:solidFill>
                <a:latin typeface="+mn-lt"/>
              </a:rPr>
              <a:t>Tick 20459</a:t>
            </a:r>
          </a:p>
          <a:p>
            <a:pPr algn="ctr">
              <a:lnSpc>
                <a:spcPct val="100000"/>
              </a:lnSpc>
              <a:spcBef>
                <a:spcPts val="400"/>
              </a:spcBef>
            </a:pPr>
            <a:r>
              <a:rPr lang="de-DE" sz="1100" b="1" dirty="0">
                <a:solidFill>
                  <a:srgbClr val="30343A"/>
                </a:solidFill>
                <a:latin typeface="+mn-lt"/>
              </a:rPr>
              <a:t>0 Einträge</a:t>
            </a:r>
          </a:p>
        </p:txBody>
      </p:sp>
      <p:sp>
        <p:nvSpPr>
          <p:cNvPr id="16" name="Rueck"/>
          <p:cNvSpPr/>
          <p:nvPr/>
        </p:nvSpPr>
        <p:spPr>
          <a:xfrm>
            <a:off x="5029200" y="3337560"/>
            <a:ext cx="2194560" cy="274320"/>
          </a:xfrm>
          <a:prstGeom prst="leftArrow">
            <a:avLst/>
          </a:prstGeom>
          <a:solidFill>
            <a:srgbClr val="C62828"/>
          </a:solidFill>
          <a:ln>
            <a:noFill/>
          </a:ln>
        </p:spPr>
        <p:txBody>
          <a:bodyPr lIns="45720" tIns="27432" rIns="45720" bIns="27432" anchor="ctr">
            <a:normAutofit fontScale="32500" lnSpcReduction="20000"/>
          </a:bodyPr>
          <a:lstStyle/>
          <a:p>
            <a:endParaRPr lang="de-DE"/>
          </a:p>
        </p:txBody>
      </p:sp>
      <p:sp>
        <p:nvSpPr>
          <p:cNvPr id="17" name="RueckLabel"/>
          <p:cNvSpPr txBox="1"/>
          <p:nvPr/>
        </p:nvSpPr>
        <p:spPr>
          <a:xfrm>
            <a:off x="5029200" y="3657600"/>
            <a:ext cx="2194560" cy="274320"/>
          </a:xfrm>
          <a:prstGeom prst="rect">
            <a:avLst/>
          </a:prstGeom>
          <a:noFill/>
        </p:spPr>
        <p:txBody>
          <a:bodyPr wrap="square" lIns="0" tIns="0" rIns="0" bIns="0" anchor="t">
            <a:normAutofit/>
          </a:bodyPr>
          <a:lstStyle/>
          <a:p>
            <a:pPr algn="ctr">
              <a:lnSpc>
                <a:spcPct val="100000"/>
              </a:lnSpc>
              <a:spcBef>
                <a:spcPts val="0"/>
              </a:spcBef>
            </a:pPr>
            <a:r>
              <a:rPr lang="de-DE" sz="1000" b="1" dirty="0">
                <a:solidFill>
                  <a:srgbClr val="C62828"/>
                </a:solidFill>
                <a:latin typeface="+mn-lt"/>
              </a:rPr>
              <a:t>Tick-Rücksprung</a:t>
            </a:r>
          </a:p>
        </p:txBody>
      </p:sp>
      <p:sp>
        <p:nvSpPr>
          <p:cNvPr id="18" name="Card3"/>
          <p:cNvSpPr/>
          <p:nvPr/>
        </p:nvSpPr>
        <p:spPr>
          <a:xfrm>
            <a:off x="7132320" y="1783080"/>
            <a:ext cx="2011680" cy="1371600"/>
          </a:xfrm>
          <a:prstGeom prst="rect">
            <a:avLst/>
          </a:prstGeom>
          <a:solidFill>
            <a:srgbClr val="F2F4F5"/>
          </a:solidFill>
          <a:ln>
            <a:noFill/>
          </a:ln>
        </p:spPr>
        <p:txBody>
          <a:bodyPr lIns="45720" tIns="27432" rIns="45720" bIns="27432" anchor="ctr">
            <a:normAutofit/>
          </a:bodyPr>
          <a:lstStyle/>
          <a:p>
            <a:endParaRPr lang="de-DE"/>
          </a:p>
        </p:txBody>
      </p:sp>
      <p:sp>
        <p:nvSpPr>
          <p:cNvPr id="19" name="CardText3"/>
          <p:cNvSpPr txBox="1"/>
          <p:nvPr/>
        </p:nvSpPr>
        <p:spPr>
          <a:xfrm>
            <a:off x="7269480" y="2011680"/>
            <a:ext cx="1737360" cy="1005840"/>
          </a:xfrm>
          <a:prstGeom prst="rect">
            <a:avLst/>
          </a:prstGeom>
          <a:noFill/>
        </p:spPr>
        <p:txBody>
          <a:bodyPr wrap="square" lIns="0" tIns="0" rIns="0" bIns="0" anchor="t">
            <a:normAutofit/>
          </a:bodyPr>
          <a:lstStyle/>
          <a:p>
            <a:pPr algn="ctr">
              <a:lnSpc>
                <a:spcPct val="100000"/>
              </a:lnSpc>
              <a:spcBef>
                <a:spcPts val="0"/>
              </a:spcBef>
            </a:pPr>
            <a:r>
              <a:rPr lang="de-DE" sz="1200" b="1" dirty="0">
                <a:solidFill>
                  <a:srgbClr val="30343A"/>
                </a:solidFill>
                <a:latin typeface="+mn-lt"/>
              </a:rPr>
              <a:t>Nach Ereignis 2</a:t>
            </a:r>
          </a:p>
          <a:p>
            <a:pPr algn="ctr">
              <a:lnSpc>
                <a:spcPct val="100000"/>
              </a:lnSpc>
              <a:spcBef>
                <a:spcPts val="800"/>
              </a:spcBef>
            </a:pPr>
            <a:r>
              <a:rPr lang="de-DE" sz="1100" dirty="0">
                <a:solidFill>
                  <a:srgbClr val="5B666F"/>
                </a:solidFill>
                <a:latin typeface="+mn-lt"/>
              </a:rPr>
              <a:t>Tick 44869</a:t>
            </a:r>
          </a:p>
          <a:p>
            <a:pPr algn="ctr">
              <a:lnSpc>
                <a:spcPct val="100000"/>
              </a:lnSpc>
              <a:spcBef>
                <a:spcPts val="400"/>
              </a:spcBef>
            </a:pPr>
            <a:r>
              <a:rPr lang="de-DE" sz="1100" b="1" dirty="0">
                <a:solidFill>
                  <a:srgbClr val="30343A"/>
                </a:solidFill>
                <a:latin typeface="+mn-lt"/>
              </a:rPr>
              <a:t>2 Einträge</a:t>
            </a:r>
          </a:p>
        </p:txBody>
      </p:sp>
      <p:sp>
        <p:nvSpPr>
          <p:cNvPr id="20" name="WasFehltTitel"/>
          <p:cNvSpPr txBox="1"/>
          <p:nvPr/>
        </p:nvSpPr>
        <p:spPr>
          <a:xfrm>
            <a:off x="9418320" y="1783080"/>
            <a:ext cx="2286000" cy="274320"/>
          </a:xfrm>
          <a:prstGeom prst="rect">
            <a:avLst/>
          </a:prstGeom>
          <a:noFill/>
        </p:spPr>
        <p:txBody>
          <a:bodyPr wrap="square" lIns="0" tIns="0" rIns="0" bIns="0" anchor="t">
            <a:normAutofit/>
          </a:bodyPr>
          <a:lstStyle/>
          <a:p>
            <a:pPr algn="l">
              <a:lnSpc>
                <a:spcPct val="100000"/>
              </a:lnSpc>
              <a:spcBef>
                <a:spcPts val="0"/>
              </a:spcBef>
            </a:pPr>
            <a:r>
              <a:rPr lang="de-DE" sz="1100" b="1" dirty="0">
                <a:solidFill>
                  <a:srgbClr val="5B666F"/>
                </a:solidFill>
                <a:latin typeface="+mn-lt"/>
              </a:rPr>
              <a:t>Was fehlt</a:t>
            </a:r>
          </a:p>
        </p:txBody>
      </p:sp>
      <p:sp>
        <p:nvSpPr>
          <p:cNvPr id="21" name="Warn0"/>
          <p:cNvSpPr/>
          <p:nvPr/>
        </p:nvSpPr>
        <p:spPr>
          <a:xfrm>
            <a:off x="9418320" y="2148840"/>
            <a:ext cx="2286000" cy="457200"/>
          </a:xfrm>
          <a:prstGeom prst="rect">
            <a:avLst/>
          </a:prstGeom>
          <a:solidFill>
            <a:srgbClr val="F2F4F5"/>
          </a:solidFill>
          <a:ln>
            <a:noFill/>
          </a:ln>
        </p:spPr>
        <p:txBody>
          <a:bodyPr lIns="45720" tIns="27432" rIns="45720" bIns="27432" anchor="ctr">
            <a:normAutofit/>
          </a:bodyPr>
          <a:lstStyle/>
          <a:p>
            <a:pPr algn="l">
              <a:spcBef>
                <a:spcPts val="0"/>
              </a:spcBef>
            </a:pPr>
            <a:r>
              <a:rPr lang="de-DE" sz="900" dirty="0">
                <a:solidFill>
                  <a:srgbClr val="30343A"/>
                </a:solidFill>
                <a:latin typeface="+mn-lt"/>
              </a:rPr>
              <a:t>!  kein dediziertes Tracing-Log</a:t>
            </a:r>
          </a:p>
        </p:txBody>
      </p:sp>
      <p:sp>
        <p:nvSpPr>
          <p:cNvPr id="22" name="Warn1"/>
          <p:cNvSpPr/>
          <p:nvPr/>
        </p:nvSpPr>
        <p:spPr>
          <a:xfrm>
            <a:off x="9418320" y="2697480"/>
            <a:ext cx="2286000" cy="457200"/>
          </a:xfrm>
          <a:prstGeom prst="rect">
            <a:avLst/>
          </a:prstGeom>
          <a:solidFill>
            <a:srgbClr val="F2F4F5"/>
          </a:solidFill>
          <a:ln>
            <a:noFill/>
          </a:ln>
        </p:spPr>
        <p:txBody>
          <a:bodyPr lIns="45720" tIns="27432" rIns="45720" bIns="27432" anchor="ctr">
            <a:normAutofit/>
          </a:bodyPr>
          <a:lstStyle/>
          <a:p>
            <a:pPr algn="l">
              <a:spcBef>
                <a:spcPts val="0"/>
              </a:spcBef>
            </a:pPr>
            <a:r>
              <a:rPr lang="de-DE" sz="900" dirty="0">
                <a:solidFill>
                  <a:srgbClr val="30343A"/>
                </a:solidFill>
                <a:latin typeface="+mn-lt"/>
              </a:rPr>
              <a:t>!  kein absoluter Zeitstempel</a:t>
            </a:r>
          </a:p>
        </p:txBody>
      </p:sp>
      <p:sp>
        <p:nvSpPr>
          <p:cNvPr id="23" name="Warn2"/>
          <p:cNvSpPr/>
          <p:nvPr/>
        </p:nvSpPr>
        <p:spPr>
          <a:xfrm>
            <a:off x="9418320" y="3246120"/>
            <a:ext cx="2286000" cy="457200"/>
          </a:xfrm>
          <a:prstGeom prst="rect">
            <a:avLst/>
          </a:prstGeom>
          <a:solidFill>
            <a:srgbClr val="F2F4F5"/>
          </a:solidFill>
          <a:ln>
            <a:noFill/>
          </a:ln>
        </p:spPr>
        <p:txBody>
          <a:bodyPr lIns="45720" tIns="27432" rIns="45720" bIns="27432" anchor="ctr">
            <a:normAutofit/>
          </a:bodyPr>
          <a:lstStyle/>
          <a:p>
            <a:pPr algn="l">
              <a:spcBef>
                <a:spcPts val="0"/>
              </a:spcBef>
            </a:pPr>
            <a:r>
              <a:rPr lang="de-DE" sz="900" dirty="0">
                <a:solidFill>
                  <a:srgbClr val="30343A"/>
                </a:solidFill>
                <a:latin typeface="+mn-lt"/>
              </a:rPr>
              <a:t>!  keine Akteursidentität</a:t>
            </a:r>
          </a:p>
        </p:txBody>
      </p:sp>
      <p:sp>
        <p:nvSpPr>
          <p:cNvPr id="24" name="FailBalken"/>
          <p:cNvSpPr/>
          <p:nvPr/>
        </p:nvSpPr>
        <p:spPr>
          <a:xfrm>
            <a:off x="822960" y="4297680"/>
            <a:ext cx="8229600" cy="548640"/>
          </a:xfrm>
          <a:prstGeom prst="rect">
            <a:avLst/>
          </a:prstGeom>
          <a:solidFill>
            <a:srgbClr val="30343A"/>
          </a:solidFill>
          <a:ln>
            <a:noFill/>
          </a:ln>
        </p:spPr>
        <p:txBody>
          <a:bodyPr lIns="45720" tIns="27432" rIns="45720" bIns="27432" anchor="ctr">
            <a:normAutofit/>
          </a:bodyPr>
          <a:lstStyle/>
          <a:p>
            <a:pPr algn="ctr">
              <a:spcBef>
                <a:spcPts val="0"/>
              </a:spcBef>
            </a:pPr>
            <a:r>
              <a:rPr lang="de-DE" sz="1500" b="1" dirty="0">
                <a:solidFill>
                  <a:srgbClr val="FFFFFF"/>
                </a:solidFill>
                <a:latin typeface="+mn-lt"/>
              </a:rPr>
              <a:t>RQ-003 und RQ-012  →  FAIL</a:t>
            </a:r>
          </a:p>
        </p:txBody>
      </p:sp>
      <p:sp>
        <p:nvSpPr>
          <p:cNvPr id="25" name="FailNote"/>
          <p:cNvSpPr txBox="1"/>
          <p:nvPr/>
        </p:nvSpPr>
        <p:spPr>
          <a:xfrm>
            <a:off x="822960" y="4956048"/>
            <a:ext cx="8229600" cy="32004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5B666F"/>
                </a:solidFill>
                <a:latin typeface="+mn-lt"/>
              </a:rPr>
              <a:t>fehlende Komponentenfähigkeit · keine Aussage zur Konformität der Maschine · Integrator kann kompensieren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04 · ERGEBNISSE</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Zwei Verbindungen genügen</a:t>
            </a:r>
          </a:p>
        </p:txBody>
      </p:sp>
      <p:sp>
        <p:nvSpPr>
          <p:cNvPr id="4"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Ein trivial reproduzierbarer Ausfall – der Beweis der Rückwirkung fehlt.</a:t>
            </a:r>
          </a:p>
        </p:txBody>
      </p:sp>
      <p:sp>
        <p:nvSpPr>
          <p:cNvPr id="5" name="BlockLabel"/>
          <p:cNvSpPr txBox="1"/>
          <p:nvPr/>
        </p:nvSpPr>
        <p:spPr>
          <a:xfrm>
            <a:off x="822960" y="1691640"/>
            <a:ext cx="2743200" cy="274320"/>
          </a:xfrm>
          <a:prstGeom prst="rect">
            <a:avLst/>
          </a:prstGeom>
          <a:noFill/>
        </p:spPr>
        <p:txBody>
          <a:bodyPr wrap="square" lIns="0" tIns="0" rIns="0" bIns="0" anchor="t">
            <a:normAutofit/>
          </a:bodyPr>
          <a:lstStyle/>
          <a:p>
            <a:pPr algn="l">
              <a:lnSpc>
                <a:spcPct val="100000"/>
              </a:lnSpc>
              <a:spcBef>
                <a:spcPts val="0"/>
              </a:spcBef>
            </a:pPr>
            <a:r>
              <a:rPr lang="de-DE" sz="1100" b="1" dirty="0">
                <a:solidFill>
                  <a:srgbClr val="5B666F"/>
                </a:solidFill>
                <a:latin typeface="+mn-lt"/>
              </a:rPr>
              <a:t>Connection-Hold</a:t>
            </a:r>
          </a:p>
        </p:txBody>
      </p:sp>
      <p:sp>
        <p:nvSpPr>
          <p:cNvPr id="10" name="Slot1"/>
          <p:cNvSpPr/>
          <p:nvPr/>
        </p:nvSpPr>
        <p:spPr>
          <a:xfrm>
            <a:off x="822960" y="2057400"/>
            <a:ext cx="1005840" cy="1234440"/>
          </a:xfrm>
          <a:prstGeom prst="rect">
            <a:avLst/>
          </a:prstGeom>
          <a:solidFill>
            <a:srgbClr val="F2F4F5"/>
          </a:solidFill>
          <a:ln w="15875">
            <a:solidFill>
              <a:srgbClr val="2E7D32"/>
            </a:solidFill>
          </a:ln>
        </p:spPr>
        <p:txBody>
          <a:bodyPr lIns="45720" tIns="27432" rIns="45720" bIns="27432" anchor="ctr">
            <a:normAutofit/>
          </a:bodyPr>
          <a:lstStyle/>
          <a:p>
            <a:pPr algn="ctr">
              <a:spcBef>
                <a:spcPts val="0"/>
              </a:spcBef>
            </a:pPr>
            <a:r>
              <a:rPr lang="de-DE" sz="1800" b="1" dirty="0">
                <a:solidFill>
                  <a:srgbClr val="2E7D32"/>
                </a:solidFill>
                <a:latin typeface="+mn-lt"/>
              </a:rPr>
              <a:t>✓</a:t>
            </a:r>
          </a:p>
          <a:p>
            <a:pPr algn="ctr">
              <a:spcBef>
                <a:spcPts val="400"/>
              </a:spcBef>
            </a:pPr>
            <a:r>
              <a:rPr lang="de-DE" sz="1000" b="1" dirty="0">
                <a:solidFill>
                  <a:srgbClr val="30343A"/>
                </a:solidFill>
                <a:latin typeface="+mn-lt"/>
              </a:rPr>
              <a:t>Slot 1</a:t>
            </a:r>
          </a:p>
          <a:p>
            <a:pPr algn="ctr">
              <a:spcBef>
                <a:spcPts val="200"/>
              </a:spcBef>
            </a:pPr>
            <a:r>
              <a:rPr lang="de-DE" sz="900" dirty="0">
                <a:solidFill>
                  <a:srgbClr val="5B666F"/>
                </a:solidFill>
                <a:latin typeface="+mn-lt"/>
              </a:rPr>
              <a:t>belegt</a:t>
            </a:r>
          </a:p>
        </p:txBody>
      </p:sp>
      <p:sp>
        <p:nvSpPr>
          <p:cNvPr id="11" name="Slot2"/>
          <p:cNvSpPr/>
          <p:nvPr/>
        </p:nvSpPr>
        <p:spPr>
          <a:xfrm>
            <a:off x="1965960" y="2057400"/>
            <a:ext cx="1005840" cy="1234440"/>
          </a:xfrm>
          <a:prstGeom prst="rect">
            <a:avLst/>
          </a:prstGeom>
          <a:solidFill>
            <a:srgbClr val="F2F4F5"/>
          </a:solidFill>
          <a:ln w="15875">
            <a:solidFill>
              <a:srgbClr val="2E7D32"/>
            </a:solidFill>
          </a:ln>
        </p:spPr>
        <p:txBody>
          <a:bodyPr lIns="45720" tIns="27432" rIns="45720" bIns="27432" anchor="ctr">
            <a:normAutofit/>
          </a:bodyPr>
          <a:lstStyle/>
          <a:p>
            <a:pPr algn="ctr">
              <a:spcBef>
                <a:spcPts val="0"/>
              </a:spcBef>
            </a:pPr>
            <a:r>
              <a:rPr lang="de-DE" sz="1800" b="1" dirty="0">
                <a:solidFill>
                  <a:srgbClr val="2E7D32"/>
                </a:solidFill>
                <a:latin typeface="+mn-lt"/>
              </a:rPr>
              <a:t>✓</a:t>
            </a:r>
          </a:p>
          <a:p>
            <a:pPr algn="ctr">
              <a:spcBef>
                <a:spcPts val="400"/>
              </a:spcBef>
            </a:pPr>
            <a:r>
              <a:rPr lang="de-DE" sz="1000" b="1" dirty="0">
                <a:solidFill>
                  <a:srgbClr val="30343A"/>
                </a:solidFill>
                <a:latin typeface="+mn-lt"/>
              </a:rPr>
              <a:t>Slot 2</a:t>
            </a:r>
          </a:p>
          <a:p>
            <a:pPr algn="ctr">
              <a:spcBef>
                <a:spcPts val="200"/>
              </a:spcBef>
            </a:pPr>
            <a:r>
              <a:rPr lang="de-DE" sz="900" dirty="0">
                <a:solidFill>
                  <a:srgbClr val="5B666F"/>
                </a:solidFill>
                <a:latin typeface="+mn-lt"/>
              </a:rPr>
              <a:t>belegt</a:t>
            </a:r>
          </a:p>
        </p:txBody>
      </p:sp>
      <p:sp>
        <p:nvSpPr>
          <p:cNvPr id="12" name="Pruefling18"/>
          <p:cNvSpPr/>
          <p:nvPr/>
        </p:nvSpPr>
        <p:spPr>
          <a:xfrm>
            <a:off x="4480560" y="2057400"/>
            <a:ext cx="1463040" cy="1234440"/>
          </a:xfrm>
          <a:prstGeom prst="rect">
            <a:avLst/>
          </a:prstGeom>
          <a:solidFill>
            <a:srgbClr val="30343A"/>
          </a:solidFill>
          <a:ln>
            <a:noFill/>
          </a:ln>
        </p:spPr>
        <p:txBody>
          <a:bodyPr lIns="45720" tIns="27432" rIns="45720" bIns="27432" anchor="ctr">
            <a:normAutofit/>
          </a:bodyPr>
          <a:lstStyle/>
          <a:p>
            <a:pPr algn="ctr">
              <a:spcBef>
                <a:spcPts val="0"/>
              </a:spcBef>
            </a:pPr>
            <a:r>
              <a:rPr lang="de-DE" sz="1200" b="1" dirty="0">
                <a:solidFill>
                  <a:srgbClr val="FFFFFF"/>
                </a:solidFill>
                <a:latin typeface="+mn-lt"/>
              </a:rPr>
              <a:t>Prüfling</a:t>
            </a:r>
          </a:p>
        </p:txBody>
      </p:sp>
      <p:sp>
        <p:nvSpPr>
          <p:cNvPr id="13" name="Verb18"/>
          <p:cNvSpPr/>
          <p:nvPr/>
        </p:nvSpPr>
        <p:spPr>
          <a:xfrm>
            <a:off x="3108960" y="2651760"/>
            <a:ext cx="1371600" cy="22860"/>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14" name="Slot3"/>
          <p:cNvSpPr/>
          <p:nvPr/>
        </p:nvSpPr>
        <p:spPr>
          <a:xfrm>
            <a:off x="3108960" y="2057400"/>
            <a:ext cx="1005840" cy="1234440"/>
          </a:xfrm>
          <a:prstGeom prst="rect">
            <a:avLst/>
          </a:prstGeom>
          <a:solidFill>
            <a:srgbClr val="F2F4F5"/>
          </a:solidFill>
          <a:ln w="19050">
            <a:solidFill>
              <a:srgbClr val="C62828"/>
            </a:solidFill>
          </a:ln>
        </p:spPr>
        <p:txBody>
          <a:bodyPr lIns="45720" tIns="27432" rIns="45720" bIns="27432" anchor="ctr">
            <a:normAutofit/>
          </a:bodyPr>
          <a:lstStyle/>
          <a:p>
            <a:pPr algn="ctr">
              <a:spcBef>
                <a:spcPts val="0"/>
              </a:spcBef>
            </a:pPr>
            <a:r>
              <a:rPr lang="de-DE" sz="1600" b="1" dirty="0">
                <a:solidFill>
                  <a:srgbClr val="C62828"/>
                </a:solidFill>
                <a:latin typeface="+mn-lt"/>
              </a:rPr>
              <a:t>⏱</a:t>
            </a:r>
          </a:p>
          <a:p>
            <a:pPr algn="ctr">
              <a:spcBef>
                <a:spcPts val="400"/>
              </a:spcBef>
            </a:pPr>
            <a:r>
              <a:rPr lang="de-DE" sz="1000" b="1" dirty="0">
                <a:solidFill>
                  <a:srgbClr val="30343A"/>
                </a:solidFill>
                <a:latin typeface="+mn-lt"/>
              </a:rPr>
              <a:t>Slot 3</a:t>
            </a:r>
          </a:p>
          <a:p>
            <a:pPr algn="ctr">
              <a:spcBef>
                <a:spcPts val="200"/>
              </a:spcBef>
            </a:pPr>
            <a:r>
              <a:rPr lang="de-DE" sz="900" b="1" dirty="0">
                <a:solidFill>
                  <a:srgbClr val="C62828"/>
                </a:solidFill>
                <a:latin typeface="+mn-lt"/>
              </a:rPr>
              <a:t>Timeout</a:t>
            </a:r>
          </a:p>
        </p:txBody>
      </p:sp>
      <p:sp>
        <p:nvSpPr>
          <p:cNvPr id="15" name="Notiz18"/>
          <p:cNvSpPr txBox="1"/>
          <p:nvPr/>
        </p:nvSpPr>
        <p:spPr>
          <a:xfrm>
            <a:off x="6126480" y="2331720"/>
            <a:ext cx="2377440" cy="548640"/>
          </a:xfrm>
          <a:prstGeom prst="rect">
            <a:avLst/>
          </a:prstGeom>
          <a:noFill/>
        </p:spPr>
        <p:txBody>
          <a:bodyPr wrap="square" lIns="0" tIns="0" rIns="0" bIns="0" anchor="t">
            <a:normAutofit/>
          </a:bodyPr>
          <a:lstStyle/>
          <a:p>
            <a:pPr algn="l">
              <a:lnSpc>
                <a:spcPct val="100000"/>
              </a:lnSpc>
              <a:spcBef>
                <a:spcPts val="0"/>
              </a:spcBef>
            </a:pPr>
            <a:r>
              <a:rPr lang="de-DE" sz="1000" dirty="0">
                <a:solidFill>
                  <a:srgbClr val="5B666F"/>
                </a:solidFill>
                <a:latin typeface="+mn-lt"/>
              </a:rPr>
              <a:t>Slot wieder frei → HTTP 200</a:t>
            </a:r>
          </a:p>
        </p:txBody>
      </p:sp>
      <p:sp>
        <p:nvSpPr>
          <p:cNvPr id="16" name="FuzzStrip"/>
          <p:cNvSpPr/>
          <p:nvPr/>
        </p:nvSpPr>
        <p:spPr>
          <a:xfrm>
            <a:off x="822960" y="3886200"/>
            <a:ext cx="5486400" cy="1005840"/>
          </a:xfrm>
          <a:prstGeom prst="rect">
            <a:avLst/>
          </a:prstGeom>
          <a:solidFill>
            <a:srgbClr val="F2F4F5"/>
          </a:solidFill>
          <a:ln>
            <a:noFill/>
          </a:ln>
        </p:spPr>
        <p:txBody>
          <a:bodyPr lIns="45720" tIns="27432" rIns="45720" bIns="27432" anchor="ctr">
            <a:normAutofit/>
          </a:bodyPr>
          <a:lstStyle/>
          <a:p>
            <a:endParaRPr lang="de-DE"/>
          </a:p>
        </p:txBody>
      </p:sp>
      <p:sp>
        <p:nvSpPr>
          <p:cNvPr id="17" name="FuzzText"/>
          <p:cNvSpPr txBox="1"/>
          <p:nvPr/>
        </p:nvSpPr>
        <p:spPr>
          <a:xfrm>
            <a:off x="1097280" y="4069080"/>
            <a:ext cx="2377440" cy="731520"/>
          </a:xfrm>
          <a:prstGeom prst="rect">
            <a:avLst/>
          </a:prstGeom>
          <a:noFill/>
        </p:spPr>
        <p:txBody>
          <a:bodyPr wrap="square" lIns="0" tIns="0" rIns="0" bIns="0" anchor="t">
            <a:normAutofit/>
          </a:bodyPr>
          <a:lstStyle/>
          <a:p>
            <a:pPr algn="l">
              <a:lnSpc>
                <a:spcPct val="100000"/>
              </a:lnSpc>
              <a:spcBef>
                <a:spcPts val="0"/>
              </a:spcBef>
            </a:pPr>
            <a:r>
              <a:rPr lang="de-DE" sz="1100" b="1" dirty="0">
                <a:solidFill>
                  <a:srgbClr val="5B666F"/>
                </a:solidFill>
                <a:latin typeface="+mn-lt"/>
              </a:rPr>
              <a:t>Fuzzing · boofuzz</a:t>
            </a:r>
          </a:p>
          <a:p>
            <a:pPr algn="l">
              <a:lnSpc>
                <a:spcPct val="100000"/>
              </a:lnSpc>
              <a:spcBef>
                <a:spcPts val="800"/>
              </a:spcBef>
            </a:pPr>
            <a:r>
              <a:rPr lang="de-DE" sz="1100" b="1" dirty="0">
                <a:solidFill>
                  <a:srgbClr val="30343A"/>
                </a:solidFill>
                <a:latin typeface="+mn-lt"/>
              </a:rPr>
              <a:t>Dienst nicht erreichbar</a:t>
            </a:r>
          </a:p>
        </p:txBody>
      </p:sp>
      <p:sp>
        <p:nvSpPr>
          <p:cNvPr id="18" name="FuzzKPI"/>
          <p:cNvSpPr txBox="1"/>
          <p:nvPr/>
        </p:nvSpPr>
        <p:spPr>
          <a:xfrm>
            <a:off x="3840480" y="4069080"/>
            <a:ext cx="2194560" cy="640080"/>
          </a:xfrm>
          <a:prstGeom prst="rect">
            <a:avLst/>
          </a:prstGeom>
          <a:noFill/>
        </p:spPr>
        <p:txBody>
          <a:bodyPr wrap="square" lIns="0" tIns="0" rIns="0" bIns="0" anchor="t">
            <a:normAutofit/>
          </a:bodyPr>
          <a:lstStyle/>
          <a:p>
            <a:pPr algn="ctr">
              <a:lnSpc>
                <a:spcPct val="100000"/>
              </a:lnSpc>
              <a:spcBef>
                <a:spcPts val="0"/>
              </a:spcBef>
            </a:pPr>
            <a:r>
              <a:rPr lang="de-DE" sz="3000" b="1" dirty="0">
                <a:solidFill>
                  <a:srgbClr val="C62828"/>
                </a:solidFill>
                <a:latin typeface="+mn-lt"/>
              </a:rPr>
              <a:t>41 s</a:t>
            </a:r>
          </a:p>
        </p:txBody>
      </p:sp>
      <p:sp>
        <p:nvSpPr>
          <p:cNvPr id="19" name="FuzzChip"/>
          <p:cNvSpPr/>
          <p:nvPr/>
        </p:nvSpPr>
        <p:spPr>
          <a:xfrm>
            <a:off x="6583680" y="4160520"/>
            <a:ext cx="2743200" cy="457200"/>
          </a:xfrm>
          <a:prstGeom prst="rect">
            <a:avLst/>
          </a:prstGeom>
          <a:noFill/>
          <a:ln w="12700">
            <a:solidFill>
              <a:srgbClr val="5B666F"/>
            </a:solidFill>
          </a:ln>
        </p:spPr>
        <p:txBody>
          <a:bodyPr lIns="45720" tIns="27432" rIns="45720" bIns="27432" anchor="ctr">
            <a:normAutofit/>
          </a:bodyPr>
          <a:lstStyle/>
          <a:p>
            <a:pPr algn="ctr">
              <a:spcBef>
                <a:spcPts val="0"/>
              </a:spcBef>
            </a:pPr>
            <a:r>
              <a:rPr lang="de-DE" sz="1000" dirty="0">
                <a:solidFill>
                  <a:srgbClr val="30343A"/>
                </a:solidFill>
                <a:latin typeface="+mn-lt"/>
              </a:rPr>
              <a:t>Gerät zeigt Fehlerzustand an</a:t>
            </a:r>
          </a:p>
        </p:txBody>
      </p:sp>
      <p:sp>
        <p:nvSpPr>
          <p:cNvPr id="20" name="NABalken"/>
          <p:cNvSpPr/>
          <p:nvPr/>
        </p:nvSpPr>
        <p:spPr>
          <a:xfrm>
            <a:off x="8778240" y="2057400"/>
            <a:ext cx="2468880" cy="777240"/>
          </a:xfrm>
          <a:prstGeom prst="rect">
            <a:avLst/>
          </a:prstGeom>
          <a:solidFill>
            <a:srgbClr val="30343A"/>
          </a:solidFill>
          <a:ln>
            <a:noFill/>
          </a:ln>
        </p:spPr>
        <p:txBody>
          <a:bodyPr lIns="45720" tIns="27432" rIns="45720" bIns="27432" anchor="ctr">
            <a:normAutofit/>
          </a:bodyPr>
          <a:lstStyle/>
          <a:p>
            <a:pPr algn="ctr">
              <a:spcBef>
                <a:spcPts val="0"/>
              </a:spcBef>
            </a:pPr>
            <a:r>
              <a:rPr lang="de-DE" sz="1300" b="1" dirty="0">
                <a:solidFill>
                  <a:srgbClr val="FFFFFF"/>
                </a:solidFill>
                <a:latin typeface="+mn-lt"/>
              </a:rPr>
              <a:t>→ NOT ASSESSED</a:t>
            </a:r>
          </a:p>
        </p:txBody>
      </p:sp>
      <p:sp>
        <p:nvSpPr>
          <p:cNvPr id="21" name="NASub"/>
          <p:cNvSpPr txBox="1"/>
          <p:nvPr/>
        </p:nvSpPr>
        <p:spPr>
          <a:xfrm>
            <a:off x="8778240" y="2971800"/>
            <a:ext cx="2468880" cy="109728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5B666F"/>
                </a:solidFill>
                <a:latin typeface="+mn-lt"/>
              </a:rPr>
              <a:t>Rückwirkung auf den Safety-Pfad nur aus NV2 sichtbar · Fehleranzeige nicht als Artefakt gesichert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04 · ERGEBNISSE</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14 Anforderungen, ein Zwischenstand</a:t>
            </a:r>
          </a:p>
        </p:txBody>
      </p:sp>
      <p:sp>
        <p:nvSpPr>
          <p:cNvPr id="4"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100" dirty="0">
                <a:solidFill>
                  <a:srgbClr val="FF6E00"/>
                </a:solidFill>
                <a:latin typeface="+mn-lt"/>
              </a:rPr>
              <a:t>Not Assessed heißt nicht, dass die Funktion fehlt – es ist eine Folge der Reichweite, nicht der Methodik.</a:t>
            </a:r>
          </a:p>
        </p:txBody>
      </p:sp>
      <p:sp>
        <p:nvSpPr>
          <p:cNvPr id="10" name="Num0"/>
          <p:cNvSpPr txBox="1"/>
          <p:nvPr/>
        </p:nvSpPr>
        <p:spPr>
          <a:xfrm>
            <a:off x="914400" y="1783080"/>
            <a:ext cx="1554480" cy="822960"/>
          </a:xfrm>
          <a:prstGeom prst="rect">
            <a:avLst/>
          </a:prstGeom>
          <a:noFill/>
        </p:spPr>
        <p:txBody>
          <a:bodyPr wrap="square" lIns="0" tIns="0" rIns="0" bIns="0" anchor="t">
            <a:normAutofit/>
          </a:bodyPr>
          <a:lstStyle/>
          <a:p>
            <a:pPr algn="r">
              <a:lnSpc>
                <a:spcPct val="100000"/>
              </a:lnSpc>
              <a:spcBef>
                <a:spcPts val="0"/>
              </a:spcBef>
            </a:pPr>
            <a:r>
              <a:rPr lang="de-DE" sz="4000" b="1" dirty="0">
                <a:solidFill>
                  <a:srgbClr val="30343A"/>
                </a:solidFill>
                <a:latin typeface="+mn-lt"/>
              </a:rPr>
              <a:t>2</a:t>
            </a:r>
          </a:p>
        </p:txBody>
      </p:sp>
      <p:sp>
        <p:nvSpPr>
          <p:cNvPr id="11" name="Lab0"/>
          <p:cNvSpPr txBox="1"/>
          <p:nvPr/>
        </p:nvSpPr>
        <p:spPr>
          <a:xfrm>
            <a:off x="2651760" y="2039112"/>
            <a:ext cx="2743200" cy="365760"/>
          </a:xfrm>
          <a:prstGeom prst="rect">
            <a:avLst/>
          </a:prstGeom>
          <a:noFill/>
        </p:spPr>
        <p:txBody>
          <a:bodyPr wrap="square" lIns="0" tIns="0" rIns="0" bIns="0" anchor="t">
            <a:normAutofit/>
          </a:bodyPr>
          <a:lstStyle/>
          <a:p>
            <a:pPr algn="l">
              <a:lnSpc>
                <a:spcPct val="100000"/>
              </a:lnSpc>
              <a:spcBef>
                <a:spcPts val="0"/>
              </a:spcBef>
            </a:pPr>
            <a:r>
              <a:rPr lang="de-DE" sz="1600" b="1" dirty="0">
                <a:solidFill>
                  <a:srgbClr val="30343A"/>
                </a:solidFill>
                <a:latin typeface="+mn-lt"/>
              </a:rPr>
              <a:t>Fail</a:t>
            </a:r>
          </a:p>
        </p:txBody>
      </p:sp>
      <p:sp>
        <p:nvSpPr>
          <p:cNvPr id="12" name="Num1"/>
          <p:cNvSpPr txBox="1"/>
          <p:nvPr/>
        </p:nvSpPr>
        <p:spPr>
          <a:xfrm>
            <a:off x="914400" y="3017520"/>
            <a:ext cx="1554480" cy="822960"/>
          </a:xfrm>
          <a:prstGeom prst="rect">
            <a:avLst/>
          </a:prstGeom>
          <a:noFill/>
        </p:spPr>
        <p:txBody>
          <a:bodyPr wrap="square" lIns="0" tIns="0" rIns="0" bIns="0" anchor="t">
            <a:normAutofit/>
          </a:bodyPr>
          <a:lstStyle/>
          <a:p>
            <a:pPr algn="r">
              <a:lnSpc>
                <a:spcPct val="100000"/>
              </a:lnSpc>
              <a:spcBef>
                <a:spcPts val="0"/>
              </a:spcBef>
            </a:pPr>
            <a:r>
              <a:rPr lang="de-DE" sz="4000" b="1" dirty="0">
                <a:solidFill>
                  <a:srgbClr val="5B666F"/>
                </a:solidFill>
                <a:latin typeface="+mn-lt"/>
              </a:rPr>
              <a:t>12</a:t>
            </a:r>
          </a:p>
        </p:txBody>
      </p:sp>
      <p:sp>
        <p:nvSpPr>
          <p:cNvPr id="13" name="Lab1"/>
          <p:cNvSpPr txBox="1"/>
          <p:nvPr/>
        </p:nvSpPr>
        <p:spPr>
          <a:xfrm>
            <a:off x="2651760" y="3273552"/>
            <a:ext cx="2743200" cy="365760"/>
          </a:xfrm>
          <a:prstGeom prst="rect">
            <a:avLst/>
          </a:prstGeom>
          <a:noFill/>
        </p:spPr>
        <p:txBody>
          <a:bodyPr wrap="square" lIns="0" tIns="0" rIns="0" bIns="0" anchor="t">
            <a:normAutofit/>
          </a:bodyPr>
          <a:lstStyle/>
          <a:p>
            <a:pPr algn="l">
              <a:lnSpc>
                <a:spcPct val="100000"/>
              </a:lnSpc>
              <a:spcBef>
                <a:spcPts val="0"/>
              </a:spcBef>
            </a:pPr>
            <a:r>
              <a:rPr lang="de-DE" sz="1600" b="1" dirty="0">
                <a:solidFill>
                  <a:srgbClr val="5B666F"/>
                </a:solidFill>
                <a:latin typeface="+mn-lt"/>
              </a:rPr>
              <a:t>Not Assessed</a:t>
            </a:r>
          </a:p>
        </p:txBody>
      </p:sp>
      <p:sp>
        <p:nvSpPr>
          <p:cNvPr id="14" name="Num2"/>
          <p:cNvSpPr txBox="1"/>
          <p:nvPr/>
        </p:nvSpPr>
        <p:spPr>
          <a:xfrm>
            <a:off x="914400" y="4251960"/>
            <a:ext cx="1554480" cy="822960"/>
          </a:xfrm>
          <a:prstGeom prst="rect">
            <a:avLst/>
          </a:prstGeom>
          <a:noFill/>
        </p:spPr>
        <p:txBody>
          <a:bodyPr wrap="square" lIns="0" tIns="0" rIns="0" bIns="0" anchor="t">
            <a:normAutofit/>
          </a:bodyPr>
          <a:lstStyle/>
          <a:p>
            <a:pPr algn="r">
              <a:lnSpc>
                <a:spcPct val="100000"/>
              </a:lnSpc>
              <a:spcBef>
                <a:spcPts val="0"/>
              </a:spcBef>
            </a:pPr>
            <a:r>
              <a:rPr lang="de-DE" sz="4000" b="1" dirty="0">
                <a:solidFill>
                  <a:srgbClr val="8A9299"/>
                </a:solidFill>
                <a:latin typeface="+mn-lt"/>
              </a:rPr>
              <a:t>0</a:t>
            </a:r>
          </a:p>
        </p:txBody>
      </p:sp>
      <p:sp>
        <p:nvSpPr>
          <p:cNvPr id="15" name="Lab2"/>
          <p:cNvSpPr txBox="1"/>
          <p:nvPr/>
        </p:nvSpPr>
        <p:spPr>
          <a:xfrm>
            <a:off x="2651760" y="4507992"/>
            <a:ext cx="2743200" cy="365760"/>
          </a:xfrm>
          <a:prstGeom prst="rect">
            <a:avLst/>
          </a:prstGeom>
          <a:noFill/>
        </p:spPr>
        <p:txBody>
          <a:bodyPr wrap="square" lIns="0" tIns="0" rIns="0" bIns="0" anchor="t">
            <a:normAutofit/>
          </a:bodyPr>
          <a:lstStyle/>
          <a:p>
            <a:pPr algn="l">
              <a:lnSpc>
                <a:spcPct val="100000"/>
              </a:lnSpc>
              <a:spcBef>
                <a:spcPts val="0"/>
              </a:spcBef>
            </a:pPr>
            <a:r>
              <a:rPr lang="de-DE" sz="1600" b="1" dirty="0">
                <a:solidFill>
                  <a:srgbClr val="8A9299"/>
                </a:solidFill>
                <a:latin typeface="+mn-lt"/>
              </a:rPr>
              <a:t>Pass</a:t>
            </a:r>
          </a:p>
        </p:txBody>
      </p:sp>
      <p:sp>
        <p:nvSpPr>
          <p:cNvPr id="5" name="Kopf19"/>
          <p:cNvSpPr txBox="1"/>
          <p:nvPr/>
        </p:nvSpPr>
        <p:spPr>
          <a:xfrm>
            <a:off x="6309360" y="1783080"/>
            <a:ext cx="4754880" cy="274320"/>
          </a:xfrm>
          <a:prstGeom prst="rect">
            <a:avLst/>
          </a:prstGeom>
          <a:noFill/>
        </p:spPr>
        <p:txBody>
          <a:bodyPr wrap="square" lIns="0" tIns="0" rIns="0" bIns="0" anchor="t">
            <a:normAutofit/>
          </a:bodyPr>
          <a:lstStyle/>
          <a:p>
            <a:pPr algn="l">
              <a:lnSpc>
                <a:spcPct val="100000"/>
              </a:lnSpc>
              <a:spcBef>
                <a:spcPts val="0"/>
              </a:spcBef>
            </a:pPr>
            <a:r>
              <a:rPr lang="de-DE" sz="1100" b="1" dirty="0">
                <a:solidFill>
                  <a:srgbClr val="5B666F"/>
                </a:solidFill>
                <a:latin typeface="+mn-lt"/>
              </a:rPr>
              <a:t>zwei Arten von offen</a:t>
            </a:r>
          </a:p>
        </p:txBody>
      </p:sp>
      <p:sp>
        <p:nvSpPr>
          <p:cNvPr id="16" name="Card190"/>
          <p:cNvSpPr/>
          <p:nvPr/>
        </p:nvSpPr>
        <p:spPr>
          <a:xfrm>
            <a:off x="6309360" y="2194560"/>
            <a:ext cx="4754880" cy="1371600"/>
          </a:xfrm>
          <a:prstGeom prst="rect">
            <a:avLst/>
          </a:prstGeom>
          <a:solidFill>
            <a:srgbClr val="F2F4F5"/>
          </a:solidFill>
          <a:ln>
            <a:noFill/>
          </a:ln>
        </p:spPr>
        <p:txBody>
          <a:bodyPr lIns="45720" tIns="27432" rIns="45720" bIns="27432" anchor="ctr">
            <a:normAutofit/>
          </a:bodyPr>
          <a:lstStyle/>
          <a:p>
            <a:endParaRPr lang="de-DE"/>
          </a:p>
        </p:txBody>
      </p:sp>
      <p:sp>
        <p:nvSpPr>
          <p:cNvPr id="17" name="Card19T0"/>
          <p:cNvSpPr txBox="1"/>
          <p:nvPr/>
        </p:nvSpPr>
        <p:spPr>
          <a:xfrm>
            <a:off x="6583680" y="2423160"/>
            <a:ext cx="4206240" cy="914400"/>
          </a:xfrm>
          <a:prstGeom prst="rect">
            <a:avLst/>
          </a:prstGeom>
          <a:noFill/>
        </p:spPr>
        <p:txBody>
          <a:bodyPr wrap="square" lIns="0" tIns="0" rIns="0" bIns="0" anchor="t">
            <a:normAutofit/>
          </a:bodyPr>
          <a:lstStyle/>
          <a:p>
            <a:pPr algn="l">
              <a:lnSpc>
                <a:spcPct val="100000"/>
              </a:lnSpc>
              <a:spcBef>
                <a:spcPts val="0"/>
              </a:spcBef>
            </a:pPr>
            <a:r>
              <a:rPr lang="de-DE" sz="1500" b="1" dirty="0">
                <a:solidFill>
                  <a:srgbClr val="30343A"/>
                </a:solidFill>
                <a:latin typeface="+mn-lt"/>
              </a:rPr>
              <a:t>◯  Ereignis nie ausgelöst</a:t>
            </a:r>
          </a:p>
          <a:p>
            <a:pPr algn="l">
              <a:lnSpc>
                <a:spcPct val="100000"/>
              </a:lnSpc>
              <a:spcBef>
                <a:spcPts val="1000"/>
              </a:spcBef>
            </a:pPr>
            <a:r>
              <a:rPr lang="de-DE" sz="1100" b="1" dirty="0">
                <a:solidFill>
                  <a:srgbClr val="2E7D32"/>
                </a:solidFill>
                <a:latin typeface="+mn-lt"/>
              </a:rPr>
              <a:t>im bestehenden Setup nachholbar</a:t>
            </a:r>
          </a:p>
        </p:txBody>
      </p:sp>
      <p:sp>
        <p:nvSpPr>
          <p:cNvPr id="18" name="Card191"/>
          <p:cNvSpPr/>
          <p:nvPr/>
        </p:nvSpPr>
        <p:spPr>
          <a:xfrm>
            <a:off x="6309360" y="3794760"/>
            <a:ext cx="4754880" cy="1371600"/>
          </a:xfrm>
          <a:prstGeom prst="rect">
            <a:avLst/>
          </a:prstGeom>
          <a:solidFill>
            <a:srgbClr val="F2F4F5"/>
          </a:solidFill>
          <a:ln>
            <a:noFill/>
          </a:ln>
        </p:spPr>
        <p:txBody>
          <a:bodyPr lIns="45720" tIns="27432" rIns="45720" bIns="27432" anchor="ctr">
            <a:normAutofit/>
          </a:bodyPr>
          <a:lstStyle/>
          <a:p>
            <a:endParaRPr lang="de-DE"/>
          </a:p>
        </p:txBody>
      </p:sp>
      <p:sp>
        <p:nvSpPr>
          <p:cNvPr id="19" name="Card19T1"/>
          <p:cNvSpPr txBox="1"/>
          <p:nvPr/>
        </p:nvSpPr>
        <p:spPr>
          <a:xfrm>
            <a:off x="6583680" y="4023360"/>
            <a:ext cx="4206240" cy="914400"/>
          </a:xfrm>
          <a:prstGeom prst="rect">
            <a:avLst/>
          </a:prstGeom>
          <a:noFill/>
        </p:spPr>
        <p:txBody>
          <a:bodyPr wrap="square" lIns="0" tIns="0" rIns="0" bIns="0" anchor="t">
            <a:normAutofit/>
          </a:bodyPr>
          <a:lstStyle/>
          <a:p>
            <a:pPr algn="l">
              <a:lnSpc>
                <a:spcPct val="100000"/>
              </a:lnSpc>
              <a:spcBef>
                <a:spcPts val="0"/>
              </a:spcBef>
            </a:pPr>
            <a:r>
              <a:rPr lang="de-DE" sz="1500" b="1" dirty="0">
                <a:solidFill>
                  <a:srgbClr val="30343A"/>
                </a:solidFill>
                <a:latin typeface="+mn-lt"/>
              </a:rPr>
              <a:t>◎  Beobachtungsposition fehlt</a:t>
            </a:r>
          </a:p>
          <a:p>
            <a:pPr algn="l">
              <a:lnSpc>
                <a:spcPct val="100000"/>
              </a:lnSpc>
              <a:spcBef>
                <a:spcPts val="1000"/>
              </a:spcBef>
            </a:pPr>
            <a:r>
              <a:rPr lang="de-DE" sz="1100" b="1" dirty="0">
                <a:solidFill>
                  <a:srgbClr val="FF6E00"/>
                </a:solidFill>
                <a:latin typeface="+mn-lt"/>
              </a:rPr>
              <a:t>Topologie muss erweitert werden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105156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BLOCK 5 · FAZIT UND AUSBLICK</a:t>
            </a:r>
          </a:p>
        </p:txBody>
      </p:sp>
      <p:sp>
        <p:nvSpPr>
          <p:cNvPr id="3" name="Ueberschrift"/>
          <p:cNvSpPr txBox="1"/>
          <p:nvPr/>
        </p:nvSpPr>
        <p:spPr>
          <a:xfrm>
            <a:off x="777240" y="804672"/>
            <a:ext cx="10515600" cy="82296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Drei Fragen, drei Antworten</a:t>
            </a:r>
          </a:p>
        </p:txBody>
      </p:sp>
      <p:sp>
        <p:nvSpPr>
          <p:cNvPr id="20" name="Badge FF1"/>
          <p:cNvSpPr/>
          <p:nvPr/>
        </p:nvSpPr>
        <p:spPr>
          <a:xfrm>
            <a:off x="777240" y="1874520"/>
            <a:ext cx="777240" cy="310896"/>
          </a:xfrm>
          <a:prstGeom prst="rect">
            <a:avLst/>
          </a:prstGeom>
          <a:solidFill>
            <a:srgbClr val="FF6E00"/>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30343A"/>
                </a:solidFill>
                <a:latin typeface="+mn-lt"/>
              </a:rPr>
              <a:t>FF1</a:t>
            </a:r>
          </a:p>
        </p:txBody>
      </p:sp>
      <p:sp>
        <p:nvSpPr>
          <p:cNvPr id="21" name="Antwort FF1"/>
          <p:cNvSpPr txBox="1"/>
          <p:nvPr/>
        </p:nvSpPr>
        <p:spPr>
          <a:xfrm>
            <a:off x="1783080" y="1819656"/>
            <a:ext cx="9509760" cy="1051560"/>
          </a:xfrm>
          <a:prstGeom prst="rect">
            <a:avLst/>
          </a:prstGeom>
          <a:noFill/>
        </p:spPr>
        <p:txBody>
          <a:bodyPr wrap="square" lIns="0" tIns="0" rIns="0" bIns="0" anchor="t">
            <a:normAutofit/>
          </a:bodyPr>
          <a:lstStyle/>
          <a:p>
            <a:pPr algn="l">
              <a:lnSpc>
                <a:spcPct val="100000"/>
              </a:lnSpc>
              <a:spcBef>
                <a:spcPts val="0"/>
              </a:spcBef>
            </a:pPr>
            <a:r>
              <a:rPr lang="de-DE" sz="1100" dirty="0">
                <a:solidFill>
                  <a:srgbClr val="5B666F"/>
                </a:solidFill>
                <a:latin typeface="+mn-lt"/>
              </a:rPr>
              <a:t>Wie lassen sich die Security-Anforderungen der Maschinenverordnung in prüfbare Anforderungen überführen?</a:t>
            </a:r>
          </a:p>
          <a:p>
            <a:pPr algn="l">
              <a:lnSpc>
                <a:spcPct val="100000"/>
              </a:lnSpc>
              <a:spcBef>
                <a:spcPts val="500"/>
              </a:spcBef>
            </a:pPr>
            <a:r>
              <a:rPr lang="de-DE" sz="1500" b="1" dirty="0">
                <a:solidFill>
                  <a:srgbClr val="30343A"/>
                </a:solidFill>
                <a:latin typeface="+mn-lt"/>
              </a:rPr>
              <a:t>Ableitung über Schutzziele, Bedrohungen und Akzeptanzkriterien.</a:t>
            </a:r>
          </a:p>
        </p:txBody>
      </p:sp>
      <p:sp>
        <p:nvSpPr>
          <p:cNvPr id="23" name="Badge FF2"/>
          <p:cNvSpPr/>
          <p:nvPr/>
        </p:nvSpPr>
        <p:spPr>
          <a:xfrm>
            <a:off x="777240" y="3200400"/>
            <a:ext cx="777240" cy="310896"/>
          </a:xfrm>
          <a:prstGeom prst="rect">
            <a:avLst/>
          </a:prstGeom>
          <a:solidFill>
            <a:srgbClr val="FF6E00"/>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30343A"/>
                </a:solidFill>
                <a:latin typeface="+mn-lt"/>
              </a:rPr>
              <a:t>FF2</a:t>
            </a:r>
          </a:p>
        </p:txBody>
      </p:sp>
      <p:sp>
        <p:nvSpPr>
          <p:cNvPr id="24" name="Antwort FF2"/>
          <p:cNvSpPr txBox="1"/>
          <p:nvPr/>
        </p:nvSpPr>
        <p:spPr>
          <a:xfrm>
            <a:off x="1783080" y="3145536"/>
            <a:ext cx="9509760" cy="1051560"/>
          </a:xfrm>
          <a:prstGeom prst="rect">
            <a:avLst/>
          </a:prstGeom>
          <a:noFill/>
        </p:spPr>
        <p:txBody>
          <a:bodyPr wrap="square" lIns="0" tIns="0" rIns="0" bIns="0" anchor="t">
            <a:normAutofit/>
          </a:bodyPr>
          <a:lstStyle/>
          <a:p>
            <a:pPr algn="l">
              <a:lnSpc>
                <a:spcPct val="100000"/>
              </a:lnSpc>
              <a:spcBef>
                <a:spcPts val="0"/>
              </a:spcBef>
            </a:pPr>
            <a:r>
              <a:rPr lang="de-DE" sz="1100" dirty="0">
                <a:solidFill>
                  <a:srgbClr val="5B666F"/>
                </a:solidFill>
                <a:latin typeface="+mn-lt"/>
              </a:rPr>
              <a:t>Welche vorhandenen Firmentests decken diese Anforderungen ab?</a:t>
            </a:r>
          </a:p>
          <a:p>
            <a:pPr algn="l">
              <a:lnSpc>
                <a:spcPct val="100000"/>
              </a:lnSpc>
              <a:spcBef>
                <a:spcPts val="500"/>
              </a:spcBef>
            </a:pPr>
            <a:r>
              <a:rPr lang="de-DE" sz="1500" b="1" dirty="0">
                <a:solidFill>
                  <a:srgbClr val="30343A"/>
                </a:solidFill>
                <a:latin typeface="+mn-lt"/>
              </a:rPr>
              <a:t>Vier von zehn Werkzeugen liefern belastbare Nachweise.</a:t>
            </a:r>
          </a:p>
        </p:txBody>
      </p:sp>
      <p:sp>
        <p:nvSpPr>
          <p:cNvPr id="26" name="Badge FF3"/>
          <p:cNvSpPr/>
          <p:nvPr/>
        </p:nvSpPr>
        <p:spPr>
          <a:xfrm>
            <a:off x="777240" y="4526280"/>
            <a:ext cx="777240" cy="310896"/>
          </a:xfrm>
          <a:prstGeom prst="rect">
            <a:avLst/>
          </a:prstGeom>
          <a:solidFill>
            <a:srgbClr val="FF6E00"/>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30343A"/>
                </a:solidFill>
                <a:latin typeface="+mn-lt"/>
              </a:rPr>
              <a:t>FF3</a:t>
            </a:r>
          </a:p>
        </p:txBody>
      </p:sp>
      <p:sp>
        <p:nvSpPr>
          <p:cNvPr id="27" name="Antwort FF3"/>
          <p:cNvSpPr txBox="1"/>
          <p:nvPr/>
        </p:nvSpPr>
        <p:spPr>
          <a:xfrm>
            <a:off x="1783080" y="4471416"/>
            <a:ext cx="9509760" cy="1051560"/>
          </a:xfrm>
          <a:prstGeom prst="rect">
            <a:avLst/>
          </a:prstGeom>
          <a:noFill/>
        </p:spPr>
        <p:txBody>
          <a:bodyPr wrap="square" lIns="0" tIns="0" rIns="0" bIns="0" anchor="t">
            <a:normAutofit/>
          </a:bodyPr>
          <a:lstStyle/>
          <a:p>
            <a:pPr algn="l">
              <a:lnSpc>
                <a:spcPct val="100000"/>
              </a:lnSpc>
              <a:spcBef>
                <a:spcPts val="0"/>
              </a:spcBef>
            </a:pPr>
            <a:r>
              <a:rPr lang="de-DE" sz="1100" dirty="0">
                <a:solidFill>
                  <a:srgbClr val="5B666F"/>
                </a:solidFill>
                <a:latin typeface="+mn-lt"/>
              </a:rPr>
              <a:t>Wie belastbar ist der Nachweis am realen Gateway?</a:t>
            </a:r>
          </a:p>
          <a:p>
            <a:pPr algn="l">
              <a:lnSpc>
                <a:spcPct val="100000"/>
              </a:lnSpc>
              <a:spcBef>
                <a:spcPts val="500"/>
              </a:spcBef>
            </a:pPr>
            <a:r>
              <a:rPr lang="de-DE" sz="1500" b="1" dirty="0">
                <a:solidFill>
                  <a:srgbClr val="30343A"/>
                </a:solidFill>
                <a:latin typeface="+mn-lt"/>
              </a:rPr>
              <a:t>Lückenlos nur mit definierten Messpunkten und Traceability.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3" grpId="0" animBg="1"/>
      <p:bldP spid="24" grpId="0"/>
      <p:bldP spid="26" grpId="0" animBg="1"/>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105156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BLOCK 5 · FAZIT UND AUSBLICK</a:t>
            </a:r>
          </a:p>
        </p:txBody>
      </p:sp>
      <p:sp>
        <p:nvSpPr>
          <p:cNvPr id="3" name="Ueberschrift"/>
          <p:cNvSpPr txBox="1"/>
          <p:nvPr/>
        </p:nvSpPr>
        <p:spPr>
          <a:xfrm>
            <a:off x="777240" y="804672"/>
            <a:ext cx="10515600" cy="82296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Safe State ist nicht gleich Security</a:t>
            </a:r>
          </a:p>
        </p:txBody>
      </p:sp>
      <p:sp>
        <p:nvSpPr>
          <p:cNvPr id="30" name="Gleich"/>
          <p:cNvSpPr txBox="1"/>
          <p:nvPr/>
        </p:nvSpPr>
        <p:spPr>
          <a:xfrm>
            <a:off x="4983480" y="2697480"/>
            <a:ext cx="1097280" cy="1005840"/>
          </a:xfrm>
          <a:prstGeom prst="rect">
            <a:avLst/>
          </a:prstGeom>
          <a:noFill/>
        </p:spPr>
        <p:txBody>
          <a:bodyPr wrap="square" lIns="0" tIns="0" rIns="0" bIns="0" anchor="ctr">
            <a:normAutofit/>
          </a:bodyPr>
          <a:lstStyle/>
          <a:p>
            <a:pPr algn="ctr">
              <a:lnSpc>
                <a:spcPct val="100000"/>
              </a:lnSpc>
              <a:spcBef>
                <a:spcPts val="0"/>
              </a:spcBef>
            </a:pPr>
            <a:r>
              <a:rPr lang="de-DE" sz="5400" b="1" dirty="0">
                <a:solidFill>
                  <a:srgbClr val="5B666F"/>
                </a:solidFill>
                <a:latin typeface="+mn-lt"/>
              </a:rPr>
              <a:t>=</a:t>
            </a:r>
          </a:p>
        </p:txBody>
      </p:sp>
      <p:sp>
        <p:nvSpPr>
          <p:cNvPr id="21" name="Karte Safety"/>
          <p:cNvSpPr/>
          <p:nvPr/>
        </p:nvSpPr>
        <p:spPr>
          <a:xfrm>
            <a:off x="1005840" y="2011680"/>
            <a:ext cx="3931920" cy="237744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600" b="1" dirty="0">
                <a:solidFill>
                  <a:srgbClr val="30343A"/>
                </a:solidFill>
                <a:latin typeface="+mn-lt"/>
              </a:rPr>
              <a:t>Functional Safety</a:t>
            </a:r>
          </a:p>
          <a:p>
            <a:pPr algn="ctr">
              <a:lnSpc>
                <a:spcPct val="100000"/>
              </a:lnSpc>
              <a:spcBef>
                <a:spcPts val="800"/>
              </a:spcBef>
            </a:pPr>
            <a:r>
              <a:rPr lang="de-DE" sz="1100" dirty="0">
                <a:solidFill>
                  <a:srgbClr val="5B666F"/>
                </a:solidFill>
                <a:latin typeface="+mn-lt"/>
              </a:rPr>
              <a:t>Sicherer Zustand bei Fehlfunktion</a:t>
            </a:r>
          </a:p>
          <a:p>
            <a:pPr algn="ctr">
              <a:lnSpc>
                <a:spcPct val="100000"/>
              </a:lnSpc>
              <a:spcBef>
                <a:spcPts val="400"/>
              </a:spcBef>
            </a:pPr>
            <a:r>
              <a:rPr lang="de-DE" sz="1100" dirty="0">
                <a:solidFill>
                  <a:srgbClr val="5B666F"/>
                </a:solidFill>
                <a:latin typeface="+mn-lt"/>
              </a:rPr>
              <a:t>Zufällige Ausfälle · IEC 61508</a:t>
            </a:r>
          </a:p>
        </p:txBody>
      </p:sp>
      <p:sp>
        <p:nvSpPr>
          <p:cNvPr id="23" name="Karte Security"/>
          <p:cNvSpPr/>
          <p:nvPr/>
        </p:nvSpPr>
        <p:spPr>
          <a:xfrm>
            <a:off x="6309360" y="2011680"/>
            <a:ext cx="3931920" cy="2377440"/>
          </a:xfrm>
          <a:prstGeom prst="rect">
            <a:avLst/>
          </a:prstGeom>
          <a:solidFill>
            <a:srgbClr val="30343A"/>
          </a:solidFill>
          <a:ln>
            <a:noFill/>
          </a:ln>
        </p:spPr>
        <p:txBody>
          <a:bodyPr wrap="square" lIns="45720" tIns="27432" rIns="45720" bIns="27432" anchor="ctr">
            <a:normAutofit/>
          </a:bodyPr>
          <a:lstStyle/>
          <a:p>
            <a:pPr algn="ctr">
              <a:lnSpc>
                <a:spcPct val="100000"/>
              </a:lnSpc>
              <a:spcBef>
                <a:spcPts val="0"/>
              </a:spcBef>
            </a:pPr>
            <a:r>
              <a:rPr lang="de-DE" sz="1600" b="1" dirty="0">
                <a:solidFill>
                  <a:srgbClr val="FFFFFF"/>
                </a:solidFill>
                <a:latin typeface="+mn-lt"/>
              </a:rPr>
              <a:t>Cybersecurity</a:t>
            </a:r>
          </a:p>
          <a:p>
            <a:pPr algn="ctr">
              <a:lnSpc>
                <a:spcPct val="100000"/>
              </a:lnSpc>
              <a:spcBef>
                <a:spcPts val="800"/>
              </a:spcBef>
            </a:pPr>
            <a:r>
              <a:rPr lang="de-DE" sz="1100" dirty="0">
                <a:solidFill>
                  <a:srgbClr val="D5D9DC"/>
                </a:solidFill>
                <a:latin typeface="+mn-lt"/>
              </a:rPr>
              <a:t>Schutz vor gezielter Manipulation</a:t>
            </a:r>
          </a:p>
          <a:p>
            <a:pPr algn="ctr">
              <a:lnSpc>
                <a:spcPct val="100000"/>
              </a:lnSpc>
              <a:spcBef>
                <a:spcPts val="400"/>
              </a:spcBef>
            </a:pPr>
            <a:r>
              <a:rPr lang="de-DE" sz="1100" dirty="0">
                <a:solidFill>
                  <a:srgbClr val="D5D9DC"/>
                </a:solidFill>
                <a:latin typeface="+mn-lt"/>
              </a:rPr>
              <a:t>Gerichtete Angriffe · IEC 62443</a:t>
            </a:r>
          </a:p>
        </p:txBody>
      </p:sp>
      <p:sp>
        <p:nvSpPr>
          <p:cNvPr id="25" name="Strich"/>
          <p:cNvSpPr/>
          <p:nvPr/>
        </p:nvSpPr>
        <p:spPr>
          <a:xfrm flipV="1">
            <a:off x="5120640" y="2834640"/>
            <a:ext cx="823880" cy="731520"/>
          </a:xfrm>
          <a:prstGeom prst="line">
            <a:avLst/>
          </a:prstGeom>
          <a:noFill/>
          <a:ln w="50800">
            <a:solidFill>
              <a:srgbClr val="FF6E00"/>
            </a:solidFill>
          </a:ln>
        </p:spPr>
        <p:txBody>
          <a:bodyPr wrap="square" lIns="45720" tIns="27432" rIns="45720" bIns="27432" anchor="ctr">
            <a:normAutofit fontScale="25000" lnSpcReduction="20000"/>
          </a:bodyPr>
          <a:lstStyle/>
          <a:p>
            <a:endParaRPr lang="de-DE"/>
          </a:p>
        </p:txBody>
      </p:sp>
      <p:sp>
        <p:nvSpPr>
          <p:cNvPr id="9"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FF6E00"/>
                </a:solidFill>
                <a:latin typeface="+mn-lt"/>
              </a:rPr>
              <a:t>Beide Eigenschaften sind trennbar und erfordern eine unabhängige Verifikation.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105156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BLOCK 5 · FAZIT UND AUSBLICK</a:t>
            </a:r>
          </a:p>
        </p:txBody>
      </p:sp>
      <p:sp>
        <p:nvSpPr>
          <p:cNvPr id="3" name="Ueberschrift"/>
          <p:cNvSpPr txBox="1"/>
          <p:nvPr/>
        </p:nvSpPr>
        <p:spPr>
          <a:xfrm>
            <a:off x="777240" y="804672"/>
            <a:ext cx="10515600" cy="82296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Ausblick</a:t>
            </a:r>
          </a:p>
        </p:txBody>
      </p:sp>
      <p:sp>
        <p:nvSpPr>
          <p:cNvPr id="40" name="Zeitpfeil"/>
          <p:cNvSpPr/>
          <p:nvPr/>
        </p:nvSpPr>
        <p:spPr>
          <a:xfrm>
            <a:off x="777240" y="3035808"/>
            <a:ext cx="10332720" cy="109728"/>
          </a:xfrm>
          <a:prstGeom prst="rightArrow">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41" name="Nr 01"/>
          <p:cNvSpPr/>
          <p:nvPr/>
        </p:nvSpPr>
        <p:spPr>
          <a:xfrm>
            <a:off x="777240" y="3401568"/>
            <a:ext cx="457200" cy="457200"/>
          </a:xfrm>
          <a:prstGeom prst="ellipse">
            <a:avLst/>
          </a:prstGeom>
          <a:solidFill>
            <a:srgbClr val="FF6E00"/>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30343A"/>
                </a:solidFill>
                <a:latin typeface="+mn-lt"/>
              </a:rPr>
              <a:t>01</a:t>
            </a:r>
          </a:p>
        </p:txBody>
      </p:sp>
      <p:sp>
        <p:nvSpPr>
          <p:cNvPr id="42" name="Station 01"/>
          <p:cNvSpPr txBox="1"/>
          <p:nvPr/>
        </p:nvSpPr>
        <p:spPr>
          <a:xfrm>
            <a:off x="777240" y="4005072"/>
            <a:ext cx="2377440" cy="1097280"/>
          </a:xfrm>
          <a:prstGeom prst="rect">
            <a:avLst/>
          </a:prstGeom>
          <a:noFill/>
        </p:spPr>
        <p:txBody>
          <a:bodyPr wrap="square" lIns="0" tIns="0" rIns="0" bIns="0" anchor="t">
            <a:normAutofit/>
          </a:bodyPr>
          <a:lstStyle/>
          <a:p>
            <a:pPr algn="l">
              <a:lnSpc>
                <a:spcPct val="100000"/>
              </a:lnSpc>
              <a:spcBef>
                <a:spcPts val="0"/>
              </a:spcBef>
            </a:pPr>
            <a:r>
              <a:rPr lang="de-DE" sz="1300" b="1" dirty="0">
                <a:solidFill>
                  <a:srgbClr val="30343A"/>
                </a:solidFill>
                <a:latin typeface="+mn-lt"/>
              </a:rPr>
              <a:t>Messpunkte automatisieren</a:t>
            </a:r>
          </a:p>
          <a:p>
            <a:pPr algn="l">
              <a:lnSpc>
                <a:spcPct val="100000"/>
              </a:lnSpc>
              <a:spcBef>
                <a:spcPts val="500"/>
              </a:spcBef>
            </a:pPr>
            <a:r>
              <a:rPr lang="de-DE" sz="1050" dirty="0">
                <a:solidFill>
                  <a:srgbClr val="5B666F"/>
                </a:solidFill>
                <a:latin typeface="+mn-lt"/>
              </a:rPr>
              <a:t>Erfassung in die Testumgebung integrieren</a:t>
            </a:r>
          </a:p>
        </p:txBody>
      </p:sp>
      <p:sp>
        <p:nvSpPr>
          <p:cNvPr id="44" name="Nr 02"/>
          <p:cNvSpPr/>
          <p:nvPr/>
        </p:nvSpPr>
        <p:spPr>
          <a:xfrm>
            <a:off x="3429000" y="3401568"/>
            <a:ext cx="457200" cy="457200"/>
          </a:xfrm>
          <a:prstGeom prst="ellipse">
            <a:avLst/>
          </a:prstGeom>
          <a:solidFill>
            <a:srgbClr val="FF6E00"/>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30343A"/>
                </a:solidFill>
                <a:latin typeface="+mn-lt"/>
              </a:rPr>
              <a:t>02</a:t>
            </a:r>
          </a:p>
        </p:txBody>
      </p:sp>
      <p:sp>
        <p:nvSpPr>
          <p:cNvPr id="45" name="Station 02"/>
          <p:cNvSpPr txBox="1"/>
          <p:nvPr/>
        </p:nvSpPr>
        <p:spPr>
          <a:xfrm>
            <a:off x="3429000" y="4005072"/>
            <a:ext cx="2377440" cy="1097280"/>
          </a:xfrm>
          <a:prstGeom prst="rect">
            <a:avLst/>
          </a:prstGeom>
          <a:noFill/>
        </p:spPr>
        <p:txBody>
          <a:bodyPr wrap="square" lIns="0" tIns="0" rIns="0" bIns="0" anchor="t">
            <a:normAutofit/>
          </a:bodyPr>
          <a:lstStyle/>
          <a:p>
            <a:pPr algn="l">
              <a:lnSpc>
                <a:spcPct val="100000"/>
              </a:lnSpc>
              <a:spcBef>
                <a:spcPts val="0"/>
              </a:spcBef>
            </a:pPr>
            <a:r>
              <a:rPr lang="de-DE" sz="1300" b="1" dirty="0">
                <a:solidFill>
                  <a:srgbClr val="30343A"/>
                </a:solidFill>
                <a:latin typeface="+mn-lt"/>
              </a:rPr>
              <a:t>Kette werkzeuggestützt führen</a:t>
            </a:r>
          </a:p>
          <a:p>
            <a:pPr algn="l">
              <a:lnSpc>
                <a:spcPct val="100000"/>
              </a:lnSpc>
              <a:spcBef>
                <a:spcPts val="500"/>
              </a:spcBef>
            </a:pPr>
            <a:r>
              <a:rPr lang="de-DE" sz="1050" dirty="0">
                <a:solidFill>
                  <a:srgbClr val="5B666F"/>
                </a:solidFill>
                <a:latin typeface="+mn-lt"/>
              </a:rPr>
              <a:t>Traceability durchgängig dokumentieren</a:t>
            </a:r>
          </a:p>
        </p:txBody>
      </p:sp>
      <p:sp>
        <p:nvSpPr>
          <p:cNvPr id="47" name="Nr 03"/>
          <p:cNvSpPr/>
          <p:nvPr/>
        </p:nvSpPr>
        <p:spPr>
          <a:xfrm>
            <a:off x="6080760" y="3401568"/>
            <a:ext cx="457200" cy="457200"/>
          </a:xfrm>
          <a:prstGeom prst="ellipse">
            <a:avLst/>
          </a:prstGeom>
          <a:solidFill>
            <a:srgbClr val="30343A"/>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FFFFFF"/>
                </a:solidFill>
                <a:latin typeface="+mn-lt"/>
              </a:rPr>
              <a:t>03</a:t>
            </a:r>
          </a:p>
        </p:txBody>
      </p:sp>
      <p:sp>
        <p:nvSpPr>
          <p:cNvPr id="48" name="Station 03"/>
          <p:cNvSpPr txBox="1"/>
          <p:nvPr/>
        </p:nvSpPr>
        <p:spPr>
          <a:xfrm>
            <a:off x="6080760" y="4005072"/>
            <a:ext cx="2377440" cy="1097280"/>
          </a:xfrm>
          <a:prstGeom prst="rect">
            <a:avLst/>
          </a:prstGeom>
          <a:noFill/>
        </p:spPr>
        <p:txBody>
          <a:bodyPr wrap="square" lIns="0" tIns="0" rIns="0" bIns="0" anchor="t">
            <a:normAutofit/>
          </a:bodyPr>
          <a:lstStyle/>
          <a:p>
            <a:pPr algn="l">
              <a:lnSpc>
                <a:spcPct val="100000"/>
              </a:lnSpc>
              <a:spcBef>
                <a:spcPts val="0"/>
              </a:spcBef>
            </a:pPr>
            <a:r>
              <a:rPr lang="de-DE" sz="1300" b="1" dirty="0">
                <a:solidFill>
                  <a:srgbClr val="30343A"/>
                </a:solidFill>
                <a:latin typeface="+mn-lt"/>
              </a:rPr>
              <a:t>Auf weitere Gerätefamilien</a:t>
            </a:r>
          </a:p>
          <a:p>
            <a:pPr algn="l">
              <a:lnSpc>
                <a:spcPct val="100000"/>
              </a:lnSpc>
              <a:spcBef>
                <a:spcPts val="500"/>
              </a:spcBef>
            </a:pPr>
            <a:r>
              <a:rPr lang="de-DE" sz="1050" dirty="0">
                <a:solidFill>
                  <a:srgbClr val="5B666F"/>
                </a:solidFill>
                <a:latin typeface="+mn-lt"/>
              </a:rPr>
              <a:t>Methodik auf andere Produkte übertragen</a:t>
            </a:r>
          </a:p>
        </p:txBody>
      </p:sp>
      <p:sp>
        <p:nvSpPr>
          <p:cNvPr id="50" name="Nr 04"/>
          <p:cNvSpPr/>
          <p:nvPr/>
        </p:nvSpPr>
        <p:spPr>
          <a:xfrm>
            <a:off x="8732520" y="3401568"/>
            <a:ext cx="457200" cy="457200"/>
          </a:xfrm>
          <a:prstGeom prst="ellipse">
            <a:avLst/>
          </a:prstGeom>
          <a:solidFill>
            <a:srgbClr val="30343A"/>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FFFFFF"/>
                </a:solidFill>
                <a:latin typeface="+mn-lt"/>
              </a:rPr>
              <a:t>04</a:t>
            </a:r>
          </a:p>
        </p:txBody>
      </p:sp>
      <p:sp>
        <p:nvSpPr>
          <p:cNvPr id="51" name="Station 04"/>
          <p:cNvSpPr txBox="1"/>
          <p:nvPr/>
        </p:nvSpPr>
        <p:spPr>
          <a:xfrm>
            <a:off x="8732520" y="4005072"/>
            <a:ext cx="2377440" cy="1097280"/>
          </a:xfrm>
          <a:prstGeom prst="rect">
            <a:avLst/>
          </a:prstGeom>
          <a:noFill/>
        </p:spPr>
        <p:txBody>
          <a:bodyPr wrap="square" lIns="0" tIns="0" rIns="0" bIns="0" anchor="t">
            <a:normAutofit/>
          </a:bodyPr>
          <a:lstStyle/>
          <a:p>
            <a:pPr algn="l">
              <a:lnSpc>
                <a:spcPct val="100000"/>
              </a:lnSpc>
              <a:spcBef>
                <a:spcPts val="0"/>
              </a:spcBef>
            </a:pPr>
            <a:r>
              <a:rPr lang="de-DE" sz="1300" b="1" dirty="0">
                <a:solidFill>
                  <a:srgbClr val="30343A"/>
                </a:solidFill>
                <a:latin typeface="+mn-lt"/>
              </a:rPr>
              <a:t>Abgleich mit harmonisierten Normen</a:t>
            </a:r>
          </a:p>
          <a:p>
            <a:pPr algn="l">
              <a:lnSpc>
                <a:spcPct val="100000"/>
              </a:lnSpc>
              <a:spcBef>
                <a:spcPts val="500"/>
              </a:spcBef>
            </a:pPr>
            <a:r>
              <a:rPr lang="de-DE" sz="1050" dirty="0">
                <a:solidFill>
                  <a:srgbClr val="5B666F"/>
                </a:solidFill>
                <a:latin typeface="+mn-lt"/>
              </a:rPr>
              <a:t>Anpassung, sobald diese vorliegen</a:t>
            </a:r>
          </a:p>
        </p:txBody>
      </p:sp>
      <p:sp>
        <p:nvSpPr>
          <p:cNvPr id="60" name="Klammer kurz"/>
          <p:cNvSpPr/>
          <p:nvPr/>
        </p:nvSpPr>
        <p:spPr>
          <a:xfrm>
            <a:off x="777240" y="2331720"/>
            <a:ext cx="5029200" cy="365760"/>
          </a:xfrm>
          <a:prstGeom prst="rect">
            <a:avLst/>
          </a:prstGeom>
          <a:noFill/>
          <a:ln>
            <a:noFill/>
          </a:ln>
        </p:spPr>
        <p:txBody>
          <a:bodyPr wrap="square" lIns="45720" tIns="27432" rIns="45720" bIns="27432" anchor="b">
            <a:normAutofit/>
          </a:bodyPr>
          <a:lstStyle/>
          <a:p>
            <a:pPr algn="ctr">
              <a:lnSpc>
                <a:spcPct val="100000"/>
              </a:lnSpc>
              <a:spcBef>
                <a:spcPts val="0"/>
              </a:spcBef>
            </a:pPr>
            <a:r>
              <a:rPr lang="de-DE" sz="1100" b="1" dirty="0">
                <a:solidFill>
                  <a:srgbClr val="FF6E00"/>
                </a:solidFill>
                <a:latin typeface="+mn-lt"/>
              </a:rPr>
              <a:t>kurzfristig</a:t>
            </a:r>
          </a:p>
        </p:txBody>
      </p:sp>
      <p:sp>
        <p:nvSpPr>
          <p:cNvPr id="61" name="Klammer mittel"/>
          <p:cNvSpPr/>
          <p:nvPr/>
        </p:nvSpPr>
        <p:spPr>
          <a:xfrm>
            <a:off x="6080760" y="2331720"/>
            <a:ext cx="5029200" cy="365760"/>
          </a:xfrm>
          <a:prstGeom prst="rect">
            <a:avLst/>
          </a:prstGeom>
          <a:noFill/>
          <a:ln>
            <a:noFill/>
          </a:ln>
        </p:spPr>
        <p:txBody>
          <a:bodyPr wrap="square" lIns="45720" tIns="27432" rIns="45720" bIns="27432" anchor="b">
            <a:normAutofit/>
          </a:bodyPr>
          <a:lstStyle/>
          <a:p>
            <a:pPr algn="ctr">
              <a:lnSpc>
                <a:spcPct val="100000"/>
              </a:lnSpc>
              <a:spcBef>
                <a:spcPts val="0"/>
              </a:spcBef>
            </a:pPr>
            <a:r>
              <a:rPr lang="de-DE" sz="1100" b="1" dirty="0">
                <a:solidFill>
                  <a:srgbClr val="5B666F"/>
                </a:solidFill>
                <a:latin typeface="+mn-lt"/>
              </a:rPr>
              <a:t>mittelfristig</a:t>
            </a:r>
          </a:p>
        </p:txBody>
      </p:sp>
      <p:sp>
        <p:nvSpPr>
          <p:cNvPr id="62" name="Linie kurz"/>
          <p:cNvSpPr/>
          <p:nvPr/>
        </p:nvSpPr>
        <p:spPr>
          <a:xfrm>
            <a:off x="777240" y="2724912"/>
            <a:ext cx="5029200" cy="27432"/>
          </a:xfrm>
          <a:prstGeom prst="rect">
            <a:avLst/>
          </a:prstGeom>
          <a:solidFill>
            <a:srgbClr val="FF6E00"/>
          </a:solidFill>
          <a:ln>
            <a:noFill/>
          </a:ln>
        </p:spPr>
        <p:txBody>
          <a:bodyPr wrap="square" lIns="45720" tIns="27432" rIns="45720" bIns="27432" anchor="ctr">
            <a:normAutofit fontScale="25000" lnSpcReduction="20000"/>
          </a:bodyPr>
          <a:lstStyle/>
          <a:p>
            <a:endParaRPr lang="de-DE"/>
          </a:p>
        </p:txBody>
      </p:sp>
      <p:sp>
        <p:nvSpPr>
          <p:cNvPr id="63" name="Linie mittel"/>
          <p:cNvSpPr/>
          <p:nvPr/>
        </p:nvSpPr>
        <p:spPr>
          <a:xfrm>
            <a:off x="6080760" y="2724912"/>
            <a:ext cx="5029200" cy="27432"/>
          </a:xfrm>
          <a:prstGeom prst="rect">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9"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FF6E00"/>
                </a:solidFill>
                <a:latin typeface="+mn-lt"/>
              </a:rPr>
              <a:t>Die Methodik ist übertragbar – die Demonstration ist der erste Schritt.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p:bldP spid="44" grpId="0" animBg="1"/>
      <p:bldP spid="45" grpId="0"/>
      <p:bldP spid="47" grpId="0" animBg="1"/>
      <p:bldP spid="48" grpId="0"/>
      <p:bldP spid="50" grpId="0" animBg="1"/>
      <p:bldP spid="51" grpId="0"/>
      <p:bldP spid="60" grpId="0"/>
      <p:bldP spid="61" grpId="0"/>
      <p:bldP spid="62" grpId="0" animBg="1"/>
      <p:bldP spid="6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kzentbalken"/>
          <p:cNvSpPr/>
          <p:nvPr/>
        </p:nvSpPr>
        <p:spPr>
          <a:xfrm>
            <a:off x="914400" y="2468880"/>
            <a:ext cx="1005840" cy="82296"/>
          </a:xfrm>
          <a:prstGeom prst="rect">
            <a:avLst/>
          </a:prstGeom>
          <a:solidFill>
            <a:srgbClr val="FF6E00"/>
          </a:solidFill>
          <a:ln>
            <a:noFill/>
          </a:ln>
        </p:spPr>
        <p:txBody>
          <a:bodyPr wrap="square" lIns="45720" tIns="27432" rIns="45720" bIns="27432" anchor="ctr">
            <a:normAutofit fontScale="25000" lnSpcReduction="20000"/>
          </a:bodyPr>
          <a:lstStyle/>
          <a:p>
            <a:endParaRPr lang="de-DE"/>
          </a:p>
        </p:txBody>
      </p:sp>
      <p:sp>
        <p:nvSpPr>
          <p:cNvPr id="3" name="Dank"/>
          <p:cNvSpPr txBox="1"/>
          <p:nvPr/>
        </p:nvSpPr>
        <p:spPr>
          <a:xfrm>
            <a:off x="914400" y="2834640"/>
            <a:ext cx="10332720" cy="1005840"/>
          </a:xfrm>
          <a:prstGeom prst="rect">
            <a:avLst/>
          </a:prstGeom>
          <a:noFill/>
        </p:spPr>
        <p:txBody>
          <a:bodyPr wrap="square" lIns="0" tIns="0" rIns="0" bIns="0" anchor="t">
            <a:normAutofit/>
          </a:bodyPr>
          <a:lstStyle/>
          <a:p>
            <a:pPr algn="l">
              <a:lnSpc>
                <a:spcPct val="100000"/>
              </a:lnSpc>
              <a:spcBef>
                <a:spcPts val="0"/>
              </a:spcBef>
            </a:pPr>
            <a:r>
              <a:rPr lang="de-DE" sz="3400" b="1" dirty="0">
                <a:solidFill>
                  <a:srgbClr val="30343A"/>
                </a:solidFill>
                <a:latin typeface="+mn-lt"/>
              </a:rPr>
              <a:t>Vielen Dank für Ihre Aufmerksamkeit</a:t>
            </a:r>
          </a:p>
        </p:txBody>
      </p:sp>
      <p:sp>
        <p:nvSpPr>
          <p:cNvPr id="4" name="Name"/>
          <p:cNvSpPr txBox="1"/>
          <p:nvPr/>
        </p:nvSpPr>
        <p:spPr>
          <a:xfrm>
            <a:off x="914400" y="3977640"/>
            <a:ext cx="7315200" cy="365760"/>
          </a:xfrm>
          <a:prstGeom prst="rect">
            <a:avLst/>
          </a:prstGeom>
          <a:noFill/>
        </p:spPr>
        <p:txBody>
          <a:bodyPr wrap="square" lIns="0" tIns="0" rIns="0" bIns="0" anchor="t">
            <a:normAutofit/>
          </a:bodyPr>
          <a:lstStyle/>
          <a:p>
            <a:pPr algn="l">
              <a:lnSpc>
                <a:spcPct val="100000"/>
              </a:lnSpc>
              <a:spcBef>
                <a:spcPts val="0"/>
              </a:spcBef>
            </a:pPr>
            <a:r>
              <a:rPr lang="de-DE" sz="1300" dirty="0">
                <a:solidFill>
                  <a:srgbClr val="5B666F"/>
                </a:solidFill>
                <a:latin typeface="+mn-lt"/>
              </a:rPr>
              <a:t>Nathalie Nuber</a:t>
            </a:r>
          </a:p>
        </p:txBody>
      </p:sp>
      <p:sp>
        <p:nvSpPr>
          <p:cNvPr id="5" name="Datum"/>
          <p:cNvSpPr txBox="1"/>
          <p:nvPr/>
        </p:nvSpPr>
        <p:spPr>
          <a:xfrm>
            <a:off x="8229600" y="5989320"/>
            <a:ext cx="3017520" cy="320040"/>
          </a:xfrm>
          <a:prstGeom prst="rect">
            <a:avLst/>
          </a:prstGeom>
          <a:noFill/>
        </p:spPr>
        <p:txBody>
          <a:bodyPr wrap="square" lIns="0" tIns="0" rIns="0" bIns="0" anchor="t">
            <a:normAutofit/>
          </a:bodyPr>
          <a:lstStyle/>
          <a:p>
            <a:pPr algn="r">
              <a:lnSpc>
                <a:spcPct val="100000"/>
              </a:lnSpc>
              <a:spcBef>
                <a:spcPts val="0"/>
              </a:spcBef>
            </a:pPr>
            <a:r>
              <a:rPr lang="de-DE" sz="1100" dirty="0">
                <a:solidFill>
                  <a:srgbClr val="5B666F"/>
                </a:solidFill>
                <a:latin typeface="+mn-lt"/>
              </a:rPr>
              <a:t>22.09.2026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105156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BACKUP</a:t>
            </a:r>
          </a:p>
        </p:txBody>
      </p:sp>
      <p:sp>
        <p:nvSpPr>
          <p:cNvPr id="3" name="Ueberschrift"/>
          <p:cNvSpPr txBox="1"/>
          <p:nvPr/>
        </p:nvSpPr>
        <p:spPr>
          <a:xfrm>
            <a:off x="777240" y="804672"/>
            <a:ext cx="10515600" cy="82296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Forschungsdesign nach DSRM</a:t>
            </a:r>
          </a:p>
        </p:txBody>
      </p:sp>
      <p:sp>
        <p:nvSpPr>
          <p:cNvPr id="20" name="Nr01"/>
          <p:cNvSpPr/>
          <p:nvPr/>
        </p:nvSpPr>
        <p:spPr>
          <a:xfrm>
            <a:off x="777240" y="2240280"/>
            <a:ext cx="457200" cy="457200"/>
          </a:xfrm>
          <a:prstGeom prst="ellipse">
            <a:avLst/>
          </a:prstGeom>
          <a:solidFill>
            <a:srgbClr val="30343A"/>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FFFFFF"/>
                </a:solidFill>
                <a:latin typeface="+mn-lt"/>
              </a:rPr>
              <a:t>01</a:t>
            </a:r>
          </a:p>
        </p:txBody>
      </p:sp>
      <p:sp>
        <p:nvSpPr>
          <p:cNvPr id="21" name="Pfeil01"/>
          <p:cNvSpPr/>
          <p:nvPr/>
        </p:nvSpPr>
        <p:spPr>
          <a:xfrm>
            <a:off x="1344168" y="2404872"/>
            <a:ext cx="1078992" cy="128016"/>
          </a:xfrm>
          <a:prstGeom prst="rightArrow">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22" name="T01"/>
          <p:cNvSpPr txBox="1"/>
          <p:nvPr/>
        </p:nvSpPr>
        <p:spPr>
          <a:xfrm>
            <a:off x="777240" y="2880360"/>
            <a:ext cx="1600200" cy="731520"/>
          </a:xfrm>
          <a:prstGeom prst="rect">
            <a:avLst/>
          </a:prstGeom>
          <a:noFill/>
        </p:spPr>
        <p:txBody>
          <a:bodyPr wrap="square" lIns="0" tIns="0" rIns="0" bIns="0" anchor="t">
            <a:normAutofit/>
          </a:bodyPr>
          <a:lstStyle/>
          <a:p>
            <a:pPr algn="l">
              <a:lnSpc>
                <a:spcPct val="100000"/>
              </a:lnSpc>
              <a:spcBef>
                <a:spcPts val="0"/>
              </a:spcBef>
            </a:pPr>
            <a:r>
              <a:rPr lang="de-DE" sz="1250" b="1" dirty="0">
                <a:solidFill>
                  <a:srgbClr val="30343A"/>
                </a:solidFill>
                <a:latin typeface="+mn-lt"/>
              </a:rPr>
              <a:t>Problem-identifikation</a:t>
            </a:r>
          </a:p>
        </p:txBody>
      </p:sp>
      <p:sp>
        <p:nvSpPr>
          <p:cNvPr id="23" name="K01"/>
          <p:cNvSpPr txBox="1"/>
          <p:nvPr/>
        </p:nvSpPr>
        <p:spPr>
          <a:xfrm>
            <a:off x="777240" y="3657600"/>
            <a:ext cx="1600200" cy="320040"/>
          </a:xfrm>
          <a:prstGeom prst="rect">
            <a:avLst/>
          </a:prstGeom>
          <a:noFill/>
        </p:spPr>
        <p:txBody>
          <a:bodyPr wrap="square" lIns="0" tIns="0" rIns="0" bIns="0" anchor="t">
            <a:normAutofit/>
          </a:bodyPr>
          <a:lstStyle/>
          <a:p>
            <a:pPr algn="l">
              <a:lnSpc>
                <a:spcPct val="100000"/>
              </a:lnSpc>
              <a:spcBef>
                <a:spcPts val="0"/>
              </a:spcBef>
            </a:pPr>
            <a:r>
              <a:rPr lang="de-DE" sz="1050" dirty="0">
                <a:solidFill>
                  <a:srgbClr val="5B666F"/>
                </a:solidFill>
                <a:latin typeface="+mn-lt"/>
              </a:rPr>
              <a:t>Kapitel 1</a:t>
            </a:r>
          </a:p>
        </p:txBody>
      </p:sp>
      <p:sp>
        <p:nvSpPr>
          <p:cNvPr id="24" name="Nr02"/>
          <p:cNvSpPr/>
          <p:nvPr/>
        </p:nvSpPr>
        <p:spPr>
          <a:xfrm>
            <a:off x="2542032" y="2240280"/>
            <a:ext cx="457200" cy="457200"/>
          </a:xfrm>
          <a:prstGeom prst="ellipse">
            <a:avLst/>
          </a:prstGeom>
          <a:solidFill>
            <a:srgbClr val="30343A"/>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FFFFFF"/>
                </a:solidFill>
                <a:latin typeface="+mn-lt"/>
              </a:rPr>
              <a:t>02</a:t>
            </a:r>
          </a:p>
        </p:txBody>
      </p:sp>
      <p:sp>
        <p:nvSpPr>
          <p:cNvPr id="25" name="Pfeil02"/>
          <p:cNvSpPr/>
          <p:nvPr/>
        </p:nvSpPr>
        <p:spPr>
          <a:xfrm>
            <a:off x="3108960" y="2404872"/>
            <a:ext cx="1078992" cy="128016"/>
          </a:xfrm>
          <a:prstGeom prst="rightArrow">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26" name="T02"/>
          <p:cNvSpPr txBox="1"/>
          <p:nvPr/>
        </p:nvSpPr>
        <p:spPr>
          <a:xfrm>
            <a:off x="2542032" y="2880360"/>
            <a:ext cx="1600200" cy="731520"/>
          </a:xfrm>
          <a:prstGeom prst="rect">
            <a:avLst/>
          </a:prstGeom>
          <a:noFill/>
        </p:spPr>
        <p:txBody>
          <a:bodyPr wrap="square" lIns="0" tIns="0" rIns="0" bIns="0" anchor="t">
            <a:normAutofit/>
          </a:bodyPr>
          <a:lstStyle/>
          <a:p>
            <a:pPr algn="l">
              <a:lnSpc>
                <a:spcPct val="100000"/>
              </a:lnSpc>
              <a:spcBef>
                <a:spcPts val="0"/>
              </a:spcBef>
            </a:pPr>
            <a:r>
              <a:rPr lang="de-DE" sz="1250" b="1" dirty="0">
                <a:solidFill>
                  <a:srgbClr val="30343A"/>
                </a:solidFill>
                <a:latin typeface="+mn-lt"/>
              </a:rPr>
              <a:t>Zieldefinition</a:t>
            </a:r>
          </a:p>
        </p:txBody>
      </p:sp>
      <p:sp>
        <p:nvSpPr>
          <p:cNvPr id="27" name="K02"/>
          <p:cNvSpPr txBox="1"/>
          <p:nvPr/>
        </p:nvSpPr>
        <p:spPr>
          <a:xfrm>
            <a:off x="2542032" y="3657600"/>
            <a:ext cx="1600200" cy="320040"/>
          </a:xfrm>
          <a:prstGeom prst="rect">
            <a:avLst/>
          </a:prstGeom>
          <a:noFill/>
        </p:spPr>
        <p:txBody>
          <a:bodyPr wrap="square" lIns="0" tIns="0" rIns="0" bIns="0" anchor="t">
            <a:normAutofit/>
          </a:bodyPr>
          <a:lstStyle/>
          <a:p>
            <a:pPr algn="l">
              <a:lnSpc>
                <a:spcPct val="100000"/>
              </a:lnSpc>
              <a:spcBef>
                <a:spcPts val="0"/>
              </a:spcBef>
            </a:pPr>
            <a:r>
              <a:rPr lang="de-DE" sz="1050" dirty="0">
                <a:solidFill>
                  <a:srgbClr val="5B666F"/>
                </a:solidFill>
                <a:latin typeface="+mn-lt"/>
              </a:rPr>
              <a:t>Kapitel 2</a:t>
            </a:r>
          </a:p>
        </p:txBody>
      </p:sp>
      <p:sp>
        <p:nvSpPr>
          <p:cNvPr id="28" name="Nr03"/>
          <p:cNvSpPr/>
          <p:nvPr/>
        </p:nvSpPr>
        <p:spPr>
          <a:xfrm>
            <a:off x="4306824" y="2240280"/>
            <a:ext cx="457200" cy="457200"/>
          </a:xfrm>
          <a:prstGeom prst="ellipse">
            <a:avLst/>
          </a:prstGeom>
          <a:solidFill>
            <a:srgbClr val="FF6E00"/>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30343A"/>
                </a:solidFill>
                <a:latin typeface="+mn-lt"/>
              </a:rPr>
              <a:t>03</a:t>
            </a:r>
          </a:p>
        </p:txBody>
      </p:sp>
      <p:sp>
        <p:nvSpPr>
          <p:cNvPr id="29" name="Pfeil03"/>
          <p:cNvSpPr/>
          <p:nvPr/>
        </p:nvSpPr>
        <p:spPr>
          <a:xfrm>
            <a:off x="4873752" y="2404872"/>
            <a:ext cx="1078992" cy="128016"/>
          </a:xfrm>
          <a:prstGeom prst="rightArrow">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30" name="T03"/>
          <p:cNvSpPr txBox="1"/>
          <p:nvPr/>
        </p:nvSpPr>
        <p:spPr>
          <a:xfrm>
            <a:off x="4306824" y="2880360"/>
            <a:ext cx="1600200" cy="731520"/>
          </a:xfrm>
          <a:prstGeom prst="rect">
            <a:avLst/>
          </a:prstGeom>
          <a:noFill/>
        </p:spPr>
        <p:txBody>
          <a:bodyPr wrap="square" lIns="0" tIns="0" rIns="0" bIns="0" anchor="t">
            <a:normAutofit/>
          </a:bodyPr>
          <a:lstStyle/>
          <a:p>
            <a:pPr algn="l">
              <a:lnSpc>
                <a:spcPct val="100000"/>
              </a:lnSpc>
              <a:spcBef>
                <a:spcPts val="0"/>
              </a:spcBef>
            </a:pPr>
            <a:r>
              <a:rPr lang="de-DE" sz="1250" b="1" dirty="0">
                <a:solidFill>
                  <a:srgbClr val="30343A"/>
                </a:solidFill>
                <a:latin typeface="+mn-lt"/>
              </a:rPr>
              <a:t>Design und Entwicklung</a:t>
            </a:r>
          </a:p>
        </p:txBody>
      </p:sp>
      <p:sp>
        <p:nvSpPr>
          <p:cNvPr id="31" name="K03"/>
          <p:cNvSpPr txBox="1"/>
          <p:nvPr/>
        </p:nvSpPr>
        <p:spPr>
          <a:xfrm>
            <a:off x="4306824" y="3657600"/>
            <a:ext cx="1600200" cy="320040"/>
          </a:xfrm>
          <a:prstGeom prst="rect">
            <a:avLst/>
          </a:prstGeom>
          <a:noFill/>
        </p:spPr>
        <p:txBody>
          <a:bodyPr wrap="square" lIns="0" tIns="0" rIns="0" bIns="0" anchor="t">
            <a:normAutofit/>
          </a:bodyPr>
          <a:lstStyle/>
          <a:p>
            <a:pPr algn="l">
              <a:lnSpc>
                <a:spcPct val="100000"/>
              </a:lnSpc>
              <a:spcBef>
                <a:spcPts val="0"/>
              </a:spcBef>
            </a:pPr>
            <a:r>
              <a:rPr lang="de-DE" sz="1050" dirty="0">
                <a:solidFill>
                  <a:srgbClr val="5B666F"/>
                </a:solidFill>
                <a:latin typeface="+mn-lt"/>
              </a:rPr>
              <a:t>Kapitel 3</a:t>
            </a:r>
          </a:p>
        </p:txBody>
      </p:sp>
      <p:sp>
        <p:nvSpPr>
          <p:cNvPr id="32" name="Nr04"/>
          <p:cNvSpPr/>
          <p:nvPr/>
        </p:nvSpPr>
        <p:spPr>
          <a:xfrm>
            <a:off x="6071616" y="2240280"/>
            <a:ext cx="457200" cy="457200"/>
          </a:xfrm>
          <a:prstGeom prst="ellipse">
            <a:avLst/>
          </a:prstGeom>
          <a:solidFill>
            <a:srgbClr val="FF6E00"/>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30343A"/>
                </a:solidFill>
                <a:latin typeface="+mn-lt"/>
              </a:rPr>
              <a:t>04</a:t>
            </a:r>
          </a:p>
        </p:txBody>
      </p:sp>
      <p:sp>
        <p:nvSpPr>
          <p:cNvPr id="33" name="Pfeil04"/>
          <p:cNvSpPr/>
          <p:nvPr/>
        </p:nvSpPr>
        <p:spPr>
          <a:xfrm>
            <a:off x="6638544" y="2404872"/>
            <a:ext cx="1078992" cy="128016"/>
          </a:xfrm>
          <a:prstGeom prst="rightArrow">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34" name="T04"/>
          <p:cNvSpPr txBox="1"/>
          <p:nvPr/>
        </p:nvSpPr>
        <p:spPr>
          <a:xfrm>
            <a:off x="6071616" y="2880360"/>
            <a:ext cx="1600200" cy="731520"/>
          </a:xfrm>
          <a:prstGeom prst="rect">
            <a:avLst/>
          </a:prstGeom>
          <a:noFill/>
        </p:spPr>
        <p:txBody>
          <a:bodyPr wrap="square" lIns="0" tIns="0" rIns="0" bIns="0" anchor="t">
            <a:normAutofit/>
          </a:bodyPr>
          <a:lstStyle/>
          <a:p>
            <a:pPr algn="l">
              <a:lnSpc>
                <a:spcPct val="100000"/>
              </a:lnSpc>
              <a:spcBef>
                <a:spcPts val="0"/>
              </a:spcBef>
            </a:pPr>
            <a:r>
              <a:rPr lang="de-DE" sz="1250" b="1" dirty="0">
                <a:solidFill>
                  <a:srgbClr val="30343A"/>
                </a:solidFill>
                <a:latin typeface="+mn-lt"/>
              </a:rPr>
              <a:t>Demonstration</a:t>
            </a:r>
          </a:p>
        </p:txBody>
      </p:sp>
      <p:sp>
        <p:nvSpPr>
          <p:cNvPr id="35" name="K04"/>
          <p:cNvSpPr txBox="1"/>
          <p:nvPr/>
        </p:nvSpPr>
        <p:spPr>
          <a:xfrm>
            <a:off x="6071616" y="3657600"/>
            <a:ext cx="1600200" cy="320040"/>
          </a:xfrm>
          <a:prstGeom prst="rect">
            <a:avLst/>
          </a:prstGeom>
          <a:noFill/>
        </p:spPr>
        <p:txBody>
          <a:bodyPr wrap="square" lIns="0" tIns="0" rIns="0" bIns="0" anchor="t">
            <a:normAutofit/>
          </a:bodyPr>
          <a:lstStyle/>
          <a:p>
            <a:pPr algn="l">
              <a:lnSpc>
                <a:spcPct val="100000"/>
              </a:lnSpc>
              <a:spcBef>
                <a:spcPts val="0"/>
              </a:spcBef>
            </a:pPr>
            <a:r>
              <a:rPr lang="de-DE" sz="1050" dirty="0">
                <a:solidFill>
                  <a:srgbClr val="5B666F"/>
                </a:solidFill>
                <a:latin typeface="+mn-lt"/>
              </a:rPr>
              <a:t>Kapitel 4</a:t>
            </a:r>
          </a:p>
        </p:txBody>
      </p:sp>
      <p:sp>
        <p:nvSpPr>
          <p:cNvPr id="36" name="Nr05"/>
          <p:cNvSpPr/>
          <p:nvPr/>
        </p:nvSpPr>
        <p:spPr>
          <a:xfrm>
            <a:off x="7836408" y="2240280"/>
            <a:ext cx="457200" cy="457200"/>
          </a:xfrm>
          <a:prstGeom prst="ellipse">
            <a:avLst/>
          </a:prstGeom>
          <a:solidFill>
            <a:srgbClr val="30343A"/>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FFFFFF"/>
                </a:solidFill>
                <a:latin typeface="+mn-lt"/>
              </a:rPr>
              <a:t>05</a:t>
            </a:r>
          </a:p>
        </p:txBody>
      </p:sp>
      <p:sp>
        <p:nvSpPr>
          <p:cNvPr id="37" name="Pfeil05"/>
          <p:cNvSpPr/>
          <p:nvPr/>
        </p:nvSpPr>
        <p:spPr>
          <a:xfrm>
            <a:off x="8403336" y="2404872"/>
            <a:ext cx="1078992" cy="128016"/>
          </a:xfrm>
          <a:prstGeom prst="rightArrow">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38" name="T05"/>
          <p:cNvSpPr txBox="1"/>
          <p:nvPr/>
        </p:nvSpPr>
        <p:spPr>
          <a:xfrm>
            <a:off x="7836408" y="2880360"/>
            <a:ext cx="1600200" cy="731520"/>
          </a:xfrm>
          <a:prstGeom prst="rect">
            <a:avLst/>
          </a:prstGeom>
          <a:noFill/>
        </p:spPr>
        <p:txBody>
          <a:bodyPr wrap="square" lIns="0" tIns="0" rIns="0" bIns="0" anchor="t">
            <a:normAutofit/>
          </a:bodyPr>
          <a:lstStyle/>
          <a:p>
            <a:pPr algn="l">
              <a:lnSpc>
                <a:spcPct val="100000"/>
              </a:lnSpc>
              <a:spcBef>
                <a:spcPts val="0"/>
              </a:spcBef>
            </a:pPr>
            <a:r>
              <a:rPr lang="de-DE" sz="1250" b="1" dirty="0">
                <a:solidFill>
                  <a:srgbClr val="30343A"/>
                </a:solidFill>
                <a:latin typeface="+mn-lt"/>
              </a:rPr>
              <a:t>Evaluation</a:t>
            </a:r>
          </a:p>
        </p:txBody>
      </p:sp>
      <p:sp>
        <p:nvSpPr>
          <p:cNvPr id="39" name="K05"/>
          <p:cNvSpPr txBox="1"/>
          <p:nvPr/>
        </p:nvSpPr>
        <p:spPr>
          <a:xfrm>
            <a:off x="7836408" y="3657600"/>
            <a:ext cx="1600200" cy="320040"/>
          </a:xfrm>
          <a:prstGeom prst="rect">
            <a:avLst/>
          </a:prstGeom>
          <a:noFill/>
        </p:spPr>
        <p:txBody>
          <a:bodyPr wrap="square" lIns="0" tIns="0" rIns="0" bIns="0" anchor="t">
            <a:normAutofit/>
          </a:bodyPr>
          <a:lstStyle/>
          <a:p>
            <a:pPr algn="l">
              <a:lnSpc>
                <a:spcPct val="100000"/>
              </a:lnSpc>
              <a:spcBef>
                <a:spcPts val="0"/>
              </a:spcBef>
            </a:pPr>
            <a:r>
              <a:rPr lang="de-DE" sz="1050" dirty="0">
                <a:solidFill>
                  <a:srgbClr val="5B666F"/>
                </a:solidFill>
                <a:latin typeface="+mn-lt"/>
              </a:rPr>
              <a:t>Kapitel 5</a:t>
            </a:r>
          </a:p>
        </p:txBody>
      </p:sp>
      <p:sp>
        <p:nvSpPr>
          <p:cNvPr id="40" name="Nr06"/>
          <p:cNvSpPr/>
          <p:nvPr/>
        </p:nvSpPr>
        <p:spPr>
          <a:xfrm>
            <a:off x="9601200" y="2240280"/>
            <a:ext cx="457200" cy="457200"/>
          </a:xfrm>
          <a:prstGeom prst="ellipse">
            <a:avLst/>
          </a:prstGeom>
          <a:solidFill>
            <a:srgbClr val="30343A"/>
          </a:solidFill>
          <a:ln>
            <a:noFill/>
          </a:ln>
        </p:spPr>
        <p:txBody>
          <a:bodyPr wrap="square" lIns="45720" tIns="27432" rIns="45720" bIns="27432" anchor="ctr">
            <a:normAutofit/>
          </a:bodyPr>
          <a:lstStyle/>
          <a:p>
            <a:pPr algn="ctr">
              <a:lnSpc>
                <a:spcPct val="100000"/>
              </a:lnSpc>
              <a:spcBef>
                <a:spcPts val="0"/>
              </a:spcBef>
            </a:pPr>
            <a:r>
              <a:rPr lang="de-DE" sz="1100" b="1" dirty="0">
                <a:solidFill>
                  <a:srgbClr val="FFFFFF"/>
                </a:solidFill>
                <a:latin typeface="+mn-lt"/>
              </a:rPr>
              <a:t>06</a:t>
            </a:r>
          </a:p>
        </p:txBody>
      </p:sp>
      <p:sp>
        <p:nvSpPr>
          <p:cNvPr id="42" name="T06"/>
          <p:cNvSpPr txBox="1"/>
          <p:nvPr/>
        </p:nvSpPr>
        <p:spPr>
          <a:xfrm>
            <a:off x="9601200" y="2880360"/>
            <a:ext cx="1600200" cy="731520"/>
          </a:xfrm>
          <a:prstGeom prst="rect">
            <a:avLst/>
          </a:prstGeom>
          <a:noFill/>
        </p:spPr>
        <p:txBody>
          <a:bodyPr wrap="square" lIns="0" tIns="0" rIns="0" bIns="0" anchor="t">
            <a:normAutofit/>
          </a:bodyPr>
          <a:lstStyle/>
          <a:p>
            <a:pPr algn="l">
              <a:lnSpc>
                <a:spcPct val="100000"/>
              </a:lnSpc>
              <a:spcBef>
                <a:spcPts val="0"/>
              </a:spcBef>
            </a:pPr>
            <a:r>
              <a:rPr lang="de-DE" sz="1250" b="1" dirty="0">
                <a:solidFill>
                  <a:srgbClr val="30343A"/>
                </a:solidFill>
                <a:latin typeface="+mn-lt"/>
              </a:rPr>
              <a:t>Kommunikation</a:t>
            </a:r>
          </a:p>
        </p:txBody>
      </p:sp>
      <p:sp>
        <p:nvSpPr>
          <p:cNvPr id="43" name="K06"/>
          <p:cNvSpPr txBox="1"/>
          <p:nvPr/>
        </p:nvSpPr>
        <p:spPr>
          <a:xfrm>
            <a:off x="9601200" y="3657600"/>
            <a:ext cx="1600200" cy="320040"/>
          </a:xfrm>
          <a:prstGeom prst="rect">
            <a:avLst/>
          </a:prstGeom>
          <a:noFill/>
        </p:spPr>
        <p:txBody>
          <a:bodyPr wrap="square" lIns="0" tIns="0" rIns="0" bIns="0" anchor="t">
            <a:normAutofit/>
          </a:bodyPr>
          <a:lstStyle/>
          <a:p>
            <a:pPr algn="l">
              <a:lnSpc>
                <a:spcPct val="100000"/>
              </a:lnSpc>
              <a:spcBef>
                <a:spcPts val="0"/>
              </a:spcBef>
            </a:pPr>
            <a:r>
              <a:rPr lang="de-DE" sz="1050" dirty="0">
                <a:solidFill>
                  <a:srgbClr val="5B666F"/>
                </a:solidFill>
                <a:latin typeface="+mn-lt"/>
              </a:rPr>
              <a:t>Kapitel 6</a:t>
            </a:r>
          </a:p>
        </p:txBody>
      </p:sp>
      <p:sp>
        <p:nvSpPr>
          <p:cNvPr id="9"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FF6E00"/>
                </a:solidFill>
                <a:latin typeface="+mn-lt"/>
              </a:rPr>
              <a:t>Artefakt dieser Arbeit ist die Testmethodik, nicht das Testergebnis.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105156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BACKUP</a:t>
            </a:r>
          </a:p>
        </p:txBody>
      </p:sp>
      <p:sp>
        <p:nvSpPr>
          <p:cNvPr id="3" name="Ueberschrift"/>
          <p:cNvSpPr txBox="1"/>
          <p:nvPr/>
        </p:nvSpPr>
        <p:spPr>
          <a:xfrm>
            <a:off x="777240" y="804672"/>
            <a:ext cx="10515600" cy="82296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Warum SL-C 1</a:t>
            </a:r>
          </a:p>
        </p:txBody>
      </p:sp>
      <p:sp>
        <p:nvSpPr>
          <p:cNvPr id="20" name="Kachel0"/>
          <p:cNvSpPr/>
          <p:nvPr/>
        </p:nvSpPr>
        <p:spPr>
          <a:xfrm>
            <a:off x="777240" y="2286000"/>
            <a:ext cx="3291840" cy="192024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400" b="1" dirty="0">
                <a:solidFill>
                  <a:srgbClr val="30343A"/>
                </a:solidFill>
                <a:latin typeface="+mn-lt"/>
              </a:rPr>
              <a:t>Keine maschinenweite Risikobeurteilung möglich</a:t>
            </a:r>
          </a:p>
          <a:p>
            <a:pPr algn="ctr">
              <a:lnSpc>
                <a:spcPct val="100000"/>
              </a:lnSpc>
              <a:spcBef>
                <a:spcPts val="1000"/>
              </a:spcBef>
            </a:pPr>
            <a:r>
              <a:rPr lang="de-DE" sz="1050" dirty="0">
                <a:solidFill>
                  <a:srgbClr val="5B666F"/>
                </a:solidFill>
                <a:latin typeface="+mn-lt"/>
              </a:rPr>
              <a:t>Das Gateway wird als Komponente ohne Anlagenkontext betrachtet.</a:t>
            </a:r>
          </a:p>
        </p:txBody>
      </p:sp>
      <p:sp>
        <p:nvSpPr>
          <p:cNvPr id="22" name="Kachel1"/>
          <p:cNvSpPr/>
          <p:nvPr/>
        </p:nvSpPr>
        <p:spPr>
          <a:xfrm>
            <a:off x="4343400" y="2286000"/>
            <a:ext cx="3291840" cy="192024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400" b="1" dirty="0">
                <a:solidFill>
                  <a:srgbClr val="30343A"/>
                </a:solidFill>
                <a:latin typeface="+mn-lt"/>
              </a:rPr>
              <a:t>Schutz gegen zufällige oder gelegentliche Verstöße</a:t>
            </a:r>
          </a:p>
          <a:p>
            <a:pPr algn="ctr">
              <a:lnSpc>
                <a:spcPct val="100000"/>
              </a:lnSpc>
              <a:spcBef>
                <a:spcPts val="1000"/>
              </a:spcBef>
            </a:pPr>
            <a:r>
              <a:rPr lang="de-DE" sz="1050" dirty="0">
                <a:solidFill>
                  <a:srgbClr val="5B666F"/>
                </a:solidFill>
                <a:latin typeface="+mn-lt"/>
              </a:rPr>
              <a:t>Definition des Security Level 1 nach IEC 62443-4-2.</a:t>
            </a:r>
          </a:p>
        </p:txBody>
      </p:sp>
      <p:sp>
        <p:nvSpPr>
          <p:cNvPr id="24" name="Kachel2"/>
          <p:cNvSpPr/>
          <p:nvPr/>
        </p:nvSpPr>
        <p:spPr>
          <a:xfrm>
            <a:off x="7909560" y="2286000"/>
            <a:ext cx="3291840" cy="192024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400" b="1" dirty="0">
                <a:solidFill>
                  <a:srgbClr val="30343A"/>
                </a:solidFill>
                <a:latin typeface="+mn-lt"/>
              </a:rPr>
              <a:t>Vorgehen bleibt auf höhere Level übertragbar</a:t>
            </a:r>
          </a:p>
          <a:p>
            <a:pPr algn="ctr">
              <a:lnSpc>
                <a:spcPct val="100000"/>
              </a:lnSpc>
              <a:spcBef>
                <a:spcPts val="1000"/>
              </a:spcBef>
            </a:pPr>
            <a:r>
              <a:rPr lang="de-DE" sz="1050" dirty="0">
                <a:solidFill>
                  <a:srgbClr val="5B666F"/>
                </a:solidFill>
                <a:latin typeface="+mn-lt"/>
              </a:rPr>
              <a:t>Die Methodik ändert sich nicht, nur die Akzeptanzkriterien.</a:t>
            </a:r>
          </a:p>
        </p:txBody>
      </p:sp>
      <p:sp>
        <p:nvSpPr>
          <p:cNvPr id="40" name="Akzent"/>
          <p:cNvSpPr/>
          <p:nvPr/>
        </p:nvSpPr>
        <p:spPr>
          <a:xfrm>
            <a:off x="777240" y="2286000"/>
            <a:ext cx="3291840" cy="64008"/>
          </a:xfrm>
          <a:prstGeom prst="rect">
            <a:avLst/>
          </a:prstGeom>
          <a:solidFill>
            <a:srgbClr val="FF6E00"/>
          </a:solidFill>
          <a:ln>
            <a:noFill/>
          </a:ln>
        </p:spPr>
        <p:txBody>
          <a:bodyPr wrap="square" lIns="45720" tIns="27432" rIns="45720" bIns="27432" anchor="ctr">
            <a:normAutofit fontScale="25000" lnSpcReduction="20000"/>
          </a:bodyPr>
          <a:lstStyle/>
          <a:p>
            <a:endParaRPr lang="de-DE"/>
          </a:p>
        </p:txBody>
      </p:sp>
      <p:sp>
        <p:nvSpPr>
          <p:cNvPr id="9"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FF6E00"/>
                </a:solidFill>
                <a:latin typeface="+mn-lt"/>
              </a:rPr>
              <a:t>Security Level 1 ist der belastbare Einstieg, nicht die Obergrenze.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105156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BACKUP</a:t>
            </a:r>
          </a:p>
        </p:txBody>
      </p:sp>
      <p:sp>
        <p:nvSpPr>
          <p:cNvPr id="3" name="Ueberschrift"/>
          <p:cNvSpPr txBox="1"/>
          <p:nvPr/>
        </p:nvSpPr>
        <p:spPr>
          <a:xfrm>
            <a:off x="777240" y="804672"/>
            <a:ext cx="10515600" cy="82296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Alle 14 Anforderungen im Überblick</a:t>
            </a:r>
          </a:p>
        </p:txBody>
      </p:sp>
      <p:sp>
        <p:nvSpPr>
          <p:cNvPr id="20" name="RQ01"/>
          <p:cNvSpPr/>
          <p:nvPr/>
        </p:nvSpPr>
        <p:spPr>
          <a:xfrm>
            <a:off x="777240" y="214884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RQ-001</a:t>
            </a:r>
          </a:p>
          <a:p>
            <a:pPr algn="ctr">
              <a:lnSpc>
                <a:spcPct val="100000"/>
              </a:lnSpc>
              <a:spcBef>
                <a:spcPts val="300"/>
              </a:spcBef>
            </a:pPr>
            <a:r>
              <a:rPr lang="de-DE" sz="950" dirty="0">
                <a:solidFill>
                  <a:srgbClr val="5B666F"/>
                </a:solidFill>
                <a:latin typeface="+mn-lt"/>
              </a:rPr>
              <a:t>Not Assessed</a:t>
            </a:r>
          </a:p>
        </p:txBody>
      </p:sp>
      <p:sp>
        <p:nvSpPr>
          <p:cNvPr id="22" name="RQ02"/>
          <p:cNvSpPr/>
          <p:nvPr/>
        </p:nvSpPr>
        <p:spPr>
          <a:xfrm>
            <a:off x="2258568" y="214884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RQ-002</a:t>
            </a:r>
          </a:p>
          <a:p>
            <a:pPr algn="ctr">
              <a:lnSpc>
                <a:spcPct val="100000"/>
              </a:lnSpc>
              <a:spcBef>
                <a:spcPts val="300"/>
              </a:spcBef>
            </a:pPr>
            <a:r>
              <a:rPr lang="de-DE" sz="950" dirty="0">
                <a:solidFill>
                  <a:srgbClr val="5B666F"/>
                </a:solidFill>
                <a:latin typeface="+mn-lt"/>
              </a:rPr>
              <a:t>Not Assessed</a:t>
            </a:r>
          </a:p>
        </p:txBody>
      </p:sp>
      <p:sp>
        <p:nvSpPr>
          <p:cNvPr id="24" name="RQ03"/>
          <p:cNvSpPr/>
          <p:nvPr/>
        </p:nvSpPr>
        <p:spPr>
          <a:xfrm>
            <a:off x="3739896" y="2148840"/>
            <a:ext cx="1371600" cy="822960"/>
          </a:xfrm>
          <a:prstGeom prst="rect">
            <a:avLst/>
          </a:prstGeom>
          <a:solidFill>
            <a:srgbClr val="FF6E00"/>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RQ-003</a:t>
            </a:r>
          </a:p>
          <a:p>
            <a:pPr algn="ctr">
              <a:lnSpc>
                <a:spcPct val="100000"/>
              </a:lnSpc>
              <a:spcBef>
                <a:spcPts val="300"/>
              </a:spcBef>
            </a:pPr>
            <a:r>
              <a:rPr lang="de-DE" sz="950" dirty="0">
                <a:solidFill>
                  <a:srgbClr val="30343A"/>
                </a:solidFill>
                <a:latin typeface="+mn-lt"/>
              </a:rPr>
              <a:t>Fail</a:t>
            </a:r>
          </a:p>
        </p:txBody>
      </p:sp>
      <p:sp>
        <p:nvSpPr>
          <p:cNvPr id="26" name="RQ04"/>
          <p:cNvSpPr/>
          <p:nvPr/>
        </p:nvSpPr>
        <p:spPr>
          <a:xfrm>
            <a:off x="5221224" y="214884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RQ-004</a:t>
            </a:r>
          </a:p>
          <a:p>
            <a:pPr algn="ctr">
              <a:lnSpc>
                <a:spcPct val="100000"/>
              </a:lnSpc>
              <a:spcBef>
                <a:spcPts val="300"/>
              </a:spcBef>
            </a:pPr>
            <a:r>
              <a:rPr lang="de-DE" sz="950" dirty="0">
                <a:solidFill>
                  <a:srgbClr val="5B666F"/>
                </a:solidFill>
                <a:latin typeface="+mn-lt"/>
              </a:rPr>
              <a:t>Not Assessed</a:t>
            </a:r>
          </a:p>
        </p:txBody>
      </p:sp>
      <p:sp>
        <p:nvSpPr>
          <p:cNvPr id="28" name="RQ05"/>
          <p:cNvSpPr/>
          <p:nvPr/>
        </p:nvSpPr>
        <p:spPr>
          <a:xfrm>
            <a:off x="6702552" y="214884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RQ-005</a:t>
            </a:r>
          </a:p>
          <a:p>
            <a:pPr algn="ctr">
              <a:lnSpc>
                <a:spcPct val="100000"/>
              </a:lnSpc>
              <a:spcBef>
                <a:spcPts val="300"/>
              </a:spcBef>
            </a:pPr>
            <a:r>
              <a:rPr lang="de-DE" sz="950" dirty="0">
                <a:solidFill>
                  <a:srgbClr val="5B666F"/>
                </a:solidFill>
                <a:latin typeface="+mn-lt"/>
              </a:rPr>
              <a:t>Not Assessed</a:t>
            </a:r>
          </a:p>
        </p:txBody>
      </p:sp>
      <p:sp>
        <p:nvSpPr>
          <p:cNvPr id="30" name="RQ06"/>
          <p:cNvSpPr/>
          <p:nvPr/>
        </p:nvSpPr>
        <p:spPr>
          <a:xfrm>
            <a:off x="777240" y="310896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RQ-006</a:t>
            </a:r>
          </a:p>
          <a:p>
            <a:pPr algn="ctr">
              <a:lnSpc>
                <a:spcPct val="100000"/>
              </a:lnSpc>
              <a:spcBef>
                <a:spcPts val="300"/>
              </a:spcBef>
            </a:pPr>
            <a:r>
              <a:rPr lang="de-DE" sz="950" dirty="0">
                <a:solidFill>
                  <a:srgbClr val="5B666F"/>
                </a:solidFill>
                <a:latin typeface="+mn-lt"/>
              </a:rPr>
              <a:t>Not Assessed</a:t>
            </a:r>
          </a:p>
        </p:txBody>
      </p:sp>
      <p:sp>
        <p:nvSpPr>
          <p:cNvPr id="32" name="RQ07"/>
          <p:cNvSpPr/>
          <p:nvPr/>
        </p:nvSpPr>
        <p:spPr>
          <a:xfrm>
            <a:off x="2258568" y="310896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RQ-007</a:t>
            </a:r>
          </a:p>
          <a:p>
            <a:pPr algn="ctr">
              <a:lnSpc>
                <a:spcPct val="100000"/>
              </a:lnSpc>
              <a:spcBef>
                <a:spcPts val="300"/>
              </a:spcBef>
            </a:pPr>
            <a:r>
              <a:rPr lang="de-DE" sz="950" dirty="0">
                <a:solidFill>
                  <a:srgbClr val="5B666F"/>
                </a:solidFill>
                <a:latin typeface="+mn-lt"/>
              </a:rPr>
              <a:t>Not Assessed</a:t>
            </a:r>
          </a:p>
        </p:txBody>
      </p:sp>
      <p:sp>
        <p:nvSpPr>
          <p:cNvPr id="34" name="RQ08"/>
          <p:cNvSpPr/>
          <p:nvPr/>
        </p:nvSpPr>
        <p:spPr>
          <a:xfrm>
            <a:off x="3739896" y="310896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RQ-008</a:t>
            </a:r>
          </a:p>
          <a:p>
            <a:pPr algn="ctr">
              <a:lnSpc>
                <a:spcPct val="100000"/>
              </a:lnSpc>
              <a:spcBef>
                <a:spcPts val="300"/>
              </a:spcBef>
            </a:pPr>
            <a:r>
              <a:rPr lang="de-DE" sz="950" dirty="0">
                <a:solidFill>
                  <a:srgbClr val="5B666F"/>
                </a:solidFill>
                <a:latin typeface="+mn-lt"/>
              </a:rPr>
              <a:t>Not Assessed</a:t>
            </a:r>
          </a:p>
        </p:txBody>
      </p:sp>
      <p:sp>
        <p:nvSpPr>
          <p:cNvPr id="36" name="RQ09"/>
          <p:cNvSpPr/>
          <p:nvPr/>
        </p:nvSpPr>
        <p:spPr>
          <a:xfrm>
            <a:off x="5221224" y="310896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RQ-009</a:t>
            </a:r>
          </a:p>
          <a:p>
            <a:pPr algn="ctr">
              <a:lnSpc>
                <a:spcPct val="100000"/>
              </a:lnSpc>
              <a:spcBef>
                <a:spcPts val="300"/>
              </a:spcBef>
            </a:pPr>
            <a:r>
              <a:rPr lang="de-DE" sz="950" dirty="0">
                <a:solidFill>
                  <a:srgbClr val="5B666F"/>
                </a:solidFill>
                <a:latin typeface="+mn-lt"/>
              </a:rPr>
              <a:t>Not Assessed</a:t>
            </a:r>
          </a:p>
        </p:txBody>
      </p:sp>
      <p:sp>
        <p:nvSpPr>
          <p:cNvPr id="38" name="RQ10"/>
          <p:cNvSpPr/>
          <p:nvPr/>
        </p:nvSpPr>
        <p:spPr>
          <a:xfrm>
            <a:off x="6702552" y="310896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RQ-010</a:t>
            </a:r>
          </a:p>
          <a:p>
            <a:pPr algn="ctr">
              <a:lnSpc>
                <a:spcPct val="100000"/>
              </a:lnSpc>
              <a:spcBef>
                <a:spcPts val="300"/>
              </a:spcBef>
            </a:pPr>
            <a:r>
              <a:rPr lang="de-DE" sz="950" dirty="0">
                <a:solidFill>
                  <a:srgbClr val="5B666F"/>
                </a:solidFill>
                <a:latin typeface="+mn-lt"/>
              </a:rPr>
              <a:t>Not Assessed</a:t>
            </a:r>
          </a:p>
        </p:txBody>
      </p:sp>
      <p:sp>
        <p:nvSpPr>
          <p:cNvPr id="40" name="RQ11"/>
          <p:cNvSpPr/>
          <p:nvPr/>
        </p:nvSpPr>
        <p:spPr>
          <a:xfrm>
            <a:off x="777240" y="406908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RQ-011</a:t>
            </a:r>
          </a:p>
          <a:p>
            <a:pPr algn="ctr">
              <a:lnSpc>
                <a:spcPct val="100000"/>
              </a:lnSpc>
              <a:spcBef>
                <a:spcPts val="300"/>
              </a:spcBef>
            </a:pPr>
            <a:r>
              <a:rPr lang="de-DE" sz="950" dirty="0">
                <a:solidFill>
                  <a:srgbClr val="5B666F"/>
                </a:solidFill>
                <a:latin typeface="+mn-lt"/>
              </a:rPr>
              <a:t>Not Assessed</a:t>
            </a:r>
          </a:p>
        </p:txBody>
      </p:sp>
      <p:sp>
        <p:nvSpPr>
          <p:cNvPr id="42" name="RQ12"/>
          <p:cNvSpPr/>
          <p:nvPr/>
        </p:nvSpPr>
        <p:spPr>
          <a:xfrm>
            <a:off x="2258568" y="4069080"/>
            <a:ext cx="1371600" cy="822960"/>
          </a:xfrm>
          <a:prstGeom prst="rect">
            <a:avLst/>
          </a:prstGeom>
          <a:solidFill>
            <a:srgbClr val="FF6E00"/>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RQ-012</a:t>
            </a:r>
          </a:p>
          <a:p>
            <a:pPr algn="ctr">
              <a:lnSpc>
                <a:spcPct val="100000"/>
              </a:lnSpc>
              <a:spcBef>
                <a:spcPts val="300"/>
              </a:spcBef>
            </a:pPr>
            <a:r>
              <a:rPr lang="de-DE" sz="950" dirty="0">
                <a:solidFill>
                  <a:srgbClr val="30343A"/>
                </a:solidFill>
                <a:latin typeface="+mn-lt"/>
              </a:rPr>
              <a:t>Fail</a:t>
            </a:r>
          </a:p>
        </p:txBody>
      </p:sp>
      <p:sp>
        <p:nvSpPr>
          <p:cNvPr id="44" name="RQ13"/>
          <p:cNvSpPr/>
          <p:nvPr/>
        </p:nvSpPr>
        <p:spPr>
          <a:xfrm>
            <a:off x="3739896" y="406908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RQ-013</a:t>
            </a:r>
          </a:p>
          <a:p>
            <a:pPr algn="ctr">
              <a:lnSpc>
                <a:spcPct val="100000"/>
              </a:lnSpc>
              <a:spcBef>
                <a:spcPts val="300"/>
              </a:spcBef>
            </a:pPr>
            <a:r>
              <a:rPr lang="de-DE" sz="950" dirty="0">
                <a:solidFill>
                  <a:srgbClr val="5B666F"/>
                </a:solidFill>
                <a:latin typeface="+mn-lt"/>
              </a:rPr>
              <a:t>Not Assessed</a:t>
            </a:r>
          </a:p>
        </p:txBody>
      </p:sp>
      <p:sp>
        <p:nvSpPr>
          <p:cNvPr id="46" name="RQ14"/>
          <p:cNvSpPr/>
          <p:nvPr/>
        </p:nvSpPr>
        <p:spPr>
          <a:xfrm>
            <a:off x="5221224" y="4069080"/>
            <a:ext cx="1371600" cy="82296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RQ-014</a:t>
            </a:r>
          </a:p>
          <a:p>
            <a:pPr algn="ctr">
              <a:lnSpc>
                <a:spcPct val="100000"/>
              </a:lnSpc>
              <a:spcBef>
                <a:spcPts val="300"/>
              </a:spcBef>
            </a:pPr>
            <a:r>
              <a:rPr lang="de-DE" sz="950" dirty="0">
                <a:solidFill>
                  <a:srgbClr val="5B666F"/>
                </a:solidFill>
                <a:latin typeface="+mn-lt"/>
              </a:rPr>
              <a:t>Not Assessed</a:t>
            </a:r>
          </a:p>
        </p:txBody>
      </p:sp>
      <p:sp>
        <p:nvSpPr>
          <p:cNvPr id="70" name="LegTitel"/>
          <p:cNvSpPr txBox="1"/>
          <p:nvPr/>
        </p:nvSpPr>
        <p:spPr>
          <a:xfrm>
            <a:off x="8778240" y="2148840"/>
            <a:ext cx="2743200" cy="274320"/>
          </a:xfrm>
          <a:prstGeom prst="rect">
            <a:avLst/>
          </a:prstGeom>
          <a:noFill/>
        </p:spPr>
        <p:txBody>
          <a:bodyPr wrap="square" lIns="0" tIns="0" rIns="0" bIns="0" anchor="t">
            <a:normAutofit/>
          </a:bodyPr>
          <a:lstStyle/>
          <a:p>
            <a:pPr algn="l">
              <a:lnSpc>
                <a:spcPct val="100000"/>
              </a:lnSpc>
              <a:spcBef>
                <a:spcPts val="0"/>
              </a:spcBef>
            </a:pPr>
            <a:r>
              <a:rPr lang="de-DE" sz="1100" b="1" dirty="0">
                <a:solidFill>
                  <a:srgbClr val="30343A"/>
                </a:solidFill>
                <a:latin typeface="+mn-lt"/>
              </a:rPr>
              <a:t>Gründe für Not Assessed</a:t>
            </a:r>
          </a:p>
        </p:txBody>
      </p:sp>
      <p:sp>
        <p:nvSpPr>
          <p:cNvPr id="71" name="LegP0"/>
          <p:cNvSpPr/>
          <p:nvPr/>
        </p:nvSpPr>
        <p:spPr>
          <a:xfrm>
            <a:off x="8778240" y="2624328"/>
            <a:ext cx="91440" cy="91440"/>
          </a:xfrm>
          <a:prstGeom prst="ellipse">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72" name="LegT0"/>
          <p:cNvSpPr txBox="1"/>
          <p:nvPr/>
        </p:nvSpPr>
        <p:spPr>
          <a:xfrm>
            <a:off x="9006840" y="2560320"/>
            <a:ext cx="2560320" cy="320040"/>
          </a:xfrm>
          <a:prstGeom prst="rect">
            <a:avLst/>
          </a:prstGeom>
          <a:noFill/>
        </p:spPr>
        <p:txBody>
          <a:bodyPr wrap="square" lIns="0" tIns="0" rIns="0" bIns="0" anchor="t">
            <a:normAutofit/>
          </a:bodyPr>
          <a:lstStyle/>
          <a:p>
            <a:pPr algn="l">
              <a:lnSpc>
                <a:spcPct val="100000"/>
              </a:lnSpc>
              <a:spcBef>
                <a:spcPts val="0"/>
              </a:spcBef>
            </a:pPr>
            <a:r>
              <a:rPr lang="de-DE" sz="1050" dirty="0">
                <a:solidFill>
                  <a:srgbClr val="5B666F"/>
                </a:solidFill>
                <a:latin typeface="+mn-lt"/>
              </a:rPr>
              <a:t>NV2 erforderlich</a:t>
            </a:r>
          </a:p>
        </p:txBody>
      </p:sp>
      <p:sp>
        <p:nvSpPr>
          <p:cNvPr id="73" name="LegP1"/>
          <p:cNvSpPr/>
          <p:nvPr/>
        </p:nvSpPr>
        <p:spPr>
          <a:xfrm>
            <a:off x="8778240" y="3026664"/>
            <a:ext cx="91440" cy="91440"/>
          </a:xfrm>
          <a:prstGeom prst="ellipse">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74" name="LegT1"/>
          <p:cNvSpPr txBox="1"/>
          <p:nvPr/>
        </p:nvSpPr>
        <p:spPr>
          <a:xfrm>
            <a:off x="9006840" y="2962656"/>
            <a:ext cx="2560320" cy="320040"/>
          </a:xfrm>
          <a:prstGeom prst="rect">
            <a:avLst/>
          </a:prstGeom>
          <a:noFill/>
        </p:spPr>
        <p:txBody>
          <a:bodyPr wrap="square" lIns="0" tIns="0" rIns="0" bIns="0" anchor="t">
            <a:normAutofit/>
          </a:bodyPr>
          <a:lstStyle/>
          <a:p>
            <a:pPr algn="l">
              <a:lnSpc>
                <a:spcPct val="100000"/>
              </a:lnSpc>
              <a:spcBef>
                <a:spcPts val="0"/>
              </a:spcBef>
            </a:pPr>
            <a:r>
              <a:rPr lang="de-DE" sz="1050" dirty="0">
                <a:solidFill>
                  <a:srgbClr val="5B666F"/>
                </a:solidFill>
                <a:latin typeface="+mn-lt"/>
              </a:rPr>
              <a:t>NV3 erforderlich</a:t>
            </a:r>
          </a:p>
        </p:txBody>
      </p:sp>
      <p:sp>
        <p:nvSpPr>
          <p:cNvPr id="75" name="LegP2"/>
          <p:cNvSpPr/>
          <p:nvPr/>
        </p:nvSpPr>
        <p:spPr>
          <a:xfrm>
            <a:off x="8778240" y="3429000"/>
            <a:ext cx="91440" cy="91440"/>
          </a:xfrm>
          <a:prstGeom prst="ellipse">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76" name="LegT2"/>
          <p:cNvSpPr txBox="1"/>
          <p:nvPr/>
        </p:nvSpPr>
        <p:spPr>
          <a:xfrm>
            <a:off x="9006840" y="3364992"/>
            <a:ext cx="2560320" cy="320040"/>
          </a:xfrm>
          <a:prstGeom prst="rect">
            <a:avLst/>
          </a:prstGeom>
          <a:noFill/>
        </p:spPr>
        <p:txBody>
          <a:bodyPr wrap="square" lIns="0" tIns="0" rIns="0" bIns="0" anchor="t">
            <a:normAutofit/>
          </a:bodyPr>
          <a:lstStyle/>
          <a:p>
            <a:pPr algn="l">
              <a:lnSpc>
                <a:spcPct val="100000"/>
              </a:lnSpc>
              <a:spcBef>
                <a:spcPts val="0"/>
              </a:spcBef>
            </a:pPr>
            <a:r>
              <a:rPr lang="de-DE" sz="1050" dirty="0">
                <a:solidFill>
                  <a:srgbClr val="5B666F"/>
                </a:solidFill>
                <a:latin typeface="+mn-lt"/>
              </a:rPr>
              <a:t>Ereignis nicht induziert</a:t>
            </a:r>
          </a:p>
        </p:txBody>
      </p:sp>
      <p:sp>
        <p:nvSpPr>
          <p:cNvPr id="77" name="LegP3"/>
          <p:cNvSpPr/>
          <p:nvPr/>
        </p:nvSpPr>
        <p:spPr>
          <a:xfrm>
            <a:off x="8778240" y="3831336"/>
            <a:ext cx="91440" cy="91440"/>
          </a:xfrm>
          <a:prstGeom prst="ellipse">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78" name="LegT3"/>
          <p:cNvSpPr txBox="1"/>
          <p:nvPr/>
        </p:nvSpPr>
        <p:spPr>
          <a:xfrm>
            <a:off x="9006840" y="3767328"/>
            <a:ext cx="2560320" cy="320040"/>
          </a:xfrm>
          <a:prstGeom prst="rect">
            <a:avLst/>
          </a:prstGeom>
          <a:noFill/>
        </p:spPr>
        <p:txBody>
          <a:bodyPr wrap="square" lIns="0" tIns="0" rIns="0" bIns="0" anchor="t">
            <a:normAutofit/>
          </a:bodyPr>
          <a:lstStyle/>
          <a:p>
            <a:pPr algn="l">
              <a:lnSpc>
                <a:spcPct val="100000"/>
              </a:lnSpc>
              <a:spcBef>
                <a:spcPts val="0"/>
              </a:spcBef>
            </a:pPr>
            <a:r>
              <a:rPr lang="de-DE" sz="1050" dirty="0">
                <a:solidFill>
                  <a:srgbClr val="5B666F"/>
                </a:solidFill>
                <a:latin typeface="+mn-lt"/>
              </a:rPr>
              <a:t>Engineering-Tool erforderlich</a:t>
            </a:r>
          </a:p>
        </p:txBody>
      </p:sp>
      <p:sp>
        <p:nvSpPr>
          <p:cNvPr id="9"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FF6E00"/>
                </a:solidFill>
                <a:latin typeface="+mn-lt"/>
              </a:rPr>
              <a:t>Zwei Fails, zwölf offene Punkte – kein einziger Pass im Demonstrationsumfang.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105156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BACKUP</a:t>
            </a:r>
          </a:p>
        </p:txBody>
      </p:sp>
      <p:sp>
        <p:nvSpPr>
          <p:cNvPr id="3" name="Ueberschrift"/>
          <p:cNvSpPr txBox="1"/>
          <p:nvPr/>
        </p:nvSpPr>
        <p:spPr>
          <a:xfrm>
            <a:off x="777240" y="804672"/>
            <a:ext cx="10515600" cy="82296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IT gegenüber OT im Detail</a:t>
            </a:r>
          </a:p>
        </p:txBody>
      </p:sp>
      <p:sp>
        <p:nvSpPr>
          <p:cNvPr id="20" name="H0"/>
          <p:cNvSpPr txBox="1"/>
          <p:nvPr/>
        </p:nvSpPr>
        <p:spPr>
          <a:xfrm>
            <a:off x="777240" y="2057400"/>
            <a:ext cx="2926080" cy="274320"/>
          </a:xfrm>
          <a:prstGeom prst="rect">
            <a:avLst/>
          </a:prstGeom>
          <a:noFill/>
        </p:spPr>
        <p:txBody>
          <a:bodyPr wrap="square" lIns="0" tIns="0" rIns="0" bIns="0" anchor="t">
            <a:normAutofit/>
          </a:bodyPr>
          <a:lstStyle/>
          <a:p>
            <a:pPr algn="l">
              <a:lnSpc>
                <a:spcPct val="100000"/>
              </a:lnSpc>
              <a:spcBef>
                <a:spcPts val="0"/>
              </a:spcBef>
            </a:pPr>
            <a:endParaRPr/>
          </a:p>
        </p:txBody>
      </p:sp>
      <p:sp>
        <p:nvSpPr>
          <p:cNvPr id="21" name="H1"/>
          <p:cNvSpPr txBox="1"/>
          <p:nvPr/>
        </p:nvSpPr>
        <p:spPr>
          <a:xfrm>
            <a:off x="3931920" y="2057400"/>
            <a:ext cx="3840480" cy="274320"/>
          </a:xfrm>
          <a:prstGeom prst="rect">
            <a:avLst/>
          </a:prstGeom>
          <a:noFill/>
        </p:spPr>
        <p:txBody>
          <a:bodyPr wrap="square" lIns="0" tIns="0" rIns="0" bIns="0" anchor="t">
            <a:normAutofit/>
          </a:bodyPr>
          <a:lstStyle/>
          <a:p>
            <a:pPr algn="l">
              <a:lnSpc>
                <a:spcPct val="100000"/>
              </a:lnSpc>
              <a:spcBef>
                <a:spcPts val="0"/>
              </a:spcBef>
            </a:pPr>
            <a:r>
              <a:rPr lang="de-DE" sz="1300" b="1" dirty="0">
                <a:solidFill>
                  <a:srgbClr val="30343A"/>
                </a:solidFill>
                <a:latin typeface="+mn-lt"/>
              </a:rPr>
              <a:t>IT</a:t>
            </a:r>
          </a:p>
        </p:txBody>
      </p:sp>
      <p:sp>
        <p:nvSpPr>
          <p:cNvPr id="22" name="H2"/>
          <p:cNvSpPr txBox="1"/>
          <p:nvPr/>
        </p:nvSpPr>
        <p:spPr>
          <a:xfrm>
            <a:off x="7863840" y="2057400"/>
            <a:ext cx="3383280" cy="274320"/>
          </a:xfrm>
          <a:prstGeom prst="rect">
            <a:avLst/>
          </a:prstGeom>
          <a:noFill/>
        </p:spPr>
        <p:txBody>
          <a:bodyPr wrap="square" lIns="0" tIns="0" rIns="0" bIns="0" anchor="t">
            <a:normAutofit/>
          </a:bodyPr>
          <a:lstStyle/>
          <a:p>
            <a:pPr algn="l">
              <a:lnSpc>
                <a:spcPct val="100000"/>
              </a:lnSpc>
              <a:spcBef>
                <a:spcPts val="0"/>
              </a:spcBef>
            </a:pPr>
            <a:r>
              <a:rPr lang="de-DE" sz="1300" b="1" dirty="0">
                <a:solidFill>
                  <a:srgbClr val="FF6E00"/>
                </a:solidFill>
                <a:latin typeface="+mn-lt"/>
              </a:rPr>
              <a:t>OT</a:t>
            </a:r>
          </a:p>
        </p:txBody>
      </p:sp>
      <p:sp>
        <p:nvSpPr>
          <p:cNvPr id="23" name="HLinie"/>
          <p:cNvSpPr/>
          <p:nvPr/>
        </p:nvSpPr>
        <p:spPr>
          <a:xfrm>
            <a:off x="777240" y="2450592"/>
            <a:ext cx="10332720" cy="27432"/>
          </a:xfrm>
          <a:prstGeom prst="rect">
            <a:avLst/>
          </a:prstGeom>
          <a:solidFill>
            <a:srgbClr val="C9CFD3"/>
          </a:solidFill>
          <a:ln>
            <a:noFill/>
          </a:ln>
        </p:spPr>
        <p:txBody>
          <a:bodyPr wrap="square" lIns="45720" tIns="27432" rIns="45720" bIns="27432" anchor="ctr">
            <a:normAutofit fontScale="25000" lnSpcReduction="20000"/>
          </a:bodyPr>
          <a:lstStyle/>
          <a:p>
            <a:endParaRPr lang="de-DE"/>
          </a:p>
        </p:txBody>
      </p:sp>
      <p:sp>
        <p:nvSpPr>
          <p:cNvPr id="31" name="A0"/>
          <p:cNvSpPr txBox="1"/>
          <p:nvPr/>
        </p:nvSpPr>
        <p:spPr>
          <a:xfrm>
            <a:off x="886968" y="2660904"/>
            <a:ext cx="2926080" cy="320040"/>
          </a:xfrm>
          <a:prstGeom prst="rect">
            <a:avLst/>
          </a:prstGeom>
          <a:noFill/>
        </p:spPr>
        <p:txBody>
          <a:bodyPr wrap="square" lIns="0" tIns="0" rIns="0" bIns="0" anchor="t">
            <a:normAutofit/>
          </a:bodyPr>
          <a:lstStyle/>
          <a:p>
            <a:pPr algn="l">
              <a:lnSpc>
                <a:spcPct val="100000"/>
              </a:lnSpc>
              <a:spcBef>
                <a:spcPts val="0"/>
              </a:spcBef>
            </a:pPr>
            <a:r>
              <a:rPr lang="de-DE" sz="1150" b="1" dirty="0">
                <a:solidFill>
                  <a:srgbClr val="5B666F"/>
                </a:solidFill>
                <a:latin typeface="+mn-lt"/>
              </a:rPr>
              <a:t>Primärer Fokus</a:t>
            </a:r>
          </a:p>
        </p:txBody>
      </p:sp>
      <p:sp>
        <p:nvSpPr>
          <p:cNvPr id="32" name="B0"/>
          <p:cNvSpPr txBox="1"/>
          <p:nvPr/>
        </p:nvSpPr>
        <p:spPr>
          <a:xfrm>
            <a:off x="3931920" y="2660904"/>
            <a:ext cx="3840480" cy="320040"/>
          </a:xfrm>
          <a:prstGeom prst="rect">
            <a:avLst/>
          </a:prstGeom>
          <a:noFill/>
        </p:spPr>
        <p:txBody>
          <a:bodyPr wrap="square" lIns="0" tIns="0" rIns="0" bIns="0" anchor="t">
            <a:normAutofit/>
          </a:bodyPr>
          <a:lstStyle/>
          <a:p>
            <a:pPr algn="l">
              <a:lnSpc>
                <a:spcPct val="100000"/>
              </a:lnSpc>
              <a:spcBef>
                <a:spcPts val="0"/>
              </a:spcBef>
            </a:pPr>
            <a:r>
              <a:rPr lang="de-DE" sz="1150" dirty="0">
                <a:solidFill>
                  <a:srgbClr val="30343A"/>
                </a:solidFill>
                <a:latin typeface="+mn-lt"/>
              </a:rPr>
              <a:t>Daten und Informationen</a:t>
            </a:r>
          </a:p>
        </p:txBody>
      </p:sp>
      <p:sp>
        <p:nvSpPr>
          <p:cNvPr id="33" name="C0"/>
          <p:cNvSpPr txBox="1"/>
          <p:nvPr/>
        </p:nvSpPr>
        <p:spPr>
          <a:xfrm>
            <a:off x="7863840" y="2660904"/>
            <a:ext cx="3383280" cy="320040"/>
          </a:xfrm>
          <a:prstGeom prst="rect">
            <a:avLst/>
          </a:prstGeom>
          <a:noFill/>
        </p:spPr>
        <p:txBody>
          <a:bodyPr wrap="square" lIns="0" tIns="0" rIns="0" bIns="0" anchor="t">
            <a:normAutofit/>
          </a:bodyPr>
          <a:lstStyle/>
          <a:p>
            <a:pPr algn="l">
              <a:lnSpc>
                <a:spcPct val="100000"/>
              </a:lnSpc>
              <a:spcBef>
                <a:spcPts val="0"/>
              </a:spcBef>
            </a:pPr>
            <a:r>
              <a:rPr lang="de-DE" sz="1150" dirty="0">
                <a:solidFill>
                  <a:srgbClr val="30343A"/>
                </a:solidFill>
                <a:latin typeface="+mn-lt"/>
              </a:rPr>
              <a:t>Anlage und Prozess</a:t>
            </a:r>
          </a:p>
        </p:txBody>
      </p:sp>
      <p:sp>
        <p:nvSpPr>
          <p:cNvPr id="34" name="L0"/>
          <p:cNvSpPr/>
          <p:nvPr/>
        </p:nvSpPr>
        <p:spPr>
          <a:xfrm>
            <a:off x="777240" y="3072384"/>
            <a:ext cx="10332720" cy="13716"/>
          </a:xfrm>
          <a:prstGeom prst="rect">
            <a:avLst/>
          </a:prstGeom>
          <a:solidFill>
            <a:srgbClr val="E4E8EA"/>
          </a:solidFill>
          <a:ln>
            <a:noFill/>
          </a:ln>
        </p:spPr>
        <p:txBody>
          <a:bodyPr wrap="square" lIns="45720" tIns="27432" rIns="45720" bIns="27432" anchor="ctr">
            <a:normAutofit fontScale="25000" lnSpcReduction="20000"/>
          </a:bodyPr>
          <a:lstStyle/>
          <a:p>
            <a:endParaRPr lang="de-DE"/>
          </a:p>
        </p:txBody>
      </p:sp>
      <p:sp>
        <p:nvSpPr>
          <p:cNvPr id="36" name="RowHL"/>
          <p:cNvSpPr/>
          <p:nvPr/>
        </p:nvSpPr>
        <p:spPr>
          <a:xfrm>
            <a:off x="777240" y="3108960"/>
            <a:ext cx="10332720" cy="566928"/>
          </a:xfrm>
          <a:prstGeom prst="rect">
            <a:avLst/>
          </a:prstGeom>
          <a:solidFill>
            <a:srgbClr val="FDE4D2"/>
          </a:solidFill>
          <a:ln>
            <a:noFill/>
          </a:ln>
        </p:spPr>
        <p:txBody>
          <a:bodyPr wrap="square" lIns="45720" tIns="27432" rIns="45720" bIns="27432" anchor="ctr">
            <a:normAutofit/>
          </a:bodyPr>
          <a:lstStyle/>
          <a:p>
            <a:endParaRPr lang="de-DE"/>
          </a:p>
        </p:txBody>
      </p:sp>
      <p:sp>
        <p:nvSpPr>
          <p:cNvPr id="37" name="A1"/>
          <p:cNvSpPr txBox="1"/>
          <p:nvPr/>
        </p:nvSpPr>
        <p:spPr>
          <a:xfrm>
            <a:off x="886968" y="3264408"/>
            <a:ext cx="2926080" cy="320040"/>
          </a:xfrm>
          <a:prstGeom prst="rect">
            <a:avLst/>
          </a:prstGeom>
          <a:noFill/>
        </p:spPr>
        <p:txBody>
          <a:bodyPr wrap="square" lIns="0" tIns="0" rIns="0" bIns="0" anchor="t">
            <a:normAutofit/>
          </a:bodyPr>
          <a:lstStyle/>
          <a:p>
            <a:pPr algn="l">
              <a:lnSpc>
                <a:spcPct val="100000"/>
              </a:lnSpc>
              <a:spcBef>
                <a:spcPts val="0"/>
              </a:spcBef>
            </a:pPr>
            <a:r>
              <a:rPr lang="de-DE" sz="1150" b="1" dirty="0">
                <a:solidFill>
                  <a:srgbClr val="5B666F"/>
                </a:solidFill>
                <a:latin typeface="+mn-lt"/>
              </a:rPr>
              <a:t>Schutzzielpriorität</a:t>
            </a:r>
          </a:p>
        </p:txBody>
      </p:sp>
      <p:sp>
        <p:nvSpPr>
          <p:cNvPr id="38" name="B1"/>
          <p:cNvSpPr txBox="1"/>
          <p:nvPr/>
        </p:nvSpPr>
        <p:spPr>
          <a:xfrm>
            <a:off x="3931920" y="3264408"/>
            <a:ext cx="3840480" cy="320040"/>
          </a:xfrm>
          <a:prstGeom prst="rect">
            <a:avLst/>
          </a:prstGeom>
          <a:noFill/>
        </p:spPr>
        <p:txBody>
          <a:bodyPr wrap="square" lIns="0" tIns="0" rIns="0" bIns="0" anchor="t">
            <a:normAutofit/>
          </a:bodyPr>
          <a:lstStyle/>
          <a:p>
            <a:pPr algn="l">
              <a:lnSpc>
                <a:spcPct val="100000"/>
              </a:lnSpc>
              <a:spcBef>
                <a:spcPts val="0"/>
              </a:spcBef>
            </a:pPr>
            <a:r>
              <a:rPr lang="de-DE" sz="1150" dirty="0">
                <a:solidFill>
                  <a:srgbClr val="30343A"/>
                </a:solidFill>
                <a:latin typeface="+mn-lt"/>
              </a:rPr>
              <a:t>C – I – A</a:t>
            </a:r>
          </a:p>
        </p:txBody>
      </p:sp>
      <p:sp>
        <p:nvSpPr>
          <p:cNvPr id="39" name="C1"/>
          <p:cNvSpPr txBox="1"/>
          <p:nvPr/>
        </p:nvSpPr>
        <p:spPr>
          <a:xfrm>
            <a:off x="7863840" y="3264408"/>
            <a:ext cx="3383280" cy="320040"/>
          </a:xfrm>
          <a:prstGeom prst="rect">
            <a:avLst/>
          </a:prstGeom>
          <a:noFill/>
        </p:spPr>
        <p:txBody>
          <a:bodyPr wrap="square" lIns="0" tIns="0" rIns="0" bIns="0" anchor="t">
            <a:normAutofit/>
          </a:bodyPr>
          <a:lstStyle/>
          <a:p>
            <a:pPr algn="l">
              <a:lnSpc>
                <a:spcPct val="100000"/>
              </a:lnSpc>
              <a:spcBef>
                <a:spcPts val="0"/>
              </a:spcBef>
            </a:pPr>
            <a:r>
              <a:rPr lang="de-DE" sz="1150" dirty="0">
                <a:solidFill>
                  <a:srgbClr val="30343A"/>
                </a:solidFill>
                <a:latin typeface="+mn-lt"/>
              </a:rPr>
              <a:t>A – I – C</a:t>
            </a:r>
          </a:p>
        </p:txBody>
      </p:sp>
      <p:sp>
        <p:nvSpPr>
          <p:cNvPr id="40" name="L1"/>
          <p:cNvSpPr/>
          <p:nvPr/>
        </p:nvSpPr>
        <p:spPr>
          <a:xfrm>
            <a:off x="777240" y="3675888"/>
            <a:ext cx="10332720" cy="13716"/>
          </a:xfrm>
          <a:prstGeom prst="rect">
            <a:avLst/>
          </a:prstGeom>
          <a:solidFill>
            <a:srgbClr val="E4E8EA"/>
          </a:solidFill>
          <a:ln>
            <a:noFill/>
          </a:ln>
        </p:spPr>
        <p:txBody>
          <a:bodyPr wrap="square" lIns="45720" tIns="27432" rIns="45720" bIns="27432" anchor="ctr">
            <a:normAutofit fontScale="25000" lnSpcReduction="20000"/>
          </a:bodyPr>
          <a:lstStyle/>
          <a:p>
            <a:endParaRPr lang="de-DE"/>
          </a:p>
        </p:txBody>
      </p:sp>
      <p:sp>
        <p:nvSpPr>
          <p:cNvPr id="43" name="A2"/>
          <p:cNvSpPr txBox="1"/>
          <p:nvPr/>
        </p:nvSpPr>
        <p:spPr>
          <a:xfrm>
            <a:off x="886968" y="3867912"/>
            <a:ext cx="2926080" cy="320040"/>
          </a:xfrm>
          <a:prstGeom prst="rect">
            <a:avLst/>
          </a:prstGeom>
          <a:noFill/>
        </p:spPr>
        <p:txBody>
          <a:bodyPr wrap="square" lIns="0" tIns="0" rIns="0" bIns="0" anchor="t">
            <a:normAutofit/>
          </a:bodyPr>
          <a:lstStyle/>
          <a:p>
            <a:pPr algn="l">
              <a:lnSpc>
                <a:spcPct val="100000"/>
              </a:lnSpc>
              <a:spcBef>
                <a:spcPts val="0"/>
              </a:spcBef>
            </a:pPr>
            <a:r>
              <a:rPr lang="de-DE" sz="1150" b="1" dirty="0">
                <a:solidFill>
                  <a:srgbClr val="5B666F"/>
                </a:solidFill>
                <a:latin typeface="+mn-lt"/>
              </a:rPr>
              <a:t>Kernschutzziele</a:t>
            </a:r>
          </a:p>
        </p:txBody>
      </p:sp>
      <p:sp>
        <p:nvSpPr>
          <p:cNvPr id="44" name="B2"/>
          <p:cNvSpPr txBox="1"/>
          <p:nvPr/>
        </p:nvSpPr>
        <p:spPr>
          <a:xfrm>
            <a:off x="3931920" y="3867912"/>
            <a:ext cx="3840480" cy="320040"/>
          </a:xfrm>
          <a:prstGeom prst="rect">
            <a:avLst/>
          </a:prstGeom>
          <a:noFill/>
        </p:spPr>
        <p:txBody>
          <a:bodyPr wrap="square" lIns="0" tIns="0" rIns="0" bIns="0" anchor="t">
            <a:normAutofit/>
          </a:bodyPr>
          <a:lstStyle/>
          <a:p>
            <a:pPr algn="l">
              <a:lnSpc>
                <a:spcPct val="100000"/>
              </a:lnSpc>
              <a:spcBef>
                <a:spcPts val="0"/>
              </a:spcBef>
            </a:pPr>
            <a:r>
              <a:rPr lang="de-DE" sz="1150" dirty="0">
                <a:solidFill>
                  <a:srgbClr val="30343A"/>
                </a:solidFill>
                <a:latin typeface="+mn-lt"/>
              </a:rPr>
              <a:t>Vertraulichkeit zuerst</a:t>
            </a:r>
          </a:p>
        </p:txBody>
      </p:sp>
      <p:sp>
        <p:nvSpPr>
          <p:cNvPr id="45" name="C2"/>
          <p:cNvSpPr txBox="1"/>
          <p:nvPr/>
        </p:nvSpPr>
        <p:spPr>
          <a:xfrm>
            <a:off x="7863840" y="3867912"/>
            <a:ext cx="3383280" cy="320040"/>
          </a:xfrm>
          <a:prstGeom prst="rect">
            <a:avLst/>
          </a:prstGeom>
          <a:noFill/>
        </p:spPr>
        <p:txBody>
          <a:bodyPr wrap="square" lIns="0" tIns="0" rIns="0" bIns="0" anchor="t">
            <a:normAutofit/>
          </a:bodyPr>
          <a:lstStyle/>
          <a:p>
            <a:pPr algn="l">
              <a:lnSpc>
                <a:spcPct val="100000"/>
              </a:lnSpc>
              <a:spcBef>
                <a:spcPts val="0"/>
              </a:spcBef>
            </a:pPr>
            <a:r>
              <a:rPr lang="de-DE" sz="1150" dirty="0">
                <a:solidFill>
                  <a:srgbClr val="30343A"/>
                </a:solidFill>
                <a:latin typeface="+mn-lt"/>
              </a:rPr>
              <a:t>Verfügbarkeit zuerst</a:t>
            </a:r>
          </a:p>
        </p:txBody>
      </p:sp>
      <p:sp>
        <p:nvSpPr>
          <p:cNvPr id="46" name="L2"/>
          <p:cNvSpPr/>
          <p:nvPr/>
        </p:nvSpPr>
        <p:spPr>
          <a:xfrm>
            <a:off x="777240" y="4279392"/>
            <a:ext cx="10332720" cy="13716"/>
          </a:xfrm>
          <a:prstGeom prst="rect">
            <a:avLst/>
          </a:prstGeom>
          <a:solidFill>
            <a:srgbClr val="E4E8EA"/>
          </a:solidFill>
          <a:ln>
            <a:noFill/>
          </a:ln>
        </p:spPr>
        <p:txBody>
          <a:bodyPr wrap="square" lIns="45720" tIns="27432" rIns="45720" bIns="27432" anchor="ctr">
            <a:normAutofit fontScale="25000" lnSpcReduction="20000"/>
          </a:bodyPr>
          <a:lstStyle/>
          <a:p>
            <a:endParaRPr lang="de-DE"/>
          </a:p>
        </p:txBody>
      </p:sp>
      <p:sp>
        <p:nvSpPr>
          <p:cNvPr id="49" name="A3"/>
          <p:cNvSpPr txBox="1"/>
          <p:nvPr/>
        </p:nvSpPr>
        <p:spPr>
          <a:xfrm>
            <a:off x="886968" y="4471416"/>
            <a:ext cx="2926080" cy="320040"/>
          </a:xfrm>
          <a:prstGeom prst="rect">
            <a:avLst/>
          </a:prstGeom>
          <a:noFill/>
        </p:spPr>
        <p:txBody>
          <a:bodyPr wrap="square" lIns="0" tIns="0" rIns="0" bIns="0" anchor="t">
            <a:normAutofit/>
          </a:bodyPr>
          <a:lstStyle/>
          <a:p>
            <a:pPr algn="l">
              <a:lnSpc>
                <a:spcPct val="100000"/>
              </a:lnSpc>
              <a:spcBef>
                <a:spcPts val="0"/>
              </a:spcBef>
            </a:pPr>
            <a:r>
              <a:rPr lang="de-DE" sz="1150" b="1" dirty="0">
                <a:solidFill>
                  <a:srgbClr val="5B666F"/>
                </a:solidFill>
                <a:latin typeface="+mn-lt"/>
              </a:rPr>
              <a:t>Protokollbeispiele</a:t>
            </a:r>
          </a:p>
        </p:txBody>
      </p:sp>
      <p:sp>
        <p:nvSpPr>
          <p:cNvPr id="50" name="B3"/>
          <p:cNvSpPr txBox="1"/>
          <p:nvPr/>
        </p:nvSpPr>
        <p:spPr>
          <a:xfrm>
            <a:off x="3931920" y="4471416"/>
            <a:ext cx="3840480" cy="320040"/>
          </a:xfrm>
          <a:prstGeom prst="rect">
            <a:avLst/>
          </a:prstGeom>
          <a:noFill/>
        </p:spPr>
        <p:txBody>
          <a:bodyPr wrap="square" lIns="0" tIns="0" rIns="0" bIns="0" anchor="t">
            <a:normAutofit/>
          </a:bodyPr>
          <a:lstStyle/>
          <a:p>
            <a:pPr algn="l">
              <a:lnSpc>
                <a:spcPct val="100000"/>
              </a:lnSpc>
              <a:spcBef>
                <a:spcPts val="0"/>
              </a:spcBef>
            </a:pPr>
            <a:r>
              <a:rPr lang="de-DE" sz="1150" dirty="0">
                <a:solidFill>
                  <a:srgbClr val="30343A"/>
                </a:solidFill>
                <a:latin typeface="+mn-lt"/>
              </a:rPr>
              <a:t>HTTP, TLS, SSH</a:t>
            </a:r>
          </a:p>
        </p:txBody>
      </p:sp>
      <p:sp>
        <p:nvSpPr>
          <p:cNvPr id="51" name="C3"/>
          <p:cNvSpPr txBox="1"/>
          <p:nvPr/>
        </p:nvSpPr>
        <p:spPr>
          <a:xfrm>
            <a:off x="7863840" y="4471416"/>
            <a:ext cx="3383280" cy="320040"/>
          </a:xfrm>
          <a:prstGeom prst="rect">
            <a:avLst/>
          </a:prstGeom>
          <a:noFill/>
        </p:spPr>
        <p:txBody>
          <a:bodyPr wrap="square" lIns="0" tIns="0" rIns="0" bIns="0" anchor="t">
            <a:normAutofit/>
          </a:bodyPr>
          <a:lstStyle/>
          <a:p>
            <a:pPr algn="l">
              <a:lnSpc>
                <a:spcPct val="100000"/>
              </a:lnSpc>
              <a:spcBef>
                <a:spcPts val="0"/>
              </a:spcBef>
            </a:pPr>
            <a:r>
              <a:rPr lang="de-DE" sz="1150" dirty="0">
                <a:solidFill>
                  <a:srgbClr val="30343A"/>
                </a:solidFill>
                <a:latin typeface="+mn-lt"/>
              </a:rPr>
              <a:t>PROFINET, Modbus, OPC UA</a:t>
            </a:r>
          </a:p>
        </p:txBody>
      </p:sp>
      <p:sp>
        <p:nvSpPr>
          <p:cNvPr id="52" name="L3"/>
          <p:cNvSpPr/>
          <p:nvPr/>
        </p:nvSpPr>
        <p:spPr>
          <a:xfrm>
            <a:off x="777240" y="4882896"/>
            <a:ext cx="10332720" cy="13716"/>
          </a:xfrm>
          <a:prstGeom prst="rect">
            <a:avLst/>
          </a:prstGeom>
          <a:solidFill>
            <a:srgbClr val="E4E8EA"/>
          </a:solidFill>
          <a:ln>
            <a:noFill/>
          </a:ln>
        </p:spPr>
        <p:txBody>
          <a:bodyPr wrap="square" lIns="45720" tIns="27432" rIns="45720" bIns="27432" anchor="ctr">
            <a:normAutofit fontScale="25000" lnSpcReduction="20000"/>
          </a:bodyPr>
          <a:lstStyle/>
          <a:p>
            <a:endParaRPr lang="de-DE"/>
          </a:p>
        </p:txBody>
      </p:sp>
      <p:sp>
        <p:nvSpPr>
          <p:cNvPr id="55" name="A4"/>
          <p:cNvSpPr txBox="1"/>
          <p:nvPr/>
        </p:nvSpPr>
        <p:spPr>
          <a:xfrm>
            <a:off x="886968" y="5074920"/>
            <a:ext cx="2926080" cy="320040"/>
          </a:xfrm>
          <a:prstGeom prst="rect">
            <a:avLst/>
          </a:prstGeom>
          <a:noFill/>
        </p:spPr>
        <p:txBody>
          <a:bodyPr wrap="square" lIns="0" tIns="0" rIns="0" bIns="0" anchor="t">
            <a:normAutofit/>
          </a:bodyPr>
          <a:lstStyle/>
          <a:p>
            <a:pPr algn="l">
              <a:lnSpc>
                <a:spcPct val="100000"/>
              </a:lnSpc>
              <a:spcBef>
                <a:spcPts val="0"/>
              </a:spcBef>
            </a:pPr>
            <a:r>
              <a:rPr lang="de-DE" sz="1150" b="1" dirty="0">
                <a:solidFill>
                  <a:srgbClr val="5B666F"/>
                </a:solidFill>
                <a:latin typeface="+mn-lt"/>
              </a:rPr>
              <a:t>Update-Zyklen</a:t>
            </a:r>
          </a:p>
        </p:txBody>
      </p:sp>
      <p:sp>
        <p:nvSpPr>
          <p:cNvPr id="56" name="B4"/>
          <p:cNvSpPr txBox="1"/>
          <p:nvPr/>
        </p:nvSpPr>
        <p:spPr>
          <a:xfrm>
            <a:off x="3931920" y="5074920"/>
            <a:ext cx="3840480" cy="320040"/>
          </a:xfrm>
          <a:prstGeom prst="rect">
            <a:avLst/>
          </a:prstGeom>
          <a:noFill/>
        </p:spPr>
        <p:txBody>
          <a:bodyPr wrap="square" lIns="0" tIns="0" rIns="0" bIns="0" anchor="t">
            <a:normAutofit/>
          </a:bodyPr>
          <a:lstStyle/>
          <a:p>
            <a:pPr algn="l">
              <a:lnSpc>
                <a:spcPct val="100000"/>
              </a:lnSpc>
              <a:spcBef>
                <a:spcPts val="0"/>
              </a:spcBef>
            </a:pPr>
            <a:r>
              <a:rPr lang="de-DE" sz="1150" dirty="0">
                <a:solidFill>
                  <a:srgbClr val="30343A"/>
                </a:solidFill>
                <a:latin typeface="+mn-lt"/>
              </a:rPr>
              <a:t>kurz und regelmäßig</a:t>
            </a:r>
          </a:p>
        </p:txBody>
      </p:sp>
      <p:sp>
        <p:nvSpPr>
          <p:cNvPr id="57" name="C4"/>
          <p:cNvSpPr txBox="1"/>
          <p:nvPr/>
        </p:nvSpPr>
        <p:spPr>
          <a:xfrm>
            <a:off x="7863840" y="5074920"/>
            <a:ext cx="3383280" cy="320040"/>
          </a:xfrm>
          <a:prstGeom prst="rect">
            <a:avLst/>
          </a:prstGeom>
          <a:noFill/>
        </p:spPr>
        <p:txBody>
          <a:bodyPr wrap="square" lIns="0" tIns="0" rIns="0" bIns="0" anchor="t">
            <a:normAutofit/>
          </a:bodyPr>
          <a:lstStyle/>
          <a:p>
            <a:pPr algn="l">
              <a:lnSpc>
                <a:spcPct val="100000"/>
              </a:lnSpc>
              <a:spcBef>
                <a:spcPts val="0"/>
              </a:spcBef>
            </a:pPr>
            <a:r>
              <a:rPr lang="de-DE" sz="1150" dirty="0">
                <a:solidFill>
                  <a:srgbClr val="30343A"/>
                </a:solidFill>
                <a:latin typeface="+mn-lt"/>
              </a:rPr>
              <a:t>lang und geplant</a:t>
            </a:r>
          </a:p>
        </p:txBody>
      </p:sp>
      <p:sp>
        <p:nvSpPr>
          <p:cNvPr id="9"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FF6E00"/>
                </a:solidFill>
                <a:latin typeface="+mn-lt"/>
              </a:rPr>
              <a:t>Die umgekehrte Priorität der Schutzziele ist der entscheidende Unterschied.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105156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BACKUP</a:t>
            </a:r>
          </a:p>
        </p:txBody>
      </p:sp>
      <p:sp>
        <p:nvSpPr>
          <p:cNvPr id="3" name="Ueberschrift"/>
          <p:cNvSpPr txBox="1"/>
          <p:nvPr/>
        </p:nvSpPr>
        <p:spPr>
          <a:xfrm>
            <a:off x="777240" y="804672"/>
            <a:ext cx="10515600" cy="82296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PROFIsafe Black-Channel</a:t>
            </a:r>
          </a:p>
        </p:txBody>
      </p:sp>
      <p:sp>
        <p:nvSpPr>
          <p:cNvPr id="20" name="Safety"/>
          <p:cNvSpPr/>
          <p:nvPr/>
        </p:nvSpPr>
        <p:spPr>
          <a:xfrm>
            <a:off x="1463040" y="2057400"/>
            <a:ext cx="9052560" cy="566928"/>
          </a:xfrm>
          <a:prstGeom prst="rect">
            <a:avLst/>
          </a:prstGeom>
          <a:noFill/>
          <a:ln w="25400">
            <a:solidFill>
              <a:srgbClr val="FF6E00"/>
            </a:solidFill>
          </a:ln>
        </p:spPr>
        <p:txBody>
          <a:bodyPr wrap="square" lIns="45720" tIns="27432" rIns="45720" bIns="27432" anchor="ctr">
            <a:normAutofit/>
          </a:bodyPr>
          <a:lstStyle/>
          <a:p>
            <a:pPr algn="ctr">
              <a:lnSpc>
                <a:spcPct val="100000"/>
              </a:lnSpc>
              <a:spcBef>
                <a:spcPts val="0"/>
              </a:spcBef>
            </a:pPr>
            <a:r>
              <a:rPr lang="de-DE" sz="1200" b="1" dirty="0">
                <a:solidFill>
                  <a:srgbClr val="FF6E00"/>
                </a:solidFill>
                <a:latin typeface="+mn-lt"/>
              </a:rPr>
              <a:t>Safety-Schicht (PROFIsafe)</a:t>
            </a:r>
          </a:p>
        </p:txBody>
      </p:sp>
      <p:sp>
        <p:nvSpPr>
          <p:cNvPr id="21" name="Kanal"/>
          <p:cNvSpPr/>
          <p:nvPr/>
        </p:nvSpPr>
        <p:spPr>
          <a:xfrm>
            <a:off x="1463040" y="2971800"/>
            <a:ext cx="9052560" cy="566928"/>
          </a:xfrm>
          <a:prstGeom prst="rect">
            <a:avLst/>
          </a:prstGeom>
          <a:solidFill>
            <a:srgbClr val="E9ECEE"/>
          </a:solidFill>
          <a:ln>
            <a:noFill/>
          </a:ln>
        </p:spPr>
        <p:txBody>
          <a:bodyPr wrap="square" lIns="45720" tIns="27432" rIns="45720" bIns="27432" anchor="ctr">
            <a:normAutofit/>
          </a:bodyPr>
          <a:lstStyle/>
          <a:p>
            <a:pPr algn="ctr">
              <a:lnSpc>
                <a:spcPct val="100000"/>
              </a:lnSpc>
              <a:spcBef>
                <a:spcPts val="0"/>
              </a:spcBef>
            </a:pPr>
            <a:r>
              <a:rPr lang="de-DE" sz="1200" dirty="0">
                <a:solidFill>
                  <a:srgbClr val="30343A"/>
                </a:solidFill>
                <a:latin typeface="+mn-lt"/>
              </a:rPr>
              <a:t>Unsicherer Übertragungskanal (Black Channel)</a:t>
            </a:r>
          </a:p>
        </p:txBody>
      </p:sp>
      <p:sp>
        <p:nvSpPr>
          <p:cNvPr id="22" name="Producer"/>
          <p:cNvSpPr/>
          <p:nvPr/>
        </p:nvSpPr>
        <p:spPr>
          <a:xfrm>
            <a:off x="777240" y="2057400"/>
            <a:ext cx="640080" cy="1481328"/>
          </a:xfrm>
          <a:prstGeom prst="rect">
            <a:avLst/>
          </a:prstGeom>
          <a:solidFill>
            <a:srgbClr val="30343A"/>
          </a:solidFill>
          <a:ln>
            <a:noFill/>
          </a:ln>
        </p:spPr>
        <p:txBody>
          <a:bodyPr wrap="square" lIns="45720" tIns="27432" rIns="45720" bIns="27432" anchor="ctr">
            <a:normAutofit/>
          </a:bodyPr>
          <a:lstStyle/>
          <a:p>
            <a:pPr algn="ctr">
              <a:lnSpc>
                <a:spcPct val="100000"/>
              </a:lnSpc>
              <a:spcBef>
                <a:spcPts val="0"/>
              </a:spcBef>
            </a:pPr>
            <a:r>
              <a:rPr lang="de-DE" sz="1400" b="1" dirty="0">
                <a:solidFill>
                  <a:srgbClr val="FFFFFF"/>
                </a:solidFill>
                <a:latin typeface="+mn-lt"/>
              </a:rPr>
              <a:t>P</a:t>
            </a:r>
          </a:p>
        </p:txBody>
      </p:sp>
      <p:sp>
        <p:nvSpPr>
          <p:cNvPr id="23" name="Consumer"/>
          <p:cNvSpPr/>
          <p:nvPr/>
        </p:nvSpPr>
        <p:spPr>
          <a:xfrm>
            <a:off x="10561320" y="2057400"/>
            <a:ext cx="640080" cy="1481328"/>
          </a:xfrm>
          <a:prstGeom prst="rect">
            <a:avLst/>
          </a:prstGeom>
          <a:solidFill>
            <a:srgbClr val="30343A"/>
          </a:solidFill>
          <a:ln>
            <a:noFill/>
          </a:ln>
        </p:spPr>
        <p:txBody>
          <a:bodyPr wrap="square" lIns="45720" tIns="27432" rIns="45720" bIns="27432" anchor="ctr">
            <a:normAutofit/>
          </a:bodyPr>
          <a:lstStyle/>
          <a:p>
            <a:pPr algn="ctr">
              <a:lnSpc>
                <a:spcPct val="100000"/>
              </a:lnSpc>
              <a:spcBef>
                <a:spcPts val="0"/>
              </a:spcBef>
            </a:pPr>
            <a:r>
              <a:rPr lang="de-DE" sz="1400" b="1" dirty="0">
                <a:solidFill>
                  <a:srgbClr val="FFFFFF"/>
                </a:solidFill>
                <a:latin typeface="+mn-lt"/>
              </a:rPr>
              <a:t>C</a:t>
            </a:r>
          </a:p>
        </p:txBody>
      </p:sp>
      <p:sp>
        <p:nvSpPr>
          <p:cNvPr id="24" name="PL"/>
          <p:cNvSpPr txBox="1"/>
          <p:nvPr/>
        </p:nvSpPr>
        <p:spPr>
          <a:xfrm>
            <a:off x="548640" y="3611880"/>
            <a:ext cx="1097280" cy="274320"/>
          </a:xfrm>
          <a:prstGeom prst="rect">
            <a:avLst/>
          </a:prstGeom>
          <a:noFill/>
        </p:spPr>
        <p:txBody>
          <a:bodyPr wrap="square" lIns="0" tIns="0" rIns="0" bIns="0" anchor="t">
            <a:normAutofit/>
          </a:bodyPr>
          <a:lstStyle/>
          <a:p>
            <a:pPr algn="ctr">
              <a:lnSpc>
                <a:spcPct val="100000"/>
              </a:lnSpc>
              <a:spcBef>
                <a:spcPts val="0"/>
              </a:spcBef>
            </a:pPr>
            <a:r>
              <a:rPr lang="de-DE" sz="1000" dirty="0">
                <a:solidFill>
                  <a:srgbClr val="5B666F"/>
                </a:solidFill>
                <a:latin typeface="+mn-lt"/>
              </a:rPr>
              <a:t>Producer</a:t>
            </a:r>
          </a:p>
        </p:txBody>
      </p:sp>
      <p:sp>
        <p:nvSpPr>
          <p:cNvPr id="25" name="CL"/>
          <p:cNvSpPr txBox="1"/>
          <p:nvPr/>
        </p:nvSpPr>
        <p:spPr>
          <a:xfrm>
            <a:off x="10332720" y="3611880"/>
            <a:ext cx="1097280" cy="274320"/>
          </a:xfrm>
          <a:prstGeom prst="rect">
            <a:avLst/>
          </a:prstGeom>
          <a:noFill/>
        </p:spPr>
        <p:txBody>
          <a:bodyPr wrap="square" lIns="0" tIns="0" rIns="0" bIns="0" anchor="t">
            <a:normAutofit/>
          </a:bodyPr>
          <a:lstStyle/>
          <a:p>
            <a:pPr algn="ctr">
              <a:lnSpc>
                <a:spcPct val="100000"/>
              </a:lnSpc>
              <a:spcBef>
                <a:spcPts val="0"/>
              </a:spcBef>
            </a:pPr>
            <a:r>
              <a:rPr lang="de-DE" sz="1000" dirty="0">
                <a:solidFill>
                  <a:srgbClr val="5B666F"/>
                </a:solidFill>
                <a:latin typeface="+mn-lt"/>
              </a:rPr>
              <a:t>Consumer</a:t>
            </a:r>
          </a:p>
        </p:txBody>
      </p:sp>
      <p:sp>
        <p:nvSpPr>
          <p:cNvPr id="30" name="Chip0"/>
          <p:cNvSpPr/>
          <p:nvPr/>
        </p:nvSpPr>
        <p:spPr>
          <a:xfrm>
            <a:off x="777240" y="4434840"/>
            <a:ext cx="2377440" cy="50292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Folgenummer</a:t>
            </a:r>
          </a:p>
        </p:txBody>
      </p:sp>
      <p:sp>
        <p:nvSpPr>
          <p:cNvPr id="32" name="Chip1"/>
          <p:cNvSpPr/>
          <p:nvPr/>
        </p:nvSpPr>
        <p:spPr>
          <a:xfrm>
            <a:off x="3383280" y="4434840"/>
            <a:ext cx="2377440" cy="50292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CRC</a:t>
            </a:r>
          </a:p>
        </p:txBody>
      </p:sp>
      <p:sp>
        <p:nvSpPr>
          <p:cNvPr id="34" name="Chip2"/>
          <p:cNvSpPr/>
          <p:nvPr/>
        </p:nvSpPr>
        <p:spPr>
          <a:xfrm>
            <a:off x="5989320" y="4434840"/>
            <a:ext cx="2377440" cy="50292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Safety-Zieladresse</a:t>
            </a:r>
          </a:p>
        </p:txBody>
      </p:sp>
      <p:sp>
        <p:nvSpPr>
          <p:cNvPr id="36" name="Chip3"/>
          <p:cNvSpPr/>
          <p:nvPr/>
        </p:nvSpPr>
        <p:spPr>
          <a:xfrm>
            <a:off x="8595360" y="4434840"/>
            <a:ext cx="2377440" cy="502920"/>
          </a:xfrm>
          <a:prstGeom prst="rect">
            <a:avLst/>
          </a:prstGeom>
          <a:solidFill>
            <a:srgbClr val="F2F4F5"/>
          </a:solidFill>
          <a:ln>
            <a:noFill/>
          </a:ln>
        </p:spPr>
        <p:txBody>
          <a:bodyPr wrap="square" lIns="45720" tIns="27432" rIns="45720" bIns="27432" anchor="ctr">
            <a:normAutofit/>
          </a:bodyPr>
          <a:lstStyle/>
          <a:p>
            <a:pPr algn="ctr">
              <a:lnSpc>
                <a:spcPct val="100000"/>
              </a:lnSpc>
              <a:spcBef>
                <a:spcPts val="0"/>
              </a:spcBef>
            </a:pPr>
            <a:r>
              <a:rPr lang="de-DE" sz="1150" b="1" dirty="0">
                <a:solidFill>
                  <a:srgbClr val="30343A"/>
                </a:solidFill>
                <a:latin typeface="+mn-lt"/>
              </a:rPr>
              <a:t>Watchdog-Zeit</a:t>
            </a:r>
          </a:p>
        </p:txBody>
      </p:sp>
      <p:sp>
        <p:nvSpPr>
          <p:cNvPr id="45" name="ChipLabel"/>
          <p:cNvSpPr txBox="1"/>
          <p:nvPr/>
        </p:nvSpPr>
        <p:spPr>
          <a:xfrm>
            <a:off x="777240" y="4114800"/>
            <a:ext cx="5486400" cy="256032"/>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Vier Schutzmaßnahmen der Safety-Schicht</a:t>
            </a:r>
          </a:p>
        </p:txBody>
      </p:sp>
      <p:sp>
        <p:nvSpPr>
          <p:cNvPr id="9" name="Merksatz"/>
          <p:cNvSpPr txBox="1"/>
          <p:nvPr/>
        </p:nvSpPr>
        <p:spPr>
          <a:xfrm>
            <a:off x="777240" y="5760720"/>
            <a:ext cx="10515600" cy="45720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FF6E00"/>
                </a:solidFill>
                <a:latin typeface="+mn-lt"/>
              </a:rPr>
              <a:t>Die Sicherheitsschicht vertraut dem Übertragungskanal nicht.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fm powerpoint Master">
  <a:themeElements>
    <a:clrScheme name="ifm_Colours">
      <a:dk1>
        <a:srgbClr val="FFFFFF"/>
      </a:dk1>
      <a:lt1>
        <a:srgbClr val="000000"/>
      </a:lt1>
      <a:dk2>
        <a:srgbClr val="D9D9D9"/>
      </a:dk2>
      <a:lt2>
        <a:srgbClr val="FF6E00"/>
      </a:lt2>
      <a:accent1>
        <a:srgbClr val="30343A"/>
      </a:accent1>
      <a:accent2>
        <a:srgbClr val="5B666F"/>
      </a:accent2>
      <a:accent3>
        <a:srgbClr val="808890"/>
      </a:accent3>
      <a:accent4>
        <a:srgbClr val="C1C5C8"/>
      </a:accent4>
      <a:accent5>
        <a:srgbClr val="FF6E00"/>
      </a:accent5>
      <a:accent6>
        <a:srgbClr val="83B7CD"/>
      </a:accent6>
      <a:hlink>
        <a:srgbClr val="FF6E00"/>
      </a:hlink>
      <a:folHlink>
        <a:srgbClr val="FF6E00"/>
      </a:folHlink>
    </a:clrScheme>
    <a:fontScheme name="ifm_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a:noFill/>
        </a:ln>
      </a:spPr>
      <a:bodyPr lIns="108000" tIns="72000" rIns="108000" bIns="72000" rtlCol="0" anchor="ctr"/>
      <a:lstStyle>
        <a:defPPr marL="180000" indent="-180000" algn="ctr">
          <a:buFont typeface="Arial" panose="020B0604020202020204" pitchFamily="34" charset="0"/>
          <a:buChar char="•"/>
          <a:defRPr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accent2"/>
          </a:solidFill>
          <a:tailEnd type="none"/>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marL="180000" indent="-180000" algn="l">
          <a:buClr>
            <a:schemeClr val="tx2"/>
          </a:buClr>
          <a:buFont typeface="Arial" panose="020B0604020202020204" pitchFamily="34" charset="0"/>
          <a:buChar char="•"/>
          <a:defRPr dirty="0" err="1" smtClean="0"/>
        </a:defPPr>
      </a:lstStyle>
    </a:txDef>
  </a:objectDefaults>
  <a:extraClrSchemeLst/>
  <a:extLst>
    <a:ext uri="{05A4C25C-085E-4340-85A3-A5531E510DB2}">
      <thm15:themeFamily xmlns:thm15="http://schemas.microsoft.com/office/thememl/2012/main" name="Präsentation1" id="{78DB20B6-635E-481C-9A4E-5E1792BC3942}" vid="{3CBFD050-F2C8-471F-827C-5DF794ECC23B}"/>
    </a:ext>
  </a:extLst>
</a:theme>
</file>

<file path=ppt/theme/theme2.xml><?xml version="1.0" encoding="utf-8"?>
<a:theme xmlns:a="http://schemas.openxmlformats.org/drawingml/2006/main" name="Office Theme">
  <a:themeElements>
    <a:clrScheme name="ifm_Colours">
      <a:dk1>
        <a:srgbClr val="FFFFFF"/>
      </a:dk1>
      <a:lt1>
        <a:srgbClr val="000000"/>
      </a:lt1>
      <a:dk2>
        <a:srgbClr val="D9D9D9"/>
      </a:dk2>
      <a:lt2>
        <a:srgbClr val="FF6E00"/>
      </a:lt2>
      <a:accent1>
        <a:srgbClr val="30343A"/>
      </a:accent1>
      <a:accent2>
        <a:srgbClr val="5B666F"/>
      </a:accent2>
      <a:accent3>
        <a:srgbClr val="808890"/>
      </a:accent3>
      <a:accent4>
        <a:srgbClr val="C1C5C8"/>
      </a:accent4>
      <a:accent5>
        <a:srgbClr val="FF6E00"/>
      </a:accent5>
      <a:accent6>
        <a:srgbClr val="83B7CD"/>
      </a:accent6>
      <a:hlink>
        <a:srgbClr val="FF6E00"/>
      </a:hlink>
      <a:folHlink>
        <a:srgbClr val="FF6E00"/>
      </a:folHlink>
    </a:clrScheme>
    <a:fontScheme name="ifm_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ifm_Colours">
      <a:dk1>
        <a:srgbClr val="FFFFFF"/>
      </a:dk1>
      <a:lt1>
        <a:srgbClr val="000000"/>
      </a:lt1>
      <a:dk2>
        <a:srgbClr val="D9D9D9"/>
      </a:dk2>
      <a:lt2>
        <a:srgbClr val="FF6E00"/>
      </a:lt2>
      <a:accent1>
        <a:srgbClr val="30343A"/>
      </a:accent1>
      <a:accent2>
        <a:srgbClr val="5B666F"/>
      </a:accent2>
      <a:accent3>
        <a:srgbClr val="808890"/>
      </a:accent3>
      <a:accent4>
        <a:srgbClr val="C1C5C8"/>
      </a:accent4>
      <a:accent5>
        <a:srgbClr val="FF6E00"/>
      </a:accent5>
      <a:accent6>
        <a:srgbClr val="83B7CD"/>
      </a:accent6>
      <a:hlink>
        <a:srgbClr val="FF6E00"/>
      </a:hlink>
      <a:folHlink>
        <a:srgbClr val="FF6E00"/>
      </a:folHlink>
    </a:clrScheme>
    <a:fontScheme name="ifm_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45B52553D98B5429EF075933278D318" ma:contentTypeVersion="6" ma:contentTypeDescription="Ein neues Dokument erstellen." ma:contentTypeScope="" ma:versionID="920a476a874636e752190e44ec6087ab">
  <xsd:schema xmlns:xsd="http://www.w3.org/2001/XMLSchema" xmlns:xs="http://www.w3.org/2001/XMLSchema" xmlns:p="http://schemas.microsoft.com/office/2006/metadata/properties" xmlns:ns2="edebd399-61bb-41a3-a170-08dbff6e2386" xmlns:ns3="8d2a1563-0d9d-4259-bc57-467924f57fad" targetNamespace="http://schemas.microsoft.com/office/2006/metadata/properties" ma:root="true" ma:fieldsID="248b788c19ba11a52e368a5e490347fa" ns2:_="" ns3:_="">
    <xsd:import namespace="edebd399-61bb-41a3-a170-08dbff6e2386"/>
    <xsd:import namespace="8d2a1563-0d9d-4259-bc57-467924f57fa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ebd399-61bb-41a3-a170-08dbff6e23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d2a1563-0d9d-4259-bc57-467924f57fad"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71E76F4-69AA-4864-850C-BF69620C2B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ebd399-61bb-41a3-a170-08dbff6e2386"/>
    <ds:schemaRef ds:uri="8d2a1563-0d9d-4259-bc57-467924f57f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063D64-694F-4BCC-9DC6-30202EC9759F}">
  <ds:schemaRefs>
    <ds:schemaRef ds:uri="http://schemas.microsoft.com/sharepoint/v3/contenttype/forms"/>
  </ds:schemaRefs>
</ds:datastoreItem>
</file>

<file path=customXml/itemProps3.xml><?xml version="1.0" encoding="utf-8"?>
<ds:datastoreItem xmlns:ds="http://schemas.openxmlformats.org/officeDocument/2006/customXml" ds:itemID="{65C0EA16-CD53-4F37-BD65-CCA94DB53305}">
  <ds:schemaRefs>
    <ds:schemaRef ds:uri="edebd399-61bb-41a3-a170-08dbff6e2386"/>
    <ds:schemaRef ds:uri="http://schemas.microsoft.com/office/2006/documentManagement/types"/>
    <ds:schemaRef ds:uri="http://purl.org/dc/dcmitype/"/>
    <ds:schemaRef ds:uri="http://www.w3.org/XML/1998/namespace"/>
    <ds:schemaRef ds:uri="http://purl.org/dc/elements/1.1/"/>
    <ds:schemaRef ds:uri="http://purl.org/dc/terms/"/>
    <ds:schemaRef ds:uri="http://schemas.microsoft.com/office/infopath/2007/PartnerControls"/>
    <ds:schemaRef ds:uri="http://schemas.openxmlformats.org/package/2006/metadata/core-properties"/>
    <ds:schemaRef ds:uri="8d2a1563-0d9d-4259-bc57-467924f57fad"/>
    <ds:schemaRef ds:uri="http://schemas.microsoft.com/office/2006/metadata/properties"/>
  </ds:schemaRefs>
</ds:datastoreItem>
</file>

<file path=docMetadata/LabelInfo.xml><?xml version="1.0" encoding="utf-8"?>
<clbl:labelList xmlns:clbl="http://schemas.microsoft.com/office/2020/mipLabelMetadata">
  <clbl:label id="{e97c528e-e8db-4a71-b5cb-4edd5b40a06c}" enabled="1" method="Privileged" siteId="{2782ef14-4849-46b4-b90d-d7e83fc425ca}" removed="0"/>
</clbl:labelList>
</file>

<file path=docProps/app.xml><?xml version="1.0" encoding="utf-8"?>
<Properties xmlns="http://schemas.openxmlformats.org/officeDocument/2006/extended-properties" xmlns:vt="http://schemas.openxmlformats.org/officeDocument/2006/docPropsVTypes">
  <Template>ifm powerpoint Master</Template>
  <TotalTime>0</TotalTime>
  <Words>6253</Words>
  <Application>Microsoft Macintosh PowerPoint</Application>
  <PresentationFormat>Breitbild</PresentationFormat>
  <Paragraphs>619</Paragraphs>
  <Slides>28</Slides>
  <Notes>28</Notes>
  <HiddenSlides>0</HiddenSlides>
  <MMClips>0</MMClips>
  <ScaleCrop>false</ScaleCrop>
  <HeadingPairs>
    <vt:vector size="8" baseType="variant">
      <vt:variant>
        <vt:lpstr>Verwendete Schriftarten</vt:lpstr>
      </vt:variant>
      <vt:variant>
        <vt:i4>2</vt:i4>
      </vt:variant>
      <vt:variant>
        <vt:lpstr>Design</vt:lpstr>
      </vt:variant>
      <vt:variant>
        <vt:i4>1</vt:i4>
      </vt:variant>
      <vt:variant>
        <vt:lpstr>Eingebettete OLE-Server</vt:lpstr>
      </vt:variant>
      <vt:variant>
        <vt:i4>1</vt:i4>
      </vt:variant>
      <vt:variant>
        <vt:lpstr>Folientitel</vt:lpstr>
      </vt:variant>
      <vt:variant>
        <vt:i4>28</vt:i4>
      </vt:variant>
    </vt:vector>
  </HeadingPairs>
  <TitlesOfParts>
    <vt:vector size="32" baseType="lpstr">
      <vt:lpstr>Arial</vt:lpstr>
      <vt:lpstr>Calibri</vt:lpstr>
      <vt:lpstr>ifm powerpoint Master</vt:lpstr>
      <vt:lpstr>think-cell Folie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Nuber, Nathalie</dc:creator>
  <cp:lastModifiedBy>Nuber, Nathalie</cp:lastModifiedBy>
  <cp:revision>1</cp:revision>
  <dcterms:created xsi:type="dcterms:W3CDTF">2026-09-20T10:23:05Z</dcterms:created>
  <dcterms:modified xsi:type="dcterms:W3CDTF">2026-09-20T10:57:11Z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97c528e-e8db-4a71-b5cb-4edd5b40a06c_Enabled">
    <vt:lpwstr>true</vt:lpwstr>
  </property>
  <property fmtid="{D5CDD505-2E9C-101B-9397-08002B2CF9AE}" pid="3" name="MSIP_Label_e97c528e-e8db-4a71-b5cb-4edd5b40a06c_SetDate">
    <vt:lpwstr>2025-12-08T09:04:56Z</vt:lpwstr>
  </property>
  <property fmtid="{D5CDD505-2E9C-101B-9397-08002B2CF9AE}" pid="4" name="MSIP_Label_e97c528e-e8db-4a71-b5cb-4edd5b40a06c_Method">
    <vt:lpwstr>Standard</vt:lpwstr>
  </property>
  <property fmtid="{D5CDD505-2E9C-101B-9397-08002B2CF9AE}" pid="5" name="MSIP_Label_e97c528e-e8db-4a71-b5cb-4edd5b40a06c_Name">
    <vt:lpwstr>ifminternal</vt:lpwstr>
  </property>
  <property fmtid="{D5CDD505-2E9C-101B-9397-08002B2CF9AE}" pid="6" name="MSIP_Label_e97c528e-e8db-4a71-b5cb-4edd5b40a06c_SiteId">
    <vt:lpwstr>2782ef14-4849-46b4-b90d-d7e83fc425ca</vt:lpwstr>
  </property>
  <property fmtid="{D5CDD505-2E9C-101B-9397-08002B2CF9AE}" pid="7" name="MSIP_Label_e97c528e-e8db-4a71-b5cb-4edd5b40a06c_ActionId">
    <vt:lpwstr>0ca1b76d-039d-4412-9861-cba0282812d2</vt:lpwstr>
  </property>
  <property fmtid="{D5CDD505-2E9C-101B-9397-08002B2CF9AE}" pid="8" name="MSIP_Label_e97c528e-e8db-4a71-b5cb-4edd5b40a06c_ContentBits">
    <vt:lpwstr>2</vt:lpwstr>
  </property>
  <property fmtid="{D5CDD505-2E9C-101B-9397-08002B2CF9AE}" pid="9" name="MSIP_Label_e97c528e-e8db-4a71-b5cb-4edd5b40a06c_Tag">
    <vt:lpwstr>10, 3, 0, 1</vt:lpwstr>
  </property>
  <property fmtid="{D5CDD505-2E9C-101B-9397-08002B2CF9AE}" pid="10" name="ClassificationContentMarkingFooterLocations">
    <vt:lpwstr>ifm_powerpoint_Master:9</vt:lpwstr>
  </property>
  <property fmtid="{D5CDD505-2E9C-101B-9397-08002B2CF9AE}" pid="11" name="ClassificationContentMarkingFooterText">
    <vt:lpwstr>INTERNAL</vt:lpwstr>
  </property>
  <property fmtid="{D5CDD505-2E9C-101B-9397-08002B2CF9AE}" pid="12" name="ContentTypeId">
    <vt:lpwstr>0x010100B45B52553D98B5429EF075933278D318</vt:lpwstr>
  </property>
</Properties>
</file>