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0C09F1-A5F8-E7F9-654B-F214779E5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7FD48B1-8380-E7EC-1812-ABC7781B83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8F1272-E469-CAF5-196C-88E7026A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52B5E2-2F7C-74AB-EF45-9A8F68912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C0346CC-64B1-865F-1083-1B58D23B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641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B9001A-3FD7-78D6-7416-9303AB8A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B28AE8-FACE-E4E2-3CF9-0844EF5A7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7B1559-E063-4AA8-30FE-1BBFB4D21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CB9E1B-5C5C-1394-9B17-0EA937746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CC090E-936A-DCB2-B940-B23E787E9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280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4EB538-ED5C-08D0-F8E9-DC504753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603A3C1-A311-A9CE-AB53-3FC972492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3E8C64-A359-6AF7-C8CE-3B2A782E4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5D774FD-3C5F-B241-542F-4A04BB1D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61DFA9-8D21-78B0-B3DC-8C6B1BAB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052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3A944C-A600-42D6-D717-4D0D91646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7698A2-A541-2A25-8223-483B13F7B0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1620E46-583E-AD14-B468-4EA978347A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F3DEC2-7767-E11D-ECBF-3934899D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F4A63B5-4F09-7ECA-CCDB-27A64CC97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6A848E-5885-10D5-4007-D02F24DF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142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79F5B0-1335-6A97-A496-4F343A25F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047576E-0598-AE9B-F9BA-4FA758364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D3FAB08-B481-09E7-8EAE-F67AFCBE0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D29D428-58BD-0522-A62A-F5FEB78AF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4315DCC-84E9-5B1D-8EF6-9832FDF384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A030D4-1FFD-5E49-6B45-405EFD9D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6A6CAC-4DBD-3A7B-443B-5CE0ABFF4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BB98C47-031E-1361-4118-86D3F8AE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521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7DAEA-2B68-FE60-2684-CB8C78091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9C78E07-B1DA-DF91-9706-E68271DE7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60D1627-CAF0-0377-87D9-E99D35A3C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95E8349-8158-A2C3-024E-7987B01F6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825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5A5366A-366C-F466-7A31-DB7EAAC2D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9252276-9279-30D5-00C9-5821F092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CE6983-E18E-88BB-56AA-610800AD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9449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6C41F-F1F7-857D-7E0C-E0A3041D7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7CCE68-AA44-FD7B-2FAF-3CDACC834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760EB0-D85B-1DD9-2C0E-A7BBB8F99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7A69944-3EAA-0B41-B103-6B45D14B3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55CB3D-2446-F973-7CEF-5CC8CDC55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E1357E4-E3F3-7FF9-A902-A6DBA626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836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134F2-4C2A-DF7D-D288-2A9BDA1D0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8C9493-449D-76B3-007B-288BF6990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743158-ABC0-4A41-1063-3A9260084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29D297B-F137-62E5-C40F-7A230EB6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B2A6D6-A852-F389-1A3D-B54A6846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84DABC-9571-4F29-6241-F52BE73AE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055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A2E1D4-05BB-85AD-F4F2-CE158672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BACA82-B207-274B-7EE5-3CD02EFBB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ED796D1-CCD3-5271-86ED-8FB42F14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4B2292-C06F-0253-7C37-64B515F29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1965A0-B754-BADB-C8A3-74B497FC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54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0A83543-B58F-E8E5-771E-03C4DDE3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046C13F-DBE1-2A00-E5B2-DCFD68674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BE8EFF-36C4-C4C9-BC63-6A28F9B3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DF2BE6E-A75B-99C3-AD53-E1C79799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F42529-FFE4-DA81-966F-AECCE7BF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429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24D31EB-FFB2-29E1-1F4D-BBA75C128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23E122B-EF5A-AC1E-F8F7-17DDEB741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D163638-B4F2-CAF2-63DA-CF9E3AA44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5E137-142E-4744-AFD9-CF696F85903D}" type="datetimeFigureOut">
              <a:rPr lang="de-DE" smtClean="0"/>
              <a:t>08.07.2026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AFA61F-EE8B-95DB-275D-453F9933A6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984E40-3027-6A8D-BB2B-7DA1924238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BEBB29-04CF-4B6D-80AF-F1AE0A880FFC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BAD4C10-97CA-6CB9-6237-96B8EF398C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18188" y="66421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1801089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118872"/>
            <a:ext cx="694944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900" b="1">
                <a:solidFill>
                  <a:srgbClr val="1F2937"/>
                </a:solidFill>
                <a:latin typeface="Aptos"/>
              </a:rPr>
              <a:t>Konzeptioneller Ablauf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2336" y="521207"/>
            <a:ext cx="11155680" cy="256032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0">
                <a:solidFill>
                  <a:srgbClr val="647078"/>
                </a:solidFill>
                <a:latin typeface="Aptos"/>
              </a:rPr>
              <a:t>Pfeilkette </a:t>
            </a:r>
            <a:r>
              <a:rPr lang="de-DE" sz="1400" b="0">
                <a:solidFill>
                  <a:srgbClr val="647078"/>
                </a:solidFill>
                <a:latin typeface="Aptos"/>
              </a:rPr>
              <a:t>mit klarer Aufteilung in die fünf Ebenen</a:t>
            </a:r>
            <a:r>
              <a:rPr sz="1400" b="0">
                <a:solidFill>
                  <a:srgbClr val="647078"/>
                </a:solidFill>
                <a:latin typeface="Aptos"/>
              </a:rPr>
              <a:t>: </a:t>
            </a:r>
            <a:r>
              <a:rPr lang="de-DE" sz="1400" b="0">
                <a:solidFill>
                  <a:srgbClr val="647078"/>
                </a:solidFill>
                <a:latin typeface="Aptos"/>
              </a:rPr>
              <a:t>Management, Analyse, Entwicklung, Verifikation und Freigabe/Betrieb</a:t>
            </a:r>
            <a:r>
              <a:rPr sz="1400" b="0">
                <a:solidFill>
                  <a:srgbClr val="647078"/>
                </a:solidFill>
                <a:latin typeface="Aptos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813816"/>
            <a:ext cx="11384280" cy="32004"/>
          </a:xfrm>
          <a:prstGeom prst="rect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329184" y="969264"/>
            <a:ext cx="11475720" cy="1014983"/>
          </a:xfrm>
          <a:prstGeom prst="rect">
            <a:avLst/>
          </a:prstGeom>
          <a:solidFill>
            <a:srgbClr val="FFFFFF"/>
          </a:solidFill>
          <a:ln w="7620">
            <a:solidFill>
              <a:srgbClr val="E3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ounded Rectangle 5"/>
          <p:cNvSpPr/>
          <p:nvPr/>
        </p:nvSpPr>
        <p:spPr>
          <a:xfrm>
            <a:off x="420624" y="1088136"/>
            <a:ext cx="1572768" cy="777239"/>
          </a:xfrm>
          <a:prstGeom prst="roundRect">
            <a:avLst/>
          </a:prstGeom>
          <a:solidFill>
            <a:srgbClr val="1F4E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Ebene 1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1362456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Produkt &amp;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Einsatzbereich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verstehen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5091" y="1495044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>
            <a:spLocks/>
          </p:cNvSpPr>
          <p:nvPr/>
        </p:nvSpPr>
        <p:spPr>
          <a:xfrm>
            <a:off x="4517136" y="1362456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Stakeholder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identifizieren</a:t>
            </a:r>
          </a:p>
        </p:txBody>
      </p:sp>
      <p:sp>
        <p:nvSpPr>
          <p:cNvPr id="10" name="Right Arrow 9"/>
          <p:cNvSpPr>
            <a:spLocks/>
          </p:cNvSpPr>
          <p:nvPr/>
        </p:nvSpPr>
        <p:spPr>
          <a:xfrm>
            <a:off x="6560820" y="1495044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ounded Rectangle 10"/>
          <p:cNvSpPr/>
          <p:nvPr/>
        </p:nvSpPr>
        <p:spPr>
          <a:xfrm>
            <a:off x="6912864" y="1362456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Security-Ziele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definieren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956548" y="1495044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308592" y="1362456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4E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Risk Governance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planen</a:t>
            </a:r>
          </a:p>
        </p:txBody>
      </p:sp>
      <p:sp>
        <p:nvSpPr>
          <p:cNvPr id="14" name="Down Arrow 13"/>
          <p:cNvSpPr>
            <a:spLocks/>
          </p:cNvSpPr>
          <p:nvPr/>
        </p:nvSpPr>
        <p:spPr>
          <a:xfrm>
            <a:off x="11356848" y="1819656"/>
            <a:ext cx="292608" cy="347472"/>
          </a:xfrm>
          <a:prstGeom prst="down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tangle 14"/>
          <p:cNvSpPr>
            <a:spLocks/>
          </p:cNvSpPr>
          <p:nvPr/>
        </p:nvSpPr>
        <p:spPr>
          <a:xfrm>
            <a:off x="358140" y="2175888"/>
            <a:ext cx="11475720" cy="869062"/>
          </a:xfrm>
          <a:prstGeom prst="rect">
            <a:avLst/>
          </a:prstGeom>
          <a:solidFill>
            <a:srgbClr val="FBFAF4"/>
          </a:solidFill>
          <a:ln w="7620">
            <a:solidFill>
              <a:srgbClr val="E3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ounded Rectangle 15"/>
          <p:cNvSpPr/>
          <p:nvPr/>
        </p:nvSpPr>
        <p:spPr>
          <a:xfrm>
            <a:off x="420624" y="2148839"/>
            <a:ext cx="1572768" cy="777239"/>
          </a:xfrm>
          <a:prstGeom prst="roundRect">
            <a:avLst/>
          </a:prstGeom>
          <a:solidFill>
            <a:srgbClr val="D9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Ebene 2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Analyse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08592" y="2423160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Assets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benennen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9038844" y="2555748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>
            <a:spLocks/>
          </p:cNvSpPr>
          <p:nvPr/>
        </p:nvSpPr>
        <p:spPr>
          <a:xfrm>
            <a:off x="6912864" y="2423160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Threat &amp; Risk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Analyse</a:t>
            </a:r>
          </a:p>
        </p:txBody>
      </p:sp>
      <p:sp>
        <p:nvSpPr>
          <p:cNvPr id="20" name="Left Arrow 19"/>
          <p:cNvSpPr>
            <a:spLocks/>
          </p:cNvSpPr>
          <p:nvPr/>
        </p:nvSpPr>
        <p:spPr>
          <a:xfrm>
            <a:off x="6643116" y="2555748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ounded Rectangle 20"/>
          <p:cNvSpPr/>
          <p:nvPr/>
        </p:nvSpPr>
        <p:spPr>
          <a:xfrm>
            <a:off x="4517136" y="2423160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Risiken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dokumentieren</a:t>
            </a:r>
          </a:p>
        </p:txBody>
      </p:sp>
      <p:sp>
        <p:nvSpPr>
          <p:cNvPr id="22" name="Left Arrow 21"/>
          <p:cNvSpPr>
            <a:spLocks/>
          </p:cNvSpPr>
          <p:nvPr/>
        </p:nvSpPr>
        <p:spPr>
          <a:xfrm>
            <a:off x="4247388" y="2555748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ounded Rectangle 22"/>
          <p:cNvSpPr/>
          <p:nvPr/>
        </p:nvSpPr>
        <p:spPr>
          <a:xfrm>
            <a:off x="2121408" y="2423160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Schutzziele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identifizieren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709928" y="2880360"/>
            <a:ext cx="292608" cy="347472"/>
          </a:xfrm>
          <a:prstGeom prst="down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9184" y="3328414"/>
            <a:ext cx="11475720" cy="777241"/>
          </a:xfrm>
          <a:prstGeom prst="rect">
            <a:avLst/>
          </a:prstGeom>
          <a:solidFill>
            <a:srgbClr val="FFFFFF"/>
          </a:solidFill>
          <a:ln w="7620">
            <a:solidFill>
              <a:srgbClr val="E3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>
            <a:spLocks/>
          </p:cNvSpPr>
          <p:nvPr/>
        </p:nvSpPr>
        <p:spPr>
          <a:xfrm>
            <a:off x="420624" y="3209544"/>
            <a:ext cx="1572768" cy="777239"/>
          </a:xfrm>
          <a:prstGeom prst="roundRect">
            <a:avLst/>
          </a:prstGeom>
          <a:solidFill>
            <a:srgbClr val="3C7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Ebene 3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Entwicklung</a:t>
            </a:r>
          </a:p>
        </p:txBody>
      </p:sp>
      <p:sp>
        <p:nvSpPr>
          <p:cNvPr id="27" name="Rounded Rectangle 26"/>
          <p:cNvSpPr>
            <a:spLocks/>
          </p:cNvSpPr>
          <p:nvPr/>
        </p:nvSpPr>
        <p:spPr>
          <a:xfrm>
            <a:off x="2121408" y="3483864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Security-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Anforderungen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ableiten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165091" y="3616452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17136" y="3483864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Security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Architecture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560820" y="3616452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>
            <a:spLocks/>
          </p:cNvSpPr>
          <p:nvPr/>
        </p:nvSpPr>
        <p:spPr>
          <a:xfrm>
            <a:off x="6912864" y="3483864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Coding Guidelines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anpassen</a:t>
            </a:r>
          </a:p>
        </p:txBody>
      </p:sp>
      <p:sp>
        <p:nvSpPr>
          <p:cNvPr id="32" name="Right Arrow 31"/>
          <p:cNvSpPr>
            <a:spLocks/>
          </p:cNvSpPr>
          <p:nvPr/>
        </p:nvSpPr>
        <p:spPr>
          <a:xfrm>
            <a:off x="8956548" y="3616452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Rounded Rectangle 32"/>
          <p:cNvSpPr/>
          <p:nvPr/>
        </p:nvSpPr>
        <p:spPr>
          <a:xfrm>
            <a:off x="9308592" y="3483864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C7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Secure Coding &amp;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Implementierung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11356848" y="3941064"/>
            <a:ext cx="292608" cy="347472"/>
          </a:xfrm>
          <a:prstGeom prst="down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9184" y="4389119"/>
            <a:ext cx="11475720" cy="777239"/>
          </a:xfrm>
          <a:prstGeom prst="rect">
            <a:avLst/>
          </a:prstGeom>
          <a:solidFill>
            <a:srgbClr val="FBFAF4"/>
          </a:solidFill>
          <a:ln w="7620">
            <a:solidFill>
              <a:srgbClr val="E3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>
            <a:spLocks/>
          </p:cNvSpPr>
          <p:nvPr/>
        </p:nvSpPr>
        <p:spPr>
          <a:xfrm>
            <a:off x="420624" y="4270247"/>
            <a:ext cx="1572768" cy="777239"/>
          </a:xfrm>
          <a:prstGeom prst="roundRect">
            <a:avLst/>
          </a:prstGeom>
          <a:solidFill>
            <a:srgbClr val="476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Ebene 4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Verifikation</a:t>
            </a:r>
          </a:p>
        </p:txBody>
      </p:sp>
      <p:sp>
        <p:nvSpPr>
          <p:cNvPr id="37" name="Rounded Rectangle 36"/>
          <p:cNvSpPr>
            <a:spLocks/>
          </p:cNvSpPr>
          <p:nvPr/>
        </p:nvSpPr>
        <p:spPr>
          <a:xfrm>
            <a:off x="9308592" y="4544567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Unit- &amp;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Integrationstest</a:t>
            </a:r>
          </a:p>
        </p:txBody>
      </p:sp>
      <p:sp>
        <p:nvSpPr>
          <p:cNvPr id="38" name="Left Arrow 37"/>
          <p:cNvSpPr/>
          <p:nvPr/>
        </p:nvSpPr>
        <p:spPr>
          <a:xfrm>
            <a:off x="9038844" y="4677155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>
            <a:spLocks/>
          </p:cNvSpPr>
          <p:nvPr/>
        </p:nvSpPr>
        <p:spPr>
          <a:xfrm>
            <a:off x="6912864" y="4544567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Funktionsprüfung &amp;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Testbericht</a:t>
            </a:r>
          </a:p>
        </p:txBody>
      </p:sp>
      <p:sp>
        <p:nvSpPr>
          <p:cNvPr id="40" name="Left Arrow 39"/>
          <p:cNvSpPr/>
          <p:nvPr/>
        </p:nvSpPr>
        <p:spPr>
          <a:xfrm>
            <a:off x="6643116" y="4677155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17136" y="4544567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Schwachstellen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bewerten</a:t>
            </a:r>
          </a:p>
        </p:txBody>
      </p:sp>
      <p:sp>
        <p:nvSpPr>
          <p:cNvPr id="42" name="Left Arrow 41"/>
          <p:cNvSpPr/>
          <p:nvPr/>
        </p:nvSpPr>
        <p:spPr>
          <a:xfrm>
            <a:off x="4247388" y="4677155"/>
            <a:ext cx="219456" cy="246888"/>
          </a:xfrm>
          <a:prstGeom prst="lef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>
            <a:spLocks/>
          </p:cNvSpPr>
          <p:nvPr/>
        </p:nvSpPr>
        <p:spPr>
          <a:xfrm>
            <a:off x="2121408" y="4544567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476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Risiko behandeln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/ Rückführen</a:t>
            </a:r>
          </a:p>
        </p:txBody>
      </p:sp>
      <p:sp>
        <p:nvSpPr>
          <p:cNvPr id="44" name="Down Arrow 43"/>
          <p:cNvSpPr>
            <a:spLocks/>
          </p:cNvSpPr>
          <p:nvPr/>
        </p:nvSpPr>
        <p:spPr>
          <a:xfrm>
            <a:off x="1709928" y="5001767"/>
            <a:ext cx="292608" cy="347472"/>
          </a:xfrm>
          <a:prstGeom prst="down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5" name="Rectangle 44"/>
          <p:cNvSpPr/>
          <p:nvPr/>
        </p:nvSpPr>
        <p:spPr>
          <a:xfrm>
            <a:off x="329184" y="5357999"/>
            <a:ext cx="11475720" cy="1014983"/>
          </a:xfrm>
          <a:prstGeom prst="rect">
            <a:avLst/>
          </a:prstGeom>
          <a:solidFill>
            <a:srgbClr val="FFFFFF"/>
          </a:solidFill>
          <a:ln w="7620">
            <a:solidFill>
              <a:srgbClr val="E3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420624" y="5330951"/>
            <a:ext cx="1572768" cy="777239"/>
          </a:xfrm>
          <a:prstGeom prst="roundRect">
            <a:avLst/>
          </a:prstGeom>
          <a:solidFill>
            <a:srgbClr val="6C5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Ebene 5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FFFFFF"/>
                </a:solidFill>
                <a:latin typeface="Aptos"/>
              </a:rPr>
              <a:t>Freigabe / Betrieb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21408" y="5605271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C5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Restrisiken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bewerten</a:t>
            </a:r>
          </a:p>
        </p:txBody>
      </p:sp>
      <p:sp>
        <p:nvSpPr>
          <p:cNvPr id="48" name="Right Arrow 47"/>
          <p:cNvSpPr>
            <a:spLocks/>
          </p:cNvSpPr>
          <p:nvPr/>
        </p:nvSpPr>
        <p:spPr>
          <a:xfrm>
            <a:off x="4165091" y="5737859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ounded Rectangle 48"/>
          <p:cNvSpPr>
            <a:spLocks/>
          </p:cNvSpPr>
          <p:nvPr/>
        </p:nvSpPr>
        <p:spPr>
          <a:xfrm>
            <a:off x="4517136" y="5605271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C5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Risk Acceptance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&amp; Freigabe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6560820" y="5737859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912864" y="5605271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C5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Re-Assessment &amp;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periodische Reviews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8956548" y="5737859"/>
            <a:ext cx="219456" cy="246888"/>
          </a:xfrm>
          <a:prstGeom prst="rightArrow">
            <a:avLst/>
          </a:prstGeom>
          <a:solidFill>
            <a:srgbClr val="E85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>
            <a:spLocks/>
          </p:cNvSpPr>
          <p:nvPr/>
        </p:nvSpPr>
        <p:spPr>
          <a:xfrm>
            <a:off x="9308592" y="5605271"/>
            <a:ext cx="1993392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C5A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>
            <a:noAutofit/>
          </a:bodyPr>
          <a:lstStyle/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Security Updates</a:t>
            </a:r>
          </a:p>
          <a:p>
            <a:pPr algn="ctr">
              <a:lnSpc>
                <a:spcPct val="84000"/>
              </a:lnSpc>
              <a:spcAft>
                <a:spcPts val="0"/>
              </a:spcAft>
            </a:pPr>
            <a:r>
              <a:rPr lang="de-DE" sz="1400" b="1">
                <a:solidFill>
                  <a:srgbClr val="263238"/>
                </a:solidFill>
                <a:latin typeface="Aptos"/>
              </a:rPr>
              <a:t>überwachen</a:t>
            </a:r>
          </a:p>
        </p:txBody>
      </p:sp>
      <p:sp>
        <p:nvSpPr>
          <p:cNvPr id="54" name="Up Arrow 53"/>
          <p:cNvSpPr>
            <a:spLocks/>
          </p:cNvSpPr>
          <p:nvPr/>
        </p:nvSpPr>
        <p:spPr>
          <a:xfrm>
            <a:off x="640080" y="6153912"/>
            <a:ext cx="219456" cy="292608"/>
          </a:xfrm>
          <a:prstGeom prst="upArrow">
            <a:avLst/>
          </a:prstGeom>
          <a:solidFill>
            <a:srgbClr val="6C5A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Box 54"/>
          <p:cNvSpPr txBox="1">
            <a:spLocks/>
          </p:cNvSpPr>
          <p:nvPr/>
        </p:nvSpPr>
        <p:spPr>
          <a:xfrm>
            <a:off x="914400" y="6126480"/>
            <a:ext cx="34290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de-DE" sz="1400" b="1">
                <a:solidFill>
                  <a:srgbClr val="6C5A95"/>
                </a:solidFill>
                <a:latin typeface="Aptos"/>
              </a:rPr>
              <a:t>Feedback bei Befunden oder Restrisiken</a:t>
            </a:r>
          </a:p>
        </p:txBody>
      </p:sp>
    </p:spTree>
    <p:extLst>
      <p:ext uri="{BB962C8B-B14F-4D97-AF65-F5344CB8AC3E}">
        <p14:creationId xmlns:p14="http://schemas.microsoft.com/office/powerpoint/2010/main" val="311234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</Words>
  <Application>Microsoft Office PowerPoint</Application>
  <PresentationFormat>Breitbild</PresentationFormat>
  <Paragraphs>55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ifm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Nuber, Nathalie</dc:creator>
  <cp:lastModifiedBy>Nuber, Nathalie</cp:lastModifiedBy>
  <cp:revision>1</cp:revision>
  <dcterms:created xsi:type="dcterms:W3CDTF">2026-07-08T07:19:35Z</dcterms:created>
  <dcterms:modified xsi:type="dcterms:W3CDTF">2026-07-08T07:19:54Z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97c528e-e8db-4a71-b5cb-4edd5b40a06c_Enabled">
    <vt:lpwstr>true</vt:lpwstr>
  </property>
  <property fmtid="{D5CDD505-2E9C-101B-9397-08002B2CF9AE}" pid="3" name="MSIP_Label_e97c528e-e8db-4a71-b5cb-4edd5b40a06c_SetDate">
    <vt:lpwstr>2026-07-08T07:19:54Z</vt:lpwstr>
  </property>
  <property fmtid="{D5CDD505-2E9C-101B-9397-08002B2CF9AE}" pid="4" name="MSIP_Label_e97c528e-e8db-4a71-b5cb-4edd5b40a06c_Method">
    <vt:lpwstr>Standard</vt:lpwstr>
  </property>
  <property fmtid="{D5CDD505-2E9C-101B-9397-08002B2CF9AE}" pid="5" name="MSIP_Label_e97c528e-e8db-4a71-b5cb-4edd5b40a06c_Name">
    <vt:lpwstr>ifminternal</vt:lpwstr>
  </property>
  <property fmtid="{D5CDD505-2E9C-101B-9397-08002B2CF9AE}" pid="6" name="MSIP_Label_e97c528e-e8db-4a71-b5cb-4edd5b40a06c_SiteId">
    <vt:lpwstr>2782ef14-4849-46b4-b90d-d7e83fc425ca</vt:lpwstr>
  </property>
  <property fmtid="{D5CDD505-2E9C-101B-9397-08002B2CF9AE}" pid="7" name="MSIP_Label_e97c528e-e8db-4a71-b5cb-4edd5b40a06c_ActionId">
    <vt:lpwstr>2182743c-38e3-4097-b52f-b0cea6f5f918</vt:lpwstr>
  </property>
  <property fmtid="{D5CDD505-2E9C-101B-9397-08002B2CF9AE}" pid="8" name="MSIP_Label_e97c528e-e8db-4a71-b5cb-4edd5b40a06c_ContentBits">
    <vt:lpwstr>2</vt:lpwstr>
  </property>
  <property fmtid="{D5CDD505-2E9C-101B-9397-08002B2CF9AE}" pid="9" name="MSIP_Label_e97c528e-e8db-4a71-b5cb-4edd5b40a06c_Tag">
    <vt:lpwstr>10, 3, 0, 1</vt:lpwstr>
  </property>
  <property fmtid="{D5CDD505-2E9C-101B-9397-08002B2CF9AE}" pid="10" name="ClassificationContentMarkingFooterLocations">
    <vt:lpwstr>Office:8</vt:lpwstr>
  </property>
  <property fmtid="{D5CDD505-2E9C-101B-9397-08002B2CF9AE}" pid="11" name="ClassificationContentMarkingFooterText">
    <vt:lpwstr>INTERNAL</vt:lpwstr>
  </property>
</Properties>
</file>