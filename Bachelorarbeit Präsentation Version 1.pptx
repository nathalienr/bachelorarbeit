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7" r:id="rId5"/>
    <p:sldId id="358" r:id="rId6"/>
    <p:sldId id="341" r:id="rId7"/>
    <p:sldId id="342" r:id="rId8"/>
    <p:sldId id="343" r:id="rId9"/>
    <p:sldId id="344" r:id="rId10"/>
    <p:sldId id="347" r:id="rId11"/>
    <p:sldId id="345" r:id="rId12"/>
    <p:sldId id="346" r:id="rId13"/>
    <p:sldId id="348" r:id="rId14"/>
    <p:sldId id="349" r:id="rId15"/>
    <p:sldId id="350" r:id="rId16"/>
    <p:sldId id="351" r:id="rId17"/>
    <p:sldId id="352" r:id="rId18"/>
    <p:sldId id="353" r:id="rId19"/>
    <p:sldId id="354" r:id="rId20"/>
    <p:sldId id="355" r:id="rId21"/>
    <p:sldId id="356" r:id="rId22"/>
    <p:sldId id="357"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Helle Formatvorlage 3 - Akz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57" d="100"/>
          <a:sy n="57" d="100"/>
        </p:scale>
        <p:origin x="48" y="324"/>
      </p:cViewPr>
      <p:guideLst/>
    </p:cSldViewPr>
  </p:slideViewPr>
  <p:notesTextViewPr>
    <p:cViewPr>
      <p:scale>
        <a:sx n="1" d="1"/>
        <a:sy n="1" d="1"/>
      </p:scale>
      <p:origin x="0" y="0"/>
    </p:cViewPr>
  </p:notesTextViewPr>
  <p:sorterViewPr>
    <p:cViewPr>
      <p:scale>
        <a:sx n="90" d="100"/>
        <a:sy n="90" d="100"/>
      </p:scale>
      <p:origin x="0" y="0"/>
    </p:cViewPr>
  </p:sorterViewPr>
  <p:notesViewPr>
    <p:cSldViewPr snapToGrid="0" showGuides="1">
      <p:cViewPr varScale="1">
        <p:scale>
          <a:sx n="77" d="100"/>
          <a:sy n="77" d="100"/>
        </p:scale>
        <p:origin x="1940" y="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ber, Nathalie" userId="64826a5e-75fc-44e6-a073-417b106d7220" providerId="ADAL" clId="{2D240D19-45E2-4320-A1B7-FEF1D055401D}"/>
    <pc:docChg chg="modSld sldOrd">
      <pc:chgData name="Nuber, Nathalie" userId="64826a5e-75fc-44e6-a073-417b106d7220" providerId="ADAL" clId="{2D240D19-45E2-4320-A1B7-FEF1D055401D}" dt="2026-09-20T07:32:52.113" v="1"/>
      <pc:docMkLst>
        <pc:docMk/>
      </pc:docMkLst>
      <pc:sldChg chg="ord">
        <pc:chgData name="Nuber, Nathalie" userId="64826a5e-75fc-44e6-a073-417b106d7220" providerId="ADAL" clId="{2D240D19-45E2-4320-A1B7-FEF1D055401D}" dt="2026-09-20T07:32:52.113" v="1"/>
        <pc:sldMkLst>
          <pc:docMk/>
          <pc:sldMk cId="0" sldId="34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8BEB59-B03F-1516-D49A-9B01C9EBDB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03E739C-43EC-06F0-78BD-C84C799ED0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89CB0D-740C-494B-9BDA-DCE1ACE6143C}" type="datetimeFigureOut">
              <a:rPr lang="en-US" smtClean="0"/>
              <a:t>9/19/2026</a:t>
            </a:fld>
            <a:endParaRPr lang="en-US"/>
          </a:p>
        </p:txBody>
      </p:sp>
      <p:sp>
        <p:nvSpPr>
          <p:cNvPr id="4" name="Footer Placeholder 3">
            <a:extLst>
              <a:ext uri="{FF2B5EF4-FFF2-40B4-BE49-F238E27FC236}">
                <a16:creationId xmlns:a16="http://schemas.microsoft.com/office/drawing/2014/main" id="{56EB51A1-BCC8-3F2F-A236-B281F68E21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FBE4778-705C-CBF1-D316-F090A61B9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19DDCA-229A-46B2-BF95-595DCDF55B52}" type="slidenum">
              <a:rPr lang="en-US" smtClean="0"/>
              <a:t>‹Nr.›</a:t>
            </a:fld>
            <a:endParaRPr lang="en-US"/>
          </a:p>
        </p:txBody>
      </p:sp>
    </p:spTree>
    <p:extLst>
      <p:ext uri="{BB962C8B-B14F-4D97-AF65-F5344CB8AC3E}">
        <p14:creationId xmlns:p14="http://schemas.microsoft.com/office/powerpoint/2010/main" val="3383321032"/>
      </p:ext>
    </p:extLst>
  </p:cSld>
  <p:clrMap bg1="dk1" tx1="lt1" bg2="dk2" tx2="lt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FF18E-6B4D-4FA3-9B28-AA54BB56B2C3}" type="datetimeFigureOut">
              <a:rPr lang="en-US" smtClean="0"/>
              <a:t>9/19/2026</a:t>
            </a:fld>
            <a:endParaRPr lang="en-US"/>
          </a:p>
        </p:txBody>
      </p:sp>
      <p:sp>
        <p:nvSpPr>
          <p:cNvPr id="4" name="Slide Image Placeholder 3"/>
          <p:cNvSpPr>
            <a:spLocks noGrp="1" noRot="1" noChangeAspect="1"/>
          </p:cNvSpPr>
          <p:nvPr>
            <p:ph type="sldImg" idx="2"/>
          </p:nvPr>
        </p:nvSpPr>
        <p:spPr>
          <a:xfrm>
            <a:off x="1729047" y="840364"/>
            <a:ext cx="3399906" cy="19124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134388"/>
            <a:ext cx="5486400" cy="4866612"/>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B6471-ACEC-47CF-B768-419C0458B309}" type="slidenum">
              <a:rPr lang="en-US" smtClean="0"/>
              <a:t>‹Nr.›</a:t>
            </a:fld>
            <a:endParaRPr lang="en-US"/>
          </a:p>
        </p:txBody>
      </p:sp>
    </p:spTree>
    <p:extLst>
      <p:ext uri="{BB962C8B-B14F-4D97-AF65-F5344CB8AC3E}">
        <p14:creationId xmlns:p14="http://schemas.microsoft.com/office/powerpoint/2010/main" val="3247464755"/>
      </p:ext>
    </p:extLst>
  </p:cSld>
  <p:clrMap bg1="dk1" tx1="lt1" bg2="dk2" tx2="lt2" accent1="accent1" accent2="accent2" accent3="accent3" accent4="accent4" accent5="accent5" accent6="accent6" hlink="hlink" folHlink="folHlink"/>
  <p:notesStyle>
    <a:lvl1pPr marL="1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2pPr>
    <a:lvl3pPr marL="5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3pPr>
    <a:lvl4pPr marL="7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4pPr>
    <a:lvl5pPr marL="90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5pPr>
    <a:lvl6pPr marL="10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6pPr>
    <a:lvl7pPr marL="12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7pPr>
    <a:lvl8pPr marL="14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8pPr>
    <a:lvl9pPr marL="16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Block 01: Motivation und Problem</a:t>
            </a:r>
          </a:p>
          <a:p>
            <a:r>
              <a:rPr lang="de-DE" b="0" dirty="0"/>
              <a:t>Ich beginne mit der Ausgangslage: warum Cybersecurity für industrielle Gateways nicht länger eine freiwillige Zusatzleistung ist, sondern durch den regulatorischen Rahmen zur Pflicht wird – und wo zwischen diesem Anspruch und der Prüfpraxis heute eine Lücke klafft. Dafür sind rund drei Minuten vorgesehen.</a:t>
            </a:r>
          </a:p>
          <a:p>
            <a:r>
              <a:rPr lang="de-DE" b="1" dirty="0"/>
              <a:t>Schritt 2 – Block 02: Grundlagen</a:t>
            </a:r>
          </a:p>
          <a:p>
            <a:r>
              <a:rPr lang="de-DE" b="0" dirty="0"/>
              <a:t>Im zweiten Block ordne ich den Untersuchungsgegenstand ein: das Gateway als Bauteil an der Grenze zwischen IT und OT, die unterschiedlichen Denkweisen beider Domänen und der normative Rahmen, aus dem die Anforderungen stammen. Auch dieser Block umfasst etwa drei Minuten.</a:t>
            </a:r>
          </a:p>
          <a:p>
            <a:r>
              <a:rPr lang="de-DE" b="1" dirty="0"/>
              <a:t>Schritt 3 – Block 03: Methodik</a:t>
            </a:r>
          </a:p>
          <a:p>
            <a:r>
              <a:rPr lang="de-DE" b="0" dirty="0"/>
              <a:t>Der dritte Block ist mit sieben Minuten bewusst der längste, denn hier liegt der wissenschaftliche Beitrag dieser Arbeit. Ich zeige die Ableitungskette von der Norm bis zur prüfbaren Anforderung, die durchgehende Traceability jedes einzelnen Tests und die Rolle der Netzwerkvarianten, die bestimmen, welcher Nachweis überhaupt erbringbar ist. Wenn Sie sich einen Teil besonders merken möchten, dann diesen.</a:t>
            </a:r>
          </a:p>
          <a:p>
            <a:r>
              <a:rPr lang="de-DE" b="1" dirty="0"/>
              <a:t>Schritt 4 – Block 04: Demonstration und Ergebnisse</a:t>
            </a:r>
          </a:p>
          <a:p>
            <a:r>
              <a:rPr lang="de-DE" b="0" dirty="0"/>
              <a:t>Anschließend führe ich die Methodik am realen Prüfling vor: der Demonstrationsaufbau rund um den SRIO, die Frage der Anwendbarkeit der Firmentests und die daraus resultierenden Requirement-Verdicts einschließlich des Kernbefunds. Dafür plane ich fünf Minuten ein.</a:t>
            </a:r>
          </a:p>
          <a:p>
            <a:r>
              <a:rPr lang="de-DE" b="1" dirty="0"/>
              <a:t>Schritt 5 – Block 05: Fazit und Ausblick</a:t>
            </a:r>
          </a:p>
          <a:p>
            <a:r>
              <a:rPr lang="de-DE" b="0" dirty="0"/>
              <a:t>Zum Abschluss fasse ich die Kernaussage zusammen, benenne die Grenzen der Untersuchung offen und skizziere die nächsten Schritte. Zwei Minuten genügen dafür, sodass ausreichend Zeit für Ihre Fragen bleibt.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Die vier Ebenen der Automatisierungspyramide</a:t>
            </a:r>
          </a:p>
          <a:p>
            <a:r>
              <a:rPr lang="de-DE" dirty="0"/>
              <a:t>Die Grafik zeigt von links nach rechts die klassische Schichtung einer industriellen Anlage. Ganz links die Prozessebene mit Sensorik und Aktorik: Hier werden physikalische Größen erfasst und Stellbefehle ausgeführt, typischerweise mit Zykluszeiten im Millisekundenbereich. Daneben die Steuerungsebene mit den speicherprogrammierbaren Steuerungen, die die eigentliche Anlagenlogik ausführen und deterministisch arbeiten müssen.</a:t>
            </a:r>
          </a:p>
          <a:p>
            <a:r>
              <a:rPr lang="de-DE" dirty="0"/>
              <a:t>Rechts davon folgt die Leitebene mit HMI und SCADA, also Visualisierung, Bedienung und Prozessdatenarchivierung. Ganz rechts die Operation IT mit ERP-Systemen und Datendiensten, die Aufträge, Materialflüsse und Auswertungen verwalten.</a:t>
            </a:r>
          </a:p>
          <a:p>
            <a:r>
              <a:rPr lang="de-DE" dirty="0"/>
              <a:t>Entscheidend ist die Klammerung darüber: Die ersten beiden Blöcke bilden die Betriebstechnik, kurz OT, die beiden rechten die Informationstechnik, kurz IT. Beide Welten haben unterschiedliche Schutzzielreihenfolgen, wie die grauen Labels unter der Grafik zeigen. In der OT steht Verfügbarkeit an erster Stelle, weil ein Anlagenstillstand unmittelbar Kosten und Sicherheitsrisiken erzeugt. In der IT steht Vertraulichkeit vorn, weil dort primär Daten geschützt werden. Diese gegenläufige Priorisierung ist die Wurzel vieler Zielkonflikte.</a:t>
            </a:r>
          </a:p>
          <a:p>
            <a:r>
              <a:rPr lang="de-DE" b="1" dirty="0"/>
              <a:t>Schritt 2 – Die Position des Gateways</a:t>
            </a:r>
          </a:p>
          <a:p>
            <a:r>
              <a:rPr lang="de-DE" dirty="0"/>
              <a:t>Genau an der Nahtstelle zwischen Steuerungsebene und Leitebene sitzt das industrielle Gateway. Es ist bewusst größer dargestellt als die Ebenenblöcke und ragt über sie hinaus, denn es ist die einzige Komponente, die beide Welten gleichzeitig berührt. Die beiden entgegengesetzten Pfeile stehen für den bidirektionalen Datenaustausch: Prozessdaten fließen nach oben in Richtung Leitebene und Operation IT, Parametrier- und Auftragsdaten fließen nach unten in die Anlage zurück.</a:t>
            </a:r>
          </a:p>
          <a:p>
            <a:r>
              <a:rPr lang="de-DE" dirty="0"/>
              <a:t>Das Gateway übersetzt zwischen Feldbusprotokollen und IT-Protokollen, terminiert Verbindungen und trifft damit faktisch Sicherheitsentscheidungen. Es ist zugleich Brücke und Schleuse – und damit die Komponente, an der Security-Anforderungen am sichtbarsten werden.</a:t>
            </a:r>
          </a:p>
          <a:p>
            <a:r>
              <a:rPr lang="de-DE" b="1" dirty="0"/>
              <a:t>Schritt 3 – Die Konsequenz der Erreichbarkeit</a:t>
            </a:r>
          </a:p>
          <a:p>
            <a:r>
              <a:rPr lang="de-DE" dirty="0"/>
              <a:t>Daraus folgt die Kernaussage im unteren Balken: Früher waren OT-Umgebungen physisch und logisch abgeschottet, Sicherheit beruhte im Wesentlichen auf Isolation. Mit der Anbindung an Leitebene und Operation IT entfällt diese Isolation. Angriffspfade aus dem IT-Netz enden nicht mehr an der Netzgrenze, sondern reichen potenziell bis in die Steuerungs- und Prozessebene.</a:t>
            </a:r>
          </a:p>
          <a:p>
            <a:r>
              <a:rPr lang="de-DE" dirty="0"/>
              <a:t>Damit wird nachvollziehbar, warum der Gesetzgeber Security nicht mehr als freiwillige Eigenschaft behandelt. Genau an diesem Punkt setzt die Arbeit an: Wenn das Gateway die kritische Schnittstelle ist, müssen seine Sicherheitsfunktionen funktional, reproduzierbar und nachweisbar geprüft werden.</a:t>
            </a:r>
          </a:p>
          <a:p>
            <a:r>
              <a:rPr lang="de-DE" dirty="0"/>
              <a:t>Überleitung: Schauen wir uns an, welche Anforderungen die neue Maschinenverordnung dafür konkret formuliert.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Zeitliche Einordnung und verbleibende Übergangsfrist</a:t>
            </a:r>
          </a:p>
          <a:p>
            <a:r>
              <a:rPr lang="de-DE" dirty="0"/>
              <a:t>Der Zeitstrahl zeigt den regulatorischen Rahmen dieser Arbeit. Am 29. Juni 2023 wurde die Verordnung (EU) 2023/1230 im Amtsblatt der Europäischen Union veröffentlicht und trat damit formal in Kraft. Anschließend folgt eine mehrjährige Übergangsfrist, die bewusst gestrichelt dargestellt ist: In dieser Phase gilt die alte Rechtslage fort, die Hersteller müssen ihre Produkte und Prozesse aber bereits umstellen.</a:t>
            </a:r>
          </a:p>
          <a:p>
            <a:r>
              <a:rPr lang="de-DE" dirty="0"/>
              <a:t>Der große markierte Punkt rechts ist der eigentlich relevante Termin: Ab dem 20. Januar 2027 ist die Verordnung verbindlich anzuwenden und löst die Maschinenrichtlinie 2006/42/EG ab. Gemessen am heutigen Stand bleibt damit nur noch ein knapper Zeitraum, um Entwicklungs-, Test- und Dokumentationsprozesse anzupassen. Das ist der praktische Druck, aus dem die Fragestellung dieser Arbeit entstanden ist.</a:t>
            </a:r>
          </a:p>
          <a:p>
            <a:r>
              <a:rPr lang="de-DE" b="1" dirty="0"/>
              <a:t>Schritt 2 – Die bisherige Rechtslage</a:t>
            </a:r>
          </a:p>
          <a:p>
            <a:r>
              <a:rPr lang="de-DE" dirty="0"/>
              <a:t>Die linke Karte fasst zusammen, wie bisher geprüft wurde. Die Maschinenrichtlinie 2006/42/EG stellt das funktionale Verhalten und die klassische Maschinensicherheit in den Mittelpunkt: Schutz vor mechanischen Gefahren, sichere Abschaltung, zuverlässige Not-Halt-Funktionen. Bewertet wurde im Wesentlichen, ob eine Sicherheitsfunktion unter definierten Bedingungen korrekt auslöst.</a:t>
            </a:r>
          </a:p>
          <a:p>
            <a:r>
              <a:rPr lang="de-DE" dirty="0"/>
              <a:t>Cybersecurity war dabei nicht verpflichtend. Sie konnte freiwillig adressiert werden, war aber kein Bestandteil der Konformitätsbewertung. Angriffe über das Netzwerk lagen faktisch außerhalb des Betrachtungsrahmens – eine Annahme, die durch die zunehmende Vernetzung industrieller Anlagen nicht mehr tragfähig ist.</a:t>
            </a:r>
          </a:p>
          <a:p>
            <a:r>
              <a:rPr lang="de-DE" b="1" dirty="0"/>
              <a:t>Schritt 3 – Vom Richtlinien- zum Verordnungsregime</a:t>
            </a:r>
          </a:p>
          <a:p>
            <a:r>
              <a:rPr lang="de-DE" dirty="0"/>
              <a:t>Der Pfeil markiert einen doppelten Wechsel. Formal wird aus einer Richtlinie, die von jedem Mitgliedstaat in nationales Recht umgesetzt werden musste, eine Verordnung, die unmittelbar und einheitlich in der gesamten Union gilt. Inhaltlich kommt Cybersecurity neu hinzu.</a:t>
            </a:r>
          </a:p>
          <a:p>
            <a:r>
              <a:rPr lang="de-DE" dirty="0"/>
              <a:t>Die rechte Karte nennt den Kern: Der Schutz vor Korruption, also vor unbefugter oder unbeabsichtigter Veränderung von Software, Parametern und Daten, wird ausdrücklich Teil der Konformitätsbewertung. Verankert ist das in Anhang III, insbesondere in den Abschnitten 1.1.9 und 1.2.1. Abschnitt 1.1.9 adressiert den Schutz vor Korruption allgemein, Abschnitt 1.2.1 die Zuverlässigkeit und Integrität der Steuerungssysteme. Damit wird Security zu einer nachweispflichtigen Produkteigenschaft.</a:t>
            </a:r>
          </a:p>
          <a:p>
            <a:r>
              <a:rPr lang="de-DE" b="1" dirty="0"/>
              <a:t>Schritt 4 – Konsequenz für die Validierung</a:t>
            </a:r>
          </a:p>
          <a:p>
            <a:r>
              <a:rPr lang="de-DE" dirty="0"/>
              <a:t>Daraus folgt die Aussage im unteren Balken: Funktionale Sicherheit lässt sich nicht mehr unabhängig von der Cybersicherheit bewerten. Eine Sicherheitsfunktion, deren Parameter über das Netzwerk manipuliert werden können, ist trotz korrekter Auslöselogik nicht sicher.</a:t>
            </a:r>
          </a:p>
          <a:p>
            <a:r>
              <a:rPr lang="de-DE" dirty="0"/>
              <a:t>Für die Praxis heißt das: Safety- und Security-Nachweise müssen zusammengeführt werden, und es braucht funktionale Testverfahren, die Security-Eigenschaften genauso reproduzierbar prüfen wie bisher das Auslöseverhalten. Genau diese Verfahren entwickelt und erprobt die vorliegende Arbeit am Beispiel industrieller Gateways.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Anspruch und Praxis nebeneinander</a:t>
            </a:r>
          </a:p>
          <a:p>
            <a:r>
              <a:rPr lang="de-DE" dirty="0"/>
              <a:t>Links steht die regulatorische Erwartung. Die Verordnung verlangt einen systematischen Nachweis, dass Security-Funktionen vorhanden sind und wirksam arbeiten. Nachweis heißt dabei mehr als eine Erklärung: Es braucht dokumentierte, nachvollziehbare und wiederholbare Prüfungen, die einem Auditor vorgelegt werden können.</a:t>
            </a:r>
          </a:p>
          <a:p>
            <a:r>
              <a:rPr lang="de-DE" dirty="0"/>
              <a:t>Rechts steht die gelebte Praxis. Die etablierte Validierung in der Produktentwicklung ist ausgereift, sie ist funktional und sicherheitstechnisch sauber aufgesetzt. Sie prüft, ob das Gerät seine Spezifikation erfüllt und ob Sicherheitsfunktionen korrekt auslösen. Sie ist aber nicht security-getrieben: Angreifermodelle, Manipulationsversuche und Schnittstellenhärtung sind keine systematischen Prüfdimensionen.</a:t>
            </a:r>
          </a:p>
          <a:p>
            <a:r>
              <a:rPr lang="de-DE" dirty="0"/>
              <a:t>Wichtig ist: Beide Seiten sind für sich genommen legitim und gut begründet. Das Problem entsteht erst dort, wo sie aufeinandertreffen sollen.</a:t>
            </a:r>
          </a:p>
          <a:p>
            <a:r>
              <a:rPr lang="de-DE" b="1" dirty="0"/>
              <a:t>Schritt 2 – Die Lücke als Kernproblem</a:t>
            </a:r>
          </a:p>
          <a:p>
            <a:r>
              <a:rPr lang="de-DE" dirty="0"/>
              <a:t>Genau in der Mitte klafft die Lücke, und sie ist bewusst rot markiert: Es fehlt eine systematische Methodik, die von der regulatorischen Anforderung bis zum konkreten Testfall durchgezogen ist. Weder die Verordnung noch die bestehenden Firmenprozesse liefern diese Brücke.</a:t>
            </a:r>
          </a:p>
          <a:p>
            <a:r>
              <a:rPr lang="de-DE" dirty="0"/>
              <a:t>Praktisch führt das zu drei Effekten: Anforderungen bleiben abstrakt und werden unterschiedlich interpretiert, Tests werden ad hoc und personenabhängig durchgeführt, und der Nachweis gegenüber Dritten ist schwer zu führen. Genau diese Lücke zu schließen ist das Ziel dieser Arbeit. Daraus leiten sich drei Forschungsfragen ab.</a:t>
            </a:r>
          </a:p>
          <a:p>
            <a:r>
              <a:rPr lang="de-DE" b="1" dirty="0"/>
              <a:t>Schritt 3 – Forschungsfrage 1: Ableitung</a:t>
            </a:r>
          </a:p>
          <a:p>
            <a:r>
              <a:rPr lang="de-DE" dirty="0"/>
              <a:t>Die erste Frage betrifft die Übersetzung. Die Verordnung adressiert die Maschine als Ganzes, geprüft wird aber eine einzelne Komponente, hier das Gateway. Es muss also ein nachvollziehbarer Weg beschrieben werden, wie aus einer Maschinenpflicht eine konkrete, prüfbare Komponentenanforderung wird. Ohne diese Ableitung ist jedes Testergebnis regulatorisch nicht anschlussfähig.</a:t>
            </a:r>
          </a:p>
          <a:p>
            <a:r>
              <a:rPr lang="de-DE" b="1" dirty="0"/>
              <a:t>Schritt 4 – Forschungsfrage 2: Anwendbarkeit</a:t>
            </a:r>
          </a:p>
          <a:p>
            <a:r>
              <a:rPr lang="de-DE" dirty="0"/>
              <a:t>Die zweite Frage ist bewusst pragmatisch. Im Unternehmen existiert bereits ein umfangreiches Testrepertoire. Zu prüfen ist, welche dieser Tests sich sinnvoll auf ein industrielles Gateway anwenden lassen, welche angepasst werden müssen und wo tatsächlich neue Verfahren nötig sind. Der Ansatz lautet also nicht, alles neu zu erfinden, sondern vorhandene Reife gezielt zu nutzen.</a:t>
            </a:r>
          </a:p>
          <a:p>
            <a:r>
              <a:rPr lang="de-DE" b="1" dirty="0"/>
              <a:t>Schritt 5 – Forschungsfrage 3: Reichweite</a:t>
            </a:r>
          </a:p>
          <a:p>
            <a:r>
              <a:rPr lang="de-DE" dirty="0"/>
              <a:t>Die dritte Frage betrifft die Aussagekraft. Direktzugriffstestung an der IT/OT-Grenze prüft das Gerät über seine tatsächlich exponierten Schnittstellen und kommt damit dem realen Angriffsweg nahe. Genauso wichtig ist jedoch, die Grenzen sauber zu benennen: Was über diesen Zugang nicht sichtbar wird, etwa interne Implementierungsdetails oder Lieferketteneffekte, muss durch andere Maßnahmen abgedeckt werden.</a:t>
            </a:r>
          </a:p>
          <a:p>
            <a:r>
              <a:rPr lang="de-DE" dirty="0"/>
              <a:t>Überleitung: Auf Basis dieser drei Fragen stelle ich Ihnen nun das methodische Vorgehen der Arbeit vor.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Der Rahmen: IT gegenüber OT</a:t>
            </a:r>
          </a:p>
          <a:p>
            <a:r>
              <a:rPr lang="de-DE" dirty="0"/>
              <a:t>Die Tabelle stellt zwei Welten gegenüber, die beide berechtigt sind, aber von unterschiedlichen Grundannahmen ausgehen. Links die klassische Informationstechnik, rechts die Betriebstechnik. Wer Sicherheitsverfahren aus der IT unverändert in die OT überträgt, übersieht genau diese Unterschiede. Deshalb gehen wir die Vergleichsdimensionen einzeln durch.</a:t>
            </a:r>
          </a:p>
          <a:p>
            <a:r>
              <a:rPr lang="de-DE" b="1" dirty="0"/>
              <a:t>Schritt 2 – Primärer Fokus</a:t>
            </a:r>
          </a:p>
          <a:p>
            <a:r>
              <a:rPr lang="de-DE" dirty="0"/>
              <a:t>Die IT verarbeitet Informationen und organisiert Datenflüsse. Die OT überwacht und steuert physische Prozesse. Ein Fehler in der IT kostet Daten oder Zeit, ein Fehler in der OT kann Anlagen, Produktion und Menschen gefährden. Schon diese erste Zeile erklärt, warum Eingriffe in laufende OT-Systeme so zurückhaltend erfolgen.</a:t>
            </a:r>
          </a:p>
          <a:p>
            <a:r>
              <a:rPr lang="de-DE" b="1" dirty="0"/>
              <a:t>Schritt 3 – Schutzzielpriorität: der zentrale Unterschied</a:t>
            </a:r>
          </a:p>
          <a:p>
            <a:r>
              <a:rPr lang="de-DE" dirty="0"/>
              <a:t>Diese Zeile ist bewusst hervorgehoben, weil sie der Kern der Folie ist. In der IT gilt die Reihenfolge Vertraulichkeit, Integrität, Verfügbarkeit. In der OT kehrt sich diese Reihenfolge um: Verfügbarkeit steht an erster Stelle, danach Integrität, erst zuletzt Vertraulichkeit.</a:t>
            </a:r>
          </a:p>
          <a:p>
            <a:r>
              <a:rPr lang="de-DE" dirty="0"/>
              <a:t>Der Grund ist praktisch: Eine Steuerung, die aus Sicherheitsgründen abschaltet, hat ihr Schutzziel verfehlt, weil der Prozess stillsteht. Ein vertraulicher Prozesswert ist dagegen selten kritisch. Diese Umkehr hat unmittelbare Folgen für Tests: Verfahren, die in der IT selbstverständlich sind, etwa aggressives Scannen oder erzwungene Neustarts, sind in der OT ohne Weiteres nicht zulässig.</a:t>
            </a:r>
          </a:p>
          <a:p>
            <a:r>
              <a:rPr lang="de-DE" b="1" dirty="0"/>
              <a:t>Schritt 4 – Kernschutzziele</a:t>
            </a:r>
          </a:p>
          <a:p>
            <a:r>
              <a:rPr lang="de-DE" dirty="0"/>
              <a:t>Entsprechend unterscheiden sich die Schwerpunkte. Die IT betont Authentifizierung und Nichtabstreitbarkeit, also wer hat wann was getan. Die OT betont Echtzeitverfügbarkeit und funktionale Sicherheit, also reagiert das System rechtzeitig und zuverlässig. Security-Maßnahmen dürfen die Reaktionszeiten nicht verletzen.</a:t>
            </a:r>
          </a:p>
          <a:p>
            <a:r>
              <a:rPr lang="de-DE" b="1" dirty="0"/>
              <a:t>Schritt 5 – Protokollbeispiele</a:t>
            </a:r>
          </a:p>
          <a:p>
            <a:r>
              <a:rPr lang="de-DE" dirty="0"/>
              <a:t>Auch technisch trennen sich die Welten. TCP/IP und HTTP(S) sind ausgereift, verschlüsselbar und gut untersucht. Modbus und PROFINET stammen aus einer Zeit geschlossener Netze: Sie sind auf Determinismus und Geschwindigkeit optimiert und bringen häufig keine Authentifizierung oder Verschlüsselung mit. Genau das macht das Gateway an der Grenze zum kritischen Prüfobjekt.</a:t>
            </a:r>
          </a:p>
          <a:p>
            <a:r>
              <a:rPr lang="de-DE" b="1" dirty="0"/>
              <a:t>Schritt 6 – Update-Zyklen</a:t>
            </a:r>
          </a:p>
          <a:p>
            <a:r>
              <a:rPr lang="de-DE" dirty="0"/>
              <a:t>In der IT sind Updates regelmäßig, häufig und weitgehend automatisiert. In der OT sind sie selten, konservativ und streng validiert, weil jede Änderung erneut abgenommen werden muss und Anlagen nicht beliebig stillstehen dürfen. Sicherheitslücken bleiben dadurch deutlich länger bestehen, was den Nachweis bereits im Entwicklungsprozess umso wichtiger macht.</a:t>
            </a:r>
          </a:p>
          <a:p>
            <a:r>
              <a:rPr lang="de-DE" b="1" dirty="0"/>
              <a:t>Schritt 7 – Merksatz und Überleitung</a:t>
            </a:r>
          </a:p>
          <a:p>
            <a:r>
              <a:rPr lang="de-DE" dirty="0"/>
              <a:t>Der Balken fasst es zusammen: Die Priorität dreht sich um, und damit die gesamte Teststrategie. Für diese Arbeit bedeutet das, dass Testfälle nicht einfach aus IT-Prüfkatalogen übernommen werden können. Sie müssen nach den OT-Schutzzielen kategorisiert und bewertet werden. Genau diese Kategorisierung stelle ich im nächsten Schritt vor.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Die regulatorische Pflicht</a:t>
            </a:r>
          </a:p>
          <a:p>
            <a:r>
              <a:rPr lang="de-DE" dirty="0"/>
              <a:t>Diese Folie zeigt exemplarisch, wie aus einem Rechtstext ein ausführbarer Testfall wird. Ausgangspunkt ist Anhang III, Abschnitt 1.2.1 der Maschinenverordnung. Dort wird verlangt, dass Eingriffe in sicherheitsrelevante Software und Parameter nachvollziehbar aufgezeichnet werden. Das Tracing-Log muss die Änderung identifizierbar machen und ist fünf Jahre aufzubewahren.</a:t>
            </a:r>
          </a:p>
          <a:p>
            <a:r>
              <a:rPr lang="de-DE" dirty="0"/>
              <a:t>Wichtig ist der Charakter dieser Anforderung: Sie nennt ein Ziel und eine Frist, aber kein technisches Format, keinen Mindestinhalt und kein Prüfverfahren. In dieser Form ist sie nicht testbar.</a:t>
            </a:r>
          </a:p>
          <a:p>
            <a:r>
              <a:rPr lang="de-DE" b="1" dirty="0"/>
              <a:t>Schritt 2 – Die technische Präzisierung</a:t>
            </a:r>
          </a:p>
          <a:p>
            <a:r>
              <a:rPr lang="de-DE" dirty="0"/>
              <a:t>Die harmonisierte Norm prEN 50742 konkretisiert diese Pflicht in Abschnitt 7.3.4. Dort wird beschrieben, welche Angaben ein solcher Eintrag mindestens enthalten muss und wie die Aufbewahrung sicherzustellen ist. Damit wird aus einer rechtlichen Erwartung eine technische Vorgabe, die man prüfen kann.</a:t>
            </a:r>
          </a:p>
          <a:p>
            <a:r>
              <a:rPr lang="de-DE" dirty="0"/>
              <a:t>Diese Zwischenstufe ist der Grund, warum die harmonisierte Norm für die Praxis so wichtig ist: Sie liefert die Auslegung, auf die sich Hersteller und Auditor gemeinsam beziehen können.</a:t>
            </a:r>
          </a:p>
          <a:p>
            <a:r>
              <a:rPr lang="de-DE" b="1" dirty="0"/>
              <a:t>Schritt 3 – Die komponentenspezifische Übersetzung</a:t>
            </a:r>
          </a:p>
          <a:p>
            <a:r>
              <a:rPr lang="de-DE" dirty="0"/>
              <a:t>Über Approach B führt der Weg weiter in die IEC 62443-4-2. Zwei Component Requirements greifen hier unmittelbar: CR 2.8, Auditable Events, verlangt, dass sicherheitsrelevante Ereignisse überhaupt protokolliert werden, und CR 2.9, Audit Storage Capacity, verlangt ausreichende Speicherkapazität sowie ein definiertes Verhalten, wenn der Speicher voll läuft.</a:t>
            </a:r>
          </a:p>
          <a:p>
            <a:r>
              <a:rPr lang="de-DE" dirty="0"/>
              <a:t>Damit ist die Anforderung auf der Ebene der Komponente angekommen. Sie beschreibt jetzt Eigenschaften des Gateways selbst und nicht mehr Pflichten der Gesamtmaschine.</a:t>
            </a:r>
          </a:p>
          <a:p>
            <a:r>
              <a:rPr lang="de-DE" b="1" dirty="0"/>
              <a:t>Schritt 4 – Der konkrete Testfall</a:t>
            </a:r>
          </a:p>
          <a:p>
            <a:r>
              <a:rPr lang="de-DE" dirty="0"/>
              <a:t>Das letzte Segment ist bewusst in der Akzentfarbe hervorgehoben, denn hier wird die Kette praktisch. Am Prüfling wird ein sicherheitsrelevantes Ereignis ausgelöst und überprüft, ob ein Eintrag entsteht, ob er die geforderten Angaben enthält, ob er gegen Manipulation geschützt ist und wie sich das Gerät bei erschöpftem Speicher verhält.</a:t>
            </a:r>
          </a:p>
          <a:p>
            <a:r>
              <a:rPr lang="de-DE" dirty="0"/>
              <a:t>Entscheidend ist die Durchgängigkeit: Jedes Testergebnis lässt sich rückwärts bis zum Anhang III zurückverfolgen. Genau diese Rückverfolgbarkeit macht den Nachweis gegenüber Dritten belastbar.</a:t>
            </a:r>
          </a:p>
          <a:p>
            <a:r>
              <a:rPr lang="de-DE" b="1" dirty="0"/>
              <a:t>Schritt 5 – Einordnung in das Gesamtbild</a:t>
            </a:r>
          </a:p>
          <a:p>
            <a:r>
              <a:rPr lang="de-DE" dirty="0"/>
              <a:t>Die Fußzeile ordnet das Beispiel ein: RQ-012 ist eine von insgesamt vierzehn abgeleiteten Anforderungen, die nach demselben Schema entstanden sind. Als Bewertungsbasis dient SL-C 1, also die niedrigste Sicherheitsstufe, die gegen zufällige oder gelegentliche Verstöße mit einfachen Mitteln schützt.</a:t>
            </a:r>
          </a:p>
          <a:p>
            <a:r>
              <a:rPr lang="de-DE" dirty="0"/>
              <a:t>Diese Festlegung ist bewusst getroffen: Sie entspricht dem realistischen Schutzbedarf des betrachteten Geräts und hält den Umfang der Arbeit beherrschbar. Das Vorgehen selbst bleibt auf höhere Security Level übertragbar.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Die regulatorische Ausgangslage</a:t>
            </a:r>
          </a:p>
          <a:p>
            <a:r>
              <a:rPr lang="de-DE" dirty="0"/>
              <a:t>Oben im Trichter steht die Verordnung (EU) 2023/1230. Anhang III formuliert in den Abschnitten 1.1.9 und 1.2.1 den Schutz vor Korruption sowie die Zuverlässigkeit und Integrität von Steuerungssystemen. Die Ebene ist bewusst die breiteste: Sie gilt für die Maschine als Ganzes und ist absichtlich technologieoffen formuliert.</a:t>
            </a:r>
          </a:p>
          <a:p>
            <a:r>
              <a:rPr lang="de-DE" dirty="0"/>
              <a:t>Genau darin liegt die Schwierigkeit. Der Text sagt, was erreicht werden muss, aber nicht, wie es technisch umzusetzen oder nachzuweisen ist. Aus dieser Ebene allein lässt sich kein Testfall ableiten.</a:t>
            </a:r>
          </a:p>
          <a:p>
            <a:r>
              <a:rPr lang="de-DE" b="1" dirty="0"/>
              <a:t>Schritt 2 – Die technische Übersetzung durch prEN 50742</a:t>
            </a:r>
          </a:p>
          <a:p>
            <a:r>
              <a:rPr lang="de-DE" dirty="0"/>
              <a:t>Die mittlere Ebene ist die Brücke. Die prEN 50742 ist die harmonisierte Norm, die den Schutz vor Korruption technisch konkretisiert. Sie schließt die Lücke zwischen dem Rechtstext und einer prüfbaren Umsetzung.</a:t>
            </a:r>
          </a:p>
          <a:p>
            <a:r>
              <a:rPr lang="de-DE" dirty="0"/>
              <a:t>Entscheidend ist Approach B: Statt eigene Anforderungen neu zu formulieren, verweist er auf das etablierte Regelwerk der IEC 62443. Das ist ein wichtiger Hebel, weil damit vorhandene, industriell erprobte Anforderungen und Prüfpraktiken anschlussfähig werden, statt dass ein paralleles Nachweissystem entsteht.</a:t>
            </a:r>
          </a:p>
          <a:p>
            <a:r>
              <a:rPr lang="de-DE" b="1" dirty="0"/>
              <a:t>Schritt 3 – Die konkreten Komponentenanforderungen</a:t>
            </a:r>
          </a:p>
          <a:p>
            <a:r>
              <a:rPr lang="de-DE" dirty="0"/>
              <a:t>Die unterste und schmalste Ebene ist die Ebene, auf der diese Arbeit tatsächlich prüft. Die IEC 62443-4-2 formuliert Component Requirements, also überprüfbare Eigenschaften einer einzelnen Komponente: Identifikation und Authentifizierung, Nutzungssteuerung, Systemintegrität, Vertraulichkeit der Daten, eingeschränkter Datenfluss, zeitnahe Reaktion auf Ereignisse und Verfügbarkeit der Ressourcen.</a:t>
            </a:r>
          </a:p>
          <a:p>
            <a:r>
              <a:rPr lang="de-DE" dirty="0"/>
              <a:t>Damit ist die Übersetzungskette vollständig: aus einer Maschinenpflicht wird über die harmonisierte Norm eine konkrete Anforderung an das Gateway. Erst auf dieser Ebene lassen sich Testfälle formulieren, deren Ergebnisse regulatorisch anschlussfähig sind.</a:t>
            </a:r>
          </a:p>
          <a:p>
            <a:r>
              <a:rPr lang="de-DE" b="1" dirty="0"/>
              <a:t>Schritt 4 – Die Verifikationslogik der IEC 62443-4-1</a:t>
            </a:r>
          </a:p>
          <a:p>
            <a:r>
              <a:rPr lang="de-DE" dirty="0"/>
              <a:t>Der Kasten rechts steht bewusst quer zu allen drei Ebenen. Die IEC 62443-4-1 beschreibt den sicheren Entwicklungsprozess, die Practice SVV steht für Security Verification and Validation Testing. Sie legt nicht fest, was gefordert ist, sondern wie verifiziert wird.</a:t>
            </a:r>
          </a:p>
          <a:p>
            <a:r>
              <a:rPr lang="de-DE" dirty="0"/>
              <a:t>Dazu gehören Funktionstests der Sicherheitsanforderungen, Tests auf Schwachstellen, Penetrationstests und Tests der Angriffsfläche. Die drei Pfeile zeigen: Diese Verifikationslogik ist auf jeder Ebene anwendbar und verbindet die Kette zu einem nachweisfähigen Ganzen.</a:t>
            </a:r>
          </a:p>
          <a:p>
            <a:r>
              <a:rPr lang="de-DE" dirty="0"/>
              <a:t>Überleitung: Aus dieser Struktur ergibt sich das methodische Vorgehen der Arbeit – Anforderungen aus 62443-4-2 ableiten und sie mit der Prüflogik der Practice SVV in konkrete Testfälle für das Gateway überführen.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Problemidentifikation (Kapitel 1)</a:t>
            </a:r>
          </a:p>
          <a:p>
            <a:r>
              <a:rPr lang="de-DE" dirty="0"/>
              <a:t>Die Prozesskette zeigt das Forschungsdesign nach der Design Science Research Methodology. Die erste Aktivität ist die Problemidentifikation: Die Maschinenverordnung verlangt ab 2027 einen Nachweis von Security-Eigenschaften, während die etablierte Validierung in der Produktentwicklung funktional ausgerichtet und nicht security-getrieben ist. Damit fehlt eine durchgängige Methodik von der Anforderung bis zum Testfall. Dieses Problem ist in Kapitel 1 hergeleitet und begründet.</a:t>
            </a:r>
          </a:p>
          <a:p>
            <a:r>
              <a:rPr lang="de-DE" b="1" dirty="0"/>
              <a:t>Schritt 2 – Zieldefinition (Kapitel 1)</a:t>
            </a:r>
          </a:p>
          <a:p>
            <a:r>
              <a:rPr lang="de-DE" dirty="0"/>
              <a:t>Daraus wird das Ziel abgeleitet, ebenfalls in Kapitel 1. Angestrebt wird kein einzelnes Testergebnis, sondern ein nachvollziehbares Vorgehen: Anforderungen aus dem Normenrahmen ableiten, daraus prüfbare Testfälle für ein industrielles Gateway formen und die Ergebnisse dokumentierbar und wiederholbar machen. Die Zieldefinition legt damit fest, woran der Erfolg der Arbeit gemessen wird.</a:t>
            </a:r>
          </a:p>
          <a:p>
            <a:r>
              <a:rPr lang="de-DE" b="1" dirty="0"/>
              <a:t>Schritt 3 – Design und Entwicklung (Kapitel 3)</a:t>
            </a:r>
          </a:p>
          <a:p>
            <a:r>
              <a:rPr lang="de-DE" dirty="0"/>
              <a:t>Die dritte Aktivität ist bewusst farblich hervorgehoben, weil hier das eigentliche Artefakt entsteht. In Kapitel 3 wird die Testmethodik entwickelt: die Ableitung der Component Requirements aus der IEC 62443-4-2, deren Verknüpfung mit der Prüflogik der Practice SVV aus der IEC 62443-4-1 und die Strukturierung in Testkategorien und Testfälle. Das ist der Kern des wissenschaftlichen Beitrags.</a:t>
            </a:r>
          </a:p>
          <a:p>
            <a:r>
              <a:rPr lang="de-DE" b="1" dirty="0"/>
              <a:t>Schritt 4 – Demonstration (Kapitel 4)</a:t>
            </a:r>
          </a:p>
          <a:p>
            <a:r>
              <a:rPr lang="de-DE" dirty="0"/>
              <a:t>Ebenfalls hervorgehoben ist die Demonstration in Kapitel 4. Die entwickelte Methodik wird am konkreten Beispiel eines industriellen Gateways angewendet. Gezeigt wird, dass sich die Testfälle praktisch durchführen lassen und dass die Ergebnisse in einer für einen Nachweis geeigneten Form dokumentiert werden können.</a:t>
            </a:r>
          </a:p>
          <a:p>
            <a:r>
              <a:rPr lang="de-DE" b="1" dirty="0"/>
              <a:t>Schritt 5 – Evaluation (Kapitel 4)</a:t>
            </a:r>
          </a:p>
          <a:p>
            <a:r>
              <a:rPr lang="de-DE" dirty="0"/>
              <a:t>Die Evaluation folgt unmittelbar und gehört ebenfalls zu Kapitel 4. Bewertet wird, ob die Methodik die in der Zieldefinition gesetzten Kriterien erfüllt: Nachvollziehbarkeit, Wiederholbarkeit, Abdeckung der abgeleiteten Anforderungen und Anschlussfähigkeit an den regulatorischen Nachweis. Ebenso wichtig ist die ehrliche Benennung der Grenzen des gewählten Testzugangs.</a:t>
            </a:r>
          </a:p>
          <a:p>
            <a:r>
              <a:rPr lang="de-DE" b="1" dirty="0"/>
              <a:t>Schritt 6 – Kommunikation (Kapitel 5)</a:t>
            </a:r>
          </a:p>
          <a:p>
            <a:r>
              <a:rPr lang="de-DE" dirty="0"/>
              <a:t>Die sechste Aktivität ist die Kommunikation in Kapitel 5. Dazu zählen die schriftliche Ausarbeitung, die Übergabe der Methodik an das Unternehmen in einer anwendbaren Form sowie diese Präsentation. Erst damit ist der DSRM-Zyklus vollständig durchlaufen.</a:t>
            </a:r>
          </a:p>
          <a:p>
            <a:r>
              <a:rPr lang="de-DE" b="1" dirty="0"/>
              <a:t>Schritt 7 – Der wissenschaftliche Beitrag</a:t>
            </a:r>
          </a:p>
          <a:p>
            <a:r>
              <a:rPr lang="de-DE" dirty="0"/>
              <a:t>Der Balken unten benennt den entscheidenden Punkt: Artefakt dieser Arbeit ist die Testmethodik, nicht das Testergebnis. Es geht nicht darum, alle denkbaren Tests an einem Gerät vollständig auszuführen, sondern um ein übertragbares, begründetes Vorgehen, das auch auf andere Komponenten und künftige Produkte anwendbar bleibt. Die durchgeführten Tests dienen als Nachweis der Anwendbarkeit, nicht als Selbstzweck.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Die Analysekette</a:t>
            </a:r>
          </a:p>
          <a:p>
            <a:r>
              <a:rPr lang="de-DE" dirty="0"/>
              <a:t>Die obere Zeile zeigt den gedanklichen Ausgangspunkt jedes Testfalls. Sie beginnt beim Requirement, also der zuvor abgeleiteten Anforderung. Von dort wird das Asset bestimmt: Was genau ist schützenswert, etwa die Firmware, die Konfiguration, der Logspeicher oder eine Kommunikationsschnittstelle.</a:t>
            </a:r>
          </a:p>
          <a:p>
            <a:r>
              <a:rPr lang="de-DE" dirty="0"/>
              <a:t>Anschließend wird die Bedrohung nach STRIDE eingeordnet, also Spoofing, Tampering, Repudiation, Information Disclosure, Denial of Service oder Elevation of Privilege. Daraus ergibt sich die Security Function, die diese Bedrohung adressieren soll.</a:t>
            </a:r>
          </a:p>
          <a:p>
            <a:r>
              <a:rPr lang="de-DE" dirty="0"/>
              <a:t>Der Nutzen dieser vier Glieder liegt in der Begründung: Ein Test entsteht nicht, weil ein Werkzeug ihn anbietet, sondern weil eine Anforderung, ein Asset und eine konkrete Bedrohung ihn erfordern.</a:t>
            </a:r>
          </a:p>
          <a:p>
            <a:r>
              <a:rPr lang="de-DE" b="1" dirty="0"/>
              <a:t>Schritt 2 – Die Durchführungskette</a:t>
            </a:r>
          </a:p>
          <a:p>
            <a:r>
              <a:rPr lang="de-DE" dirty="0"/>
              <a:t>Die untere Zeile übersetzt die Analyse in die Praxis. Zuerst wird das Testziel formuliert, also die konkrete Frage, die der Test beantworten soll. Dann folgt die Testtechnik: funktionaler Test, Schwachstellenscan, Fuzzing oder Penetrationstest.</a:t>
            </a:r>
          </a:p>
          <a:p>
            <a:r>
              <a:rPr lang="de-DE" dirty="0"/>
              <a:t>Die Zugriffsvoraussetzung hält fest, welcher Zugang für den Test tatsächlich nötig ist, etwa Netzwerkzugriff an der IT/OT-Grenze, physischer Zugang oder administrative Rechte. Das ist für die Aussagekraft entscheidend, weil es den Angreiferstandpunkt festlegt.</a:t>
            </a:r>
          </a:p>
          <a:p>
            <a:r>
              <a:rPr lang="de-DE" dirty="0"/>
              <a:t>Die Evidenz benennt, was als Nachweis gespeichert wird: Logauszüge, Mitschnitte, Screenshots oder Werkzeugberichte. Das Ergebnis schließlich ist das Verdict, also bestanden, nicht bestanden oder nicht anwendbar, jeweils mit Begründung.</a:t>
            </a:r>
          </a:p>
          <a:p>
            <a:r>
              <a:rPr lang="de-DE" b="1" dirty="0"/>
              <a:t>Schritt 3 – Die Kette gilt für jede Anforderung</a:t>
            </a:r>
          </a:p>
          <a:p>
            <a:r>
              <a:rPr lang="de-DE" dirty="0"/>
              <a:t>Die Pfeile machen deutlich, dass dies keine neun isolierten Kästen sind, sondern ein durchgehender Fluss. Entscheidend ist: Diese Kette wird für jede der vierzehn abgeleiteten Anforderungen einzeln und vollständig durchlaufen.</a:t>
            </a:r>
          </a:p>
          <a:p>
            <a:r>
              <a:rPr lang="de-DE" dirty="0"/>
              <a:t>Damit entsteht eine gleichförmige Struktur über alle Testfälle hinweg. Sie macht die Arbeit unabhängig von der Person, die testet, und sie erlaubt es, jedes einzelne Ergebnis bis zur regulatorischen Anforderung zurückzuverfolgen.</a:t>
            </a:r>
          </a:p>
          <a:p>
            <a:r>
              <a:rPr lang="de-DE" b="1" dirty="0"/>
              <a:t>Schritt 4 – Die Kernregel</a:t>
            </a:r>
          </a:p>
          <a:p>
            <a:r>
              <a:rPr lang="de-DE" dirty="0"/>
              <a:t>Der Balken fasst die zwei Grundregeln zusammen. Kein Test ohne Anforderung: Ein Testfall ohne Herkunft aus der Anforderungsableitung wird nicht durchgeführt, weil sein Ergebnis regulatorisch nichts belegt.</a:t>
            </a:r>
          </a:p>
          <a:p>
            <a:r>
              <a:rPr lang="de-DE" dirty="0"/>
              <a:t>Kein Verdict ohne gespeicherte Evidenz: Ein Testfall gilt erst dann als durchgeführt, wenn der Nachweis reproduzierbar abgelegt ist. Eine mündliche Aussage oder eine nicht belegte Bewertung ist im Sinne der Konformitätsbewertung wertlos. Genau diese Disziplin unterscheidet eine Nachweismethodik von einer bloßen Testkampagne.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NV1: Direktzugriff, im Labor realisiert</a:t>
            </a:r>
          </a:p>
          <a:p>
            <a:r>
              <a:rPr lang="de-DE" dirty="0"/>
              <a:t>Die drei Diagramme zeigen, dass der Messpunkt darüber entscheidet, was ein Test überhaupt sehen kann. NV1 ist die Position, die im Labor tatsächlich aufgebaut wurde. Das Testsystem hängt als regulärer Teilnehmer am Industrial Switch und greift über IP direkt auf den Prüfling zu.</a:t>
            </a:r>
          </a:p>
          <a:p>
            <a:r>
              <a:rPr lang="de-DE" dirty="0"/>
              <a:t>Damit lassen sich alle Prüfungen durchführen, die über die exponierten Netzwerkschnittstellen erreichbar sind: offene Dienste und Ports, Authentifizierung und Zugriffsschutz, Konfigurations- und Firmwarefunktionen, Logging sowie das Verhalten unter Last. Diese Position kommt dem realen Angriffsweg an der IT/OT-Grenze am nächsten und liefert deshalb die aussagekräftigsten Ergebnisse. Das grüne Band macht deutlich: Nur diese Variante wurde umgesetzt.</a:t>
            </a:r>
          </a:p>
          <a:p>
            <a:r>
              <a:rPr lang="de-DE" b="1" dirty="0"/>
              <a:t>Schritt 2 – NV2: Passive Beobachtung über den Mirror-Port</a:t>
            </a:r>
          </a:p>
          <a:p>
            <a:r>
              <a:rPr lang="de-DE" dirty="0"/>
              <a:t>NV2 ist spezifiziert, aber nicht umgesetzt. Hier hängt das Testsystem an einem Mirror-Port des Switches, erkennbar an der gestrichelten Linie. Es sendet nicht, sondern hört ausschließlich mit.</a:t>
            </a:r>
          </a:p>
          <a:p>
            <a:r>
              <a:rPr lang="de-DE" dirty="0"/>
              <a:t>Der Zweck wäre die Beobachtung des zyklischen PROFINET- und PROFIsafe-Verkehrs zwischen SPS und Prüfling: Welche Daten werden tatsächlich übertragen, sind sie im Klartext lesbar, wie verhalten sich Zykluszeiten und Telegrammstruktur im Normalbetrieb. Damit ließen sich vor allem Anforderungen zur Vertraulichkeit und zum eingeschränkten Datenfluss bewerten.</a:t>
            </a:r>
          </a:p>
          <a:p>
            <a:r>
              <a:rPr lang="de-DE" dirty="0"/>
              <a:t>Nicht umgesetzt wurde die Variante aus zwei Gründen: Der verfügbare Switch bot die benötigte Mirror-Funktion im Laboraufbau nicht in geeigneter Form, und der zeitliche Rahmen der Arbeit ließ den zusätzlichen Aufbau nicht zu. Die Variante ist deshalb methodisch vollständig beschrieben, aber als offene Position dokumentiert.</a:t>
            </a:r>
          </a:p>
          <a:p>
            <a:r>
              <a:rPr lang="de-DE" b="1" dirty="0"/>
              <a:t>Schritt 3 – NV3: In-Path-Manipulation und Konsequenz</a:t>
            </a:r>
          </a:p>
          <a:p>
            <a:r>
              <a:rPr lang="de-DE" dirty="0"/>
              <a:t>NV3 ist die aktivste Position. Das Testsystem wird inline zwischen Switch und Prüfling geschaltet, die direkte Verbindung ist also aufgetrennt und läuft durch das Testsystem hindurch. Damit ließe sich der Verkehr nicht nur beobachten, sondern gezielt verzögern, verändern, wiedereinspielen oder unterbrechen.</a:t>
            </a:r>
          </a:p>
          <a:p>
            <a:r>
              <a:rPr lang="de-DE" dirty="0"/>
              <a:t>Das wäre die Voraussetzung für Manipulations- und Watchdog-Tests: Reagiert der Prüfling korrekt auf veränderte oder verspätete Telegramme, erkennt er den Verlust der Verbindung, geht er in einen sicheren Zustand. Auch diese Variante ist spezifiziert, aber aus denselben Zeit- und Hardwaregründen nicht realisiert worden.</a:t>
            </a:r>
          </a:p>
          <a:p>
            <a:r>
              <a:rPr lang="de-DE" dirty="0"/>
              <a:t>Genau das ist die entscheidende Einschränkung dieser Arbeit, und sie erklärt einen Befund, der gleich folgt: Weil NV2 und NV3 nicht aufgebaut wurden, konnten mehrere Anforderungen nicht geprüft werden und wurden konsequent als Not Assessed bewertet. Diese Bewertung ist kein Mangel der Methodik, sondern die ehrliche Abbildung des vorhandenen Messzugangs.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Anwendbar: der Normalfall</a:t>
            </a:r>
          </a:p>
          <a:p>
            <a:r>
              <a:rPr lang="de-DE" dirty="0"/>
              <a:t>Die Matrix beantwortet eine Frage, die vor jedem Test steht: Passt das vorhandene Prüfwerkzeug überhaupt zu diesem Prüfling? Im ersten Quadranten ist die Antwort eindeutig ja. Die Schnittstelle, die das Verfahren voraussetzt, ist am Gateway vorhanden, und der Test kann unverändert aus dem bestehenden Firmenrepertoire übernommen werden.</a:t>
            </a:r>
          </a:p>
          <a:p>
            <a:r>
              <a:rPr lang="de-DE" dirty="0"/>
              <a:t>Das ist der angestrebte Regelfall, weil hier vorhandene Reife direkt genutzt wird. Das Ergebnis ist ein belastbares Pass oder Fail, das unmittelbar auf eine Eigenschaft des Geräts zurückgeht.</a:t>
            </a:r>
          </a:p>
          <a:p>
            <a:r>
              <a:rPr lang="de-DE" b="1" dirty="0"/>
              <a:t>Schritt 2 – Anwendbar mit Anpassung</a:t>
            </a:r>
          </a:p>
          <a:p>
            <a:r>
              <a:rPr lang="de-DE" dirty="0"/>
              <a:t>Im zweiten Quadranten existiert eine verwandte, aber nicht identische Schnittstelle. Das Verfahren ist im Kern gültig, muss aber angepasst werden, etwa an ein anderes Protokoll, eine andere Adressierung oder abweichende Parameter.</a:t>
            </a:r>
          </a:p>
          <a:p>
            <a:r>
              <a:rPr lang="de-DE" dirty="0"/>
              <a:t>Wichtig ist hier die Dokumentation: Jede Anpassung wird festgehalten, damit nachvollziehbar bleibt, was genau geprüft wurde und wie stark das Verfahren vom Original abweicht. Nur so bleibt das Ergebnis reproduzierbar und für einen Auditor bewertbar.</a:t>
            </a:r>
          </a:p>
          <a:p>
            <a:r>
              <a:rPr lang="de-DE" b="1" dirty="0"/>
              <a:t>Schritt 3 – Nicht anwendbar: die entscheidende Abgrenzung</a:t>
            </a:r>
          </a:p>
          <a:p>
            <a:r>
              <a:rPr lang="de-DE" dirty="0"/>
              <a:t>Dieser Quadrant ist bewusst durch die kräftige Umrandung hervorgehoben, obwohl er farblich zurückhaltend bleibt. Hier fehlt die vom Verfahren angenommene Schnittstelle am Prüfling schlicht.</a:t>
            </a:r>
          </a:p>
          <a:p>
            <a:r>
              <a:rPr lang="de-DE" dirty="0"/>
              <a:t>Entscheidend ist der Zeitpunkt: Das wird vor der Ausführung erkannt, nicht als Testergebnis. Es handelt sich um eine Feststellung zur Anwendbarkeit des Werkzeugs, nicht um eine Schwäche des Produkts. Ein Gerät ist nicht unsicher, nur weil ein Werkzeug eine Schnittstelle erwartet, die es konstruktiv gar nicht besitzt. Diese Unterscheidung sauber zu treffen ist ein zentraler Beitrag der Methodik.</a:t>
            </a:r>
          </a:p>
          <a:p>
            <a:r>
              <a:rPr lang="de-DE" b="1" dirty="0"/>
              <a:t>Schritt 4 – Blockiert: die Umgebungsbeschränkung</a:t>
            </a:r>
          </a:p>
          <a:p>
            <a:r>
              <a:rPr lang="de-DE" dirty="0"/>
              <a:t>Der vierte Quadrant beschreibt einen anderen Fall. Das Verfahren wäre grundsätzlich anwendbar, aber die Laborumgebung lässt die Ausführung nicht zu, etwa weil der nötige Messpunkt fehlt, die Hardware nicht verfügbar war oder ein Eingriff den laufenden Aufbau gefährden würde.</a:t>
            </a:r>
          </a:p>
          <a:p>
            <a:r>
              <a:rPr lang="de-DE" dirty="0"/>
              <a:t>Das betrifft unmittelbar die zuvor gezeigten Netzwerkvarianten NV2 und NV3. Blockierte Tests werden als solche gekennzeichnet und als offene Punkte dokumentiert, statt sie stillschweigend wegzulassen.</a:t>
            </a:r>
          </a:p>
          <a:p>
            <a:r>
              <a:rPr lang="de-DE" b="1" dirty="0"/>
              <a:t>Schritt 5 – Die Abgrenzungsregel</a:t>
            </a:r>
          </a:p>
          <a:p>
            <a:r>
              <a:rPr lang="de-DE" dirty="0"/>
              <a:t>Der Balken fasst die Regel zusammen: Ein nicht anwendbares Werkzeug erzeugt niemals ein Fail. Ein negatives Ergebnis darf nur dann vergeben werden, wenn es auf eine tatsächliche Eigenschaft des Geräts zurückgeht.</a:t>
            </a:r>
          </a:p>
          <a:p>
            <a:r>
              <a:rPr lang="de-DE" dirty="0"/>
              <a:t>Alles andere ist ein Werkzeug-Artefakt oder eine Umgebungsgrenze und wird entsprechend als Not Applicable oder als blockiert ausgewiesen. Diese Trennung schützt vor zwei Fehlern zugleich: vor falschem Alarm gegenüber dem Produkt und vor geschönten Ergebnissen gegenüber dem Auditor.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Execution Status: was mit einem einzelnen Test geschah</a:t>
            </a:r>
          </a:p>
          <a:p>
            <a:r>
              <a:rPr lang="de-DE" b="0" dirty="0"/>
              <a:t>Der Execution Status beschreibt ausschließlich den Verlauf eines einzelnen Testfalls, ohne jede Wertung der Anforderung. Executed bedeutet: der Test wurde wie spezifiziert am Prüfling ausgeführt und hat ein auswertbares Ergebnis geliefert. Not Applicable bedeutet: die angenommene Schnittstelle ist am Prüfling nicht vorhanden, das Verfahren ist damit gegenstandslos. Blocked bedeutet: eine Umgebungsbeschränkung hat die Ausführung verhindert, etwa ein fehlender Messpunkt. Unevidenced bedeutet: der Test lief zwar, die Evidenz wurde aber nicht vollständig gesichert und ist damit nicht nachprüfbar. Alle vier Zustände sind reine Beschreibungen, keine Bewertungen.</a:t>
            </a:r>
          </a:p>
          <a:p>
            <a:r>
              <a:rPr lang="de-DE" b="1" dirty="0"/>
              <a:t>Schritt 2 – Requirement Verdict: die Bewertung der Anforderung</a:t>
            </a:r>
          </a:p>
          <a:p>
            <a:r>
              <a:rPr lang="de-DE" b="0" dirty="0"/>
              <a:t>Das Requirement Verdict liegt eine Ebene höher. Es bewertet nicht einen einzelnen Test, sondern die Anforderung über alle ihr zugeordneten Testfälle hinweg. Pass steht dafür, dass die Anforderung durch die Gesamtheit der zugehörigen Tests vollständig und evidenzgestützt als erfüllt nachgewiesen ist. Eine einzelne erfolgreiche Ausführung genügt dafür nicht.</a:t>
            </a:r>
          </a:p>
          <a:p>
            <a:r>
              <a:rPr lang="de-DE" b="1" dirty="0"/>
              <a:t>Schritt 3 – Fail als evidenzbasierter Nachweis einer Abweichung</a:t>
            </a:r>
          </a:p>
          <a:p>
            <a:r>
              <a:rPr lang="de-DE" b="0" dirty="0"/>
              <a:t>Fail ist bewusst das am stärksten abgesicherte Verdikt. Es wird nur vergeben, wenn eine Abweichung vom geforderten Verhalten tatsächlich beobachtet und mit gespeicherter Evidenz belegt wurde. Ein Fail ist damit immer eine positive Feststellung, niemals eine Vermutung und niemals die Folge fehlender Information. Wer ein Fail berichtet, muss es zeigen können.</a:t>
            </a:r>
          </a:p>
          <a:p>
            <a:r>
              <a:rPr lang="de-DE" b="1" dirty="0"/>
              <a:t>Schritt 4 – Not Assessed als Standardfall bei unvollständiger Abdeckung</a:t>
            </a:r>
          </a:p>
          <a:p>
            <a:r>
              <a:rPr lang="de-DE" b="0" dirty="0"/>
              <a:t>Not Assessed ist kein Ausweichergebnis, sondern der definierte Standardfall. Sobald auch nur ein zugehöriger Test nicht ausgeführt, nicht anwendbar, blockiert oder ohne Evidenz geblieben ist, fehlt der vollständige Nachweis – und die Anforderung wird als Not Assessed geführt. Das hält den Unterschied zwischen „nicht erfüllt“ und „nicht nachgewiesen“ sauber.</a:t>
            </a:r>
          </a:p>
          <a:p>
            <a:r>
              <a:rPr lang="de-DE" b="1" dirty="0"/>
              <a:t>Schritt 5 – Die Trennlinie als zentrale Botschaft</a:t>
            </a:r>
          </a:p>
          <a:p>
            <a:r>
              <a:rPr lang="de-DE" b="0" dirty="0"/>
              <a:t>Die senkrechte Linie ist die eigentliche Aussage der Folie. Links steht, was mit einem Test geschah, rechts, was über eine Anforderung ausgesagt wird. Werden beide Ebenen vermischt, entstehen typische Fehlschlüsse: ein nicht anwendbarer Test wird als Mangel gelesen, ein blockierter Test als Fehlverhalten. Beides wäre fachlich falsch und würde die Belastbarkeit der Ergebnisse untergraben.</a:t>
            </a:r>
          </a:p>
          <a:p>
            <a:r>
              <a:rPr lang="de-DE" b="1" dirty="0"/>
              <a:t>Schritt 6 – Konservative Aggregation</a:t>
            </a:r>
          </a:p>
          <a:p>
            <a:r>
              <a:rPr lang="de-DE" b="0" dirty="0"/>
              <a:t>Die Aggregationsregel ist bewusst konservativ: unvollständige Abdeckung wird nie als Pass berichtet. Genau daraus erklärt sich das spätere Gesamtbild – zwölf der vierzehn abgeleiteten Anforderungen stehen auf Not Assessed und nicht auf Pass. Das ist kein Qualitätsurteil über den Prüfling, sondern eine ehrliche Aussage über die Reichweite der Testumgebung, insbesondere über die nicht umgesetzten Messpunkte NV2 und NV3.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Der Switch als zentrale Layer-2-Verbindung</a:t>
            </a:r>
          </a:p>
          <a:p>
            <a:r>
              <a:rPr lang="de-DE" b="0" dirty="0"/>
              <a:t>Der Industrial Switch unter 192.168.0.91 ist das verbindende Element des gesamten Aufbaus. Alle Teilnehmer hängen auf derselben Ebene an ihm, der Datenverkehr läuft ungefiltert über eine einzige Broadcast-Domäne. Damit bildet der Switch nicht nur die physische Mitte des Diagramms, sondern auch den technischen Bezugspunkt für jede Aussage über Erreichbarkeit und Sichtbarkeit im Netz.</a:t>
            </a:r>
          </a:p>
          <a:p>
            <a:r>
              <a:rPr lang="de-DE" b="1" dirty="0"/>
              <a:t>Schritt 2 – Die SPS als Safety-Gegenstelle</a:t>
            </a:r>
          </a:p>
          <a:p>
            <a:r>
              <a:rPr lang="de-DE" b="0" dirty="0"/>
              <a:t>Die Safety-Steuerung unter 192.168.0.1 ist die funktionale Gegenstelle des Prüfling. Sie erzeugt und empfängt den sicherheitsgerichteten Datenverkehr, der über das Gerät läuft, und sorgt dafür, dass der Aufbau einen realistischen Betriebszustand abbildet statt eines künstlichen Laborsignals.</a:t>
            </a:r>
          </a:p>
          <a:p>
            <a:r>
              <a:rPr lang="de-DE" b="1" dirty="0"/>
              <a:t>Schritt 3 – Der SRIO als eigentlicher Prüfling</a:t>
            </a:r>
          </a:p>
          <a:p>
            <a:r>
              <a:rPr lang="de-DE" b="0" dirty="0"/>
              <a:t>Der SRIO unter 192.168.0.2 steht bewusst größer und farblich hervorgehoben im Aufbau: Er ist das Device under Test. Alle abgeleiteten Anforderungen, alle Testfälle und alle Verdikte beziehen sich ausschließlich auf dieses Gerät. Die übrigen Teilnehmer sind Umgebung, nicht Gegenstand der Bewertung. Diese Abgrenzung ist entscheidend, damit Beobachtungen nicht fälschlich dem Prüfling zugeschrieben werden.</a:t>
            </a:r>
          </a:p>
          <a:p>
            <a:r>
              <a:rPr lang="de-DE" b="1" dirty="0"/>
              <a:t>Schritt 4 – Kali Linux als Testinitiator</a:t>
            </a:r>
          </a:p>
          <a:p>
            <a:r>
              <a:rPr lang="de-DE" b="0" dirty="0"/>
              <a:t>Das Testsystem unter 192.168.0.80 initiiert die Testfälle: Scans, Protokollinteraktionen und gezielte Anfragen an den Prüfling. Es ist in dieser Netzwerkposition ein regulärer Teilnehmer am Switch und sieht damit genau das, was ein Direktzugriff sieht - nicht mehr.</a:t>
            </a:r>
          </a:p>
          <a:p>
            <a:r>
              <a:rPr lang="de-DE" b="1" dirty="0"/>
              <a:t>Schritt 5 – Der Firmenlaptop als Engineering-Station</a:t>
            </a:r>
          </a:p>
          <a:p>
            <a:r>
              <a:rPr lang="de-DE" b="0" dirty="0"/>
              <a:t>Der Firmenlaptop unter 192.168.0.7 dient als Engineering-Station für unterstützende Lesevorgänge: Konfiguration einsehen, Firmware-Stand prüfen, Parameter auslesen. Er führt keine Angriffs- oder Testschritte aus, liefert aber Belege, die für die Bewertung einzelner Anforderungen benötigt werden.</a:t>
            </a:r>
          </a:p>
          <a:p>
            <a:r>
              <a:rPr lang="de-DE" b="1" dirty="0"/>
              <a:t>Schritt 6 – Flache Topologie in isolierter Laborumgebung unter NV1</a:t>
            </a:r>
          </a:p>
          <a:p>
            <a:r>
              <a:rPr lang="de-DE" b="0" dirty="0"/>
              <a:t>Der gestrichelte Rahmen markiert die Grenze des physischen Laboraufbaus. Innerhalb dieser Grenze gilt: ein Switch, ein Adressbereich, keine Segmentierung und keine trennenden Sicherheitsmechanismen zwischen den Teilnehmern. Das entspricht der Netzwerkposition NV1, dem Direktzugriff. Diese bewusst flache Topologie macht die Ergebnisse gut nachvollziehbar, begrenzt aber zugleich ihre Reichweite - alles, was eine Spiegelung oder eine In-Path-Position erfordern würde, ist hier nicht darstellbar.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Die Verteilung der zehn Firmentests</a:t>
            </a:r>
          </a:p>
          <a:p>
            <a:r>
              <a:rPr lang="de-DE" b="0" dirty="0"/>
              <a:t>Der Werkzeugkasten des Unternehmens umfasst zehn etablierte Testverfahren. Nach der Anwendbarkeitsprüfung verteilen sie sich auf vier Ausgänge: vier Verfahren waren unverändert anwendbar und wurden ausgeführt, zwei ließen sich mit einer Anpassung an die Schnittstellen des Prüflings nutzen, drei waren am Gerät schlicht nicht anwendbar und eines war durch die Testumgebung blockiert. Wichtig ist die Lesart: das ist eine Aussage über die Passung von Werkzeug und Prüfgegenstand, nicht über die Qualität des Geräts.</a:t>
            </a:r>
          </a:p>
          <a:p>
            <a:r>
              <a:rPr lang="de-DE" b="1" dirty="0"/>
              <a:t>Schritt 2 – Systematische Prüfung vor der Ausführung</a:t>
            </a:r>
          </a:p>
          <a:p>
            <a:r>
              <a:rPr lang="de-DE" b="0" dirty="0"/>
              <a:t>Die Zuordnung entsteht nicht zufällig während der Testdurchführung, sondern in einem vorgelagerten Schritt. Für jedes Verfahren wird geprüft, welche Schnittstelle oder Umgebungseigenschaft es voraussetzt und ob diese am Prüfling überhaupt existiert. Das verhindert Leerläufe und vor allem falsch interpretierte Ergebnisse.</a:t>
            </a:r>
          </a:p>
          <a:p>
            <a:r>
              <a:rPr lang="de-DE" b="1" dirty="0"/>
              <a:t>Schritt 3 – Nmap-Zonentest</a:t>
            </a:r>
          </a:p>
          <a:p>
            <a:r>
              <a:rPr lang="de-DE" b="0" dirty="0"/>
              <a:t>Der Zonentest prüft, ob Netzwerkverkehr zwischen zwei getrennten Netzsegmenten kontrolliert wird. Der Demonstrationsaufbau ist jedoch flach: ein Switch, ein Adressbereich, keine Segmentierung. Es gibt damit keine zweite Zone, gegen die geprüft werden könnte – das Verfahren ist gegenstandslos.</a:t>
            </a:r>
          </a:p>
          <a:p>
            <a:r>
              <a:rPr lang="de-DE" b="1" dirty="0"/>
              <a:t>Schritt 4 – Hydra</a:t>
            </a:r>
          </a:p>
          <a:p>
            <a:r>
              <a:rPr lang="de-DE" b="0" dirty="0"/>
              <a:t>Hydra setzt einen erreichbaren Authentifizierungs-Endpoint voraus, an dem Anmeldeversuche durchgeführt werden können. Der Prüfling bietet keinen solchen Endpoint an. Ohne Anmeldedialog gibt es nichts, wogegen das Werkzeug arbeiten könnte.</a:t>
            </a:r>
          </a:p>
          <a:p>
            <a:r>
              <a:rPr lang="de-DE" b="1" dirty="0"/>
              <a:t>Schritt 5 – Lynis und die Einordnung der Feststellung</a:t>
            </a:r>
          </a:p>
          <a:p>
            <a:r>
              <a:rPr lang="de-DE" b="0" dirty="0"/>
              <a:t>Lynis führt eine Systemhärtungsprüfung innerhalb eines Betriebssystems durch und benötigt dafür eine Shell. Der Prüfling ist ein eingebettetes Gerät ohne zugängliche Betriebssystem-Shell. In allen drei Fällen gilt dieselbe Abgrenzung: Die Nichtanwendbarkeit ist eine Eigenschaft der Topologie beziehungsweise des Geräts und ausdrücklich kein Testfehler und kein Produktmangel. Genau deshalb erzeugt ein nicht anwendbares Werkzeug niemals ein Fail, sondern wird transparent als solches ausgewiesen.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Baseline</a:t>
            </a:r>
          </a:p>
          <a:p>
            <a:r>
              <a:rPr lang="de-DE" b="0" dirty="0"/>
              <a:t>Vor jeder Intervention wird der Ausgangszustand festgehalten: System-Tick 20969, keine Log-Einträge. Damit ist belegt, dass alle später beobachteten Einträge tatsächlich aus den induzierten Ereignissen stammen und nicht aus dem Normalbetrieb.</a:t>
            </a:r>
          </a:p>
          <a:p>
            <a:r>
              <a:rPr lang="de-DE" b="1" dirty="0"/>
              <a:t>Schritt 2 – Nach Ereignis 1</a:t>
            </a:r>
          </a:p>
          <a:p>
            <a:r>
              <a:rPr lang="de-DE" b="0" dirty="0"/>
              <a:t>Das erste induzierte Ereignis erzeugt zwei Fehlereinträge, der System-Tick steht bei 68629. Das Gerät protokolliert den Vorfall also grundsätzlich – die Nachweisbarkeit ist im laufenden Betrieb gegeben.</a:t>
            </a:r>
          </a:p>
          <a:p>
            <a:r>
              <a:rPr lang="de-DE" b="1" dirty="0"/>
              <a:t>Schritt 3 – Der Kaltstart als entscheidender Moment</a:t>
            </a:r>
          </a:p>
          <a:p>
            <a:r>
              <a:rPr lang="de-DE" b="0" dirty="0"/>
              <a:t>Nach dem Kaltstart fällt der System-Tick auf 20459 zurück und die Log-Einträge stehen wieder bei null. Beides zusammen ist der eigentliche Befund: Der Tick ist ein flüchtiger, bei jedem Neustart zurückspringender Zähler und damit keine verlässliche Zeitreferenz, und der Loginhalt selbst übersteht den Neustart nicht. Ein Vorfall, der vor dem Kaltstart protokolliert wurde, ist danach nicht mehr rekonstruierbar.</a:t>
            </a:r>
          </a:p>
          <a:p>
            <a:r>
              <a:rPr lang="de-DE" b="1" dirty="0"/>
              <a:t>Schritt 4 – Nach Ereignis 2</a:t>
            </a:r>
          </a:p>
          <a:p>
            <a:r>
              <a:rPr lang="de-DE" b="0" dirty="0"/>
              <a:t>Das zweite Ereignis nach dem Neustart erzeugt erneut zwei Einträge bei Tick 44869. Das bestätigt, dass die Protokollierung funktioniert – und zugleich, dass der vorherige Zustand unwiederbringlich verloren ist. Die Wiederholbarkeit des Musters schließt einen Messfehler aus.</a:t>
            </a:r>
          </a:p>
          <a:p>
            <a:r>
              <a:rPr lang="de-DE" b="1" dirty="0"/>
              <a:t>Schritt 5 – Die drei strukturellen Lücken</a:t>
            </a:r>
          </a:p>
          <a:p>
            <a:r>
              <a:rPr lang="de-DE" b="0" dirty="0"/>
              <a:t>Das vorhandene Ersatzartefakt weist drei Lücken auf, die unabhängig vom Kaltstart bestehen: Es fehlt ein absoluter Zeitstempel, ein Eintrag lässt sich also keinem realen Zeitpunkt zuordnen. Es fehlt eine Akteursidentität, ein Eintrag lässt sich also keiner handelnden Instanz zuordnen. Und der Loginhalt wird beim Kaltstart gelöscht, die Aufbewahrung ist damit nicht gegeben.</a:t>
            </a:r>
          </a:p>
          <a:p>
            <a:r>
              <a:rPr lang="de-DE" b="1" dirty="0"/>
              <a:t>Schritt 6 – Fail für RQ-003 und RQ-012</a:t>
            </a:r>
          </a:p>
          <a:p>
            <a:r>
              <a:rPr lang="de-DE" b="0" dirty="0"/>
              <a:t>Damit liegt für beide Anforderungen eine evidenzgestützte, beobachtete Abweichung vor – und nur dann wird Fail vergeben. RQ-003 und RQ-012 verlangen ein nachvollziehbares, zuordenbares und aufbewahrtes Protokoll; genau das ist widerlegt. Dieses Verdikt ist belegt, nicht vermutet.</a:t>
            </a:r>
          </a:p>
          <a:p>
            <a:r>
              <a:rPr lang="de-DE" b="1" dirty="0"/>
              <a:t>Schritt 7 – Kernaussage</a:t>
            </a:r>
          </a:p>
          <a:p>
            <a:r>
              <a:rPr lang="de-DE" b="0" dirty="0"/>
              <a:t>Die Zusammenfassung des gesamten Kernbefunds lautet: Das einzige verfügbare Ersatzartefakt überlebt keinen Kaltstart. Ein Tracing-Log, das über fünf Jahre aufbewahrt werden soll, kann auf dieser Grundlage nicht realisiert werden – die Lücke liegt in der Architektur des Geräts, nicht in der Testdurchführung.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Zwölf Anforderungen als Not Assessed</a:t>
            </a:r>
          </a:p>
          <a:p>
            <a:r>
              <a:rPr lang="de-DE" b="0" dirty="0"/>
              <a:t>Von den vierzehn abgeleiteten Anforderungen tragen zwölf das Verdikt Not Assessed. Das ist kein Ausweichergebnis, sondern die konsequente Anwendung der konservativen Aggregationsregel: Sobald die Abdeckung unvollständig ist, wird nicht Pass berichtet. Das Raster zeigt damit vor allem eines – wie weit die Nachweisreichweite dieser Arbeit tatsächlich trägt.</a:t>
            </a:r>
          </a:p>
          <a:p>
            <a:r>
              <a:rPr lang="de-DE" b="1" dirty="0"/>
              <a:t>Schritt 2 – Die beiden Fail-Fälle</a:t>
            </a:r>
          </a:p>
          <a:p>
            <a:r>
              <a:rPr lang="de-DE" b="0" dirty="0"/>
              <a:t>RQ-003 und RQ-012 heben sich bewusst ab. Beide beziehen sich auf den zuvor gezeigten Interventionsnachweis: fehlender absoluter Zeitstempel, fehlende Akteursidentität und der Verlust des Loginhalts beim Kaltstart. Nur hier liegt eine beobachtete und mit Evidenz belegte Abweichung vor – und nur dann wird Fail vergeben.</a:t>
            </a:r>
          </a:p>
          <a:p>
            <a:r>
              <a:rPr lang="de-DE" b="1" dirty="0"/>
              <a:t>Schritt 3 – Überleitung zu den Gründen</a:t>
            </a:r>
          </a:p>
          <a:p>
            <a:r>
              <a:rPr lang="de-DE" b="0" dirty="0"/>
              <a:t>Die entscheidende Frage lautet nun, warum die übrigen zwölf Anforderungen nicht abschließend bewertet werden konnten. Die Gründe sind strukturell und lassen sich auf vier wiederkehrende Ursachen zurückführen.</a:t>
            </a:r>
          </a:p>
          <a:p>
            <a:r>
              <a:rPr lang="de-DE" b="1" dirty="0"/>
              <a:t>Schritt 4 – Messpunkt NV2 erforderlich</a:t>
            </a:r>
          </a:p>
          <a:p>
            <a:r>
              <a:rPr lang="de-DE" b="0" dirty="0"/>
              <a:t>Eine Reihe von Anforderungen setzt eine passive Beobachtung des Datenverkehrs über einen Mirror-Port voraus. Diese Netzwerkvariante war spezifiziert, im Demonstrationsaufbau aber nicht umgesetzt. Ohne NV2 lässt sich der geforderte Nachweis nicht erbringen.</a:t>
            </a:r>
          </a:p>
          <a:p>
            <a:r>
              <a:rPr lang="de-DE" b="1" dirty="0"/>
              <a:t>Schritt 5 – Messpunkt NV3 erforderlich</a:t>
            </a:r>
          </a:p>
          <a:p>
            <a:r>
              <a:rPr lang="de-DE" b="0" dirty="0"/>
              <a:t>Andere Anforderungen verlangen eine In-Path-Position, bei der das Testsystem zwischen Switch und Prüfling geschaltet ist und Verkehr gezielt manipulieren kann. Auch NV3 war spezifiziert, aber nicht realisiert. Die Begrenzung war von Beginn an bekannt und ist dokumentiert – sie wirkt sich hier unmittelbar auf das Verdikt aus.</a:t>
            </a:r>
          </a:p>
          <a:p>
            <a:r>
              <a:rPr lang="de-DE" b="1" dirty="0"/>
              <a:t>Schritt 6 – Fehlendes Ereignis und fehlendes Engineering-Tool</a:t>
            </a:r>
          </a:p>
          <a:p>
            <a:r>
              <a:rPr lang="de-DE" b="0" dirty="0"/>
              <a:t>Zwei weitere Ursachen kommen hinzu. Ein Teil der Anforderungen hätte ein induziertes Software- oder Konfigurationsereignis vorausgesetzt, das im Rahmen der Demonstration nicht erzeugt werden konnte. Ein weiterer Teil hätte ein herstellerseitiges Engineering-Tool benötigt, das nicht zur Verfügung stand. In beiden Fällen greift dieselbe Logik des Bewertungsmodells: fehlender Zugang bedeutet fehlender Nachweis, nicht fehlende Sicherheit.</a:t>
            </a:r>
          </a:p>
          <a:p>
            <a:r>
              <a:rPr lang="de-DE" b="1" dirty="0"/>
              <a:t>Schritt 7 – Kernaussage</a:t>
            </a:r>
          </a:p>
          <a:p>
            <a:r>
              <a:rPr lang="de-DE" b="0" dirty="0"/>
              <a:t>Die Verteilung im Raster ist damit eine Konsequenz des bewusst begrenzten Untersuchungsumfangs und ausdrücklich keine Aussage über die Sicherheit des Geräts an sich. Genau diese Trennung macht die Methodik belastbar: Sie berichtet, was nachgewiesen wurde, und macht zugleich transparent, was aus welchem Grund offen bleibt – und liefert damit die Anschlusspunkte für eine erweiterte Prüfumgebung.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Funktionale Sicherheit</a:t>
            </a:r>
          </a:p>
          <a:p>
            <a:r>
              <a:rPr lang="de-DE" b="0" dirty="0"/>
              <a:t>Die funktionale Sicherheit fragt, ob das System nach einem Fehler einen definierten sicheren Zustand einnimmt. Ihre Grundannahme ist der zufällige Fehler: ein Bauteil fällt aus, ein Signal kippt, eine Berechnung läuft aus dem zulässigen Bereich. Bewertet wird die Reaktion des Systems auf ein ungerichtetes, statistisch beschreibbares Ereignis – und genau dafür sind die etablierten Normen und Nachweisverfahren ausgelegt.</a:t>
            </a:r>
          </a:p>
          <a:p>
            <a:r>
              <a:rPr lang="de-DE" b="1" dirty="0"/>
              <a:t>Schritt 2 – Cybersicherheit</a:t>
            </a:r>
          </a:p>
          <a:p>
            <a:r>
              <a:rPr lang="de-DE" b="0" dirty="0"/>
              <a:t>Die Cybersicherheit stellt andere Fragen: Zurechenbarkeit, Integrität und Nachvollziehbarkeit. Ihre Grundannahme ist nicht der Zufall, sondern der vorsätzliche Angreifer, der gezielt sucht, wo eine Schutzmaßnahme umgangen werden kann, und der sein Vorgehen an der Abwehr ausrichtet. Ein Fehlermodell, das auf Wahrscheinlichkeiten beruht, bildet dieses Verhalten nicht ab.</a:t>
            </a:r>
          </a:p>
          <a:p>
            <a:r>
              <a:rPr lang="de-DE" b="1" dirty="0"/>
              <a:t>Schritt 3 – Warum das Gleichheitszeichen durchgestrichen ist</a:t>
            </a:r>
          </a:p>
          <a:p>
            <a:r>
              <a:rPr lang="de-DE" b="0" dirty="0"/>
              <a:t>Genau hier liegt der verbreitete Kurzschluss in der Praxis: Weil ein Gerät nach einem Fehler zuverlässig in den sicheren Zustand geht, gilt es als beherrscht – und damit implizit als sicher. Das durchgestrichene Gleichheitszeichen markiert diesen Trugschluss. Ein Safe State sagt nichts darüber aus, ob ein Eingriff erkannt, einem Akteur zugeordnet und später nachvollzogen werden kann. Der zuvor gezeigte Interventionsnachweis ist das praktische Beispiel dafür: Das Gerät blieb funktional beherrscht, während die Spur des Eingriffs verloren ging.</a:t>
            </a:r>
          </a:p>
          <a:p>
            <a:r>
              <a:rPr lang="de-DE" b="1" dirty="0"/>
              <a:t>Schritt 4 – Zentrale These</a:t>
            </a:r>
          </a:p>
          <a:p>
            <a:r>
              <a:rPr lang="de-DE" b="0" dirty="0"/>
              <a:t>Damit steht die zentrale These dieser Arbeit: Beide Eigenschaften sind trennbar und erfordern eine unabhängige Verifikation. Ein Safety-Nachweis ersetzt keinen Security-Nachweis, und umgekehrt. Erst wenn beide Domänen mit eigenen Anforderungen, eigenen Messpunkten und eigenen Kriterien geprüft werden, entsteht eine belastbare Aussage über ein Gerät an der Grenze von IT und OT.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NV2 realisieren</a:t>
            </a:r>
          </a:p>
          <a:p>
            <a:r>
              <a:rPr lang="de-DE" b="0" dirty="0"/>
              <a:t>Der naheliegendste nächste Schritt ist die Realisierung der Netzwerkvariante NV2. Über einen Mirror-Port am Switch oder einen passiven Netzwerk-Tap lässt sich der zyklische Sicherheitsverkehr zwischen Steuerung und Gateway beobachten, ohne in den laufenden Betrieb einzugreifen. Damit werden genau jene Anforderungen adressierbar, die in dieser Arbeit als Not Assessed berichtet werden mussten, weil schlicht kein Beobachtungspunkt zur Verfügung stand. Der Aufwand ist gering, der Erkenntnisgewinn unmittelbar.</a:t>
            </a:r>
          </a:p>
          <a:p>
            <a:r>
              <a:rPr lang="de-DE" b="1" dirty="0"/>
              <a:t>Schritt 2 – NV3 realisieren</a:t>
            </a:r>
          </a:p>
          <a:p>
            <a:r>
              <a:rPr lang="de-DE" b="0" dirty="0"/>
              <a:t>Die zweite kurzfristige Erweiterung ist NV3: eine transparente Bridge, die zwischen Switch und Prüfling geschaltet wird. Erst diese In-Path-Position erlaubt eine aktive Untersuchung – Verkehr gezielt verzögern, verändern oder unterdrücken und die Reaktion des Geräts beobachten. Damit verschiebt sich der Nachweis von der reinen Beobachtung zur belastbaren Prüfung der Integritäts- und Robustheitseigenschaften.</a:t>
            </a:r>
          </a:p>
          <a:p>
            <a:r>
              <a:rPr lang="de-DE" b="1" dirty="0"/>
              <a:t>Schritt 3 – Testtiefe skalieren</a:t>
            </a:r>
          </a:p>
          <a:p>
            <a:r>
              <a:rPr lang="de-DE" b="0" dirty="0"/>
              <a:t>Mittelfristig geht es um die methodische Erweiterung: Die Testtiefe wird über die SRSL-Stufen gestaffelt. Statt einer einheitlichen Prüfung für alle Geräte wird der Prüfumfang an das jeweils geforderte Sicherheitsniveau gekoppelt. Das hält den Aufwand für einfache Komponenten angemessen und stellt zugleich sicher, dass kritische Geräte die volle Prüftiefe erfahren.</a:t>
            </a:r>
          </a:p>
          <a:p>
            <a:r>
              <a:rPr lang="de-DE" b="1" dirty="0"/>
              <a:t>Schritt 4 – Methodik verankern</a:t>
            </a:r>
          </a:p>
          <a:p>
            <a:r>
              <a:rPr lang="de-DE" b="0" dirty="0"/>
              <a:t>Die vierte Perspektive ist organisatorisch. Eine Prüfmethodik entfaltet ihren Wert erst, wenn sie nicht als einmalige Untersuchung stehen bleibt, sondern im Secure Development Lifecycle verankert wird: als wiederkehrender, dokumentierter Schritt mit definierten Messpunkten, Kriterien und Verantwortlichkeiten. Genau das verlangen auch die regulatorischen Anforderungen, die am Anfang dieser Arbeit stehen.</a:t>
            </a:r>
          </a:p>
          <a:p>
            <a:r>
              <a:rPr lang="de-DE" b="1" dirty="0"/>
              <a:t>Schritt 5 – Abschluss und Dank</a:t>
            </a:r>
          </a:p>
          <a:p>
            <a:r>
              <a:rPr lang="de-DE" b="0" dirty="0"/>
              <a:t>Damit schließt sich der Bogen. Die Demonstration am SRIO war bewusst begrenzt, aber sie hat gezeigt, dass die entwickelte Methodik trägt: Sie liefert nachvollziehbare Ergebnisse, macht ihre eigenen Grenzen transparent und ist über den demonstrierten Prüfling hinaus auf weitere Gateway-Varianten übertragbar. Ich danke der Kommission für die Aufmerksamkeit und freue mich auf Ihre Fragen.</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50100DB-63C2-9910-B81D-421C05004ABE}"/>
              </a:ext>
            </a:extLst>
          </p:cNvPr>
          <p:cNvGraphicFramePr>
            <a:graphicFrameLocks noChangeAspect="1"/>
          </p:cNvGraphicFramePr>
          <p:nvPr userDrawn="1">
            <p:custDataLst>
              <p:tags r:id="rId1"/>
            </p:custDataLst>
            <p:extLst>
              <p:ext uri="{D42A27DB-BD31-4B8C-83A1-F6EECF244321}">
                <p14:modId xmlns:p14="http://schemas.microsoft.com/office/powerpoint/2010/main" val="266428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250100DB-63C2-9910-B81D-421C05004A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830997"/>
          </a:xfrm>
        </p:spPr>
        <p:txBody>
          <a:bodyPr vert="horz" lIns="0" tIns="0" rIns="0" bIns="0" anchor="t">
            <a:spAutoFit/>
          </a:bodyPr>
          <a:lstStyle>
            <a:lvl1pPr algn="l">
              <a:defRPr sz="6000">
                <a:solidFill>
                  <a:schemeClr val="tx1"/>
                </a:solidFill>
                <a:latin typeface="+mj-lt"/>
              </a:defRPr>
            </a:lvl1pPr>
          </a:lstStyle>
          <a:p>
            <a:r>
              <a:rPr lang="en-US" dirty="0"/>
              <a:t>Presentation title</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a:buNone/>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pPr lvl="0"/>
            <a:r>
              <a:rPr lang="en-US" dirty="0"/>
              <a:t>Presentation description</a:t>
            </a:r>
          </a:p>
        </p:txBody>
      </p:sp>
      <p:pic>
        <p:nvPicPr>
          <p:cNvPr id="4" name="Grafik 3">
            <a:extLst>
              <a:ext uri="{FF2B5EF4-FFF2-40B4-BE49-F238E27FC236}">
                <a16:creationId xmlns:a16="http://schemas.microsoft.com/office/drawing/2014/main" id="{CBB39316-0B9B-AC28-B9F9-D76D251744F7}"/>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1425547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solidFill>
        <a:effectLst/>
      </p:bgPr>
    </p:bg>
    <p:spTree>
      <p:nvGrpSpPr>
        <p:cNvPr id="1" name=""/>
        <p:cNvGrpSpPr/>
        <p:nvPr/>
      </p:nvGrpSpPr>
      <p:grpSpPr>
        <a:xfrm>
          <a:off x="0" y="0"/>
          <a:ext cx="0" cy="0"/>
          <a:chOff x="0" y="0"/>
          <a:chExt cx="0" cy="0"/>
        </a:xfrm>
      </p:grpSpPr>
      <p:pic>
        <p:nvPicPr>
          <p:cNvPr id="4" name="Grafik 13">
            <a:extLst>
              <a:ext uri="{FF2B5EF4-FFF2-40B4-BE49-F238E27FC236}">
                <a16:creationId xmlns:a16="http://schemas.microsoft.com/office/drawing/2014/main" id="{5A766D3D-C15A-EE82-7498-75239FD227D7}"/>
              </a:ext>
            </a:extLst>
          </p:cNvPr>
          <p:cNvPicPr>
            <a:picLocks noChangeAspect="1"/>
          </p:cNvPicPr>
          <p:nvPr userDrawn="1"/>
        </p:nvPicPr>
        <p:blipFill rotWithShape="1">
          <a:blip r:embed="rId2"/>
          <a:srcRect/>
          <a:stretch>
            <a:fillRect/>
          </a:stretch>
        </p:blipFill>
        <p:spPr>
          <a:xfrm>
            <a:off x="0" y="270"/>
            <a:ext cx="12210089" cy="6857460"/>
          </a:xfrm>
          <a:prstGeom prst="rect">
            <a:avLst/>
          </a:prstGeom>
        </p:spPr>
      </p:pic>
      <p:sp>
        <p:nvSpPr>
          <p:cNvPr id="5" name="Rechteck">
            <a:extLst>
              <a:ext uri="{FF2B5EF4-FFF2-40B4-BE49-F238E27FC236}">
                <a16:creationId xmlns:a16="http://schemas.microsoft.com/office/drawing/2014/main" id="{9E77F99A-7C99-D1E4-541B-7B0C866691E7}"/>
              </a:ext>
            </a:extLst>
          </p:cNvPr>
          <p:cNvSpPr>
            <a:spLocks/>
          </p:cNvSpPr>
          <p:nvPr userDrawn="1"/>
        </p:nvSpPr>
        <p:spPr>
          <a:xfrm>
            <a:off x="0" y="270"/>
            <a:ext cx="12210089" cy="6858000"/>
          </a:xfrm>
          <a:prstGeom prst="rect">
            <a:avLst/>
          </a:prstGeom>
          <a:solidFill>
            <a:srgbClr val="000000">
              <a:alpha val="55000"/>
            </a:srgbClr>
          </a:solidFill>
          <a:ln w="12700">
            <a:miter lim="400000"/>
          </a:ln>
        </p:spPr>
        <p:txBody>
          <a:bodyPr lIns="50800" tIns="50800" rIns="50800" bIns="50800" anchor="ctr"/>
          <a:lstStyle/>
          <a:p>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white">
          <a:xfrm>
            <a:off x="373063" y="373063"/>
            <a:ext cx="11447462" cy="830997"/>
          </a:xfrm>
        </p:spPr>
        <p:txBody>
          <a:bodyPr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27" name="Group 26">
            <a:extLst>
              <a:ext uri="{FF2B5EF4-FFF2-40B4-BE49-F238E27FC236}">
                <a16:creationId xmlns:a16="http://schemas.microsoft.com/office/drawing/2014/main" id="{010968A5-41FD-32D2-7F90-0191942485BD}"/>
              </a:ext>
            </a:extLst>
          </p:cNvPr>
          <p:cNvGrpSpPr/>
          <p:nvPr userDrawn="1"/>
        </p:nvGrpSpPr>
        <p:grpSpPr>
          <a:xfrm>
            <a:off x="6597756" y="2225331"/>
            <a:ext cx="5088778" cy="4811136"/>
            <a:chOff x="6597756" y="2225331"/>
            <a:chExt cx="5088778" cy="4811136"/>
          </a:xfrm>
        </p:grpSpPr>
        <p:sp>
          <p:nvSpPr>
            <p:cNvPr id="25" name="Freeform: Shape 24">
              <a:extLst>
                <a:ext uri="{FF2B5EF4-FFF2-40B4-BE49-F238E27FC236}">
                  <a16:creationId xmlns:a16="http://schemas.microsoft.com/office/drawing/2014/main" id="{68D77FE9-CC05-6AC2-F340-3D2327F4A3FC}"/>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1E88DBC-A094-B4D9-2C59-BF333ADBB76D}"/>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F4FFC34-2C72-F723-1336-00BE70E9810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25911519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laceholder">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E8476C-3A63-D1D8-D079-F3F9989CAAAC}"/>
              </a:ext>
            </a:extLst>
          </p:cNvPr>
          <p:cNvGraphicFramePr>
            <a:graphicFrameLocks noChangeAspect="1"/>
          </p:cNvGraphicFramePr>
          <p:nvPr userDrawn="1">
            <p:custDataLst>
              <p:tags r:id="rId1"/>
            </p:custDataLst>
            <p:extLst>
              <p:ext uri="{D42A27DB-BD31-4B8C-83A1-F6EECF244321}">
                <p14:modId xmlns:p14="http://schemas.microsoft.com/office/powerpoint/2010/main" val="3619410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4AE8476C-3A63-D1D8-D079-F3F9989CAA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Freeform: Shape 23">
            <a:extLst>
              <a:ext uri="{FF2B5EF4-FFF2-40B4-BE49-F238E27FC236}">
                <a16:creationId xmlns:a16="http://schemas.microsoft.com/office/drawing/2014/main" id="{D3002B38-5B80-698E-BB6F-26F6D80F0006}"/>
              </a:ext>
            </a:extLst>
          </p:cNvPr>
          <p:cNvSpPr>
            <a:spLocks/>
          </p:cNvSpPr>
          <p:nvPr userDrawn="1"/>
        </p:nvSpPr>
        <p:spPr bwMode="blackWhite">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a:solidFill>
            <a:srgbClr val="000000">
              <a:alpha val="55000"/>
            </a:srgbClr>
          </a:solidFill>
          <a:ln w="12700">
            <a:miter lim="400000"/>
          </a:ln>
        </p:spPr>
        <p:txBody>
          <a:bodyPr wrap="square" lIns="50800" tIns="50800" rIns="50800" bIns="50800" anchor="ctr">
            <a:noAutofit/>
          </a:bodyPr>
          <a:lstStyle/>
          <a:p>
            <a:endParaRPr lang="en-US" dirty="0">
              <a:latin typeface="Arial" panose="020B0604020202020204" pitchFamily="34" charset="0"/>
              <a:cs typeface="Arial" panose="020B0604020202020204" pitchFamily="34" charset="0"/>
            </a:endParaRPr>
          </a:p>
        </p:txBody>
      </p:sp>
      <p:sp>
        <p:nvSpPr>
          <p:cNvPr id="26" name="Picture Placeholder 25">
            <a:extLst>
              <a:ext uri="{FF2B5EF4-FFF2-40B4-BE49-F238E27FC236}">
                <a16:creationId xmlns:a16="http://schemas.microsoft.com/office/drawing/2014/main" id="{8E65CE29-609E-F244-9891-05422282413A}"/>
              </a:ext>
            </a:extLst>
          </p:cNvPr>
          <p:cNvSpPr>
            <a:spLocks noGrp="1"/>
          </p:cNvSpPr>
          <p:nvPr>
            <p:ph type="pic" sz="quarter" idx="12"/>
          </p:nvPr>
        </p:nvSpPr>
        <p:spPr>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p:spPr>
        <p:txBody>
          <a:bodyPr wrap="square">
            <a:noAutofit/>
          </a:bodyPr>
          <a:lstStyle/>
          <a:p>
            <a:r>
              <a:rPr lang="de-DE"/>
              <a:t>Bild durch Klicken auf Symbol hinzufügen</a:t>
            </a:r>
            <a:endParaRPr lang="en-US"/>
          </a:p>
        </p:txBody>
      </p:sp>
      <p:sp>
        <p:nvSpPr>
          <p:cNvPr id="11" name="Rechteck 12">
            <a:extLst>
              <a:ext uri="{FF2B5EF4-FFF2-40B4-BE49-F238E27FC236}">
                <a16:creationId xmlns:a16="http://schemas.microsoft.com/office/drawing/2014/main" id="{DBB08617-5AF7-C3FE-29A0-1802E616C95A}"/>
              </a:ext>
            </a:extLst>
          </p:cNvPr>
          <p:cNvSpPr>
            <a:spLocks/>
          </p:cNvSpPr>
          <p:nvPr userDrawn="1"/>
        </p:nvSpPr>
        <p:spPr>
          <a:xfrm>
            <a:off x="-2488502" y="-1"/>
            <a:ext cx="2298700" cy="5367867"/>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Please use images from this folder:</a:t>
            </a:r>
            <a:br>
              <a:rPr lang="en-US" sz="1200" dirty="0">
                <a:solidFill>
                  <a:schemeClr val="tx1"/>
                </a:solidFill>
                <a:latin typeface="Arial" panose="020B0604020202020204" pitchFamily="34" charset="0"/>
                <a:cs typeface="Arial" panose="020B0604020202020204" pitchFamily="34" charset="0"/>
              </a:rPr>
            </a:b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 Background Images </a:t>
            </a:r>
            <a:r>
              <a:rPr lang="en-US" sz="1200" b="1" dirty="0" err="1">
                <a:solidFill>
                  <a:schemeClr val="tx1"/>
                </a:solidFill>
                <a:latin typeface="Arial" panose="020B0604020202020204" pitchFamily="34" charset="0"/>
                <a:cs typeface="Arial" panose="020B0604020202020204" pitchFamily="34" charset="0"/>
              </a:rPr>
              <a:t>sw</a:t>
            </a:r>
            <a:r>
              <a:rPr lang="en-US" sz="1200" b="1" dirty="0">
                <a:solidFill>
                  <a:schemeClr val="tx1"/>
                </a:solidFill>
                <a:latin typeface="Arial" panose="020B0604020202020204" pitchFamily="34" charset="0"/>
                <a:cs typeface="Arial" panose="020B0604020202020204" pitchFamily="34" charset="0"/>
              </a:rPr>
              <a:t> 1920x1080</a:t>
            </a:r>
            <a:r>
              <a:rPr lang="en-US" sz="1200" dirty="0">
                <a:solidFill>
                  <a:schemeClr val="tx1"/>
                </a:solidFill>
                <a:latin typeface="Arial" panose="020B0604020202020204" pitchFamily="34" charset="0"/>
                <a:cs typeface="Arial" panose="020B0604020202020204" pitchFamily="34" charset="0"/>
              </a:rPr>
              <a:t>.</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You can find this collection here:</a:t>
            </a:r>
            <a:br>
              <a:rPr lang="en-US" sz="1200" dirty="0">
                <a:solidFill>
                  <a:schemeClr val="tx1"/>
                </a:solidFill>
                <a:latin typeface="Arial" panose="020B0604020202020204" pitchFamily="34" charset="0"/>
                <a:cs typeface="Arial" panose="020B0604020202020204" pitchFamily="34" charset="0"/>
              </a:rPr>
            </a:br>
            <a:r>
              <a:rPr lang="en-US" sz="1200" b="1" dirty="0">
                <a:solidFill>
                  <a:schemeClr val="tx1"/>
                </a:solidFill>
                <a:latin typeface="Arial" panose="020B0604020202020204" pitchFamily="34" charset="0"/>
                <a:cs typeface="Arial" panose="020B0604020202020204" pitchFamily="34" charset="0"/>
              </a:rPr>
              <a:t>Intranet – About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 Company Facts –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a:t>
            </a:r>
          </a:p>
          <a:p>
            <a:pPr>
              <a:spcAft>
                <a:spcPts val="300"/>
              </a:spcAft>
            </a:pPr>
            <a:endParaRPr lang="en-US" sz="1200" b="1" dirty="0">
              <a:solidFill>
                <a:schemeClr val="tx1"/>
              </a:solidFill>
              <a:latin typeface="Arial" panose="020B0604020202020204" pitchFamily="34" charset="0"/>
              <a:cs typeface="Arial" panose="020B0604020202020204" pitchFamily="34" charset="0"/>
            </a:endParaRPr>
          </a:p>
          <a:p>
            <a:pPr>
              <a:spcAft>
                <a:spcPts val="600"/>
              </a:spcAft>
            </a:pPr>
            <a:r>
              <a:rPr lang="en-US" sz="1200" dirty="0"/>
              <a:t>If you use the </a:t>
            </a:r>
            <a:r>
              <a:rPr lang="en-US" sz="1200" b="1" dirty="0"/>
              <a:t>title slide with the image placeholder</a:t>
            </a:r>
            <a:r>
              <a:rPr lang="en-US" sz="1200" dirty="0"/>
              <a:t>, please insert your image </a:t>
            </a:r>
            <a:br>
              <a:rPr lang="en-US" sz="1200" dirty="0"/>
            </a:br>
            <a:r>
              <a:rPr lang="en-US" sz="1200" dirty="0"/>
              <a:t>and set its </a:t>
            </a:r>
            <a:r>
              <a:rPr lang="en-US" sz="1200" b="1" dirty="0"/>
              <a:t>transparency</a:t>
            </a:r>
            <a:r>
              <a:rPr lang="en-US" sz="1200" dirty="0"/>
              <a:t> to </a:t>
            </a:r>
            <a:r>
              <a:rPr lang="en-US" sz="1200" b="1" dirty="0"/>
              <a:t>50%</a:t>
            </a:r>
            <a:r>
              <a:rPr lang="en-US" sz="1200" dirty="0"/>
              <a:t> </a:t>
            </a:r>
          </a:p>
          <a:p>
            <a:pPr>
              <a:spcAft>
                <a:spcPts val="600"/>
              </a:spcAft>
            </a:pPr>
            <a:r>
              <a:rPr lang="en-US" sz="1200" dirty="0"/>
              <a:t>(Picture Format → </a:t>
            </a:r>
            <a:br>
              <a:rPr lang="en-US" sz="1200" dirty="0"/>
            </a:br>
            <a:r>
              <a:rPr lang="en-US" sz="1200" dirty="0"/>
              <a:t>Picture Transparency → 50%).</a:t>
            </a:r>
          </a:p>
          <a:p>
            <a:pPr>
              <a:spcAft>
                <a:spcPts val="600"/>
              </a:spcAft>
            </a:pPr>
            <a:r>
              <a:rPr lang="en-US" sz="1200" dirty="0"/>
              <a:t>When using this slide, inserting an image is mandatory – do not use the black background.</a:t>
            </a:r>
            <a:endParaRPr lang="en-US" sz="1200" b="1" dirty="0"/>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blackWhite">
          <a:xfrm>
            <a:off x="373063" y="373063"/>
            <a:ext cx="11447462" cy="830997"/>
          </a:xfrm>
        </p:spPr>
        <p:txBody>
          <a:bodyPr vert="horz"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black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black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black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black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19" name="Group 18">
            <a:extLst>
              <a:ext uri="{FF2B5EF4-FFF2-40B4-BE49-F238E27FC236}">
                <a16:creationId xmlns:a16="http://schemas.microsoft.com/office/drawing/2014/main" id="{07520C57-5E5D-DB50-3769-4784B35DE6AE}"/>
              </a:ext>
            </a:extLst>
          </p:cNvPr>
          <p:cNvGrpSpPr>
            <a:grpSpLocks/>
          </p:cNvGrpSpPr>
          <p:nvPr userDrawn="1"/>
        </p:nvGrpSpPr>
        <p:grpSpPr>
          <a:xfrm>
            <a:off x="6597756" y="2225331"/>
            <a:ext cx="5088778" cy="4811136"/>
            <a:chOff x="6597756" y="2225331"/>
            <a:chExt cx="5088778" cy="4811136"/>
          </a:xfrm>
        </p:grpSpPr>
        <p:sp>
          <p:nvSpPr>
            <p:cNvPr id="20" name="Freeform: Shape 19">
              <a:extLst>
                <a:ext uri="{FF2B5EF4-FFF2-40B4-BE49-F238E27FC236}">
                  <a16:creationId xmlns:a16="http://schemas.microsoft.com/office/drawing/2014/main" id="{6F32EA48-1DF4-3D3A-5586-7E84648EA4D7}"/>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4A9AD83-0ACC-5A60-B880-53E7D831B0B7}"/>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475815D-A84D-8187-CE2C-EBE4C33CA93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1291707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divider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178A092-4712-C262-2FCB-E37DDCD7F55F}"/>
              </a:ext>
            </a:extLst>
          </p:cNvPr>
          <p:cNvGraphicFramePr>
            <a:graphicFrameLocks noChangeAspect="1"/>
          </p:cNvGraphicFramePr>
          <p:nvPr userDrawn="1">
            <p:custDataLst>
              <p:tags r:id="rId1"/>
            </p:custDataLst>
            <p:extLst>
              <p:ext uri="{D42A27DB-BD31-4B8C-83A1-F6EECF244321}">
                <p14:modId xmlns:p14="http://schemas.microsoft.com/office/powerpoint/2010/main" val="573702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2178A092-4712-C262-2FCB-E37DDCD7F5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498598"/>
          </a:xfrm>
        </p:spPr>
        <p:txBody>
          <a:bodyPr vert="horz" lIns="0" tIns="0" rIns="0" bIns="0" anchor="t">
            <a:spAutoFit/>
          </a:bodyPr>
          <a:lstStyle>
            <a:lvl1pPr algn="l">
              <a:defRPr sz="3500">
                <a:solidFill>
                  <a:schemeClr val="tx1"/>
                </a:solidFill>
                <a:latin typeface="+mj-lt"/>
              </a:defRPr>
            </a:lvl1pPr>
          </a:lstStyle>
          <a:p>
            <a:r>
              <a:rPr lang="en-US" dirty="0"/>
              <a:t>Chapter title</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pic>
        <p:nvPicPr>
          <p:cNvPr id="9" name="Grafik 8">
            <a:extLst>
              <a:ext uri="{FF2B5EF4-FFF2-40B4-BE49-F238E27FC236}">
                <a16:creationId xmlns:a16="http://schemas.microsoft.com/office/drawing/2014/main" id="{66F77653-073C-6AA9-DAB2-02927701D10B}"/>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420044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text list white backgroun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BF1462E-821F-E0BE-6720-CB0771694BAA}"/>
              </a:ext>
            </a:extLst>
          </p:cNvPr>
          <p:cNvGraphicFramePr>
            <a:graphicFrameLocks noChangeAspect="1"/>
          </p:cNvGraphicFramePr>
          <p:nvPr userDrawn="1">
            <p:custDataLst>
              <p:tags r:id="rId1"/>
            </p:custDataLst>
            <p:extLst>
              <p:ext uri="{D42A27DB-BD31-4B8C-83A1-F6EECF244321}">
                <p14:modId xmlns:p14="http://schemas.microsoft.com/office/powerpoint/2010/main" val="31754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ABF1462E-821F-E0BE-6720-CB0771694B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1200"/>
              </a:spcAft>
              <a:buClr>
                <a:schemeClr val="tx2"/>
              </a:buClr>
              <a:buFont typeface="+mj-lt"/>
              <a:buAutoNum type="arabicPeriod"/>
              <a:defRPr/>
            </a:lvl1pPr>
          </a:lstStyle>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spcAft>
                <a:spcPts val="0"/>
              </a:spcAft>
              <a:buNone/>
              <a:defRPr sz="900"/>
            </a:lvl1pPr>
            <a:lvl2pPr marL="0" indent="0">
              <a:spcAft>
                <a:spcPts val="0"/>
              </a:spcAft>
              <a:buNone/>
              <a:defRPr sz="900"/>
            </a:lvl2pPr>
            <a:lvl3pPr marL="0" indent="0">
              <a:spcAft>
                <a:spcPts val="0"/>
              </a:spcAft>
              <a:buNone/>
              <a:defRPr sz="900"/>
            </a:lvl3pPr>
            <a:lvl4pPr marL="0" indent="0">
              <a:spcAft>
                <a:spcPts val="0"/>
              </a:spcAft>
              <a:buNone/>
              <a:defRPr sz="900"/>
            </a:lvl4pPr>
            <a:lvl5pPr marL="0" indent="0">
              <a:spcAft>
                <a:spcPts val="0"/>
              </a:spcAft>
              <a:buNone/>
              <a:defRPr sz="900"/>
            </a:lvl5pPr>
            <a:lvl6pPr marL="0" indent="0">
              <a:spcAft>
                <a:spcPts val="0"/>
              </a:spcAft>
              <a:buNone/>
              <a:defRPr sz="900"/>
            </a:lvl6pPr>
            <a:lvl7pPr marL="0" indent="0">
              <a:spcAft>
                <a:spcPts val="0"/>
              </a:spcAft>
              <a:buNone/>
              <a:defRPr sz="900"/>
            </a:lvl7pPr>
            <a:lvl8pPr marL="0" indent="0">
              <a:spcAft>
                <a:spcPts val="0"/>
              </a:spcAft>
              <a:buNone/>
              <a:defRPr sz="900"/>
            </a:lvl8pPr>
            <a:lvl9pPr marL="0" indent="0">
              <a:spcAft>
                <a:spcPts val="0"/>
              </a:spcAft>
              <a:buNone/>
              <a:defRPr sz="900"/>
            </a:lvl9pPr>
          </a:lstStyle>
          <a:p>
            <a:pPr marL="0" lvl="0"/>
            <a:r>
              <a:rPr lang="en-US" dirty="0"/>
              <a:t>Please add chapter title</a:t>
            </a:r>
            <a:endParaRPr lang="en-US" sz="900" dirty="0"/>
          </a:p>
        </p:txBody>
      </p:sp>
    </p:spTree>
    <p:extLst>
      <p:ext uri="{BB962C8B-B14F-4D97-AF65-F5344CB8AC3E}">
        <p14:creationId xmlns:p14="http://schemas.microsoft.com/office/powerpoint/2010/main" val="2922386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text list grey background">
    <p:bg>
      <p:bgPr>
        <a:solidFill>
          <a:schemeClr val="bg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2A970C-00C3-B51C-45CA-D053C2244486}"/>
              </a:ext>
            </a:extLst>
          </p:cNvPr>
          <p:cNvGraphicFramePr>
            <a:graphicFrameLocks noChangeAspect="1"/>
          </p:cNvGraphicFramePr>
          <p:nvPr userDrawn="1">
            <p:custDataLst>
              <p:tags r:id="rId1"/>
            </p:custDataLst>
            <p:extLst>
              <p:ext uri="{D42A27DB-BD31-4B8C-83A1-F6EECF244321}">
                <p14:modId xmlns:p14="http://schemas.microsoft.com/office/powerpoint/2010/main" val="106227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242A970C-00C3-B51C-45CA-D053C22444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600"/>
              </a:spcAft>
              <a:buClr>
                <a:schemeClr val="tx2"/>
              </a:buClr>
              <a:buFont typeface="+mj-lt"/>
              <a:buAutoNum type="arabicPeriod"/>
              <a:defRPr lang="en-US" sz="1800" kern="1200" dirty="0">
                <a:solidFill>
                  <a:schemeClr val="tx1"/>
                </a:solidFill>
                <a:latin typeface="+mn-lt"/>
                <a:ea typeface="+mn-ea"/>
                <a:cs typeface="+mn-cs"/>
              </a:defRPr>
            </a:lvl1pPr>
          </a:lstStyle>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lang="en-US" sz="900" kern="1200" dirty="0" smtClean="0">
                <a:solidFill>
                  <a:schemeClr val="tx1"/>
                </a:solidFill>
                <a:latin typeface="+mn-lt"/>
                <a:ea typeface="+mn-ea"/>
                <a:cs typeface="+mn-cs"/>
              </a:defRPr>
            </a:lvl2pPr>
            <a:lvl3pPr marL="0" indent="0">
              <a:buNone/>
              <a:defRPr lang="en-US" sz="900" kern="1200" dirty="0" smtClean="0">
                <a:solidFill>
                  <a:schemeClr val="tx1"/>
                </a:solidFill>
                <a:latin typeface="+mn-lt"/>
                <a:ea typeface="+mn-ea"/>
                <a:cs typeface="+mn-cs"/>
              </a:defRPr>
            </a:lvl3pPr>
            <a:lvl4pPr marL="0" indent="0">
              <a:buNone/>
              <a:defRPr lang="en-US" sz="900" kern="1200" dirty="0" smtClean="0">
                <a:solidFill>
                  <a:schemeClr val="tx1"/>
                </a:solidFill>
                <a:latin typeface="+mn-lt"/>
                <a:ea typeface="+mn-ea"/>
                <a:cs typeface="+mn-cs"/>
              </a:defRPr>
            </a:lvl4pPr>
            <a:lvl5pPr marL="0" indent="0">
              <a:buNone/>
              <a:defRPr lang="en-US" sz="900" kern="1200" dirty="0" smtClean="0">
                <a:solidFill>
                  <a:schemeClr val="tx1"/>
                </a:solidFill>
                <a:latin typeface="+mn-lt"/>
                <a:ea typeface="+mn-ea"/>
                <a:cs typeface="+mn-cs"/>
              </a:defRPr>
            </a:lvl5pPr>
            <a:lvl6pPr marL="0" indent="0">
              <a:buNone/>
              <a:defRPr lang="en-US" sz="900" kern="1200" dirty="0" smtClean="0">
                <a:solidFill>
                  <a:schemeClr val="tx1"/>
                </a:solidFill>
                <a:latin typeface="+mn-lt"/>
                <a:ea typeface="+mn-ea"/>
                <a:cs typeface="+mn-cs"/>
              </a:defRPr>
            </a:lvl6pPr>
            <a:lvl7pPr marL="0" indent="0">
              <a:buNone/>
              <a:defRPr lang="en-US" sz="900" kern="1200" dirty="0" smtClean="0">
                <a:solidFill>
                  <a:schemeClr val="tx1"/>
                </a:solidFill>
                <a:latin typeface="+mn-lt"/>
                <a:ea typeface="+mn-ea"/>
                <a:cs typeface="+mn-cs"/>
              </a:defRPr>
            </a:lvl7pPr>
            <a:lvl8pPr marL="0" indent="0">
              <a:buNone/>
              <a:defRPr lang="en-US" sz="900" kern="1200" dirty="0" smtClean="0">
                <a:solidFill>
                  <a:schemeClr val="tx1"/>
                </a:solidFill>
                <a:latin typeface="+mn-lt"/>
                <a:ea typeface="+mn-ea"/>
                <a:cs typeface="+mn-cs"/>
              </a:defRPr>
            </a:lvl8pPr>
            <a:lvl9pPr marL="0" indent="0">
              <a:buNone/>
              <a:defRPr lang="en-US" sz="900" kern="1200" dirty="0">
                <a:solidFill>
                  <a:schemeClr val="tx1"/>
                </a:solidFill>
                <a:latin typeface="+mn-lt"/>
                <a:ea typeface="+mn-ea"/>
                <a:cs typeface="+mn-cs"/>
              </a:defRPr>
            </a:lvl9pPr>
          </a:lstStyle>
          <a:p>
            <a:pPr lvl="0"/>
            <a:r>
              <a:rPr lang="en-US" dirty="0"/>
              <a:t>Please add chapter title</a:t>
            </a:r>
          </a:p>
        </p:txBody>
      </p:sp>
    </p:spTree>
    <p:extLst>
      <p:ext uri="{BB962C8B-B14F-4D97-AF65-F5344CB8AC3E}">
        <p14:creationId xmlns:p14="http://schemas.microsoft.com/office/powerpoint/2010/main" val="224190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dirty="0"/>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Tree>
    <p:extLst>
      <p:ext uri="{BB962C8B-B14F-4D97-AF65-F5344CB8AC3E}">
        <p14:creationId xmlns:p14="http://schemas.microsoft.com/office/powerpoint/2010/main" val="132963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bullet points on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493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bullet points on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391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bullet points two column white background">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40A459E-5386-0A57-4541-79BDC3011258}"/>
              </a:ext>
            </a:extLst>
          </p:cNvPr>
          <p:cNvGraphicFramePr>
            <a:graphicFrameLocks noChangeAspect="1"/>
          </p:cNvGraphicFramePr>
          <p:nvPr userDrawn="1">
            <p:custDataLst>
              <p:tags r:id="rId1"/>
            </p:custDataLst>
            <p:extLst>
              <p:ext uri="{D42A27DB-BD31-4B8C-83A1-F6EECF244321}">
                <p14:modId xmlns:p14="http://schemas.microsoft.com/office/powerpoint/2010/main" val="3607624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8" name="think-cell data - do not delete" hidden="1">
                        <a:extLst>
                          <a:ext uri="{FF2B5EF4-FFF2-40B4-BE49-F238E27FC236}">
                            <a16:creationId xmlns:a16="http://schemas.microsoft.com/office/drawing/2014/main" id="{340A459E-5386-0A57-4541-79BDC30112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lgn="l">
              <a:buNone/>
              <a:defRPr sz="900"/>
            </a:lvl2pPr>
            <a:lvl3pPr marL="0" indent="0" algn="l">
              <a:buNone/>
              <a:defRPr sz="900"/>
            </a:lvl3pPr>
            <a:lvl4pPr marL="0" indent="0" algn="l">
              <a:buNone/>
              <a:defRPr sz="900"/>
            </a:lvl4pPr>
            <a:lvl5pPr marL="0" indent="0" algn="l">
              <a:buNone/>
              <a:defRPr sz="900"/>
            </a:lvl5pPr>
            <a:lvl6pPr marL="0" indent="0" algn="l">
              <a:buNone/>
              <a:defRPr sz="900"/>
            </a:lvl6pPr>
            <a:lvl7pPr marL="0" indent="0" algn="l">
              <a:buNone/>
              <a:defRPr sz="900"/>
            </a:lvl7pPr>
            <a:lvl8pPr marL="0" indent="0" algn="l">
              <a:buNone/>
              <a:defRPr sz="900"/>
            </a:lvl8pPr>
            <a:lvl9pPr marL="0" indent="0" algn="l">
              <a:buNone/>
              <a:defRPr sz="900"/>
            </a:lvl9pPr>
          </a:lstStyle>
          <a:p>
            <a:pPr lvl="0"/>
            <a:r>
              <a:rPr lang="en-US" dirty="0"/>
              <a:t>Please add chapter title</a:t>
            </a:r>
          </a:p>
        </p:txBody>
      </p:sp>
    </p:spTree>
    <p:extLst>
      <p:ext uri="{BB962C8B-B14F-4D97-AF65-F5344CB8AC3E}">
        <p14:creationId xmlns:p14="http://schemas.microsoft.com/office/powerpoint/2010/main" val="335859144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ullet points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5543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two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389353598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252147367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bullet points thre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698579"/>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ullet points thre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4515023"/>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ullet points four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7969"/>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bullet points four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8772003"/>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left image right half side white background">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9BCE1AC-B81E-618D-B379-D9F69D09E522}"/>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415794182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left image right half side grey background">
    <p:bg>
      <p:bgPr>
        <a:solidFill>
          <a:schemeClr val="bg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F6284A0-22D9-A809-F02A-EBC9F8A1F3C4}"/>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1447631483"/>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full slide white background">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328954435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full slide grey background">
    <p:bg>
      <p:bgPr>
        <a:solidFill>
          <a:schemeClr val="bg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77768352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fullscreen">
    <p:bg>
      <p:bgPr>
        <a:solidFill>
          <a:schemeClr val="bg1"/>
        </a:soli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2EB5264C-2D5D-9574-27AF-D173FAE112A0}"/>
              </a:ext>
            </a:extLst>
          </p:cNvPr>
          <p:cNvSpPr>
            <a:spLocks noGrp="1"/>
          </p:cNvSpPr>
          <p:nvPr>
            <p:ph type="pic" sz="quarter" idx="19"/>
          </p:nvPr>
        </p:nvSpPr>
        <p:spPr>
          <a:xfrm>
            <a:off x="0" y="0"/>
            <a:ext cx="12192000" cy="6858000"/>
          </a:xfrm>
          <a:custGeom>
            <a:avLst/>
            <a:gdLst>
              <a:gd name="connsiteX0" fmla="*/ 11588297 w 12192000"/>
              <a:gd name="connsiteY0" fmla="*/ 6482964 h 6858000"/>
              <a:gd name="connsiteX1" fmla="*/ 11588297 w 12192000"/>
              <a:gd name="connsiteY1" fmla="*/ 6621463 h 6858000"/>
              <a:gd name="connsiteX2" fmla="*/ 11604172 w 12192000"/>
              <a:gd name="connsiteY2" fmla="*/ 6621463 h 6858000"/>
              <a:gd name="connsiteX3" fmla="*/ 11604172 w 12192000"/>
              <a:gd name="connsiteY3" fmla="*/ 6482964 h 6858000"/>
              <a:gd name="connsiteX4" fmla="*/ 625138 w 12192000"/>
              <a:gd name="connsiteY4" fmla="*/ 6253686 h 6858000"/>
              <a:gd name="connsiteX5" fmla="*/ 373138 w 12192000"/>
              <a:gd name="connsiteY5" fmla="*/ 6505686 h 6858000"/>
              <a:gd name="connsiteX6" fmla="*/ 625138 w 12192000"/>
              <a:gd name="connsiteY6" fmla="*/ 6757686 h 6858000"/>
              <a:gd name="connsiteX7" fmla="*/ 877138 w 12192000"/>
              <a:gd name="connsiteY7" fmla="*/ 6505686 h 6858000"/>
              <a:gd name="connsiteX8" fmla="*/ 625138 w 12192000"/>
              <a:gd name="connsiteY8" fmla="*/ 6253686 h 6858000"/>
              <a:gd name="connsiteX9" fmla="*/ 0 w 12192000"/>
              <a:gd name="connsiteY9" fmla="*/ 0 h 6858000"/>
              <a:gd name="connsiteX10" fmla="*/ 12192000 w 12192000"/>
              <a:gd name="connsiteY10" fmla="*/ 0 h 6858000"/>
              <a:gd name="connsiteX11" fmla="*/ 12192000 w 12192000"/>
              <a:gd name="connsiteY11" fmla="*/ 6858000 h 6858000"/>
              <a:gd name="connsiteX12" fmla="*/ 0 w 12192000"/>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8000">
                <a:moveTo>
                  <a:pt x="11588297" y="6482964"/>
                </a:moveTo>
                <a:lnTo>
                  <a:pt x="11588297" y="6621463"/>
                </a:lnTo>
                <a:lnTo>
                  <a:pt x="11604172" y="6621463"/>
                </a:lnTo>
                <a:lnTo>
                  <a:pt x="11604172" y="6482964"/>
                </a:lnTo>
                <a:close/>
                <a:moveTo>
                  <a:pt x="625138" y="6253686"/>
                </a:moveTo>
                <a:cubicBezTo>
                  <a:pt x="485797" y="6253686"/>
                  <a:pt x="373138" y="6366345"/>
                  <a:pt x="373138" y="6505686"/>
                </a:cubicBezTo>
                <a:cubicBezTo>
                  <a:pt x="373138" y="6645027"/>
                  <a:pt x="485797" y="6757686"/>
                  <a:pt x="625138" y="6757686"/>
                </a:cubicBezTo>
                <a:cubicBezTo>
                  <a:pt x="764479" y="6757686"/>
                  <a:pt x="877138" y="6645027"/>
                  <a:pt x="877138" y="6505686"/>
                </a:cubicBezTo>
                <a:cubicBezTo>
                  <a:pt x="877138" y="6366345"/>
                  <a:pt x="764479" y="6253686"/>
                  <a:pt x="625138" y="6253686"/>
                </a:cubicBezTo>
                <a:close/>
                <a:moveTo>
                  <a:pt x="0" y="0"/>
                </a:moveTo>
                <a:lnTo>
                  <a:pt x="12192000" y="0"/>
                </a:lnTo>
                <a:lnTo>
                  <a:pt x="12192000" y="6858000"/>
                </a:lnTo>
                <a:lnTo>
                  <a:pt x="0" y="6858000"/>
                </a:lnTo>
                <a:close/>
              </a:path>
            </a:pathLst>
          </a:custGeom>
          <a:blipFill>
            <a:blip r:embed="rId2"/>
            <a:stretch>
              <a:fillRect/>
            </a:stretch>
          </a:blipFill>
        </p:spPr>
        <p:txBody>
          <a:bodyPr wrap="square">
            <a:noAutofit/>
          </a:bodyPr>
          <a:lstStyle>
            <a:lvl1pPr>
              <a:defRPr/>
            </a:lvl1pPr>
          </a:lstStyle>
          <a:p>
            <a:r>
              <a:rPr lang="de-DE"/>
              <a:t>Bild durch Klicken auf Symbol hinzufügen</a:t>
            </a:r>
            <a:endParaRPr lang="en-US" dirty="0"/>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
        <p:nvSpPr>
          <p:cNvPr id="2" name="Title 1">
            <a:extLst>
              <a:ext uri="{FF2B5EF4-FFF2-40B4-BE49-F238E27FC236}">
                <a16:creationId xmlns:a16="http://schemas.microsoft.com/office/drawing/2014/main" id="{BFD25581-4362-FB11-A968-6293542D65A8}"/>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6" name="Text Placeholder 6">
            <a:extLst>
              <a:ext uri="{FF2B5EF4-FFF2-40B4-BE49-F238E27FC236}">
                <a16:creationId xmlns:a16="http://schemas.microsoft.com/office/drawing/2014/main" id="{A0C27B7E-0F2A-81C0-7993-E73AB597F187}"/>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Tree>
    <p:extLst>
      <p:ext uri="{BB962C8B-B14F-4D97-AF65-F5344CB8AC3E}">
        <p14:creationId xmlns:p14="http://schemas.microsoft.com/office/powerpoint/2010/main" val="208070392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laceholder full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32653481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laceholder full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107974496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quot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3"/>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4075557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quot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2"/>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1783407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D7FE9896-5211-23DE-0A2A-059929C8D9CA}"/>
              </a:ext>
            </a:extLst>
          </p:cNvPr>
          <p:cNvGraphicFramePr>
            <a:graphicFrameLocks noChangeAspect="1"/>
          </p:cNvGraphicFramePr>
          <p:nvPr userDrawn="1">
            <p:custDataLst>
              <p:tags r:id="rId1"/>
            </p:custDataLst>
            <p:extLst>
              <p:ext uri="{D42A27DB-BD31-4B8C-83A1-F6EECF244321}">
                <p14:modId xmlns:p14="http://schemas.microsoft.com/office/powerpoint/2010/main" val="3004551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D7FE9896-5211-23DE-0A2A-059929C8D9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1384995"/>
          </a:xfrm>
        </p:spPr>
        <p:txBody>
          <a:bodyPr vert="horz" lIns="0" tIns="0" rIns="0" bIns="0" anchor="t">
            <a:spAutoFit/>
          </a:bodyPr>
          <a:lstStyle>
            <a:lvl1pPr algn="l">
              <a:defRPr sz="10000">
                <a:solidFill>
                  <a:schemeClr val="tx1"/>
                </a:solidFill>
                <a:latin typeface="+mj-lt"/>
              </a:defRPr>
            </a:lvl1pPr>
          </a:lstStyle>
          <a:p>
            <a:r>
              <a:rPr lang="en-US" dirty="0"/>
              <a:t>Thank you</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42050"/>
            <a:ext cx="4699000" cy="174625"/>
          </a:xfrm>
        </p:spPr>
        <p:txBody>
          <a:bodyPr lIns="0" tIns="0" rIns="0" bIns="0" anchor="b">
            <a:no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grpSp>
        <p:nvGrpSpPr>
          <p:cNvPr id="3" name="Group 2">
            <a:extLst>
              <a:ext uri="{FF2B5EF4-FFF2-40B4-BE49-F238E27FC236}">
                <a16:creationId xmlns:a16="http://schemas.microsoft.com/office/drawing/2014/main" id="{2A0F817F-E69A-891D-CC85-5FA713C72954}"/>
              </a:ext>
            </a:extLst>
          </p:cNvPr>
          <p:cNvGrpSpPr/>
          <p:nvPr userDrawn="1"/>
        </p:nvGrpSpPr>
        <p:grpSpPr bwMode="gray">
          <a:xfrm>
            <a:off x="6466690" y="2107484"/>
            <a:ext cx="5338938" cy="4959307"/>
            <a:chOff x="6466690" y="2107484"/>
            <a:chExt cx="5338938" cy="4959307"/>
          </a:xfrm>
        </p:grpSpPr>
        <p:sp>
          <p:nvSpPr>
            <p:cNvPr id="4" name="Freeform: Shape 3">
              <a:extLst>
                <a:ext uri="{FF2B5EF4-FFF2-40B4-BE49-F238E27FC236}">
                  <a16:creationId xmlns:a16="http://schemas.microsoft.com/office/drawing/2014/main" id="{0BAEAD06-A4AE-9AE9-9683-066F48BA476D}"/>
                </a:ext>
              </a:extLst>
            </p:cNvPr>
            <p:cNvSpPr>
              <a:spLocks/>
            </p:cNvSpPr>
            <p:nvPr userDrawn="1"/>
          </p:nvSpPr>
          <p:spPr bwMode="gray">
            <a:xfrm rot="21132644">
              <a:off x="6466690" y="2107484"/>
              <a:ext cx="5338938" cy="4959307"/>
            </a:xfrm>
            <a:custGeom>
              <a:avLst/>
              <a:gdLst>
                <a:gd name="connsiteX0" fmla="*/ 2942695 w 5338938"/>
                <a:gd name="connsiteY0" fmla="*/ 13764 h 4959307"/>
                <a:gd name="connsiteX1" fmla="*/ 5338938 w 5338938"/>
                <a:gd name="connsiteY1" fmla="*/ 2669470 h 4959307"/>
                <a:gd name="connsiteX2" fmla="*/ 4095493 w 5338938"/>
                <a:gd name="connsiteY2" fmla="*/ 4927456 h 4959307"/>
                <a:gd name="connsiteX3" fmla="*/ 4041196 w 5338938"/>
                <a:gd name="connsiteY3" fmla="*/ 4959307 h 4959307"/>
                <a:gd name="connsiteX4" fmla="*/ 735181 w 5338938"/>
                <a:gd name="connsiteY4" fmla="*/ 4507070 h 4959307"/>
                <a:gd name="connsiteX5" fmla="*/ 609013 w 5338938"/>
                <a:gd name="connsiteY5" fmla="*/ 4368228 h 4959307"/>
                <a:gd name="connsiteX6" fmla="*/ 1 w 5338938"/>
                <a:gd name="connsiteY6" fmla="*/ 2669470 h 4959307"/>
                <a:gd name="connsiteX7" fmla="*/ 2669469 w 5338938"/>
                <a:gd name="connsiteY7" fmla="*/ 1 h 4959307"/>
                <a:gd name="connsiteX8" fmla="*/ 2942695 w 5338938"/>
                <a:gd name="connsiteY8" fmla="*/ 13764 h 4959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8938" h="4959307">
                  <a:moveTo>
                    <a:pt x="2942695" y="13764"/>
                  </a:moveTo>
                  <a:cubicBezTo>
                    <a:pt x="4290042" y="150280"/>
                    <a:pt x="5338938" y="1285666"/>
                    <a:pt x="5338938" y="2669470"/>
                  </a:cubicBezTo>
                  <a:cubicBezTo>
                    <a:pt x="5338938" y="3620835"/>
                    <a:pt x="4843170" y="4454784"/>
                    <a:pt x="4095493" y="4927456"/>
                  </a:cubicBezTo>
                  <a:lnTo>
                    <a:pt x="4041196" y="4959307"/>
                  </a:lnTo>
                  <a:lnTo>
                    <a:pt x="735181" y="4507070"/>
                  </a:lnTo>
                  <a:lnTo>
                    <a:pt x="609013" y="4368228"/>
                  </a:lnTo>
                  <a:cubicBezTo>
                    <a:pt x="228427" y="3906920"/>
                    <a:pt x="0" y="3315245"/>
                    <a:pt x="1" y="2669470"/>
                  </a:cubicBezTo>
                  <a:cubicBezTo>
                    <a:pt x="0" y="1193413"/>
                    <a:pt x="1193413" y="0"/>
                    <a:pt x="2669469" y="1"/>
                  </a:cubicBezTo>
                  <a:cubicBezTo>
                    <a:pt x="2761723" y="1"/>
                    <a:pt x="2852872" y="4663"/>
                    <a:pt x="2942695" y="13764"/>
                  </a:cubicBezTo>
                  <a:close/>
                </a:path>
              </a:pathLst>
            </a:custGeom>
            <a:solidFill>
              <a:schemeClr val="bg1"/>
            </a:solidFill>
            <a:ln w="1748" cap="flat">
              <a:solidFill>
                <a:srgbClr val="FF6E00"/>
              </a:solid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FFE94909-5B35-59E7-12FF-2AC456D63924}"/>
                </a:ext>
              </a:extLst>
            </p:cNvPr>
            <p:cNvGrpSpPr>
              <a:grpSpLocks/>
            </p:cNvGrpSpPr>
            <p:nvPr userDrawn="1"/>
          </p:nvGrpSpPr>
          <p:grpSpPr bwMode="gray">
            <a:xfrm>
              <a:off x="6597756" y="2225331"/>
              <a:ext cx="5088778" cy="4811136"/>
              <a:chOff x="6597756" y="2225331"/>
              <a:chExt cx="5088778" cy="4811136"/>
            </a:xfrm>
          </p:grpSpPr>
          <p:sp>
            <p:nvSpPr>
              <p:cNvPr id="6" name="Freeform: Shape 5">
                <a:extLst>
                  <a:ext uri="{FF2B5EF4-FFF2-40B4-BE49-F238E27FC236}">
                    <a16:creationId xmlns:a16="http://schemas.microsoft.com/office/drawing/2014/main" id="{F3B259AE-A8F4-CD19-0A90-1579A649A368}"/>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51B03F1-E9B4-DAF1-36B2-7945759CD4DF}"/>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1FC8AC2-AE34-2A49-16F6-68483CB8918A}"/>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626424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70FB4C-14D3-D471-76FD-B83B18415E1E}"/>
              </a:ext>
            </a:extLst>
          </p:cNvPr>
          <p:cNvGraphicFramePr>
            <a:graphicFrameLocks noChangeAspect="1"/>
          </p:cNvGraphicFramePr>
          <p:nvPr userDrawn="1">
            <p:custDataLst>
              <p:tags r:id="rId30"/>
            </p:custDataLst>
            <p:extLst>
              <p:ext uri="{D42A27DB-BD31-4B8C-83A1-F6EECF244321}">
                <p14:modId xmlns:p14="http://schemas.microsoft.com/office/powerpoint/2010/main" val="4048454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1" imgW="473" imgH="473" progId="TCLayout.ActiveDocument.1">
                  <p:embed/>
                </p:oleObj>
              </mc:Choice>
              <mc:Fallback>
                <p:oleObj name="think-cell Folie" r:id="rId31" imgW="473" imgH="473" progId="TCLayout.ActiveDocument.1">
                  <p:embed/>
                  <p:pic>
                    <p:nvPicPr>
                      <p:cNvPr id="8" name="think-cell data - do not delete" hidden="1">
                        <a:extLst>
                          <a:ext uri="{FF2B5EF4-FFF2-40B4-BE49-F238E27FC236}">
                            <a16:creationId xmlns:a16="http://schemas.microsoft.com/office/drawing/2014/main" id="{E570FB4C-14D3-D471-76FD-B83B18415E1E}"/>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DD7D270-4A74-8FD0-3727-36351EE9E73F}"/>
              </a:ext>
            </a:extLst>
          </p:cNvPr>
          <p:cNvSpPr>
            <a:spLocks noGrp="1"/>
          </p:cNvSpPr>
          <p:nvPr>
            <p:ph type="title"/>
          </p:nvPr>
        </p:nvSpPr>
        <p:spPr>
          <a:xfrm>
            <a:off x="373063" y="650060"/>
            <a:ext cx="11447462" cy="553998"/>
          </a:xfrm>
          <a:prstGeom prst="rect">
            <a:avLst/>
          </a:prstGeom>
        </p:spPr>
        <p:txBody>
          <a:bodyPr vert="horz" lIns="0" tIns="0" rIns="0" bIns="0" rtlCol="0" anchor="t">
            <a:spAutoFit/>
          </a:bodyPr>
          <a:lstStyle/>
          <a:p>
            <a:r>
              <a:rPr lang="de-DE"/>
              <a:t>Mastertitelformat bearbeiten</a:t>
            </a:r>
            <a:endParaRPr lang="en-US" dirty="0"/>
          </a:p>
        </p:txBody>
      </p:sp>
      <p:sp>
        <p:nvSpPr>
          <p:cNvPr id="3" name="Text Placeholder 2">
            <a:extLst>
              <a:ext uri="{FF2B5EF4-FFF2-40B4-BE49-F238E27FC236}">
                <a16:creationId xmlns:a16="http://schemas.microsoft.com/office/drawing/2014/main" id="{70F023B7-7FA3-4C51-F71D-B66D0E5532CD}"/>
              </a:ext>
            </a:extLst>
          </p:cNvPr>
          <p:cNvSpPr>
            <a:spLocks noGrp="1"/>
          </p:cNvSpPr>
          <p:nvPr>
            <p:ph type="body" idx="1"/>
          </p:nvPr>
        </p:nvSpPr>
        <p:spPr>
          <a:xfrm>
            <a:off x="373063" y="1635126"/>
            <a:ext cx="11447462" cy="4573587"/>
          </a:xfrm>
          <a:prstGeom prst="rect">
            <a:avLst/>
          </a:prstGeom>
        </p:spPr>
        <p:txBody>
          <a:bodyPr vert="horz" lIns="0" tIns="0" rIns="0" bIns="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a:extLst>
              <a:ext uri="{FF2B5EF4-FFF2-40B4-BE49-F238E27FC236}">
                <a16:creationId xmlns:a16="http://schemas.microsoft.com/office/drawing/2014/main" id="{0C33F049-BC03-8E77-73DB-ECD8DE4B7193}"/>
              </a:ext>
            </a:extLst>
          </p:cNvPr>
          <p:cNvSpPr>
            <a:spLocks noGrp="1"/>
          </p:cNvSpPr>
          <p:nvPr>
            <p:ph type="dt" sz="half" idx="2"/>
          </p:nvPr>
        </p:nvSpPr>
        <p:spPr>
          <a:xfrm>
            <a:off x="10444922" y="6482964"/>
            <a:ext cx="1058860" cy="138499"/>
          </a:xfrm>
          <a:prstGeom prst="rect">
            <a:avLst/>
          </a:prstGeom>
        </p:spPr>
        <p:txBody>
          <a:bodyPr vert="horz" wrap="square" lIns="0" tIns="0" rIns="0" bIns="0" rtlCol="0" anchor="b">
            <a:spAutoFit/>
          </a:bodyPr>
          <a:lstStyle>
            <a:lvl1pPr algn="r">
              <a:defRPr sz="900">
                <a:solidFill>
                  <a:schemeClr val="tx1"/>
                </a:solidFill>
              </a:defRPr>
            </a:lvl1pPr>
          </a:lstStyle>
          <a:p>
            <a:r>
              <a:rPr lang="en-US"/>
              <a:t>01/01/2026</a:t>
            </a:r>
            <a:endParaRPr lang="en-US" dirty="0"/>
          </a:p>
        </p:txBody>
      </p:sp>
      <p:sp>
        <p:nvSpPr>
          <p:cNvPr id="5" name="Footer Placeholder 4">
            <a:extLst>
              <a:ext uri="{FF2B5EF4-FFF2-40B4-BE49-F238E27FC236}">
                <a16:creationId xmlns:a16="http://schemas.microsoft.com/office/drawing/2014/main" id="{1BBB3F0D-8E3C-AF84-65AC-B33EC880DE80}"/>
              </a:ext>
            </a:extLst>
          </p:cNvPr>
          <p:cNvSpPr>
            <a:spLocks noGrp="1"/>
          </p:cNvSpPr>
          <p:nvPr>
            <p:ph type="ftr" sz="quarter" idx="3"/>
          </p:nvPr>
        </p:nvSpPr>
        <p:spPr>
          <a:xfrm>
            <a:off x="952318" y="6482964"/>
            <a:ext cx="3527607" cy="138499"/>
          </a:xfrm>
          <a:prstGeom prst="rect">
            <a:avLst/>
          </a:prstGeom>
        </p:spPr>
        <p:txBody>
          <a:bodyPr vert="horz" wrap="square" lIns="0" tIns="0" rIns="0" bIns="0" rtlCol="0" anchor="b">
            <a:spAutoFit/>
          </a:bodyPr>
          <a:lstStyle>
            <a:lvl1pPr algn="l">
              <a:defRPr sz="900">
                <a:solidFill>
                  <a:schemeClr val="tx1"/>
                </a:solidFill>
              </a:defRPr>
            </a:lvl1pPr>
          </a:lstStyle>
          <a:p>
            <a:r>
              <a:rPr lang="en-US" dirty="0"/>
              <a:t>Please add presentation title</a:t>
            </a:r>
          </a:p>
        </p:txBody>
      </p:sp>
      <p:sp>
        <p:nvSpPr>
          <p:cNvPr id="6" name="Slide Number Placeholder 5">
            <a:extLst>
              <a:ext uri="{FF2B5EF4-FFF2-40B4-BE49-F238E27FC236}">
                <a16:creationId xmlns:a16="http://schemas.microsoft.com/office/drawing/2014/main" id="{2AE0BEDD-665C-0E3B-84AE-32D620530179}"/>
              </a:ext>
            </a:extLst>
          </p:cNvPr>
          <p:cNvSpPr>
            <a:spLocks noGrp="1"/>
          </p:cNvSpPr>
          <p:nvPr>
            <p:ph type="sldNum" sz="quarter" idx="4"/>
          </p:nvPr>
        </p:nvSpPr>
        <p:spPr>
          <a:xfrm>
            <a:off x="11623675" y="6344464"/>
            <a:ext cx="196850" cy="276999"/>
          </a:xfrm>
          <a:prstGeom prst="rect">
            <a:avLst/>
          </a:prstGeom>
        </p:spPr>
        <p:txBody>
          <a:bodyPr vert="horz" wrap="square" lIns="0" tIns="0" rIns="0" bIns="0" rtlCol="0" anchor="b">
            <a:spAutoFit/>
          </a:bodyPr>
          <a:lstStyle>
            <a:lvl1pPr algn="r">
              <a:defRPr sz="900">
                <a:solidFill>
                  <a:schemeClr val="tx1"/>
                </a:solidFill>
              </a:defRPr>
            </a:lvl1pPr>
          </a:lstStyle>
          <a:p>
            <a:fld id="{AFC0DE47-E009-49FD-9AD1-65414DD64D1A}" type="slidenum">
              <a:rPr lang="en-US" smtClean="0"/>
              <a:pPr/>
              <a:t>‹Nr.›</a:t>
            </a:fld>
            <a:endParaRPr lang="en-US" dirty="0"/>
          </a:p>
        </p:txBody>
      </p:sp>
      <p:grpSp>
        <p:nvGrpSpPr>
          <p:cNvPr id="34" name="Group 33">
            <a:extLst>
              <a:ext uri="{FF2B5EF4-FFF2-40B4-BE49-F238E27FC236}">
                <a16:creationId xmlns:a16="http://schemas.microsoft.com/office/drawing/2014/main" id="{72D6DB15-3A3C-A01A-E51C-D63AC65773C7}"/>
              </a:ext>
            </a:extLst>
          </p:cNvPr>
          <p:cNvGrpSpPr/>
          <p:nvPr userDrawn="1"/>
        </p:nvGrpSpPr>
        <p:grpSpPr bwMode="gray">
          <a:xfrm>
            <a:off x="373138" y="6253686"/>
            <a:ext cx="504000" cy="504000"/>
            <a:chOff x="374726" y="6255274"/>
            <a:chExt cx="504000" cy="504000"/>
          </a:xfrm>
        </p:grpSpPr>
        <p:sp>
          <p:nvSpPr>
            <p:cNvPr id="31" name="Freeform: Shape 30">
              <a:extLst>
                <a:ext uri="{FF2B5EF4-FFF2-40B4-BE49-F238E27FC236}">
                  <a16:creationId xmlns:a16="http://schemas.microsoft.com/office/drawing/2014/main" id="{6DD3A6E2-D0AC-A01F-DA6A-914E1B3CDF3E}"/>
                </a:ext>
              </a:extLst>
            </p:cNvPr>
            <p:cNvSpPr/>
            <p:nvPr/>
          </p:nvSpPr>
          <p:spPr bwMode="gray">
            <a:xfrm>
              <a:off x="374726" y="6255274"/>
              <a:ext cx="504000" cy="504000"/>
            </a:xfrm>
            <a:custGeom>
              <a:avLst/>
              <a:gdLst>
                <a:gd name="connsiteX0" fmla="*/ 252000 w 504000"/>
                <a:gd name="connsiteY0" fmla="*/ 0 h 504000"/>
                <a:gd name="connsiteX1" fmla="*/ 504000 w 504000"/>
                <a:gd name="connsiteY1" fmla="*/ 252000 h 504000"/>
                <a:gd name="connsiteX2" fmla="*/ 252000 w 504000"/>
                <a:gd name="connsiteY2" fmla="*/ 504000 h 504000"/>
                <a:gd name="connsiteX3" fmla="*/ 0 w 504000"/>
                <a:gd name="connsiteY3" fmla="*/ 252000 h 504000"/>
                <a:gd name="connsiteX4" fmla="*/ 252000 w 504000"/>
                <a:gd name="connsiteY4" fmla="*/ 0 h 50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000" h="504000">
                  <a:moveTo>
                    <a:pt x="252000" y="0"/>
                  </a:moveTo>
                  <a:cubicBezTo>
                    <a:pt x="391341" y="0"/>
                    <a:pt x="504000" y="112659"/>
                    <a:pt x="504000" y="252000"/>
                  </a:cubicBezTo>
                  <a:cubicBezTo>
                    <a:pt x="504000" y="391341"/>
                    <a:pt x="391341" y="504000"/>
                    <a:pt x="252000" y="504000"/>
                  </a:cubicBezTo>
                  <a:cubicBezTo>
                    <a:pt x="112659" y="504000"/>
                    <a:pt x="0" y="391341"/>
                    <a:pt x="0" y="252000"/>
                  </a:cubicBezTo>
                  <a:cubicBezTo>
                    <a:pt x="0" y="112659"/>
                    <a:pt x="112659" y="0"/>
                    <a:pt x="252000" y="0"/>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FEB18C8-5D15-EE0D-3549-8A98320EC764}"/>
                </a:ext>
              </a:extLst>
            </p:cNvPr>
            <p:cNvSpPr/>
            <p:nvPr/>
          </p:nvSpPr>
          <p:spPr bwMode="gray">
            <a:xfrm>
              <a:off x="421568" y="6315754"/>
              <a:ext cx="407943" cy="323152"/>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3" h="323152">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62259" y="45064"/>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463BEB1-1A28-BD9D-D4D3-61DF6C6AFD78}"/>
                </a:ext>
              </a:extLst>
            </p:cNvPr>
            <p:cNvSpPr/>
            <p:nvPr/>
          </p:nvSpPr>
          <p:spPr bwMode="gray">
            <a:xfrm>
              <a:off x="421568" y="6356265"/>
              <a:ext cx="88941" cy="88941"/>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
        <p:nvSpPr>
          <p:cNvPr id="38" name="Freeform: Shape 37">
            <a:extLst>
              <a:ext uri="{FF2B5EF4-FFF2-40B4-BE49-F238E27FC236}">
                <a16:creationId xmlns:a16="http://schemas.microsoft.com/office/drawing/2014/main" id="{0693B4EA-7DB8-B21C-9F67-D5891F9F00C8}"/>
              </a:ext>
            </a:extLst>
          </p:cNvPr>
          <p:cNvSpPr>
            <a:spLocks/>
          </p:cNvSpPr>
          <p:nvPr userDrawn="1"/>
        </p:nvSpPr>
        <p:spPr>
          <a:xfrm>
            <a:off x="11588297" y="6482964"/>
            <a:ext cx="15875" cy="138499"/>
          </a:xfrm>
          <a:custGeom>
            <a:avLst/>
            <a:gdLst>
              <a:gd name="connsiteX0" fmla="*/ 0 w 15875"/>
              <a:gd name="connsiteY0" fmla="*/ 0 h 144463"/>
              <a:gd name="connsiteX1" fmla="*/ 15875 w 15875"/>
              <a:gd name="connsiteY1" fmla="*/ 0 h 144463"/>
              <a:gd name="connsiteX2" fmla="*/ 15875 w 15875"/>
              <a:gd name="connsiteY2" fmla="*/ 144463 h 144463"/>
              <a:gd name="connsiteX3" fmla="*/ 0 w 15875"/>
              <a:gd name="connsiteY3" fmla="*/ 144463 h 144463"/>
              <a:gd name="connsiteX4" fmla="*/ 0 w 15875"/>
              <a:gd name="connsiteY4" fmla="*/ 0 h 14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5" h="144463">
                <a:moveTo>
                  <a:pt x="0" y="0"/>
                </a:moveTo>
                <a:lnTo>
                  <a:pt x="15875" y="0"/>
                </a:lnTo>
                <a:lnTo>
                  <a:pt x="15875" y="144463"/>
                </a:lnTo>
                <a:lnTo>
                  <a:pt x="0" y="144463"/>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dirty="0">
              <a:solidFill>
                <a:schemeClr val="bg1"/>
              </a:solidFill>
            </a:endParaRPr>
          </a:p>
        </p:txBody>
      </p:sp>
      <p:sp>
        <p:nvSpPr>
          <p:cNvPr id="9" name="Textfeld 8">
            <a:extLst>
              <a:ext uri="{FF2B5EF4-FFF2-40B4-BE49-F238E27FC236}">
                <a16:creationId xmlns:a16="http://schemas.microsoft.com/office/drawing/2014/main" id="{38AE55F5-0817-F586-D926-F58CE0560107}"/>
              </a:ext>
            </a:extLst>
          </p:cNvPr>
          <p:cNvSpPr txBox="1"/>
          <p:nvPr userDrawn="1">
            <p:extLst>
              <p:ext uri="{1162E1C5-73C7-4A58-AE30-91384D911F3F}">
                <p184:classification xmlns:p184="http://schemas.microsoft.com/office/powerpoint/2018/4/main" val="ftr"/>
              </p:ext>
            </p:extLst>
          </p:nvPr>
        </p:nvSpPr>
        <p:spPr>
          <a:xfrm>
            <a:off x="5838000" y="6642100"/>
            <a:ext cx="544512" cy="152400"/>
          </a:xfrm>
          <a:prstGeom prst="rect">
            <a:avLst/>
          </a:prstGeom>
        </p:spPr>
        <p:txBody>
          <a:bodyPr horzOverflow="overflow" lIns="0" tIns="0" rIns="0" bIns="0">
            <a:spAutoFit/>
          </a:bodyPr>
          <a:lstStyle/>
          <a:p>
            <a:pPr algn="l"/>
            <a:r>
              <a:rPr lang="de-D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299563448"/>
      </p:ext>
    </p:extLst>
  </p:cSld>
  <p:clrMap bg1="dk1" tx1="lt1" bg2="dk2" tx2="lt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18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1pPr>
      <a:lvl2pPr marL="3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4pPr>
      <a:lvl5pPr marL="90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5pPr>
      <a:lvl6pPr marL="108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6pPr>
      <a:lvl7pPr marL="12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7pPr>
      <a:lvl8pPr marL="14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8pPr>
      <a:lvl9pPr marL="16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34" userDrawn="1">
          <p15:clr>
            <a:srgbClr val="F26B43"/>
          </p15:clr>
        </p15:guide>
        <p15:guide id="4" pos="7446" userDrawn="1">
          <p15:clr>
            <a:srgbClr val="F26B43"/>
          </p15:clr>
        </p15:guide>
        <p15:guide id="5" orient="horz" pos="1029" userDrawn="1">
          <p15:clr>
            <a:srgbClr val="F26B43"/>
          </p15:clr>
        </p15:guide>
        <p15:guide id="6" orient="horz" pos="3911" userDrawn="1">
          <p15:clr>
            <a:srgbClr val="F26B43"/>
          </p15:clr>
        </p15:guide>
        <p15:guide id="7" orient="horz" pos="4042" userDrawn="1">
          <p15:clr>
            <a:srgbClr val="F26B43"/>
          </p15:clr>
        </p15:guide>
        <p15:guide id="8" orient="horz" pos="4171" userDrawn="1">
          <p15:clr>
            <a:srgbClr val="F26B43"/>
          </p15:clr>
        </p15:guide>
        <p15:guide id="9" orient="horz" pos="234" userDrawn="1">
          <p15:clr>
            <a:srgbClr val="F26B43"/>
          </p15:clr>
        </p15:guide>
        <p15:guide id="10" orient="horz" pos="4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8.xml"/><Relationship Id="rId1" Type="http://schemas.openxmlformats.org/officeDocument/2006/relationships/tags" Target="../tags/tag10.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71FE449C-25CA-1564-3038-AC87F4EB84DD}"/>
              </a:ext>
            </a:extLst>
          </p:cNvPr>
          <p:cNvGraphicFramePr>
            <a:graphicFrameLocks noChangeAspect="1"/>
          </p:cNvGraphicFramePr>
          <p:nvPr>
            <p:custDataLst>
              <p:tags r:id="rId1"/>
            </p:custDataLst>
            <p:extLst>
              <p:ext uri="{D42A27DB-BD31-4B8C-83A1-F6EECF244321}">
                <p14:modId xmlns:p14="http://schemas.microsoft.com/office/powerpoint/2010/main" val="229442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3" name="think-cell data - do not delete" hidden="1">
                        <a:extLst>
                          <a:ext uri="{FF2B5EF4-FFF2-40B4-BE49-F238E27FC236}">
                            <a16:creationId xmlns:a16="http://schemas.microsoft.com/office/drawing/2014/main" id="{71FE449C-25CA-1564-3038-AC87F4EB84D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0D8FCC8-2D2D-9A7B-20F3-97E87C38D8BB}"/>
              </a:ext>
            </a:extLst>
          </p:cNvPr>
          <p:cNvSpPr>
            <a:spLocks noGrp="1"/>
          </p:cNvSpPr>
          <p:nvPr>
            <p:ph type="ctrTitle"/>
          </p:nvPr>
        </p:nvSpPr>
        <p:spPr>
          <a:xfrm>
            <a:off x="373063" y="373063"/>
            <a:ext cx="11447462" cy="1994392"/>
          </a:xfrm>
        </p:spPr>
        <p:txBody>
          <a:bodyPr vert="horz"/>
          <a:lstStyle/>
          <a:p>
            <a:r>
              <a:rPr lang="de-DE" sz="4800" dirty="0"/>
              <a:t>Funktionales Testen der Sicherheit bei industriellen Gateways gemäß der neuen Maschinenrichtlinie</a:t>
            </a:r>
            <a:endParaRPr lang="en-US" sz="4800" noProof="0" dirty="0"/>
          </a:p>
        </p:txBody>
      </p:sp>
      <p:sp>
        <p:nvSpPr>
          <p:cNvPr id="4" name="Text Placeholder 3">
            <a:extLst>
              <a:ext uri="{FF2B5EF4-FFF2-40B4-BE49-F238E27FC236}">
                <a16:creationId xmlns:a16="http://schemas.microsoft.com/office/drawing/2014/main" id="{EDD1E42B-3899-70F4-E49E-8EFAB5F04DE1}"/>
              </a:ext>
            </a:extLst>
          </p:cNvPr>
          <p:cNvSpPr>
            <a:spLocks noGrp="1"/>
          </p:cNvSpPr>
          <p:nvPr>
            <p:ph type="body" sz="quarter" idx="10"/>
          </p:nvPr>
        </p:nvSpPr>
        <p:spPr>
          <a:xfrm>
            <a:off x="373063" y="5962492"/>
            <a:ext cx="5722937" cy="246221"/>
          </a:xfrm>
        </p:spPr>
        <p:txBody>
          <a:bodyPr/>
          <a:lstStyle/>
          <a:p>
            <a:r>
              <a:rPr lang="en-US" noProof="0" dirty="0"/>
              <a:t>22.09.2026</a:t>
            </a:r>
          </a:p>
        </p:txBody>
      </p:sp>
      <p:sp>
        <p:nvSpPr>
          <p:cNvPr id="5" name="Text Placeholder 4">
            <a:extLst>
              <a:ext uri="{FF2B5EF4-FFF2-40B4-BE49-F238E27FC236}">
                <a16:creationId xmlns:a16="http://schemas.microsoft.com/office/drawing/2014/main" id="{8EB822ED-6D0F-9018-1045-7C6E314E674E}"/>
              </a:ext>
            </a:extLst>
          </p:cNvPr>
          <p:cNvSpPr>
            <a:spLocks noGrp="1"/>
          </p:cNvSpPr>
          <p:nvPr>
            <p:ph type="body" sz="quarter" idx="11"/>
          </p:nvPr>
        </p:nvSpPr>
        <p:spPr>
          <a:xfrm>
            <a:off x="1397000" y="6232009"/>
            <a:ext cx="4699000" cy="184666"/>
          </a:xfrm>
        </p:spPr>
        <p:txBody>
          <a:bodyPr/>
          <a:lstStyle/>
          <a:p>
            <a:pPr lvl="0"/>
            <a:r>
              <a:rPr lang="en-US" noProof="0" dirty="0"/>
              <a:t>Nathalie Nuber</a:t>
            </a:r>
          </a:p>
        </p:txBody>
      </p:sp>
      <p:sp>
        <p:nvSpPr>
          <p:cNvPr id="9" name="Untertitel 8">
            <a:extLst>
              <a:ext uri="{FF2B5EF4-FFF2-40B4-BE49-F238E27FC236}">
                <a16:creationId xmlns:a16="http://schemas.microsoft.com/office/drawing/2014/main" id="{90D485C1-E115-5624-0602-4E2B9D77D916}"/>
              </a:ext>
            </a:extLst>
          </p:cNvPr>
          <p:cNvSpPr>
            <a:spLocks noGrp="1"/>
          </p:cNvSpPr>
          <p:nvPr>
            <p:ph type="subTitle" idx="1"/>
          </p:nvPr>
        </p:nvSpPr>
        <p:spPr>
          <a:xfrm>
            <a:off x="372269" y="2662930"/>
            <a:ext cx="11447462" cy="492443"/>
          </a:xfrm>
        </p:spPr>
        <p:txBody>
          <a:bodyPr/>
          <a:lstStyle/>
          <a:p>
            <a:r>
              <a:rPr lang="de-DE" sz="3200" dirty="0"/>
              <a:t>Bachelorarbeit T3_3300</a:t>
            </a:r>
            <a:endParaRPr lang="de-DE" dirty="0"/>
          </a:p>
        </p:txBody>
      </p:sp>
    </p:spTree>
    <p:extLst>
      <p:ext uri="{BB962C8B-B14F-4D97-AF65-F5344CB8AC3E}">
        <p14:creationId xmlns:p14="http://schemas.microsoft.com/office/powerpoint/2010/main" val="3227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Agenda</a:t>
            </a:r>
          </a:p>
        </p:txBody>
      </p:sp>
      <p:sp>
        <p:nvSpPr>
          <p:cNvPr id="5" name="Kette"/>
          <p:cNvSpPr/>
          <p:nvPr/>
        </p:nvSpPr>
        <p:spPr>
          <a:xfrm>
            <a:off x="2030950" y="1250000"/>
            <a:ext cx="38100" cy="4560000"/>
          </a:xfrm>
          <a:prstGeom prst="rect">
            <a:avLst/>
          </a:prstGeom>
          <a:solidFill>
            <a:schemeClr val="accent4"/>
          </a:solidFill>
          <a:ln>
            <a:noFill/>
          </a:ln>
        </p:spPr>
        <p:txBody>
          <a:bodyPr/>
          <a:lstStyle/>
          <a:p>
            <a:endParaRPr lang="de-DE"/>
          </a:p>
        </p:txBody>
      </p:sp>
      <p:grpSp>
        <p:nvGrpSpPr>
          <p:cNvPr id="10" name="Segment 1"/>
          <p:cNvGrpSpPr/>
          <p:nvPr/>
        </p:nvGrpSpPr>
        <p:grpSpPr>
          <a:xfrm>
            <a:off x="700000" y="1250000"/>
            <a:ext cx="9300000" cy="800000"/>
            <a:chOff x="700000" y="1250000"/>
            <a:chExt cx="9300000" cy="800000"/>
          </a:xfrm>
        </p:grpSpPr>
        <p:sp>
          <p:nvSpPr>
            <p:cNvPr id="100" name="Nummer"/>
            <p:cNvSpPr/>
            <p:nvPr/>
          </p:nvSpPr>
          <p:spPr>
            <a:xfrm>
              <a:off x="700000" y="125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01</a:t>
              </a:r>
            </a:p>
          </p:txBody>
        </p:sp>
        <p:sp>
          <p:nvSpPr>
            <p:cNvPr id="101" name="Kettenpunkt"/>
            <p:cNvSpPr/>
            <p:nvPr/>
          </p:nvSpPr>
          <p:spPr>
            <a:xfrm>
              <a:off x="1935000" y="1535000"/>
              <a:ext cx="230000" cy="230000"/>
            </a:xfrm>
            <a:prstGeom prst="ellipse">
              <a:avLst/>
            </a:prstGeom>
            <a:solidFill>
              <a:schemeClr val="accent5"/>
            </a:solidFill>
            <a:ln>
              <a:noFill/>
            </a:ln>
          </p:spPr>
          <p:txBody>
            <a:bodyPr/>
            <a:lstStyle/>
            <a:p>
              <a:endParaRPr lang="de-DE"/>
            </a:p>
          </p:txBody>
        </p:sp>
        <p:sp>
          <p:nvSpPr>
            <p:cNvPr id="102" name="Ueberschrift"/>
            <p:cNvSpPr/>
            <p:nvPr/>
          </p:nvSpPr>
          <p:spPr>
            <a:xfrm>
              <a:off x="2400000" y="134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Motivation und Problem</a:t>
              </a:r>
            </a:p>
          </p:txBody>
        </p:sp>
        <p:sp>
          <p:nvSpPr>
            <p:cNvPr id="103" name="Unterzeile"/>
            <p:cNvSpPr/>
            <p:nvPr/>
          </p:nvSpPr>
          <p:spPr>
            <a:xfrm>
              <a:off x="2400000" y="170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Warum Cybersecurity jetzt Pflicht wird</a:t>
              </a:r>
            </a:p>
          </p:txBody>
        </p:sp>
      </p:grpSp>
      <p:grpSp>
        <p:nvGrpSpPr>
          <p:cNvPr id="20" name="Segment 2"/>
          <p:cNvGrpSpPr/>
          <p:nvPr/>
        </p:nvGrpSpPr>
        <p:grpSpPr>
          <a:xfrm>
            <a:off x="700000" y="2190000"/>
            <a:ext cx="9300000" cy="800000"/>
            <a:chOff x="700000" y="2190000"/>
            <a:chExt cx="9300000" cy="800000"/>
          </a:xfrm>
        </p:grpSpPr>
        <p:sp>
          <p:nvSpPr>
            <p:cNvPr id="110" name="Nummer"/>
            <p:cNvSpPr/>
            <p:nvPr/>
          </p:nvSpPr>
          <p:spPr>
            <a:xfrm>
              <a:off x="700000" y="219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02</a:t>
              </a:r>
            </a:p>
          </p:txBody>
        </p:sp>
        <p:sp>
          <p:nvSpPr>
            <p:cNvPr id="111" name="Kettenpunkt"/>
            <p:cNvSpPr/>
            <p:nvPr/>
          </p:nvSpPr>
          <p:spPr>
            <a:xfrm>
              <a:off x="1935000" y="2475000"/>
              <a:ext cx="230000" cy="230000"/>
            </a:xfrm>
            <a:prstGeom prst="ellipse">
              <a:avLst/>
            </a:prstGeom>
            <a:solidFill>
              <a:schemeClr val="accent5"/>
            </a:solidFill>
            <a:ln>
              <a:noFill/>
            </a:ln>
          </p:spPr>
          <p:txBody>
            <a:bodyPr/>
            <a:lstStyle/>
            <a:p>
              <a:endParaRPr lang="de-DE"/>
            </a:p>
          </p:txBody>
        </p:sp>
        <p:sp>
          <p:nvSpPr>
            <p:cNvPr id="112" name="Ueberschrift"/>
            <p:cNvSpPr/>
            <p:nvPr/>
          </p:nvSpPr>
          <p:spPr>
            <a:xfrm>
              <a:off x="2400000" y="228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Grundlagen</a:t>
              </a:r>
            </a:p>
          </p:txBody>
        </p:sp>
        <p:sp>
          <p:nvSpPr>
            <p:cNvPr id="113" name="Unterzeile"/>
            <p:cNvSpPr/>
            <p:nvPr/>
          </p:nvSpPr>
          <p:spPr>
            <a:xfrm>
              <a:off x="2400000" y="264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Gateway, IT/OT-Grenze, normativer Rahmen</a:t>
              </a:r>
            </a:p>
          </p:txBody>
        </p:sp>
      </p:grpSp>
      <p:grpSp>
        <p:nvGrpSpPr>
          <p:cNvPr id="30" name="Segment 3"/>
          <p:cNvGrpSpPr/>
          <p:nvPr/>
        </p:nvGrpSpPr>
        <p:grpSpPr>
          <a:xfrm>
            <a:off x="700000" y="3130000"/>
            <a:ext cx="9300000" cy="800000"/>
            <a:chOff x="700000" y="3130000"/>
            <a:chExt cx="9300000" cy="800000"/>
          </a:xfrm>
        </p:grpSpPr>
        <p:sp>
          <p:nvSpPr>
            <p:cNvPr id="120" name="Nummer"/>
            <p:cNvSpPr/>
            <p:nvPr/>
          </p:nvSpPr>
          <p:spPr>
            <a:xfrm>
              <a:off x="700000" y="313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03</a:t>
              </a:r>
            </a:p>
          </p:txBody>
        </p:sp>
        <p:sp>
          <p:nvSpPr>
            <p:cNvPr id="121" name="Kettenpunkt"/>
            <p:cNvSpPr/>
            <p:nvPr/>
          </p:nvSpPr>
          <p:spPr>
            <a:xfrm>
              <a:off x="1935000" y="3415000"/>
              <a:ext cx="230000" cy="230000"/>
            </a:xfrm>
            <a:prstGeom prst="ellipse">
              <a:avLst/>
            </a:prstGeom>
            <a:solidFill>
              <a:schemeClr val="accent5"/>
            </a:solidFill>
            <a:ln>
              <a:noFill/>
            </a:ln>
          </p:spPr>
          <p:txBody>
            <a:bodyPr/>
            <a:lstStyle/>
            <a:p>
              <a:endParaRPr lang="de-DE"/>
            </a:p>
          </p:txBody>
        </p:sp>
        <p:sp>
          <p:nvSpPr>
            <p:cNvPr id="122" name="Ueberschrift"/>
            <p:cNvSpPr/>
            <p:nvPr/>
          </p:nvSpPr>
          <p:spPr>
            <a:xfrm>
              <a:off x="2400000" y="322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Methodik</a:t>
              </a:r>
            </a:p>
          </p:txBody>
        </p:sp>
        <p:sp>
          <p:nvSpPr>
            <p:cNvPr id="123" name="Unterzeile"/>
            <p:cNvSpPr/>
            <p:nvPr/>
          </p:nvSpPr>
          <p:spPr>
            <a:xfrm>
              <a:off x="2400000" y="358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Ableitungskette, Traceability, Netzwerkvarianten</a:t>
              </a:r>
            </a:p>
          </p:txBody>
        </p:sp>
      </p:grpSp>
      <p:grpSp>
        <p:nvGrpSpPr>
          <p:cNvPr id="40" name="Segment 4"/>
          <p:cNvGrpSpPr/>
          <p:nvPr/>
        </p:nvGrpSpPr>
        <p:grpSpPr>
          <a:xfrm>
            <a:off x="700000" y="4070000"/>
            <a:ext cx="9300000" cy="800000"/>
            <a:chOff x="700000" y="4070000"/>
            <a:chExt cx="9300000" cy="800000"/>
          </a:xfrm>
        </p:grpSpPr>
        <p:sp>
          <p:nvSpPr>
            <p:cNvPr id="130" name="Nummer"/>
            <p:cNvSpPr/>
            <p:nvPr/>
          </p:nvSpPr>
          <p:spPr>
            <a:xfrm>
              <a:off x="700000" y="407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04</a:t>
              </a:r>
            </a:p>
          </p:txBody>
        </p:sp>
        <p:sp>
          <p:nvSpPr>
            <p:cNvPr id="131" name="Kettenpunkt"/>
            <p:cNvSpPr/>
            <p:nvPr/>
          </p:nvSpPr>
          <p:spPr>
            <a:xfrm>
              <a:off x="1935000" y="4355000"/>
              <a:ext cx="230000" cy="230000"/>
            </a:xfrm>
            <a:prstGeom prst="ellipse">
              <a:avLst/>
            </a:prstGeom>
            <a:solidFill>
              <a:schemeClr val="accent5"/>
            </a:solidFill>
            <a:ln>
              <a:noFill/>
            </a:ln>
          </p:spPr>
          <p:txBody>
            <a:bodyPr/>
            <a:lstStyle/>
            <a:p>
              <a:endParaRPr lang="de-DE"/>
            </a:p>
          </p:txBody>
        </p:sp>
        <p:sp>
          <p:nvSpPr>
            <p:cNvPr id="132" name="Ueberschrift"/>
            <p:cNvSpPr/>
            <p:nvPr/>
          </p:nvSpPr>
          <p:spPr>
            <a:xfrm>
              <a:off x="2400000" y="416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Demonstration und Ergebnisse</a:t>
              </a:r>
            </a:p>
          </p:txBody>
        </p:sp>
        <p:sp>
          <p:nvSpPr>
            <p:cNvPr id="133" name="Unterzeile"/>
            <p:cNvSpPr/>
            <p:nvPr/>
          </p:nvSpPr>
          <p:spPr>
            <a:xfrm>
              <a:off x="2400000" y="452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SRIO, Anwendbarkeit, Requirement-Verdicts</a:t>
              </a:r>
            </a:p>
          </p:txBody>
        </p:sp>
      </p:grpSp>
      <p:grpSp>
        <p:nvGrpSpPr>
          <p:cNvPr id="50" name="Segment 5"/>
          <p:cNvGrpSpPr/>
          <p:nvPr/>
        </p:nvGrpSpPr>
        <p:grpSpPr>
          <a:xfrm>
            <a:off x="700000" y="5010000"/>
            <a:ext cx="9300000" cy="800000"/>
            <a:chOff x="700000" y="5010000"/>
            <a:chExt cx="9300000" cy="800000"/>
          </a:xfrm>
        </p:grpSpPr>
        <p:sp>
          <p:nvSpPr>
            <p:cNvPr id="140" name="Nummer"/>
            <p:cNvSpPr/>
            <p:nvPr/>
          </p:nvSpPr>
          <p:spPr>
            <a:xfrm>
              <a:off x="700000" y="501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05</a:t>
              </a:r>
            </a:p>
          </p:txBody>
        </p:sp>
        <p:sp>
          <p:nvSpPr>
            <p:cNvPr id="141" name="Kettenpunkt"/>
            <p:cNvSpPr/>
            <p:nvPr/>
          </p:nvSpPr>
          <p:spPr>
            <a:xfrm>
              <a:off x="1935000" y="5295000"/>
              <a:ext cx="230000" cy="230000"/>
            </a:xfrm>
            <a:prstGeom prst="ellipse">
              <a:avLst/>
            </a:prstGeom>
            <a:solidFill>
              <a:schemeClr val="accent5"/>
            </a:solidFill>
            <a:ln>
              <a:noFill/>
            </a:ln>
          </p:spPr>
          <p:txBody>
            <a:bodyPr/>
            <a:lstStyle/>
            <a:p>
              <a:endParaRPr lang="de-DE"/>
            </a:p>
          </p:txBody>
        </p:sp>
        <p:sp>
          <p:nvSpPr>
            <p:cNvPr id="142" name="Ueberschrift"/>
            <p:cNvSpPr/>
            <p:nvPr/>
          </p:nvSpPr>
          <p:spPr>
            <a:xfrm>
              <a:off x="2400000" y="510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Fazit und Ausblick</a:t>
              </a:r>
            </a:p>
          </p:txBody>
        </p:sp>
        <p:sp>
          <p:nvSpPr>
            <p:cNvPr id="143" name="Unterzeile"/>
            <p:cNvSpPr/>
            <p:nvPr/>
          </p:nvSpPr>
          <p:spPr>
            <a:xfrm>
              <a:off x="2400000" y="546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Kernaussage, Grenzen, nächste Schritte</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Das Gateway sitzt an der Grenze zweier Welten</a:t>
            </a:r>
          </a:p>
        </p:txBody>
      </p:sp>
      <p:sp>
        <p:nvSpPr>
          <p:cNvPr id="50" name="Klammerlabel OT"/>
          <p:cNvSpPr txBox="1"/>
          <p:nvPr/>
        </p:nvSpPr>
        <p:spPr>
          <a:xfrm>
            <a:off x="373063" y="1230000"/>
            <a:ext cx="5002937" cy="300000"/>
          </a:xfrm>
          <a:prstGeom prst="rect">
            <a:avLst/>
          </a:prstGeom>
          <a:noFill/>
        </p:spPr>
        <p:txBody>
          <a:bodyPr lIns="0" tIns="0" rIns="0" bIns="0" anchor="ctr"/>
          <a:lstStyle/>
          <a:p>
            <a:pPr algn="ctr"/>
            <a:r>
              <a:rPr lang="de-DE" sz="1600" b="1" dirty="0">
                <a:solidFill>
                  <a:schemeClr val="accent2"/>
                </a:solidFill>
              </a:rPr>
              <a:t>OT – Betriebstechnik</a:t>
            </a:r>
          </a:p>
        </p:txBody>
      </p:sp>
      <p:sp>
        <p:nvSpPr>
          <p:cNvPr id="51" name="Klammerlabel IT"/>
          <p:cNvSpPr txBox="1"/>
          <p:nvPr/>
        </p:nvSpPr>
        <p:spPr>
          <a:xfrm>
            <a:off x="6816000" y="1230000"/>
            <a:ext cx="5002937" cy="300000"/>
          </a:xfrm>
          <a:prstGeom prst="rect">
            <a:avLst/>
          </a:prstGeom>
          <a:noFill/>
        </p:spPr>
        <p:txBody>
          <a:bodyPr lIns="0" tIns="0" rIns="0" bIns="0" anchor="ctr"/>
          <a:lstStyle/>
          <a:p>
            <a:pPr algn="ctr"/>
            <a:r>
              <a:rPr lang="de-DE" sz="1600" b="1" dirty="0">
                <a:solidFill>
                  <a:schemeClr val="accent5"/>
                </a:solidFill>
              </a:rPr>
              <a:t>IT – Informationstechnik</a:t>
            </a:r>
          </a:p>
        </p:txBody>
      </p:sp>
      <p:sp>
        <p:nvSpPr>
          <p:cNvPr id="40" name="Klammer OT Balken"/>
          <p:cNvSpPr/>
          <p:nvPr/>
        </p:nvSpPr>
        <p:spPr>
          <a:xfrm>
            <a:off x="373063" y="1600000"/>
            <a:ext cx="5002937" cy="25400"/>
          </a:xfrm>
          <a:prstGeom prst="rect">
            <a:avLst/>
          </a:prstGeom>
          <a:solidFill>
            <a:schemeClr val="accent2"/>
          </a:solidFill>
          <a:ln>
            <a:noFill/>
          </a:ln>
        </p:spPr>
        <p:txBody>
          <a:bodyPr/>
          <a:lstStyle/>
          <a:p>
            <a:endParaRPr lang="de-DE"/>
          </a:p>
        </p:txBody>
      </p:sp>
      <p:sp>
        <p:nvSpPr>
          <p:cNvPr id="41" name="Klammer OT links"/>
          <p:cNvSpPr/>
          <p:nvPr/>
        </p:nvSpPr>
        <p:spPr>
          <a:xfrm>
            <a:off x="373063" y="1600000"/>
            <a:ext cx="25400" cy="150000"/>
          </a:xfrm>
          <a:prstGeom prst="rect">
            <a:avLst/>
          </a:prstGeom>
          <a:solidFill>
            <a:schemeClr val="accent2"/>
          </a:solidFill>
          <a:ln>
            <a:noFill/>
          </a:ln>
        </p:spPr>
        <p:txBody>
          <a:bodyPr/>
          <a:lstStyle/>
          <a:p>
            <a:endParaRPr lang="de-DE"/>
          </a:p>
        </p:txBody>
      </p:sp>
      <p:sp>
        <p:nvSpPr>
          <p:cNvPr id="42" name="Klammer OT rechts"/>
          <p:cNvSpPr/>
          <p:nvPr/>
        </p:nvSpPr>
        <p:spPr>
          <a:xfrm>
            <a:off x="5350600" y="1600000"/>
            <a:ext cx="25400" cy="150000"/>
          </a:xfrm>
          <a:prstGeom prst="rect">
            <a:avLst/>
          </a:prstGeom>
          <a:solidFill>
            <a:schemeClr val="accent2"/>
          </a:solidFill>
          <a:ln>
            <a:noFill/>
          </a:ln>
        </p:spPr>
        <p:txBody>
          <a:bodyPr/>
          <a:lstStyle/>
          <a:p>
            <a:endParaRPr lang="de-DE"/>
          </a:p>
        </p:txBody>
      </p:sp>
      <p:sp>
        <p:nvSpPr>
          <p:cNvPr id="43" name="Klammer IT Balken"/>
          <p:cNvSpPr/>
          <p:nvPr/>
        </p:nvSpPr>
        <p:spPr>
          <a:xfrm>
            <a:off x="6816000" y="1600000"/>
            <a:ext cx="5002937" cy="25400"/>
          </a:xfrm>
          <a:prstGeom prst="rect">
            <a:avLst/>
          </a:prstGeom>
          <a:solidFill>
            <a:schemeClr val="accent5"/>
          </a:solidFill>
          <a:ln>
            <a:noFill/>
          </a:ln>
        </p:spPr>
        <p:txBody>
          <a:bodyPr/>
          <a:lstStyle/>
          <a:p>
            <a:endParaRPr lang="de-DE"/>
          </a:p>
        </p:txBody>
      </p:sp>
      <p:sp>
        <p:nvSpPr>
          <p:cNvPr id="44" name="Klammer IT links"/>
          <p:cNvSpPr/>
          <p:nvPr/>
        </p:nvSpPr>
        <p:spPr>
          <a:xfrm>
            <a:off x="6816000" y="1600000"/>
            <a:ext cx="25400" cy="150000"/>
          </a:xfrm>
          <a:prstGeom prst="rect">
            <a:avLst/>
          </a:prstGeom>
          <a:solidFill>
            <a:schemeClr val="accent5"/>
          </a:solidFill>
          <a:ln>
            <a:noFill/>
          </a:ln>
        </p:spPr>
        <p:txBody>
          <a:bodyPr/>
          <a:lstStyle/>
          <a:p>
            <a:endParaRPr lang="de-DE"/>
          </a:p>
        </p:txBody>
      </p:sp>
      <p:sp>
        <p:nvSpPr>
          <p:cNvPr id="45" name="Klammer IT rechts"/>
          <p:cNvSpPr/>
          <p:nvPr/>
        </p:nvSpPr>
        <p:spPr>
          <a:xfrm>
            <a:off x="11793537" y="1600000"/>
            <a:ext cx="25400" cy="150000"/>
          </a:xfrm>
          <a:prstGeom prst="rect">
            <a:avLst/>
          </a:prstGeom>
          <a:solidFill>
            <a:schemeClr val="accent5"/>
          </a:solidFill>
          <a:ln>
            <a:noFill/>
          </a:ln>
        </p:spPr>
        <p:txBody>
          <a:bodyPr/>
          <a:lstStyle/>
          <a:p>
            <a:endParaRPr lang="de-DE"/>
          </a:p>
        </p:txBody>
      </p:sp>
      <p:grpSp>
        <p:nvGrpSpPr>
          <p:cNvPr id="10" name="Ebenenbloecke"/>
          <p:cNvGrpSpPr/>
          <p:nvPr/>
        </p:nvGrpSpPr>
        <p:grpSpPr>
          <a:xfrm>
            <a:off x="373063" y="1900000"/>
            <a:ext cx="11445874" cy="2700000"/>
            <a:chOff x="373063" y="1900000"/>
            <a:chExt cx="11445874" cy="2700000"/>
          </a:xfrm>
        </p:grpSpPr>
        <p:sp>
          <p:nvSpPr>
            <p:cNvPr id="11" name="Block Prozessebene"/>
            <p:cNvSpPr/>
            <p:nvPr/>
          </p:nvSpPr>
          <p:spPr>
            <a:xfrm>
              <a:off x="373063" y="1900000"/>
              <a:ext cx="2451468" cy="2700000"/>
            </a:xfrm>
            <a:prstGeom prst="rect">
              <a:avLst/>
            </a:prstGeom>
            <a:solidFill>
              <a:schemeClr val="accent4"/>
            </a:solidFill>
            <a:ln>
              <a:noFill/>
            </a:ln>
          </p:spPr>
          <p:txBody>
            <a:bodyPr lIns="182880" tIns="182880" rIns="182880" bIns="182880" anchor="ctr">
              <a:normAutofit/>
            </a:bodyPr>
            <a:lstStyle/>
            <a:p>
              <a:pPr algn="ctr"/>
              <a:r>
                <a:rPr lang="de-DE" sz="1600" b="1" dirty="0">
                  <a:solidFill>
                    <a:schemeClr val="accent1"/>
                  </a:solidFill>
                </a:rPr>
                <a:t>Prozessebene</a:t>
              </a:r>
            </a:p>
            <a:p>
              <a:pPr algn="ctr"/>
              <a:r>
                <a:rPr lang="de-DE" sz="1400" dirty="0">
                  <a:solidFill>
                    <a:schemeClr val="accent1"/>
                  </a:solidFill>
                </a:rPr>
                <a:t>Sensorik und Aktorik</a:t>
              </a:r>
            </a:p>
          </p:txBody>
        </p:sp>
        <p:sp>
          <p:nvSpPr>
            <p:cNvPr id="12" name="Block Steuerungsebene"/>
            <p:cNvSpPr/>
            <p:nvPr/>
          </p:nvSpPr>
          <p:spPr>
            <a:xfrm>
              <a:off x="2924531" y="1900000"/>
              <a:ext cx="2451468" cy="2700000"/>
            </a:xfrm>
            <a:prstGeom prst="rect">
              <a:avLst/>
            </a:prstGeom>
            <a:solidFill>
              <a:schemeClr val="accent4"/>
            </a:solidFill>
            <a:ln>
              <a:noFill/>
            </a:ln>
          </p:spPr>
          <p:txBody>
            <a:bodyPr lIns="182880" tIns="182880" rIns="182880" bIns="182880" anchor="ctr">
              <a:normAutofit/>
            </a:bodyPr>
            <a:lstStyle/>
            <a:p>
              <a:pPr algn="ctr"/>
              <a:r>
                <a:rPr lang="de-DE" sz="1600" b="1" dirty="0">
                  <a:solidFill>
                    <a:schemeClr val="accent1"/>
                  </a:solidFill>
                </a:rPr>
                <a:t>Steuerungsebene</a:t>
              </a:r>
            </a:p>
            <a:p>
              <a:pPr algn="ctr"/>
              <a:r>
                <a:rPr lang="de-DE" sz="1400" dirty="0">
                  <a:solidFill>
                    <a:schemeClr val="accent1"/>
                  </a:solidFill>
                </a:rPr>
                <a:t>SPS</a:t>
              </a:r>
            </a:p>
          </p:txBody>
        </p:sp>
        <p:sp>
          <p:nvSpPr>
            <p:cNvPr id="13" name="Block Leitebene"/>
            <p:cNvSpPr/>
            <p:nvPr/>
          </p:nvSpPr>
          <p:spPr>
            <a:xfrm>
              <a:off x="6816000" y="1900000"/>
              <a:ext cx="2451468" cy="2700000"/>
            </a:xfrm>
            <a:prstGeom prst="rect">
              <a:avLst/>
            </a:prstGeom>
            <a:solidFill>
              <a:schemeClr val="accent5"/>
            </a:solidFill>
            <a:ln>
              <a:noFill/>
            </a:ln>
          </p:spPr>
          <p:txBody>
            <a:bodyPr lIns="182880" tIns="182880" rIns="182880" bIns="182880" anchor="ctr">
              <a:normAutofit/>
            </a:bodyPr>
            <a:lstStyle/>
            <a:p>
              <a:pPr algn="ctr"/>
              <a:r>
                <a:rPr lang="de-DE" sz="1600" b="1" dirty="0">
                  <a:solidFill>
                    <a:srgbClr val="FFFFFF"/>
                  </a:solidFill>
                </a:rPr>
                <a:t>Leitebene</a:t>
              </a:r>
            </a:p>
            <a:p>
              <a:pPr algn="ctr"/>
              <a:r>
                <a:rPr lang="de-DE" sz="1400" dirty="0">
                  <a:solidFill>
                    <a:srgbClr val="FFFFFF"/>
                  </a:solidFill>
                </a:rPr>
                <a:t>HMI und SCADA</a:t>
              </a:r>
            </a:p>
          </p:txBody>
        </p:sp>
        <p:sp>
          <p:nvSpPr>
            <p:cNvPr id="14" name="Block Operation IT"/>
            <p:cNvSpPr/>
            <p:nvPr/>
          </p:nvSpPr>
          <p:spPr>
            <a:xfrm>
              <a:off x="9367468" y="1900000"/>
              <a:ext cx="2451469" cy="2700000"/>
            </a:xfrm>
            <a:prstGeom prst="rect">
              <a:avLst/>
            </a:prstGeom>
            <a:solidFill>
              <a:schemeClr val="accent5"/>
            </a:solidFill>
            <a:ln>
              <a:noFill/>
            </a:ln>
          </p:spPr>
          <p:txBody>
            <a:bodyPr lIns="182880" tIns="182880" rIns="182880" bIns="182880" anchor="ctr">
              <a:normAutofit/>
            </a:bodyPr>
            <a:lstStyle/>
            <a:p>
              <a:pPr algn="ctr"/>
              <a:r>
                <a:rPr lang="de-DE" sz="1600" b="1" dirty="0">
                  <a:solidFill>
                    <a:srgbClr val="FFFFFF"/>
                  </a:solidFill>
                </a:rPr>
                <a:t>Operation IT</a:t>
              </a:r>
            </a:p>
            <a:p>
              <a:pPr algn="ctr"/>
              <a:r>
                <a:rPr lang="de-DE" sz="1400" dirty="0">
                  <a:solidFill>
                    <a:srgbClr val="FFFFFF"/>
                  </a:solidFill>
                </a:rPr>
                <a:t>ERP und Datendienste</a:t>
              </a:r>
            </a:p>
          </p:txBody>
        </p:sp>
      </p:grpSp>
      <p:grpSp>
        <p:nvGrpSpPr>
          <p:cNvPr id="20" name="Industrial Gateway"/>
          <p:cNvGrpSpPr/>
          <p:nvPr/>
        </p:nvGrpSpPr>
        <p:grpSpPr>
          <a:xfrm>
            <a:off x="5496000" y="1560000"/>
            <a:ext cx="1200000" cy="3390000"/>
            <a:chOff x="5496000" y="1560000"/>
            <a:chExt cx="1200000" cy="3390000"/>
          </a:xfrm>
        </p:grpSpPr>
        <p:sp>
          <p:nvSpPr>
            <p:cNvPr id="21" name="Gateway Koerper"/>
            <p:cNvSpPr/>
            <p:nvPr/>
          </p:nvSpPr>
          <p:spPr>
            <a:xfrm>
              <a:off x="5496000" y="1560000"/>
              <a:ext cx="1200000" cy="3390000"/>
            </a:xfrm>
            <a:prstGeom prst="rect">
              <a:avLst/>
            </a:prstGeom>
            <a:solidFill>
              <a:schemeClr val="accent1"/>
            </a:solidFill>
            <a:ln w="57150">
              <a:solidFill>
                <a:schemeClr val="accent5"/>
              </a:solidFill>
            </a:ln>
          </p:spPr>
          <p:txBody>
            <a:bodyPr lIns="91440" tIns="228600" rIns="91440" bIns="91440" anchor="t">
              <a:normAutofit/>
            </a:bodyPr>
            <a:lstStyle/>
            <a:p>
              <a:pPr algn="ctr"/>
              <a:r>
                <a:rPr lang="de-DE" sz="1600" b="1" dirty="0">
                  <a:solidFill>
                    <a:srgbClr val="FFFFFF"/>
                  </a:solidFill>
                </a:rPr>
                <a:t>Industrial</a:t>
              </a:r>
            </a:p>
            <a:p>
              <a:pPr algn="ctr"/>
              <a:r>
                <a:rPr lang="de-DE" sz="1600" b="1" dirty="0">
                  <a:solidFill>
                    <a:srgbClr val="FFFFFF"/>
                  </a:solidFill>
                </a:rPr>
                <a:t>Gateway</a:t>
              </a:r>
            </a:p>
          </p:txBody>
        </p:sp>
        <p:sp>
          <p:nvSpPr>
            <p:cNvPr id="22" name="Pfeil rechts"/>
            <p:cNvSpPr/>
            <p:nvPr/>
          </p:nvSpPr>
          <p:spPr>
            <a:xfrm>
              <a:off x="5646000" y="3700000"/>
              <a:ext cx="900000" cy="280000"/>
            </a:xfrm>
            <a:prstGeom prst="rightArrow">
              <a:avLst/>
            </a:prstGeom>
            <a:solidFill>
              <a:schemeClr val="accent5"/>
            </a:solidFill>
            <a:ln>
              <a:noFill/>
            </a:ln>
          </p:spPr>
          <p:txBody>
            <a:bodyPr/>
            <a:lstStyle/>
            <a:p>
              <a:endParaRPr lang="de-DE"/>
            </a:p>
          </p:txBody>
        </p:sp>
        <p:sp>
          <p:nvSpPr>
            <p:cNvPr id="23" name="Pfeil links"/>
            <p:cNvSpPr/>
            <p:nvPr/>
          </p:nvSpPr>
          <p:spPr>
            <a:xfrm>
              <a:off x="5646000" y="4120000"/>
              <a:ext cx="900000" cy="280000"/>
            </a:xfrm>
            <a:prstGeom prst="leftArrow">
              <a:avLst/>
            </a:prstGeom>
            <a:solidFill>
              <a:schemeClr val="accent5"/>
            </a:solidFill>
            <a:ln>
              <a:noFill/>
            </a:ln>
          </p:spPr>
          <p:txBody>
            <a:bodyPr/>
            <a:lstStyle/>
            <a:p>
              <a:endParaRPr lang="de-DE"/>
            </a:p>
          </p:txBody>
        </p:sp>
      </p:grpSp>
      <p:sp>
        <p:nvSpPr>
          <p:cNvPr id="60" name="Label OT Schutzziele"/>
          <p:cNvSpPr txBox="1"/>
          <p:nvPr/>
        </p:nvSpPr>
        <p:spPr>
          <a:xfrm>
            <a:off x="373063" y="4700000"/>
            <a:ext cx="5002937" cy="340000"/>
          </a:xfrm>
          <a:prstGeom prst="rect">
            <a:avLst/>
          </a:prstGeom>
          <a:noFill/>
        </p:spPr>
        <p:txBody>
          <a:bodyPr lIns="0" tIns="0" rIns="0" bIns="0" anchor="ctr"/>
          <a:lstStyle/>
          <a:p>
            <a:r>
              <a:rPr lang="de-DE" sz="1400" dirty="0">
                <a:solidFill>
                  <a:schemeClr val="accent3"/>
                </a:solidFill>
              </a:rPr>
              <a:t>Verfügbarkeit vor Integrität vor Vertraulichkeit</a:t>
            </a:r>
          </a:p>
        </p:txBody>
      </p:sp>
      <p:sp>
        <p:nvSpPr>
          <p:cNvPr id="61" name="Label IT Schutzziele"/>
          <p:cNvSpPr txBox="1"/>
          <p:nvPr/>
        </p:nvSpPr>
        <p:spPr>
          <a:xfrm>
            <a:off x="6816000" y="4700000"/>
            <a:ext cx="5002937" cy="340000"/>
          </a:xfrm>
          <a:prstGeom prst="rect">
            <a:avLst/>
          </a:prstGeom>
          <a:noFill/>
        </p:spPr>
        <p:txBody>
          <a:bodyPr lIns="0" tIns="0" rIns="0" bIns="0" anchor="ctr"/>
          <a:lstStyle/>
          <a:p>
            <a:r>
              <a:rPr lang="de-DE" sz="1400" dirty="0">
                <a:solidFill>
                  <a:schemeClr val="accent3"/>
                </a:solidFill>
              </a:rPr>
              <a:t>Vertraulichkeit vor Integrität vor Verfügbarkeit</a:t>
            </a:r>
          </a:p>
        </p:txBody>
      </p:sp>
      <p:sp>
        <p:nvSpPr>
          <p:cNvPr id="30" name="Aussagebalken"/>
          <p:cNvSpPr/>
          <p:nvPr/>
        </p:nvSpPr>
        <p:spPr>
          <a:xfrm>
            <a:off x="0" y="5330000"/>
            <a:ext cx="12192000" cy="800000"/>
          </a:xfrm>
          <a:prstGeom prst="rect">
            <a:avLst/>
          </a:prstGeom>
          <a:solidFill>
            <a:schemeClr val="accent5"/>
          </a:solidFill>
          <a:ln>
            <a:noFill/>
          </a:ln>
        </p:spPr>
        <p:txBody>
          <a:bodyPr lIns="373063" tIns="45720" rIns="373063" bIns="45720" anchor="ctr">
            <a:normAutofit/>
          </a:bodyPr>
          <a:lstStyle/>
          <a:p>
            <a:pPr algn="ctr"/>
            <a:r>
              <a:rPr lang="de-DE" sz="1800" b="1" dirty="0">
                <a:solidFill>
                  <a:srgbClr val="FFFFFF"/>
                </a:solidFill>
              </a:rPr>
              <a:t>Bisher geschlossene OT-Umgebungen werden für Bedrohungen aus dem IT-Netz erreichbar.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par>
                          <p:cTn id="13" fill="hold">
                            <p:stCondLst>
                              <p:cond delay="500"/>
                            </p:stCondLst>
                            <p:childTnLst>
                              <p:par>
                                <p:cTn id="14" presetID="1" presetClass="emph" presetSubtype="0" fill="hold" grpId="1" nodeType="afterEffect">
                                  <p:stCondLst>
                                    <p:cond delay="0"/>
                                  </p:stCondLst>
                                  <p:childTnLst>
                                    <p:anim calcmode="lin" valueType="num">
                                      <p:cBhvr additive="base">
                                        <p:cTn id="15" dur="500" autoRev="1" fill="hold"/>
                                        <p:tgtEl>
                                          <p:spTgt spid="20"/>
                                        </p:tgtEl>
                                        <p:attrNameLst>
                                          <p:attrName>style.opacity</p:attrName>
                                        </p:attrNameLst>
                                      </p:cBhvr>
                                      <p:tavLst>
                                        <p:tav tm="0">
                                          <p:val>
                                            <p:fltVal val="1"/>
                                          </p:val>
                                        </p:tav>
                                        <p:tav tm="100000">
                                          <p:val>
                                            <p:fltVal val="0.3"/>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20" grpId="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Cybersecurity wird zur Pflicht</a:t>
            </a:r>
          </a:p>
        </p:txBody>
      </p:sp>
      <p:grpSp>
        <p:nvGrpSpPr>
          <p:cNvPr id="10" name="Zeitstrahl"/>
          <p:cNvGrpSpPr/>
          <p:nvPr/>
        </p:nvGrpSpPr>
        <p:grpSpPr>
          <a:xfrm>
            <a:off x="373063" y="1300000"/>
            <a:ext cx="11445874" cy="1000000"/>
            <a:chOff x="373063" y="1300000"/>
            <a:chExt cx="11445874" cy="1000000"/>
          </a:xfrm>
        </p:grpSpPr>
        <p:sp>
          <p:nvSpPr>
            <p:cNvPr id="11" name="Zeitstrahl Linie"/>
            <p:cNvSpPr/>
            <p:nvPr/>
          </p:nvSpPr>
          <p:spPr>
            <a:xfrm>
              <a:off x="2073063" y="1880000"/>
              <a:ext cx="8045874" cy="0"/>
            </a:xfrm>
            <a:prstGeom prst="line">
              <a:avLst/>
            </a:prstGeom>
            <a:ln w="28575" cap="rnd">
              <a:solidFill>
                <a:schemeClr val="accent3"/>
              </a:solidFill>
              <a:prstDash val="dash"/>
            </a:ln>
          </p:spPr>
          <p:txBody>
            <a:bodyPr/>
            <a:lstStyle/>
            <a:p>
              <a:endParaRPr lang="de-DE"/>
            </a:p>
          </p:txBody>
        </p:sp>
        <p:sp>
          <p:nvSpPr>
            <p:cNvPr id="12" name="Marke 1"/>
            <p:cNvSpPr/>
            <p:nvPr/>
          </p:nvSpPr>
          <p:spPr>
            <a:xfrm>
              <a:off x="1983063" y="1790000"/>
              <a:ext cx="180000" cy="180000"/>
            </a:xfrm>
            <a:prstGeom prst="ellipse">
              <a:avLst/>
            </a:prstGeom>
            <a:solidFill>
              <a:schemeClr val="accent3"/>
            </a:solidFill>
            <a:ln>
              <a:noFill/>
            </a:ln>
          </p:spPr>
          <p:txBody>
            <a:bodyPr/>
            <a:lstStyle/>
            <a:p>
              <a:endParaRPr lang="de-DE"/>
            </a:p>
          </p:txBody>
        </p:sp>
        <p:sp>
          <p:nvSpPr>
            <p:cNvPr id="13" name="Marke 2"/>
            <p:cNvSpPr/>
            <p:nvPr/>
          </p:nvSpPr>
          <p:spPr>
            <a:xfrm>
              <a:off x="6006000" y="1790000"/>
              <a:ext cx="180000" cy="180000"/>
            </a:xfrm>
            <a:prstGeom prst="ellipse">
              <a:avLst/>
            </a:prstGeom>
            <a:solidFill>
              <a:schemeClr val="accent3"/>
            </a:solidFill>
            <a:ln>
              <a:noFill/>
            </a:ln>
          </p:spPr>
          <p:txBody>
            <a:bodyPr/>
            <a:lstStyle/>
            <a:p>
              <a:endParaRPr lang="de-DE"/>
            </a:p>
          </p:txBody>
        </p:sp>
        <p:sp>
          <p:nvSpPr>
            <p:cNvPr id="14" name="Marke 3"/>
            <p:cNvSpPr/>
            <p:nvPr/>
          </p:nvSpPr>
          <p:spPr>
            <a:xfrm>
              <a:off x="9928937" y="1690000"/>
              <a:ext cx="380000" cy="380000"/>
            </a:xfrm>
            <a:prstGeom prst="ellipse">
              <a:avLst/>
            </a:prstGeom>
            <a:solidFill>
              <a:schemeClr val="accent5"/>
            </a:solidFill>
            <a:ln>
              <a:noFill/>
            </a:ln>
          </p:spPr>
          <p:txBody>
            <a:bodyPr/>
            <a:lstStyle/>
            <a:p>
              <a:endParaRPr lang="de-DE"/>
            </a:p>
          </p:txBody>
        </p:sp>
        <p:sp>
          <p:nvSpPr>
            <p:cNvPr id="15" name="Zeitmarke Text 1"/>
            <p:cNvSpPr txBox="1"/>
            <p:nvPr/>
          </p:nvSpPr>
          <p:spPr>
            <a:xfrm>
              <a:off x="373063" y="1300000"/>
              <a:ext cx="3400000" cy="450000"/>
            </a:xfrm>
            <a:prstGeom prst="rect">
              <a:avLst/>
            </a:prstGeom>
            <a:noFill/>
          </p:spPr>
          <p:txBody>
            <a:bodyPr lIns="0" tIns="0" rIns="0" bIns="0" anchor="b"/>
            <a:lstStyle/>
            <a:p>
              <a:pPr algn="ctr"/>
              <a:r>
                <a:rPr lang="de-DE" sz="1400" b="1" dirty="0">
                  <a:solidFill>
                    <a:schemeClr val="accent1"/>
                  </a:solidFill>
                </a:rPr>
                <a:t>29.06.2023</a:t>
              </a:r>
            </a:p>
            <a:p>
              <a:pPr algn="ctr"/>
              <a:r>
                <a:rPr lang="de-DE" sz="1400" dirty="0">
                  <a:solidFill>
                    <a:schemeClr val="accent2"/>
                  </a:solidFill>
                </a:rPr>
                <a:t>Veröffentlichung im Amtsblatt der EU</a:t>
              </a:r>
            </a:p>
          </p:txBody>
        </p:sp>
        <p:sp>
          <p:nvSpPr>
            <p:cNvPr id="16" name="Zeitmarke Text 2"/>
            <p:cNvSpPr txBox="1"/>
            <p:nvPr/>
          </p:nvSpPr>
          <p:spPr>
            <a:xfrm>
              <a:off x="4396000" y="1300000"/>
              <a:ext cx="3400000" cy="450000"/>
            </a:xfrm>
            <a:prstGeom prst="rect">
              <a:avLst/>
            </a:prstGeom>
            <a:noFill/>
          </p:spPr>
          <p:txBody>
            <a:bodyPr lIns="0" tIns="0" rIns="0" bIns="0" anchor="b"/>
            <a:lstStyle/>
            <a:p>
              <a:pPr algn="ctr"/>
              <a:r>
                <a:rPr lang="de-DE" sz="1400" b="1" dirty="0">
                  <a:solidFill>
                    <a:schemeClr val="accent2"/>
                  </a:solidFill>
                </a:rPr>
                <a:t>Übergangsfrist</a:t>
              </a:r>
            </a:p>
          </p:txBody>
        </p:sp>
        <p:sp>
          <p:nvSpPr>
            <p:cNvPr id="17" name="Zeitmarke Text 3"/>
            <p:cNvSpPr txBox="1"/>
            <p:nvPr/>
          </p:nvSpPr>
          <p:spPr>
            <a:xfrm>
              <a:off x="8418937" y="1300000"/>
              <a:ext cx="3400000" cy="450000"/>
            </a:xfrm>
            <a:prstGeom prst="rect">
              <a:avLst/>
            </a:prstGeom>
            <a:noFill/>
          </p:spPr>
          <p:txBody>
            <a:bodyPr lIns="0" tIns="0" rIns="0" bIns="0" anchor="b"/>
            <a:lstStyle/>
            <a:p>
              <a:pPr algn="ctr"/>
              <a:r>
                <a:rPr lang="de-DE" sz="1400" b="1" dirty="0">
                  <a:solidFill>
                    <a:schemeClr val="accent5"/>
                  </a:solidFill>
                </a:rPr>
                <a:t>20.01.2027</a:t>
              </a:r>
            </a:p>
            <a:p>
              <a:pPr algn="ctr"/>
              <a:r>
                <a:rPr lang="de-DE" sz="1400" b="1" dirty="0">
                  <a:solidFill>
                    <a:schemeClr val="accent5"/>
                  </a:solidFill>
                </a:rPr>
                <a:t>verbindliche Anwendung</a:t>
              </a:r>
            </a:p>
          </p:txBody>
        </p:sp>
        <p:sp>
          <p:nvSpPr>
            <p:cNvPr id="18" name="Unterschrift Marke 3"/>
            <p:cNvSpPr txBox="1"/>
            <p:nvPr/>
          </p:nvSpPr>
          <p:spPr>
            <a:xfrm>
              <a:off x="8418937" y="2080000"/>
              <a:ext cx="3400000" cy="220000"/>
            </a:xfrm>
            <a:prstGeom prst="rect">
              <a:avLst/>
            </a:prstGeom>
            <a:noFill/>
          </p:spPr>
          <p:txBody>
            <a:bodyPr lIns="0" tIns="0" rIns="0" bIns="0" anchor="t"/>
            <a:lstStyle/>
            <a:p>
              <a:pPr algn="ctr"/>
              <a:r>
                <a:rPr lang="de-DE" sz="1400" dirty="0">
                  <a:solidFill>
                    <a:schemeClr val="accent3"/>
                  </a:solidFill>
                </a:rPr>
                <a:t>Ablösung der Maschinenrichtlinie 2006/42/EG</a:t>
              </a:r>
            </a:p>
          </p:txBody>
        </p:sp>
      </p:grpSp>
      <p:sp>
        <p:nvSpPr>
          <p:cNvPr id="20" name="Karte Maschinenrichtlinie"/>
          <p:cNvSpPr/>
          <p:nvPr/>
        </p:nvSpPr>
        <p:spPr>
          <a:xfrm>
            <a:off x="373063" y="2650000"/>
            <a:ext cx="5152937" cy="2150000"/>
          </a:xfrm>
          <a:prstGeom prst="rect">
            <a:avLst/>
          </a:prstGeom>
          <a:solidFill>
            <a:schemeClr val="accent4"/>
          </a:solidFill>
          <a:ln>
            <a:noFill/>
          </a:ln>
        </p:spPr>
        <p:txBody>
          <a:bodyPr lIns="365760" tIns="320040" rIns="365760" bIns="320040" anchor="ctr">
            <a:normAutofit/>
          </a:bodyPr>
          <a:lstStyle/>
          <a:p>
            <a:r>
              <a:rPr lang="de-DE" sz="2000" b="1" dirty="0">
                <a:solidFill>
                  <a:schemeClr val="accent1"/>
                </a:solidFill>
              </a:rPr>
              <a:t>Maschinenrichtlinie 2006/42/EG</a:t>
            </a:r>
          </a:p>
          <a:p>
            <a:endParaRPr lang="de-DE" sz="1000" dirty="0"/>
          </a:p>
          <a:p>
            <a:r>
              <a:rPr lang="de-DE" sz="1600" dirty="0">
                <a:solidFill>
                  <a:schemeClr val="accent1"/>
                </a:solidFill>
              </a:rPr>
              <a:t>Fokus auf funktionalem Verhalten und Safety</a:t>
            </a:r>
          </a:p>
          <a:p>
            <a:r>
              <a:rPr lang="de-DE" sz="1600" dirty="0">
                <a:solidFill>
                  <a:schemeClr val="accent1"/>
                </a:solidFill>
              </a:rPr>
              <a:t>Cybersecurity nicht verpflichtend</a:t>
            </a:r>
          </a:p>
        </p:txBody>
      </p:sp>
      <p:grpSp>
        <p:nvGrpSpPr>
          <p:cNvPr id="30" name="Pfeil und Karte Verordnung"/>
          <p:cNvGrpSpPr/>
          <p:nvPr/>
        </p:nvGrpSpPr>
        <p:grpSpPr>
          <a:xfrm>
            <a:off x="5646000" y="2650000"/>
            <a:ext cx="6172937" cy="2150000"/>
            <a:chOff x="5646000" y="2650000"/>
            <a:chExt cx="6172937" cy="2150000"/>
          </a:xfrm>
        </p:grpSpPr>
        <p:sp>
          <p:nvSpPr>
            <p:cNvPr id="31" name="Pfeil"/>
            <p:cNvSpPr/>
            <p:nvPr/>
          </p:nvSpPr>
          <p:spPr>
            <a:xfrm>
              <a:off x="5646000" y="3525000"/>
              <a:ext cx="900000" cy="400000"/>
            </a:xfrm>
            <a:prstGeom prst="rightArrow">
              <a:avLst/>
            </a:prstGeom>
            <a:solidFill>
              <a:schemeClr val="accent5"/>
            </a:solidFill>
            <a:ln>
              <a:noFill/>
            </a:ln>
          </p:spPr>
          <p:txBody>
            <a:bodyPr/>
            <a:lstStyle/>
            <a:p>
              <a:endParaRPr lang="de-DE"/>
            </a:p>
          </p:txBody>
        </p:sp>
        <p:sp>
          <p:nvSpPr>
            <p:cNvPr id="32" name="Karte Verordnung"/>
            <p:cNvSpPr/>
            <p:nvPr/>
          </p:nvSpPr>
          <p:spPr>
            <a:xfrm>
              <a:off x="6666000" y="2650000"/>
              <a:ext cx="5152937" cy="2150000"/>
            </a:xfrm>
            <a:prstGeom prst="rect">
              <a:avLst/>
            </a:prstGeom>
            <a:solidFill>
              <a:schemeClr val="accent5"/>
            </a:solidFill>
            <a:ln>
              <a:noFill/>
            </a:ln>
          </p:spPr>
          <p:txBody>
            <a:bodyPr lIns="365760" tIns="320040" rIns="365760" bIns="320040" anchor="ctr">
              <a:normAutofit/>
            </a:bodyPr>
            <a:lstStyle/>
            <a:p>
              <a:r>
                <a:rPr lang="de-DE" sz="2000" b="1" dirty="0">
                  <a:solidFill>
                    <a:srgbClr val="FFFFFF"/>
                  </a:solidFill>
                </a:rPr>
                <a:t>Verordnung (EU) 2023/1230</a:t>
              </a:r>
            </a:p>
            <a:p>
              <a:endParaRPr lang="de-DE" sz="1000" dirty="0"/>
            </a:p>
            <a:p>
              <a:r>
                <a:rPr lang="de-DE" sz="1600" dirty="0">
                  <a:solidFill>
                    <a:srgbClr val="FFFFFF"/>
                  </a:solidFill>
                </a:rPr>
                <a:t>Schutz vor Korruption als Teil der Konformitätsbewertung</a:t>
              </a:r>
            </a:p>
            <a:p>
              <a:r>
                <a:rPr lang="de-DE" sz="1600" dirty="0">
                  <a:solidFill>
                    <a:srgbClr val="FFFFFF"/>
                  </a:solidFill>
                </a:rPr>
                <a:t>Anhang III, Abschnitte 1.1.9 und 1.2.1</a:t>
              </a:r>
            </a:p>
          </p:txBody>
        </p:sp>
      </p:grpSp>
      <p:sp>
        <p:nvSpPr>
          <p:cNvPr id="40" name="Aussagebalken"/>
          <p:cNvSpPr/>
          <p:nvPr/>
        </p:nvSpPr>
        <p:spPr>
          <a:xfrm>
            <a:off x="0" y="5150000"/>
            <a:ext cx="12192000" cy="800000"/>
          </a:xfrm>
          <a:prstGeom prst="rect">
            <a:avLst/>
          </a:prstGeom>
          <a:solidFill>
            <a:schemeClr val="accent1"/>
          </a:solidFill>
          <a:ln>
            <a:noFill/>
          </a:ln>
        </p:spPr>
        <p:txBody>
          <a:bodyPr lIns="373063" tIns="45720" rIns="373063" bIns="45720" anchor="ctr">
            <a:normAutofit/>
          </a:bodyPr>
          <a:lstStyle/>
          <a:p>
            <a:pPr algn="ctr"/>
            <a:r>
              <a:rPr lang="de-DE" sz="1800" b="1" dirty="0">
                <a:solidFill>
                  <a:srgbClr val="FFFFFF"/>
                </a:solidFill>
              </a:rPr>
              <a:t>Funktionale Sicherheit ist nicht mehr unabhängig von der Cybersicherheit bewertbar.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nimBg="1"/>
      <p:bldP spid="30" grpId="0"/>
      <p:bldP spid="4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Die Lücke zwischen Anspruch und Praxis</a:t>
            </a:r>
          </a:p>
        </p:txBody>
      </p:sp>
      <p:grpSp>
        <p:nvGrpSpPr>
          <p:cNvPr id="10" name="Gegenueberstellung"/>
          <p:cNvGrpSpPr/>
          <p:nvPr/>
        </p:nvGrpSpPr>
        <p:grpSpPr>
          <a:xfrm>
            <a:off x="373063" y="1350000"/>
            <a:ext cx="11445874" cy="1250000"/>
            <a:chOff x="373063" y="1350000"/>
            <a:chExt cx="11445874" cy="1250000"/>
          </a:xfrm>
        </p:grpSpPr>
        <p:sp>
          <p:nvSpPr>
            <p:cNvPr id="11" name="Block Regulatorische Erwartung"/>
            <p:cNvSpPr/>
            <p:nvPr/>
          </p:nvSpPr>
          <p:spPr>
            <a:xfrm>
              <a:off x="373063" y="1350000"/>
              <a:ext cx="4200000" cy="1250000"/>
            </a:xfrm>
            <a:prstGeom prst="rect">
              <a:avLst/>
            </a:prstGeom>
            <a:solidFill>
              <a:schemeClr val="accent5"/>
            </a:solidFill>
            <a:ln>
              <a:noFill/>
            </a:ln>
          </p:spPr>
          <p:txBody>
            <a:bodyPr lIns="274320" tIns="182880" rIns="274320" bIns="182880" anchor="ctr">
              <a:normAutofit/>
            </a:bodyPr>
            <a:lstStyle/>
            <a:p>
              <a:r>
                <a:rPr lang="de-DE" sz="1800" b="1" dirty="0">
                  <a:solidFill>
                    <a:srgbClr val="FFFFFF"/>
                  </a:solidFill>
                </a:rPr>
                <a:t>Regulatorische Erwartung</a:t>
              </a:r>
            </a:p>
            <a:p>
              <a:r>
                <a:rPr lang="de-DE" sz="1400" dirty="0">
                  <a:solidFill>
                    <a:srgbClr val="FFFFFF"/>
                  </a:solidFill>
                </a:rPr>
                <a:t>systematischer Nachweis von Security-Funktionen</a:t>
              </a:r>
            </a:p>
          </p:txBody>
        </p:sp>
        <p:sp>
          <p:nvSpPr>
            <p:cNvPr id="12" name="Block Etablierte Validierung"/>
            <p:cNvSpPr/>
            <p:nvPr/>
          </p:nvSpPr>
          <p:spPr>
            <a:xfrm>
              <a:off x="7618937" y="1350000"/>
              <a:ext cx="4200000" cy="1250000"/>
            </a:xfrm>
            <a:prstGeom prst="rect">
              <a:avLst/>
            </a:prstGeom>
            <a:solidFill>
              <a:schemeClr val="accent4"/>
            </a:solidFill>
            <a:ln>
              <a:noFill/>
            </a:ln>
          </p:spPr>
          <p:txBody>
            <a:bodyPr lIns="274320" tIns="182880" rIns="274320" bIns="182880" anchor="ctr">
              <a:normAutofit/>
            </a:bodyPr>
            <a:lstStyle/>
            <a:p>
              <a:r>
                <a:rPr lang="de-DE" sz="1800" b="1" dirty="0">
                  <a:solidFill>
                    <a:schemeClr val="accent1"/>
                  </a:solidFill>
                </a:rPr>
                <a:t>Etablierte Validierung</a:t>
              </a:r>
            </a:p>
            <a:p>
              <a:r>
                <a:rPr lang="de-DE" sz="1400" dirty="0">
                  <a:solidFill>
                    <a:schemeClr val="accent1"/>
                  </a:solidFill>
                </a:rPr>
                <a:t>funktional und sicherheitstechnisch, aber nicht security-getrieben</a:t>
              </a:r>
            </a:p>
          </p:txBody>
        </p:sp>
      </p:grpSp>
      <p:sp>
        <p:nvSpPr>
          <p:cNvPr id="20" name="Luecke"/>
          <p:cNvSpPr/>
          <p:nvPr/>
        </p:nvSpPr>
        <p:spPr>
          <a:xfrm>
            <a:off x="4896000" y="1550000"/>
            <a:ext cx="2400000" cy="850000"/>
          </a:xfrm>
          <a:prstGeom prst="rect">
            <a:avLst/>
          </a:prstGeom>
          <a:solidFill>
            <a:srgbClr val="C00000"/>
          </a:solidFill>
          <a:ln w="57150">
            <a:solidFill>
              <a:srgbClr val="7F0000"/>
            </a:solidFill>
          </a:ln>
        </p:spPr>
        <p:txBody>
          <a:bodyPr lIns="137160" tIns="91440" rIns="137160" bIns="91440" anchor="ctr">
            <a:normAutofit fontScale="92500" lnSpcReduction="20000"/>
          </a:bodyPr>
          <a:lstStyle/>
          <a:p>
            <a:pPr algn="ctr"/>
            <a:r>
              <a:rPr lang="de-DE" sz="1800" b="1" dirty="0">
                <a:solidFill>
                  <a:srgbClr val="FFFFFF"/>
                </a:solidFill>
              </a:rPr>
              <a:t>Keine systematische Methodik</a:t>
            </a:r>
          </a:p>
        </p:txBody>
      </p:sp>
      <p:sp>
        <p:nvSpPr>
          <p:cNvPr id="31" name="Kachel 1"/>
          <p:cNvSpPr/>
          <p:nvPr/>
        </p:nvSpPr>
        <p:spPr>
          <a:xfrm>
            <a:off x="373063"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1</a:t>
            </a:r>
          </a:p>
          <a:p>
            <a:r>
              <a:rPr lang="de-DE" sz="2000" b="1" dirty="0">
                <a:solidFill>
                  <a:schemeClr val="accent1"/>
                </a:solidFill>
              </a:rPr>
              <a:t>Ableitung</a:t>
            </a:r>
          </a:p>
          <a:p>
            <a:r>
              <a:rPr lang="de-DE" sz="1400" dirty="0">
                <a:solidFill>
                  <a:schemeClr val="accent2"/>
                </a:solidFill>
              </a:rPr>
              <a:t>Wie werden Maschinenpflichten zu prüfbaren Komponentenanforderungen?</a:t>
            </a:r>
          </a:p>
        </p:txBody>
      </p:sp>
      <p:sp>
        <p:nvSpPr>
          <p:cNvPr id="32" name="Kachel 2"/>
          <p:cNvSpPr/>
          <p:nvPr/>
        </p:nvSpPr>
        <p:spPr>
          <a:xfrm>
            <a:off x="4255021"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2</a:t>
            </a:r>
          </a:p>
          <a:p>
            <a:r>
              <a:rPr lang="de-DE" sz="2000" b="1" dirty="0">
                <a:solidFill>
                  <a:schemeClr val="accent1"/>
                </a:solidFill>
              </a:rPr>
              <a:t>Anwendbarkeit</a:t>
            </a:r>
          </a:p>
          <a:p>
            <a:r>
              <a:rPr lang="de-DE" sz="1400" dirty="0">
                <a:solidFill>
                  <a:schemeClr val="accent2"/>
                </a:solidFill>
              </a:rPr>
              <a:t>Welche Firmentests passen auf ein industrielles Gateway?</a:t>
            </a:r>
          </a:p>
        </p:txBody>
      </p:sp>
      <p:sp>
        <p:nvSpPr>
          <p:cNvPr id="33" name="Kachel 3"/>
          <p:cNvSpPr/>
          <p:nvPr/>
        </p:nvSpPr>
        <p:spPr>
          <a:xfrm>
            <a:off x="8136979"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3</a:t>
            </a:r>
          </a:p>
          <a:p>
            <a:r>
              <a:rPr lang="de-DE" sz="2000" b="1" dirty="0">
                <a:solidFill>
                  <a:schemeClr val="accent1"/>
                </a:solidFill>
              </a:rPr>
              <a:t>Reichweite</a:t>
            </a:r>
          </a:p>
          <a:p>
            <a:r>
              <a:rPr lang="de-DE" sz="1400" dirty="0">
                <a:solidFill>
                  <a:schemeClr val="accent2"/>
                </a:solidFill>
              </a:rPr>
              <a:t>Was kann Direktzugriffstestung an der IT/OT-Grenze zeigen und wo liegen ihre Grenzen?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Warum IT-Sicherheitsdenken in der OT nicht greift</a:t>
            </a:r>
          </a:p>
        </p:txBody>
      </p:sp>
      <p:grpSp>
        <p:nvGrpSpPr>
          <p:cNvPr id="10" name="Tabellenkoepfe"/>
          <p:cNvGrpSpPr/>
          <p:nvPr/>
        </p:nvGrpSpPr>
        <p:grpSpPr>
          <a:xfrm>
            <a:off x="373063" y="1300000"/>
            <a:ext cx="11445874" cy="500000"/>
            <a:chOff x="373063" y="1300000"/>
            <a:chExt cx="11445874" cy="500000"/>
          </a:xfrm>
        </p:grpSpPr>
        <p:sp>
          <p:nvSpPr>
            <p:cNvPr id="11" name="hk"/>
            <p:cNvSpPr/>
            <p:nvPr/>
          </p:nvSpPr>
          <p:spPr>
            <a:xfrm>
              <a:off x="373063" y="1300000"/>
              <a:ext cx="3045874" cy="500000"/>
            </a:xfrm>
            <a:prstGeom prst="rect">
              <a:avLst/>
            </a:prstGeom>
            <a:noFill/>
            <a:ln>
              <a:noFill/>
            </a:ln>
          </p:spPr>
          <p:txBody>
            <a:bodyPr lIns="137160" tIns="45720" rIns="137160" bIns="45720" anchor="ctr">
              <a:normAutofit/>
            </a:bodyPr>
            <a:lstStyle/>
            <a:p>
              <a:pPr algn="l"/>
              <a:endParaRPr/>
            </a:p>
          </p:txBody>
        </p:sp>
        <p:sp>
          <p:nvSpPr>
            <p:cNvPr id="12" name="IT"/>
            <p:cNvSpPr/>
            <p:nvPr/>
          </p:nvSpPr>
          <p:spPr>
            <a:xfrm>
              <a:off x="3418937" y="1300000"/>
              <a:ext cx="4200000" cy="500000"/>
            </a:xfrm>
            <a:prstGeom prst="rect">
              <a:avLst/>
            </a:prstGeom>
            <a:solidFill>
              <a:schemeClr val="accent4"/>
            </a:solidFill>
            <a:ln>
              <a:noFill/>
            </a:ln>
          </p:spPr>
          <p:txBody>
            <a:bodyPr lIns="137160" tIns="45720" rIns="137160" bIns="45720" anchor="ctr">
              <a:normAutofit/>
            </a:bodyPr>
            <a:lstStyle/>
            <a:p>
              <a:pPr algn="ctr"/>
              <a:r>
                <a:rPr lang="de-DE" sz="1800" b="1" dirty="0">
                  <a:solidFill>
                    <a:schemeClr val="accent1"/>
                  </a:solidFill>
                </a:rPr>
                <a:t>IT</a:t>
              </a:r>
            </a:p>
          </p:txBody>
        </p:sp>
        <p:sp>
          <p:nvSpPr>
            <p:cNvPr id="13" name="OT"/>
            <p:cNvSpPr/>
            <p:nvPr/>
          </p:nvSpPr>
          <p:spPr>
            <a:xfrm>
              <a:off x="7618937" y="1300000"/>
              <a:ext cx="4200000" cy="500000"/>
            </a:xfrm>
            <a:prstGeom prst="rect">
              <a:avLst/>
            </a:prstGeom>
            <a:solidFill>
              <a:schemeClr val="accent5"/>
            </a:solidFill>
            <a:ln>
              <a:noFill/>
            </a:ln>
          </p:spPr>
          <p:txBody>
            <a:bodyPr lIns="137160" tIns="45720" rIns="137160" bIns="45720" anchor="ctr">
              <a:normAutofit/>
            </a:bodyPr>
            <a:lstStyle/>
            <a:p>
              <a:pPr algn="ctr"/>
              <a:r>
                <a:rPr lang="de-DE" sz="1800" b="1" dirty="0">
                  <a:solidFill>
                    <a:srgbClr val="FFFFFF"/>
                  </a:solidFill>
                </a:rPr>
                <a:t>OT</a:t>
              </a:r>
            </a:p>
          </p:txBody>
        </p:sp>
      </p:grpSp>
      <p:grpSp>
        <p:nvGrpSpPr>
          <p:cNvPr id="20" name="Zeile1"/>
          <p:cNvGrpSpPr/>
          <p:nvPr/>
        </p:nvGrpSpPr>
        <p:grpSpPr>
          <a:xfrm>
            <a:off x="373063" y="1820000"/>
            <a:ext cx="11445874" cy="620000"/>
            <a:chOff x="373063" y="1820000"/>
            <a:chExt cx="11445874" cy="620000"/>
          </a:xfrm>
        </p:grpSpPr>
        <p:sp>
          <p:nvSpPr>
            <p:cNvPr id="21" name="a"/>
            <p:cNvSpPr/>
            <p:nvPr/>
          </p:nvSpPr>
          <p:spPr>
            <a:xfrm>
              <a:off x="373063" y="1820000"/>
              <a:ext cx="3045874" cy="620000"/>
            </a:xfrm>
            <a:prstGeom prst="rect">
              <a:avLst/>
            </a:prstGeom>
            <a:solidFill>
              <a:srgbClr val="F2F2F2"/>
            </a:solidFill>
            <a:ln w="12700">
              <a:solidFill>
                <a:schemeClr val="accent4"/>
              </a:solidFill>
            </a:ln>
          </p:spPr>
          <p:txBody>
            <a:bodyPr lIns="137160" tIns="45720" rIns="137160" bIns="45720" anchor="ctr">
              <a:normAutofit/>
            </a:bodyPr>
            <a:lstStyle/>
            <a:p>
              <a:pPr algn="l"/>
              <a:r>
                <a:rPr lang="de-DE" sz="1400" b="1" dirty="0">
                  <a:solidFill>
                    <a:schemeClr val="accent1"/>
                  </a:solidFill>
                </a:rPr>
                <a:t>Primärer Fokus</a:t>
              </a:r>
            </a:p>
          </p:txBody>
        </p:sp>
        <p:sp>
          <p:nvSpPr>
            <p:cNvPr id="22" name="b"/>
            <p:cNvSpPr/>
            <p:nvPr/>
          </p:nvSpPr>
          <p:spPr>
            <a:xfrm>
              <a:off x="3418937" y="182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Informationsverarbeitung und Datenfluss</a:t>
              </a:r>
            </a:p>
          </p:txBody>
        </p:sp>
        <p:sp>
          <p:nvSpPr>
            <p:cNvPr id="23" name="c"/>
            <p:cNvSpPr/>
            <p:nvPr/>
          </p:nvSpPr>
          <p:spPr>
            <a:xfrm>
              <a:off x="7618937" y="182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Überwachung und Steuerung physischer Prozesse</a:t>
              </a:r>
            </a:p>
          </p:txBody>
        </p:sp>
      </p:grpSp>
      <p:grpSp>
        <p:nvGrpSpPr>
          <p:cNvPr id="30" name="Zeile2"/>
          <p:cNvGrpSpPr/>
          <p:nvPr/>
        </p:nvGrpSpPr>
        <p:grpSpPr>
          <a:xfrm>
            <a:off x="373063" y="2480000"/>
            <a:ext cx="11445874" cy="620000"/>
            <a:chOff x="373063" y="2480000"/>
            <a:chExt cx="11445874" cy="620000"/>
          </a:xfrm>
        </p:grpSpPr>
        <p:sp>
          <p:nvSpPr>
            <p:cNvPr id="31" name="a"/>
            <p:cNvSpPr/>
            <p:nvPr/>
          </p:nvSpPr>
          <p:spPr>
            <a:xfrm>
              <a:off x="373063" y="2480000"/>
              <a:ext cx="3045874" cy="620000"/>
            </a:xfrm>
            <a:prstGeom prst="rect">
              <a:avLst/>
            </a:prstGeom>
            <a:solidFill>
              <a:schemeClr val="accent5"/>
            </a:solidFill>
            <a:ln>
              <a:noFill/>
            </a:ln>
          </p:spPr>
          <p:txBody>
            <a:bodyPr lIns="137160" tIns="45720" rIns="137160" bIns="45720" anchor="ctr">
              <a:normAutofit/>
            </a:bodyPr>
            <a:lstStyle/>
            <a:p>
              <a:pPr algn="l"/>
              <a:r>
                <a:rPr lang="de-DE" sz="1400" b="1" dirty="0">
                  <a:solidFill>
                    <a:srgbClr val="FFFFFF"/>
                  </a:solidFill>
                </a:rPr>
                <a:t>Schutzzielpriorität</a:t>
              </a:r>
            </a:p>
          </p:txBody>
        </p:sp>
        <p:sp>
          <p:nvSpPr>
            <p:cNvPr id="32" name="b"/>
            <p:cNvSpPr/>
            <p:nvPr/>
          </p:nvSpPr>
          <p:spPr>
            <a:xfrm>
              <a:off x="3418937" y="2480000"/>
              <a:ext cx="4200000" cy="620000"/>
            </a:xfrm>
            <a:prstGeom prst="rect">
              <a:avLst/>
            </a:prstGeom>
            <a:solidFill>
              <a:schemeClr val="accent5"/>
            </a:solidFill>
            <a:ln>
              <a:noFill/>
            </a:ln>
          </p:spPr>
          <p:txBody>
            <a:bodyPr lIns="137160" tIns="45720" rIns="137160" bIns="45720" anchor="ctr">
              <a:normAutofit/>
            </a:bodyPr>
            <a:lstStyle/>
            <a:p>
              <a:pPr algn="l"/>
              <a:r>
                <a:rPr lang="de-DE" sz="1400" b="1" dirty="0">
                  <a:solidFill>
                    <a:srgbClr val="FFFFFF"/>
                  </a:solidFill>
                </a:rPr>
                <a:t>Vertraulichkeit vor Integrität vor Verfügbarkeit</a:t>
              </a:r>
            </a:p>
          </p:txBody>
        </p:sp>
        <p:sp>
          <p:nvSpPr>
            <p:cNvPr id="33" name="c"/>
            <p:cNvSpPr/>
            <p:nvPr/>
          </p:nvSpPr>
          <p:spPr>
            <a:xfrm>
              <a:off x="7618937" y="2480000"/>
              <a:ext cx="4200000" cy="620000"/>
            </a:xfrm>
            <a:prstGeom prst="rect">
              <a:avLst/>
            </a:prstGeom>
            <a:solidFill>
              <a:schemeClr val="accent5"/>
            </a:solidFill>
            <a:ln>
              <a:noFill/>
            </a:ln>
          </p:spPr>
          <p:txBody>
            <a:bodyPr lIns="137160" tIns="45720" rIns="137160" bIns="45720" anchor="ctr">
              <a:normAutofit/>
            </a:bodyPr>
            <a:lstStyle/>
            <a:p>
              <a:pPr algn="l"/>
              <a:r>
                <a:rPr lang="de-DE" sz="1400" b="1" dirty="0">
                  <a:solidFill>
                    <a:srgbClr val="FFFFFF"/>
                  </a:solidFill>
                </a:rPr>
                <a:t>Verfügbarkeit vor Integrität vor Vertraulichkeit</a:t>
              </a:r>
            </a:p>
          </p:txBody>
        </p:sp>
      </p:grpSp>
      <p:grpSp>
        <p:nvGrpSpPr>
          <p:cNvPr id="40" name="Zeile3"/>
          <p:cNvGrpSpPr/>
          <p:nvPr/>
        </p:nvGrpSpPr>
        <p:grpSpPr>
          <a:xfrm>
            <a:off x="373063" y="3140000"/>
            <a:ext cx="11445874" cy="620000"/>
            <a:chOff x="373063" y="3140000"/>
            <a:chExt cx="11445874" cy="620000"/>
          </a:xfrm>
        </p:grpSpPr>
        <p:sp>
          <p:nvSpPr>
            <p:cNvPr id="41" name="a"/>
            <p:cNvSpPr/>
            <p:nvPr/>
          </p:nvSpPr>
          <p:spPr>
            <a:xfrm>
              <a:off x="373063" y="3140000"/>
              <a:ext cx="3045874" cy="620000"/>
            </a:xfrm>
            <a:prstGeom prst="rect">
              <a:avLst/>
            </a:prstGeom>
            <a:solidFill>
              <a:srgbClr val="F2F2F2"/>
            </a:solidFill>
            <a:ln w="12700">
              <a:solidFill>
                <a:schemeClr val="accent4"/>
              </a:solidFill>
            </a:ln>
          </p:spPr>
          <p:txBody>
            <a:bodyPr lIns="137160" tIns="45720" rIns="137160" bIns="45720" anchor="ctr">
              <a:normAutofit/>
            </a:bodyPr>
            <a:lstStyle/>
            <a:p>
              <a:pPr algn="l"/>
              <a:r>
                <a:rPr lang="de-DE" sz="1400" b="1" dirty="0">
                  <a:solidFill>
                    <a:schemeClr val="accent1"/>
                  </a:solidFill>
                </a:rPr>
                <a:t>Kernschutzziele</a:t>
              </a:r>
            </a:p>
          </p:txBody>
        </p:sp>
        <p:sp>
          <p:nvSpPr>
            <p:cNvPr id="42" name="b"/>
            <p:cNvSpPr/>
            <p:nvPr/>
          </p:nvSpPr>
          <p:spPr>
            <a:xfrm>
              <a:off x="3418937" y="314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Authentifizierung, Nichtabstreitbarkeit</a:t>
              </a:r>
            </a:p>
          </p:txBody>
        </p:sp>
        <p:sp>
          <p:nvSpPr>
            <p:cNvPr id="43" name="c"/>
            <p:cNvSpPr/>
            <p:nvPr/>
          </p:nvSpPr>
          <p:spPr>
            <a:xfrm>
              <a:off x="7618937" y="314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Echtzeitverfügbarkeit, funktionale Sicherheit</a:t>
              </a:r>
            </a:p>
          </p:txBody>
        </p:sp>
      </p:grpSp>
      <p:grpSp>
        <p:nvGrpSpPr>
          <p:cNvPr id="50" name="Zeile4"/>
          <p:cNvGrpSpPr/>
          <p:nvPr/>
        </p:nvGrpSpPr>
        <p:grpSpPr>
          <a:xfrm>
            <a:off x="373063" y="3800000"/>
            <a:ext cx="11445874" cy="620000"/>
            <a:chOff x="373063" y="3800000"/>
            <a:chExt cx="11445874" cy="620000"/>
          </a:xfrm>
        </p:grpSpPr>
        <p:sp>
          <p:nvSpPr>
            <p:cNvPr id="51" name="a"/>
            <p:cNvSpPr/>
            <p:nvPr/>
          </p:nvSpPr>
          <p:spPr>
            <a:xfrm>
              <a:off x="373063" y="3800000"/>
              <a:ext cx="3045874" cy="620000"/>
            </a:xfrm>
            <a:prstGeom prst="rect">
              <a:avLst/>
            </a:prstGeom>
            <a:solidFill>
              <a:srgbClr val="F2F2F2"/>
            </a:solidFill>
            <a:ln w="12700">
              <a:solidFill>
                <a:schemeClr val="accent4"/>
              </a:solidFill>
            </a:ln>
          </p:spPr>
          <p:txBody>
            <a:bodyPr lIns="137160" tIns="45720" rIns="137160" bIns="45720" anchor="ctr">
              <a:normAutofit/>
            </a:bodyPr>
            <a:lstStyle/>
            <a:p>
              <a:pPr algn="l"/>
              <a:r>
                <a:rPr lang="de-DE" sz="1400" b="1" dirty="0">
                  <a:solidFill>
                    <a:schemeClr val="accent1"/>
                  </a:solidFill>
                </a:rPr>
                <a:t>Protokollbeispiele</a:t>
              </a:r>
            </a:p>
          </p:txBody>
        </p:sp>
        <p:sp>
          <p:nvSpPr>
            <p:cNvPr id="52" name="b"/>
            <p:cNvSpPr/>
            <p:nvPr/>
          </p:nvSpPr>
          <p:spPr>
            <a:xfrm>
              <a:off x="3418937" y="380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TCP/IP, HTTP(S)</a:t>
              </a:r>
            </a:p>
          </p:txBody>
        </p:sp>
        <p:sp>
          <p:nvSpPr>
            <p:cNvPr id="53" name="c"/>
            <p:cNvSpPr/>
            <p:nvPr/>
          </p:nvSpPr>
          <p:spPr>
            <a:xfrm>
              <a:off x="7618937" y="380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Modbus, PROFINET</a:t>
              </a:r>
            </a:p>
          </p:txBody>
        </p:sp>
      </p:grpSp>
      <p:grpSp>
        <p:nvGrpSpPr>
          <p:cNvPr id="60" name="Zeile5"/>
          <p:cNvGrpSpPr/>
          <p:nvPr/>
        </p:nvGrpSpPr>
        <p:grpSpPr>
          <a:xfrm>
            <a:off x="373063" y="4460000"/>
            <a:ext cx="11445874" cy="620000"/>
            <a:chOff x="373063" y="4460000"/>
            <a:chExt cx="11445874" cy="620000"/>
          </a:xfrm>
        </p:grpSpPr>
        <p:sp>
          <p:nvSpPr>
            <p:cNvPr id="61" name="a"/>
            <p:cNvSpPr/>
            <p:nvPr/>
          </p:nvSpPr>
          <p:spPr>
            <a:xfrm>
              <a:off x="373063" y="4460000"/>
              <a:ext cx="3045874" cy="620000"/>
            </a:xfrm>
            <a:prstGeom prst="rect">
              <a:avLst/>
            </a:prstGeom>
            <a:solidFill>
              <a:srgbClr val="F2F2F2"/>
            </a:solidFill>
            <a:ln w="12700">
              <a:solidFill>
                <a:schemeClr val="accent4"/>
              </a:solidFill>
            </a:ln>
          </p:spPr>
          <p:txBody>
            <a:bodyPr lIns="137160" tIns="45720" rIns="137160" bIns="45720" anchor="ctr">
              <a:normAutofit/>
            </a:bodyPr>
            <a:lstStyle/>
            <a:p>
              <a:pPr algn="l"/>
              <a:r>
                <a:rPr lang="de-DE" sz="1400" b="1" dirty="0">
                  <a:solidFill>
                    <a:schemeClr val="accent1"/>
                  </a:solidFill>
                </a:rPr>
                <a:t>Update-Zyklen</a:t>
              </a:r>
            </a:p>
          </p:txBody>
        </p:sp>
        <p:sp>
          <p:nvSpPr>
            <p:cNvPr id="62" name="b"/>
            <p:cNvSpPr/>
            <p:nvPr/>
          </p:nvSpPr>
          <p:spPr>
            <a:xfrm>
              <a:off x="3418937" y="446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regelmäßig, häufig, automatisiert</a:t>
              </a:r>
            </a:p>
          </p:txBody>
        </p:sp>
        <p:sp>
          <p:nvSpPr>
            <p:cNvPr id="63" name="c"/>
            <p:cNvSpPr/>
            <p:nvPr/>
          </p:nvSpPr>
          <p:spPr>
            <a:xfrm>
              <a:off x="7618937" y="4460000"/>
              <a:ext cx="4200000" cy="620000"/>
            </a:xfrm>
            <a:prstGeom prst="rect">
              <a:avLst/>
            </a:prstGeom>
            <a:solidFill>
              <a:srgbClr val="FFFFFF"/>
            </a:solidFill>
            <a:ln w="12700">
              <a:solidFill>
                <a:schemeClr val="accent4"/>
              </a:solidFill>
            </a:ln>
          </p:spPr>
          <p:txBody>
            <a:bodyPr lIns="137160" tIns="45720" rIns="137160" bIns="45720" anchor="ctr">
              <a:normAutofit/>
            </a:bodyPr>
            <a:lstStyle/>
            <a:p>
              <a:pPr algn="l"/>
              <a:r>
                <a:rPr lang="de-DE" sz="1400" b="0" dirty="0">
                  <a:solidFill>
                    <a:schemeClr val="accent1"/>
                  </a:solidFill>
                </a:rPr>
                <a:t>selten, konservativ, streng validiert</a:t>
              </a:r>
            </a:p>
          </p:txBody>
        </p:sp>
      </p:grpSp>
      <p:sp>
        <p:nvSpPr>
          <p:cNvPr id="70" name="Merksatz"/>
          <p:cNvSpPr/>
          <p:nvPr/>
        </p:nvSpPr>
        <p:spPr>
          <a:xfrm>
            <a:off x="0" y="5330000"/>
            <a:ext cx="12192000" cy="800000"/>
          </a:xfrm>
          <a:prstGeom prst="rect">
            <a:avLst/>
          </a:prstGeom>
          <a:solidFill>
            <a:schemeClr val="accent1"/>
          </a:solidFill>
          <a:ln>
            <a:noFill/>
          </a:ln>
        </p:spPr>
        <p:txBody>
          <a:bodyPr lIns="137160" tIns="45720" rIns="137160" bIns="45720" anchor="ctr">
            <a:normAutofit/>
          </a:bodyPr>
          <a:lstStyle/>
          <a:p>
            <a:pPr algn="ctr"/>
            <a:r>
              <a:rPr lang="de-DE" sz="1800" b="1" dirty="0">
                <a:solidFill>
                  <a:srgbClr val="FFFFFF"/>
                </a:solidFill>
              </a:rPr>
              <a:t>Die Priorität dreht sich um – und damit die gesamte Teststrategie.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P spid="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Ableitung am Beispiel RQ-012</a:t>
            </a:r>
          </a:p>
        </p:txBody>
      </p:sp>
      <p:grpSp>
        <p:nvGrpSpPr>
          <p:cNvPr id="10" name="Stufe1"/>
          <p:cNvGrpSpPr/>
          <p:nvPr/>
        </p:nvGrpSpPr>
        <p:grpSpPr>
          <a:xfrm>
            <a:off x="373063" y="1550000"/>
            <a:ext cx="3050000" cy="1900000"/>
            <a:chOff x="373063" y="1550000"/>
            <a:chExt cx="3050000" cy="1900000"/>
          </a:xfrm>
        </p:grpSpPr>
        <p:sp>
          <p:nvSpPr>
            <p:cNvPr id="11" name="Segment1"/>
            <p:cNvSpPr/>
            <p:nvPr/>
          </p:nvSpPr>
          <p:spPr>
            <a:xfrm>
              <a:off x="373063" y="1550000"/>
              <a:ext cx="3050000" cy="1900000"/>
            </a:xfrm>
            <a:prstGeom prst="homePlate">
              <a:avLst>
                <a:gd name="adj" fmla="val 30000"/>
              </a:avLst>
            </a:prstGeom>
            <a:solidFill>
              <a:schemeClr val="accent4"/>
            </a:solidFill>
            <a:ln>
              <a:noFill/>
            </a:ln>
          </p:spPr>
          <p:txBody>
            <a:bodyPr/>
            <a:lstStyle/>
            <a:p>
              <a:endParaRPr/>
            </a:p>
          </p:txBody>
        </p:sp>
        <p:sp>
          <p:nvSpPr>
            <p:cNvPr id="12" name="Text1"/>
            <p:cNvSpPr/>
            <p:nvPr/>
          </p:nvSpPr>
          <p:spPr>
            <a:xfrm>
              <a:off x="548063" y="1550000"/>
              <a:ext cx="2700000" cy="19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1</a:t>
              </a:r>
            </a:p>
            <a:p>
              <a:pPr algn="ctr"/>
              <a:r>
                <a:rPr lang="de-DE" sz="1400" b="1" dirty="0">
                  <a:solidFill>
                    <a:schemeClr val="accent1"/>
                  </a:solidFill>
                </a:rPr>
                <a:t>Anhang III, 1.2.1</a:t>
              </a:r>
            </a:p>
            <a:p>
              <a:pPr algn="ctr"/>
              <a:r>
                <a:rPr lang="de-DE" sz="1400" b="0" dirty="0">
                  <a:solidFill>
                    <a:schemeClr val="accent1"/>
                  </a:solidFill>
                </a:rPr>
                <a:t>Tracing-Log, fünf Jahre aufzubewahren</a:t>
              </a:r>
            </a:p>
          </p:txBody>
        </p:sp>
      </p:grpSp>
      <p:grpSp>
        <p:nvGrpSpPr>
          <p:cNvPr id="20" name="Stufe2"/>
          <p:cNvGrpSpPr/>
          <p:nvPr/>
        </p:nvGrpSpPr>
        <p:grpSpPr>
          <a:xfrm>
            <a:off x="3123063" y="1550000"/>
            <a:ext cx="3050000" cy="1900000"/>
            <a:chOff x="3123063" y="1550000"/>
            <a:chExt cx="3050000" cy="1900000"/>
          </a:xfrm>
        </p:grpSpPr>
        <p:sp>
          <p:nvSpPr>
            <p:cNvPr id="21" name="Segment2"/>
            <p:cNvSpPr/>
            <p:nvPr/>
          </p:nvSpPr>
          <p:spPr>
            <a:xfrm>
              <a:off x="3123063" y="1550000"/>
              <a:ext cx="3050000" cy="1900000"/>
            </a:xfrm>
            <a:prstGeom prst="chevron">
              <a:avLst>
                <a:gd name="adj" fmla="val 30000"/>
              </a:avLst>
            </a:prstGeom>
            <a:solidFill>
              <a:schemeClr val="accent3"/>
            </a:solidFill>
            <a:ln>
              <a:noFill/>
            </a:ln>
          </p:spPr>
          <p:txBody>
            <a:bodyPr/>
            <a:lstStyle/>
            <a:p>
              <a:endParaRPr/>
            </a:p>
          </p:txBody>
        </p:sp>
        <p:sp>
          <p:nvSpPr>
            <p:cNvPr id="22" name="Text2"/>
            <p:cNvSpPr/>
            <p:nvPr/>
          </p:nvSpPr>
          <p:spPr>
            <a:xfrm>
              <a:off x="352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2</a:t>
              </a:r>
            </a:p>
            <a:p>
              <a:pPr algn="ctr"/>
              <a:r>
                <a:rPr lang="de-DE" sz="1400" b="1" dirty="0">
                  <a:solidFill>
                    <a:srgbClr val="FFFFFF"/>
                  </a:solidFill>
                </a:rPr>
                <a:t>prEN 50742 §7.3.4</a:t>
              </a:r>
            </a:p>
            <a:p>
              <a:pPr algn="ctr"/>
              <a:r>
                <a:rPr lang="de-DE" sz="1400" b="0" dirty="0">
                  <a:solidFill>
                    <a:srgbClr val="FFFFFF"/>
                  </a:solidFill>
                </a:rPr>
                <a:t>Mindestinhalt und Aufbewahrung</a:t>
              </a:r>
            </a:p>
          </p:txBody>
        </p:sp>
      </p:grpSp>
      <p:grpSp>
        <p:nvGrpSpPr>
          <p:cNvPr id="30" name="Stufe3"/>
          <p:cNvGrpSpPr/>
          <p:nvPr/>
        </p:nvGrpSpPr>
        <p:grpSpPr>
          <a:xfrm>
            <a:off x="5873063" y="1550000"/>
            <a:ext cx="3050000" cy="1900000"/>
            <a:chOff x="5873063" y="1550000"/>
            <a:chExt cx="3050000" cy="1900000"/>
          </a:xfrm>
        </p:grpSpPr>
        <p:sp>
          <p:nvSpPr>
            <p:cNvPr id="31" name="Segment3"/>
            <p:cNvSpPr/>
            <p:nvPr/>
          </p:nvSpPr>
          <p:spPr>
            <a:xfrm>
              <a:off x="5873063" y="1550000"/>
              <a:ext cx="3050000" cy="1900000"/>
            </a:xfrm>
            <a:prstGeom prst="chevron">
              <a:avLst>
                <a:gd name="adj" fmla="val 30000"/>
              </a:avLst>
            </a:prstGeom>
            <a:solidFill>
              <a:schemeClr val="accent2"/>
            </a:solidFill>
            <a:ln>
              <a:noFill/>
            </a:ln>
          </p:spPr>
          <p:txBody>
            <a:bodyPr/>
            <a:lstStyle/>
            <a:p>
              <a:endParaRPr/>
            </a:p>
          </p:txBody>
        </p:sp>
        <p:sp>
          <p:nvSpPr>
            <p:cNvPr id="32" name="Text3"/>
            <p:cNvSpPr/>
            <p:nvPr/>
          </p:nvSpPr>
          <p:spPr>
            <a:xfrm>
              <a:off x="627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3</a:t>
              </a:r>
            </a:p>
            <a:p>
              <a:pPr algn="ctr"/>
              <a:r>
                <a:rPr lang="de-DE" sz="1400" b="1" dirty="0">
                  <a:solidFill>
                    <a:srgbClr val="FFFFFF"/>
                  </a:solidFill>
                </a:rPr>
                <a:t>IEC 62443-4-2</a:t>
              </a:r>
            </a:p>
            <a:p>
              <a:pPr algn="ctr"/>
              <a:r>
                <a:rPr lang="de-DE" sz="1400" b="1" dirty="0">
                  <a:solidFill>
                    <a:srgbClr val="FFFFFF"/>
                  </a:solidFill>
                </a:rPr>
                <a:t>CR 2.8 und CR 2.9</a:t>
              </a:r>
            </a:p>
            <a:p>
              <a:pPr algn="ctr"/>
              <a:r>
                <a:rPr lang="de-DE" sz="1400" b="0" dirty="0">
                  <a:solidFill>
                    <a:srgbClr val="FFFFFF"/>
                  </a:solidFill>
                </a:rPr>
                <a:t>Auditable Events und Audit Storage Capacity</a:t>
              </a:r>
            </a:p>
          </p:txBody>
        </p:sp>
      </p:grpSp>
      <p:grpSp>
        <p:nvGrpSpPr>
          <p:cNvPr id="40" name="Stufe4"/>
          <p:cNvGrpSpPr/>
          <p:nvPr/>
        </p:nvGrpSpPr>
        <p:grpSpPr>
          <a:xfrm>
            <a:off x="8623063" y="1550000"/>
            <a:ext cx="3050000" cy="1900000"/>
            <a:chOff x="8623063" y="1550000"/>
            <a:chExt cx="3050000" cy="1900000"/>
          </a:xfrm>
        </p:grpSpPr>
        <p:sp>
          <p:nvSpPr>
            <p:cNvPr id="41" name="Segment4"/>
            <p:cNvSpPr/>
            <p:nvPr/>
          </p:nvSpPr>
          <p:spPr>
            <a:xfrm>
              <a:off x="8623063" y="1550000"/>
              <a:ext cx="3050000" cy="1900000"/>
            </a:xfrm>
            <a:prstGeom prst="chevron">
              <a:avLst>
                <a:gd name="adj" fmla="val 30000"/>
              </a:avLst>
            </a:prstGeom>
            <a:solidFill>
              <a:schemeClr val="accent5"/>
            </a:solidFill>
            <a:ln>
              <a:noFill/>
            </a:ln>
          </p:spPr>
          <p:txBody>
            <a:bodyPr/>
            <a:lstStyle/>
            <a:p>
              <a:endParaRPr/>
            </a:p>
          </p:txBody>
        </p:sp>
        <p:sp>
          <p:nvSpPr>
            <p:cNvPr id="42" name="Text4"/>
            <p:cNvSpPr/>
            <p:nvPr/>
          </p:nvSpPr>
          <p:spPr>
            <a:xfrm>
              <a:off x="902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4</a:t>
              </a:r>
            </a:p>
            <a:p>
              <a:pPr algn="ctr"/>
              <a:r>
                <a:rPr lang="de-DE" sz="1400" b="1" dirty="0">
                  <a:solidFill>
                    <a:srgbClr val="FFFFFF"/>
                  </a:solidFill>
                </a:rPr>
                <a:t>Konkreter Testfall am Prüfling</a:t>
              </a:r>
            </a:p>
          </p:txBody>
        </p:sp>
      </p:grpSp>
      <p:sp>
        <p:nvSpPr>
          <p:cNvPr id="50" name="Fusszeile"/>
          <p:cNvSpPr/>
          <p:nvPr/>
        </p:nvSpPr>
        <p:spPr>
          <a:xfrm>
            <a:off x="0" y="5330000"/>
            <a:ext cx="12192000" cy="800000"/>
          </a:xfrm>
          <a:prstGeom prst="rect">
            <a:avLst/>
          </a:prstGeom>
          <a:solidFill>
            <a:schemeClr val="accent2"/>
          </a:solidFill>
          <a:ln>
            <a:noFill/>
          </a:ln>
        </p:spPr>
        <p:txBody>
          <a:bodyPr wrap="square" lIns="45720" tIns="45720" rIns="45720" bIns="45720" anchor="ctr">
            <a:noAutofit/>
          </a:bodyPr>
          <a:lstStyle/>
          <a:p>
            <a:pPr algn="ctr"/>
            <a:r>
              <a:rPr lang="de-DE" sz="1800" b="1" dirty="0">
                <a:solidFill>
                  <a:srgbClr val="FFFFFF"/>
                </a:solidFill>
              </a:rPr>
              <a:t>14 abgeleitete Anforderungen insgesamt · Bewertungsbasis SL-C 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par>
                          <p:cTn id="23" fill="hold">
                            <p:stCondLst>
                              <p:cond delay="0"/>
                            </p:stCondLst>
                            <p:childTnLst>
                              <p:par>
                                <p:cTn id="24" presetID="1" presetClass="emph" presetSubtype="0" fill="hold" nodeType="afterEffect">
                                  <p:stCondLst>
                                    <p:cond delay="0"/>
                                  </p:stCondLst>
                                  <p:childTnLst>
                                    <p:anim calcmode="lin" valueType="num">
                                      <p:cBhvr>
                                        <p:cTn id="25" dur="500" autoRev="1" fill="hold"/>
                                        <p:tgtEl>
                                          <p:spTgt spid="40"/>
                                        </p:tgtEl>
                                        <p:attrNameLst>
                                          <p:attrName>style.opacity</p:attrName>
                                        </p:attrNameLst>
                                      </p:cBhvr>
                                      <p:tavLst>
                                        <p:tav tm="0">
                                          <p:val>
                                            <p:fltVal val="1"/>
                                          </p:val>
                                        </p:tav>
                                        <p:tav tm="100000">
                                          <p:val>
                                            <p:fltVal val="0.3"/>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Vom Gesetz zur prüfbaren Anforderung</a:t>
            </a:r>
          </a:p>
        </p:txBody>
      </p:sp>
      <p:grpSp>
        <p:nvGrpSpPr>
          <p:cNvPr id="10" name="Stufe1"/>
          <p:cNvGrpSpPr/>
          <p:nvPr/>
        </p:nvGrpSpPr>
        <p:grpSpPr>
          <a:xfrm>
            <a:off x="373063" y="900000"/>
            <a:ext cx="7726937" cy="2050000"/>
            <a:chOff x="373063" y="900000"/>
            <a:chExt cx="7726937" cy="2050000"/>
          </a:xfrm>
        </p:grpSpPr>
        <p:sp>
          <p:nvSpPr>
            <p:cNvPr id="11" name="Ebene1"/>
            <p:cNvSpPr/>
            <p:nvPr/>
          </p:nvSpPr>
          <p:spPr>
            <a:xfrm flipV="1">
              <a:off x="1850000" y="1300000"/>
              <a:ext cx="6250000" cy="1250000"/>
            </a:xfrm>
            <a:prstGeom prst="trapezoid">
              <a:avLst>
                <a:gd name="adj" fmla="val 18000"/>
              </a:avLst>
            </a:prstGeom>
            <a:solidFill>
              <a:schemeClr val="accent4"/>
            </a:solidFill>
            <a:ln>
              <a:noFill/>
            </a:ln>
          </p:spPr>
          <p:txBody>
            <a:bodyPr/>
            <a:lstStyle/>
            <a:p>
              <a:endParaRPr/>
            </a:p>
          </p:txBody>
        </p:sp>
        <p:sp>
          <p:nvSpPr>
            <p:cNvPr id="12" name="Text1"/>
            <p:cNvSpPr/>
            <p:nvPr/>
          </p:nvSpPr>
          <p:spPr>
            <a:xfrm>
              <a:off x="2350000" y="1360000"/>
              <a:ext cx="5250000" cy="1130000"/>
            </a:xfrm>
            <a:prstGeom prst="rect">
              <a:avLst/>
            </a:prstGeom>
            <a:noFill/>
            <a:ln>
              <a:noFill/>
            </a:ln>
          </p:spPr>
          <p:txBody>
            <a:bodyPr wrap="square" lIns="91440" tIns="45720" rIns="91440" bIns="45720" anchor="ctr">
              <a:noAutofit/>
            </a:bodyPr>
            <a:lstStyle/>
            <a:p>
              <a:pPr algn="ctr"/>
              <a:r>
                <a:rPr lang="de-DE" sz="1600" b="1" dirty="0">
                  <a:solidFill>
                    <a:schemeClr val="accent1"/>
                  </a:solidFill>
                </a:rPr>
                <a:t>Verordnung (EU) 2023/1230</a:t>
              </a:r>
            </a:p>
            <a:p>
              <a:pPr algn="ctr"/>
              <a:r>
                <a:rPr lang="de-DE" sz="1600" b="1" dirty="0">
                  <a:solidFill>
                    <a:schemeClr val="accent1"/>
                  </a:solidFill>
                </a:rPr>
                <a:t>Anhang III, Abschnitte 1.1.9 und 1.2.1</a:t>
              </a:r>
            </a:p>
            <a:p>
              <a:pPr algn="ctr"/>
              <a:r>
                <a:rPr lang="de-DE" sz="1400" b="0" dirty="0">
                  <a:solidFill>
                    <a:schemeClr val="accent1"/>
                  </a:solidFill>
                </a:rPr>
                <a:t>Was gefordert ist</a:t>
              </a:r>
            </a:p>
          </p:txBody>
        </p:sp>
        <p:sp>
          <p:nvSpPr>
            <p:cNvPr id="13" name="Rand1"/>
            <p:cNvSpPr/>
            <p:nvPr/>
          </p:nvSpPr>
          <p:spPr>
            <a:xfrm>
              <a:off x="373063" y="900000"/>
              <a:ext cx="1300000" cy="2050000"/>
            </a:xfrm>
            <a:prstGeom prst="rect">
              <a:avLst/>
            </a:prstGeom>
            <a:noFill/>
            <a:ln>
              <a:noFill/>
            </a:ln>
          </p:spPr>
          <p:txBody>
            <a:bodyPr vert="vert270" wrap="square" lIns="91440" tIns="45720" rIns="91440" bIns="45720" anchor="ctr">
              <a:noAutofit/>
            </a:bodyPr>
            <a:lstStyle/>
            <a:p>
              <a:pPr algn="ctr"/>
              <a:r>
                <a:rPr lang="de-DE" sz="1400" b="1" dirty="0">
                  <a:solidFill>
                    <a:schemeClr val="accent2"/>
                  </a:solidFill>
                </a:rPr>
                <a:t>Maschinenebene</a:t>
              </a:r>
            </a:p>
          </p:txBody>
        </p:sp>
      </p:grpSp>
      <p:grpSp>
        <p:nvGrpSpPr>
          <p:cNvPr id="20" name="Stufe2"/>
          <p:cNvGrpSpPr/>
          <p:nvPr/>
        </p:nvGrpSpPr>
        <p:grpSpPr>
          <a:xfrm>
            <a:off x="373063" y="2300000"/>
            <a:ext cx="7101937" cy="2050000"/>
            <a:chOff x="373063" y="2300000"/>
            <a:chExt cx="7101937" cy="2050000"/>
          </a:xfrm>
        </p:grpSpPr>
        <p:sp>
          <p:nvSpPr>
            <p:cNvPr id="21" name="Ebene2"/>
            <p:cNvSpPr/>
            <p:nvPr/>
          </p:nvSpPr>
          <p:spPr>
            <a:xfrm flipV="1">
              <a:off x="2475000" y="2700000"/>
              <a:ext cx="5000000" cy="1250000"/>
            </a:xfrm>
            <a:prstGeom prst="trapezoid">
              <a:avLst>
                <a:gd name="adj" fmla="val 18000"/>
              </a:avLst>
            </a:prstGeom>
            <a:solidFill>
              <a:schemeClr val="accent3"/>
            </a:solidFill>
            <a:ln>
              <a:noFill/>
            </a:ln>
          </p:spPr>
          <p:txBody>
            <a:bodyPr/>
            <a:lstStyle/>
            <a:p>
              <a:endParaRPr/>
            </a:p>
          </p:txBody>
        </p:sp>
        <p:sp>
          <p:nvSpPr>
            <p:cNvPr id="22" name="Text2"/>
            <p:cNvSpPr/>
            <p:nvPr/>
          </p:nvSpPr>
          <p:spPr>
            <a:xfrm>
              <a:off x="2975000" y="2760000"/>
              <a:ext cx="4000000" cy="1130000"/>
            </a:xfrm>
            <a:prstGeom prst="rect">
              <a:avLst/>
            </a:prstGeom>
            <a:noFill/>
            <a:ln>
              <a:noFill/>
            </a:ln>
          </p:spPr>
          <p:txBody>
            <a:bodyPr wrap="square" lIns="91440" tIns="45720" rIns="91440" bIns="45720" anchor="ctr">
              <a:noAutofit/>
            </a:bodyPr>
            <a:lstStyle/>
            <a:p>
              <a:pPr algn="ctr"/>
              <a:r>
                <a:rPr lang="de-DE" sz="1600" b="1" dirty="0">
                  <a:solidFill>
                    <a:srgbClr val="FFFFFF"/>
                  </a:solidFill>
                </a:rPr>
                <a:t>prEN 50742 · Approach B</a:t>
              </a:r>
            </a:p>
            <a:p>
              <a:pPr algn="ctr"/>
              <a:r>
                <a:rPr lang="de-DE" sz="1400" b="0" dirty="0">
                  <a:solidFill>
                    <a:srgbClr val="FFFFFF"/>
                  </a:solidFill>
                </a:rPr>
                <a:t>Wie es technisch umzusetzen ist</a:t>
              </a:r>
            </a:p>
          </p:txBody>
        </p:sp>
        <p:sp>
          <p:nvSpPr>
            <p:cNvPr id="23" name="Rand2"/>
            <p:cNvSpPr/>
            <p:nvPr/>
          </p:nvSpPr>
          <p:spPr>
            <a:xfrm>
              <a:off x="373063" y="2300000"/>
              <a:ext cx="1300000" cy="2050000"/>
            </a:xfrm>
            <a:prstGeom prst="rect">
              <a:avLst/>
            </a:prstGeom>
            <a:noFill/>
            <a:ln>
              <a:noFill/>
            </a:ln>
          </p:spPr>
          <p:txBody>
            <a:bodyPr vert="vert270" wrap="square" lIns="91440" tIns="45720" rIns="91440" bIns="45720" anchor="ctr">
              <a:noAutofit/>
            </a:bodyPr>
            <a:lstStyle/>
            <a:p>
              <a:pPr algn="ctr"/>
              <a:r>
                <a:rPr lang="de-DE" sz="1400" b="1" dirty="0">
                  <a:solidFill>
                    <a:schemeClr val="accent2"/>
                  </a:solidFill>
                </a:rPr>
                <a:t>Brücke</a:t>
              </a:r>
            </a:p>
          </p:txBody>
        </p:sp>
      </p:grpSp>
      <p:grpSp>
        <p:nvGrpSpPr>
          <p:cNvPr id="30" name="Stufe3"/>
          <p:cNvGrpSpPr/>
          <p:nvPr/>
        </p:nvGrpSpPr>
        <p:grpSpPr>
          <a:xfrm>
            <a:off x="373063" y="3700000"/>
            <a:ext cx="6476937" cy="2050000"/>
            <a:chOff x="373063" y="3700000"/>
            <a:chExt cx="6476937" cy="2050000"/>
          </a:xfrm>
        </p:grpSpPr>
        <p:sp>
          <p:nvSpPr>
            <p:cNvPr id="31" name="Ebene3"/>
            <p:cNvSpPr/>
            <p:nvPr/>
          </p:nvSpPr>
          <p:spPr>
            <a:xfrm flipV="1">
              <a:off x="3100000" y="4100000"/>
              <a:ext cx="3750000" cy="1250000"/>
            </a:xfrm>
            <a:prstGeom prst="trapezoid">
              <a:avLst>
                <a:gd name="adj" fmla="val 18000"/>
              </a:avLst>
            </a:prstGeom>
            <a:solidFill>
              <a:schemeClr val="accent5"/>
            </a:solidFill>
            <a:ln>
              <a:noFill/>
            </a:ln>
          </p:spPr>
          <p:txBody>
            <a:bodyPr/>
            <a:lstStyle/>
            <a:p>
              <a:endParaRPr/>
            </a:p>
          </p:txBody>
        </p:sp>
        <p:sp>
          <p:nvSpPr>
            <p:cNvPr id="32" name="Text3"/>
            <p:cNvSpPr/>
            <p:nvPr/>
          </p:nvSpPr>
          <p:spPr>
            <a:xfrm>
              <a:off x="3600000" y="4160000"/>
              <a:ext cx="2750000" cy="1130000"/>
            </a:xfrm>
            <a:prstGeom prst="rect">
              <a:avLst/>
            </a:prstGeom>
            <a:noFill/>
            <a:ln>
              <a:noFill/>
            </a:ln>
          </p:spPr>
          <p:txBody>
            <a:bodyPr wrap="square" lIns="91440" tIns="45720" rIns="91440" bIns="45720" anchor="ctr">
              <a:noAutofit/>
            </a:bodyPr>
            <a:lstStyle/>
            <a:p>
              <a:pPr algn="ctr"/>
              <a:r>
                <a:rPr lang="de-DE" sz="1600" b="1" dirty="0">
                  <a:solidFill>
                    <a:srgbClr val="FFFFFF"/>
                  </a:solidFill>
                </a:rPr>
                <a:t>IEC 62443-4-2</a:t>
              </a:r>
            </a:p>
            <a:p>
              <a:pPr algn="ctr"/>
              <a:r>
                <a:rPr lang="de-DE" sz="1600" b="1" dirty="0">
                  <a:solidFill>
                    <a:srgbClr val="FFFFFF"/>
                  </a:solidFill>
                </a:rPr>
                <a:t>Component Requirements</a:t>
              </a:r>
            </a:p>
            <a:p>
              <a:pPr algn="ctr"/>
              <a:r>
                <a:rPr lang="de-DE" sz="1400" b="0" dirty="0">
                  <a:solidFill>
                    <a:srgbClr val="FFFFFF"/>
                  </a:solidFill>
                </a:rPr>
                <a:t>Was die Komponente können muss</a:t>
              </a:r>
            </a:p>
          </p:txBody>
        </p:sp>
        <p:sp>
          <p:nvSpPr>
            <p:cNvPr id="33" name="Rand3"/>
            <p:cNvSpPr/>
            <p:nvPr/>
          </p:nvSpPr>
          <p:spPr>
            <a:xfrm>
              <a:off x="373063" y="3700000"/>
              <a:ext cx="1300000" cy="2050000"/>
            </a:xfrm>
            <a:prstGeom prst="rect">
              <a:avLst/>
            </a:prstGeom>
            <a:noFill/>
            <a:ln>
              <a:noFill/>
            </a:ln>
          </p:spPr>
          <p:txBody>
            <a:bodyPr vert="vert270" wrap="square" lIns="91440" tIns="45720" rIns="91440" bIns="45720" anchor="ctr">
              <a:noAutofit/>
            </a:bodyPr>
            <a:lstStyle/>
            <a:p>
              <a:pPr algn="ctr"/>
              <a:r>
                <a:rPr lang="de-DE" sz="1400" b="1" dirty="0">
                  <a:solidFill>
                    <a:schemeClr val="accent2"/>
                  </a:solidFill>
                </a:rPr>
                <a:t>Komponentenebene</a:t>
              </a:r>
            </a:p>
          </p:txBody>
        </p:sp>
      </p:grpSp>
      <p:grpSp>
        <p:nvGrpSpPr>
          <p:cNvPr id="40" name="Verifikation"/>
          <p:cNvGrpSpPr/>
          <p:nvPr/>
        </p:nvGrpSpPr>
        <p:grpSpPr>
          <a:xfrm>
            <a:off x="3100000" y="1300000"/>
            <a:ext cx="6750000" cy="4050000"/>
            <a:chOff x="3100000" y="1300000"/>
            <a:chExt cx="6750000" cy="4050000"/>
          </a:xfrm>
        </p:grpSpPr>
        <p:sp>
          <p:nvSpPr>
            <p:cNvPr id="41" name="Verifikationsbox"/>
            <p:cNvSpPr/>
            <p:nvPr/>
          </p:nvSpPr>
          <p:spPr>
            <a:xfrm>
              <a:off x="8700000" y="1300000"/>
              <a:ext cx="1150000" cy="4050000"/>
            </a:xfrm>
            <a:prstGeom prst="rect">
              <a:avLst/>
            </a:prstGeom>
            <a:solidFill>
              <a:schemeClr val="accent4"/>
            </a:solidFill>
            <a:ln w="19050">
              <a:solidFill>
                <a:schemeClr val="accent2"/>
              </a:solidFill>
            </a:ln>
          </p:spPr>
          <p:txBody>
            <a:bodyPr vert="vert270" wrap="square" lIns="91440" tIns="45720" rIns="91440" bIns="45720" anchor="ctr">
              <a:noAutofit/>
            </a:bodyPr>
            <a:lstStyle/>
            <a:p>
              <a:pPr algn="ctr"/>
              <a:r>
                <a:rPr lang="de-DE" sz="1600" b="1" dirty="0">
                  <a:solidFill>
                    <a:schemeClr val="accent1"/>
                  </a:solidFill>
                </a:rPr>
                <a:t>IEC 62443-4-1 Practice SVV</a:t>
              </a:r>
            </a:p>
            <a:p>
              <a:pPr algn="ctr"/>
              <a:r>
                <a:rPr lang="de-DE" sz="1400" b="0" dirty="0">
                  <a:solidFill>
                    <a:schemeClr val="accent1"/>
                  </a:solidFill>
                </a:rPr>
                <a:t>legt fest, wie verifiziert wird</a:t>
              </a:r>
            </a:p>
          </p:txBody>
        </p:sp>
        <p:sp>
          <p:nvSpPr>
            <p:cNvPr id="42" name="Pfeil1"/>
            <p:cNvSpPr/>
            <p:nvPr/>
          </p:nvSpPr>
          <p:spPr>
            <a:xfrm>
              <a:off x="8100000" y="1855000"/>
              <a:ext cx="600000" cy="140000"/>
            </a:xfrm>
            <a:prstGeom prst="leftArrow">
              <a:avLst>
                <a:gd name="adj1" fmla="val 50000"/>
                <a:gd name="adj2" fmla="val 50000"/>
              </a:avLst>
            </a:prstGeom>
            <a:solidFill>
              <a:schemeClr val="accent2"/>
            </a:solidFill>
            <a:ln>
              <a:noFill/>
            </a:ln>
          </p:spPr>
          <p:txBody>
            <a:bodyPr/>
            <a:lstStyle/>
            <a:p>
              <a:endParaRPr/>
            </a:p>
          </p:txBody>
        </p:sp>
        <p:sp>
          <p:nvSpPr>
            <p:cNvPr id="43" name="Pfeil2"/>
            <p:cNvSpPr/>
            <p:nvPr/>
          </p:nvSpPr>
          <p:spPr>
            <a:xfrm>
              <a:off x="7475000" y="3255000"/>
              <a:ext cx="1225000" cy="140000"/>
            </a:xfrm>
            <a:prstGeom prst="leftArrow">
              <a:avLst>
                <a:gd name="adj1" fmla="val 50000"/>
                <a:gd name="adj2" fmla="val 50000"/>
              </a:avLst>
            </a:prstGeom>
            <a:solidFill>
              <a:schemeClr val="accent2"/>
            </a:solidFill>
            <a:ln>
              <a:noFill/>
            </a:ln>
          </p:spPr>
          <p:txBody>
            <a:bodyPr/>
            <a:lstStyle/>
            <a:p>
              <a:endParaRPr/>
            </a:p>
          </p:txBody>
        </p:sp>
        <p:sp>
          <p:nvSpPr>
            <p:cNvPr id="44" name="Pfeil3"/>
            <p:cNvSpPr/>
            <p:nvPr/>
          </p:nvSpPr>
          <p:spPr>
            <a:xfrm>
              <a:off x="6850000" y="4655000"/>
              <a:ext cx="1850000" cy="140000"/>
            </a:xfrm>
            <a:prstGeom prst="leftArrow">
              <a:avLst>
                <a:gd name="adj1" fmla="val 50000"/>
                <a:gd name="adj2" fmla="val 50000"/>
              </a:avLst>
            </a:prstGeom>
            <a:solidFill>
              <a:schemeClr val="accent2"/>
            </a:solidFill>
            <a:ln>
              <a:noFill/>
            </a:ln>
          </p:spPr>
          <p:txBody>
            <a:bodyPr/>
            <a:lstStyle/>
            <a:p>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Forschungsdesign nach DSRM</a:t>
            </a:r>
          </a:p>
        </p:txBody>
      </p:sp>
      <p:grpSp>
        <p:nvGrpSpPr>
          <p:cNvPr id="10" name="Station1"/>
          <p:cNvGrpSpPr/>
          <p:nvPr/>
        </p:nvGrpSpPr>
        <p:grpSpPr>
          <a:xfrm>
            <a:off x="373063" y="1700000"/>
            <a:ext cx="2080000" cy="2100000"/>
            <a:chOff x="373063" y="1700000"/>
            <a:chExt cx="2080000" cy="2100000"/>
          </a:xfrm>
        </p:grpSpPr>
        <p:sp>
          <p:nvSpPr>
            <p:cNvPr id="11" name="Segment1"/>
            <p:cNvSpPr/>
            <p:nvPr/>
          </p:nvSpPr>
          <p:spPr>
            <a:xfrm>
              <a:off x="373063" y="1700000"/>
              <a:ext cx="2080000" cy="1500000"/>
            </a:xfrm>
            <a:prstGeom prst="homePlate">
              <a:avLst>
                <a:gd name="adj" fmla="val 33000"/>
              </a:avLst>
            </a:prstGeom>
            <a:solidFill>
              <a:schemeClr val="accent4"/>
            </a:solidFill>
            <a:ln>
              <a:noFill/>
            </a:ln>
          </p:spPr>
          <p:txBody>
            <a:bodyPr/>
            <a:lstStyle/>
            <a:p>
              <a:endParaRPr/>
            </a:p>
          </p:txBody>
        </p:sp>
        <p:sp>
          <p:nvSpPr>
            <p:cNvPr id="12" name="Text1"/>
            <p:cNvSpPr/>
            <p:nvPr/>
          </p:nvSpPr>
          <p:spPr>
            <a:xfrm>
              <a:off x="433063" y="1700000"/>
              <a:ext cx="1960000" cy="15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1</a:t>
              </a:r>
            </a:p>
            <a:p>
              <a:pPr algn="ctr"/>
              <a:r>
                <a:rPr lang="de-DE" sz="1400" b="1" dirty="0">
                  <a:solidFill>
                    <a:schemeClr val="accent1"/>
                  </a:solidFill>
                </a:rPr>
                <a:t>Problemidentifikation</a:t>
              </a:r>
            </a:p>
          </p:txBody>
        </p:sp>
        <p:sp>
          <p:nvSpPr>
            <p:cNvPr id="13" name="Kapitel1"/>
            <p:cNvSpPr/>
            <p:nvPr/>
          </p:nvSpPr>
          <p:spPr>
            <a:xfrm>
              <a:off x="433063" y="3400000"/>
              <a:ext cx="19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1</a:t>
              </a:r>
            </a:p>
          </p:txBody>
        </p:sp>
      </p:grpSp>
      <p:grpSp>
        <p:nvGrpSpPr>
          <p:cNvPr id="20" name="Station2"/>
          <p:cNvGrpSpPr/>
          <p:nvPr/>
        </p:nvGrpSpPr>
        <p:grpSpPr>
          <a:xfrm>
            <a:off x="2233063" y="1700000"/>
            <a:ext cx="2080000" cy="2100000"/>
            <a:chOff x="2233063" y="1700000"/>
            <a:chExt cx="2080000" cy="2100000"/>
          </a:xfrm>
        </p:grpSpPr>
        <p:sp>
          <p:nvSpPr>
            <p:cNvPr id="21" name="Segment2"/>
            <p:cNvSpPr/>
            <p:nvPr/>
          </p:nvSpPr>
          <p:spPr>
            <a:xfrm>
              <a:off x="2233063" y="1700000"/>
              <a:ext cx="2080000" cy="1500000"/>
            </a:xfrm>
            <a:prstGeom prst="chevron">
              <a:avLst>
                <a:gd name="adj" fmla="val 33000"/>
              </a:avLst>
            </a:prstGeom>
            <a:solidFill>
              <a:schemeClr val="accent4"/>
            </a:solidFill>
            <a:ln>
              <a:noFill/>
            </a:ln>
          </p:spPr>
          <p:txBody>
            <a:bodyPr/>
            <a:lstStyle/>
            <a:p>
              <a:endParaRPr/>
            </a:p>
          </p:txBody>
        </p:sp>
        <p:sp>
          <p:nvSpPr>
            <p:cNvPr id="22" name="Text2"/>
            <p:cNvSpPr/>
            <p:nvPr/>
          </p:nvSpPr>
          <p:spPr>
            <a:xfrm>
              <a:off x="2543063" y="1700000"/>
              <a:ext cx="1460000" cy="15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2</a:t>
              </a:r>
            </a:p>
            <a:p>
              <a:pPr algn="ctr"/>
              <a:r>
                <a:rPr lang="de-DE" sz="1400" b="1" dirty="0">
                  <a:solidFill>
                    <a:schemeClr val="accent1"/>
                  </a:solidFill>
                </a:rPr>
                <a:t>Zieldefinition</a:t>
              </a:r>
            </a:p>
          </p:txBody>
        </p:sp>
        <p:sp>
          <p:nvSpPr>
            <p:cNvPr id="23" name="Kapitel2"/>
            <p:cNvSpPr/>
            <p:nvPr/>
          </p:nvSpPr>
          <p:spPr>
            <a:xfrm>
              <a:off x="2543063" y="3400000"/>
              <a:ext cx="14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1</a:t>
              </a:r>
            </a:p>
          </p:txBody>
        </p:sp>
      </p:grpSp>
      <p:grpSp>
        <p:nvGrpSpPr>
          <p:cNvPr id="30" name="Station3"/>
          <p:cNvGrpSpPr/>
          <p:nvPr/>
        </p:nvGrpSpPr>
        <p:grpSpPr>
          <a:xfrm>
            <a:off x="4093063" y="1700000"/>
            <a:ext cx="2080000" cy="2100000"/>
            <a:chOff x="4093063" y="1700000"/>
            <a:chExt cx="2080000" cy="2100000"/>
          </a:xfrm>
        </p:grpSpPr>
        <p:sp>
          <p:nvSpPr>
            <p:cNvPr id="31" name="Segment3"/>
            <p:cNvSpPr/>
            <p:nvPr/>
          </p:nvSpPr>
          <p:spPr>
            <a:xfrm>
              <a:off x="4093063" y="1700000"/>
              <a:ext cx="2080000" cy="1500000"/>
            </a:xfrm>
            <a:prstGeom prst="chevron">
              <a:avLst>
                <a:gd name="adj" fmla="val 33000"/>
              </a:avLst>
            </a:prstGeom>
            <a:solidFill>
              <a:schemeClr val="accent5"/>
            </a:solidFill>
            <a:ln>
              <a:noFill/>
            </a:ln>
          </p:spPr>
          <p:txBody>
            <a:bodyPr/>
            <a:lstStyle/>
            <a:p>
              <a:endParaRPr/>
            </a:p>
          </p:txBody>
        </p:sp>
        <p:sp>
          <p:nvSpPr>
            <p:cNvPr id="32" name="Text3"/>
            <p:cNvSpPr/>
            <p:nvPr/>
          </p:nvSpPr>
          <p:spPr>
            <a:xfrm>
              <a:off x="4403063" y="1700000"/>
              <a:ext cx="1460000" cy="15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3</a:t>
              </a:r>
            </a:p>
            <a:p>
              <a:pPr algn="ctr"/>
              <a:r>
                <a:rPr lang="de-DE" sz="1400" b="1" dirty="0">
                  <a:solidFill>
                    <a:srgbClr val="FFFFFF"/>
                  </a:solidFill>
                </a:rPr>
                <a:t>Design und Entwicklung</a:t>
              </a:r>
            </a:p>
          </p:txBody>
        </p:sp>
        <p:sp>
          <p:nvSpPr>
            <p:cNvPr id="33" name="Kapitel3"/>
            <p:cNvSpPr/>
            <p:nvPr/>
          </p:nvSpPr>
          <p:spPr>
            <a:xfrm>
              <a:off x="4403063" y="3400000"/>
              <a:ext cx="14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3</a:t>
              </a:r>
            </a:p>
          </p:txBody>
        </p:sp>
      </p:grpSp>
      <p:grpSp>
        <p:nvGrpSpPr>
          <p:cNvPr id="40" name="Station4"/>
          <p:cNvGrpSpPr/>
          <p:nvPr/>
        </p:nvGrpSpPr>
        <p:grpSpPr>
          <a:xfrm>
            <a:off x="5953063" y="1700000"/>
            <a:ext cx="2080000" cy="2100000"/>
            <a:chOff x="5953063" y="1700000"/>
            <a:chExt cx="2080000" cy="2100000"/>
          </a:xfrm>
        </p:grpSpPr>
        <p:sp>
          <p:nvSpPr>
            <p:cNvPr id="41" name="Segment4"/>
            <p:cNvSpPr/>
            <p:nvPr/>
          </p:nvSpPr>
          <p:spPr>
            <a:xfrm>
              <a:off x="5953063" y="1700000"/>
              <a:ext cx="2080000" cy="1500000"/>
            </a:xfrm>
            <a:prstGeom prst="chevron">
              <a:avLst>
                <a:gd name="adj" fmla="val 33000"/>
              </a:avLst>
            </a:prstGeom>
            <a:solidFill>
              <a:schemeClr val="accent5"/>
            </a:solidFill>
            <a:ln>
              <a:noFill/>
            </a:ln>
          </p:spPr>
          <p:txBody>
            <a:bodyPr/>
            <a:lstStyle/>
            <a:p>
              <a:endParaRPr/>
            </a:p>
          </p:txBody>
        </p:sp>
        <p:sp>
          <p:nvSpPr>
            <p:cNvPr id="42" name="Text4"/>
            <p:cNvSpPr/>
            <p:nvPr/>
          </p:nvSpPr>
          <p:spPr>
            <a:xfrm>
              <a:off x="6263063" y="1700000"/>
              <a:ext cx="1460000" cy="15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4</a:t>
              </a:r>
            </a:p>
            <a:p>
              <a:pPr algn="ctr"/>
              <a:r>
                <a:rPr lang="de-DE" sz="1400" b="1" dirty="0">
                  <a:solidFill>
                    <a:srgbClr val="FFFFFF"/>
                  </a:solidFill>
                </a:rPr>
                <a:t>Demonstration</a:t>
              </a:r>
            </a:p>
          </p:txBody>
        </p:sp>
        <p:sp>
          <p:nvSpPr>
            <p:cNvPr id="43" name="Kapitel4"/>
            <p:cNvSpPr/>
            <p:nvPr/>
          </p:nvSpPr>
          <p:spPr>
            <a:xfrm>
              <a:off x="6263063" y="3400000"/>
              <a:ext cx="14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4</a:t>
              </a:r>
            </a:p>
          </p:txBody>
        </p:sp>
      </p:grpSp>
      <p:grpSp>
        <p:nvGrpSpPr>
          <p:cNvPr id="50" name="Station5"/>
          <p:cNvGrpSpPr/>
          <p:nvPr/>
        </p:nvGrpSpPr>
        <p:grpSpPr>
          <a:xfrm>
            <a:off x="7813063" y="1700000"/>
            <a:ext cx="2080000" cy="2100000"/>
            <a:chOff x="7813063" y="1700000"/>
            <a:chExt cx="2080000" cy="2100000"/>
          </a:xfrm>
        </p:grpSpPr>
        <p:sp>
          <p:nvSpPr>
            <p:cNvPr id="51" name="Segment5"/>
            <p:cNvSpPr/>
            <p:nvPr/>
          </p:nvSpPr>
          <p:spPr>
            <a:xfrm>
              <a:off x="7813063" y="1700000"/>
              <a:ext cx="2080000" cy="1500000"/>
            </a:xfrm>
            <a:prstGeom prst="chevron">
              <a:avLst>
                <a:gd name="adj" fmla="val 33000"/>
              </a:avLst>
            </a:prstGeom>
            <a:solidFill>
              <a:schemeClr val="accent4"/>
            </a:solidFill>
            <a:ln>
              <a:noFill/>
            </a:ln>
          </p:spPr>
          <p:txBody>
            <a:bodyPr/>
            <a:lstStyle/>
            <a:p>
              <a:endParaRPr/>
            </a:p>
          </p:txBody>
        </p:sp>
        <p:sp>
          <p:nvSpPr>
            <p:cNvPr id="52" name="Text5"/>
            <p:cNvSpPr/>
            <p:nvPr/>
          </p:nvSpPr>
          <p:spPr>
            <a:xfrm>
              <a:off x="8123063" y="1700000"/>
              <a:ext cx="1460000" cy="15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5</a:t>
              </a:r>
            </a:p>
            <a:p>
              <a:pPr algn="ctr"/>
              <a:r>
                <a:rPr lang="de-DE" sz="1400" b="1" dirty="0">
                  <a:solidFill>
                    <a:schemeClr val="accent1"/>
                  </a:solidFill>
                </a:rPr>
                <a:t>Evaluation</a:t>
              </a:r>
            </a:p>
          </p:txBody>
        </p:sp>
        <p:sp>
          <p:nvSpPr>
            <p:cNvPr id="53" name="Kapitel5"/>
            <p:cNvSpPr/>
            <p:nvPr/>
          </p:nvSpPr>
          <p:spPr>
            <a:xfrm>
              <a:off x="8123063" y="3400000"/>
              <a:ext cx="14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4</a:t>
              </a:r>
            </a:p>
          </p:txBody>
        </p:sp>
      </p:grpSp>
      <p:grpSp>
        <p:nvGrpSpPr>
          <p:cNvPr id="60" name="Station6"/>
          <p:cNvGrpSpPr/>
          <p:nvPr/>
        </p:nvGrpSpPr>
        <p:grpSpPr>
          <a:xfrm>
            <a:off x="9673063" y="1700000"/>
            <a:ext cx="2080000" cy="2100000"/>
            <a:chOff x="9673063" y="1700000"/>
            <a:chExt cx="2080000" cy="2100000"/>
          </a:xfrm>
        </p:grpSpPr>
        <p:sp>
          <p:nvSpPr>
            <p:cNvPr id="61" name="Segment6"/>
            <p:cNvSpPr/>
            <p:nvPr/>
          </p:nvSpPr>
          <p:spPr>
            <a:xfrm>
              <a:off x="9673063" y="1700000"/>
              <a:ext cx="2080000" cy="1500000"/>
            </a:xfrm>
            <a:prstGeom prst="chevron">
              <a:avLst>
                <a:gd name="adj" fmla="val 33000"/>
              </a:avLst>
            </a:prstGeom>
            <a:solidFill>
              <a:schemeClr val="accent4"/>
            </a:solidFill>
            <a:ln>
              <a:noFill/>
            </a:ln>
          </p:spPr>
          <p:txBody>
            <a:bodyPr/>
            <a:lstStyle/>
            <a:p>
              <a:endParaRPr/>
            </a:p>
          </p:txBody>
        </p:sp>
        <p:sp>
          <p:nvSpPr>
            <p:cNvPr id="62" name="Text6"/>
            <p:cNvSpPr/>
            <p:nvPr/>
          </p:nvSpPr>
          <p:spPr>
            <a:xfrm>
              <a:off x="9983063" y="1700000"/>
              <a:ext cx="1460000" cy="15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6</a:t>
              </a:r>
            </a:p>
            <a:p>
              <a:pPr algn="ctr"/>
              <a:r>
                <a:rPr lang="de-DE" sz="1400" b="1" dirty="0">
                  <a:solidFill>
                    <a:schemeClr val="accent1"/>
                  </a:solidFill>
                </a:rPr>
                <a:t>Kommunikation</a:t>
              </a:r>
            </a:p>
          </p:txBody>
        </p:sp>
        <p:sp>
          <p:nvSpPr>
            <p:cNvPr id="63" name="Kapitel6"/>
            <p:cNvSpPr/>
            <p:nvPr/>
          </p:nvSpPr>
          <p:spPr>
            <a:xfrm>
              <a:off x="9983063" y="3400000"/>
              <a:ext cx="1460000" cy="400000"/>
            </a:xfrm>
            <a:prstGeom prst="rect">
              <a:avLst/>
            </a:prstGeom>
            <a:noFill/>
            <a:ln>
              <a:noFill/>
            </a:ln>
          </p:spPr>
          <p:txBody>
            <a:bodyPr wrap="square" lIns="45720" tIns="45720" rIns="45720" bIns="45720" anchor="ctr">
              <a:noAutofit/>
            </a:bodyPr>
            <a:lstStyle/>
            <a:p>
              <a:pPr algn="ctr"/>
              <a:r>
                <a:rPr lang="de-DE" sz="1400" b="0" dirty="0">
                  <a:solidFill>
                    <a:schemeClr val="accent2"/>
                  </a:solidFill>
                </a:rPr>
                <a:t>Kapitel 5</a:t>
              </a:r>
            </a:p>
          </p:txBody>
        </p:sp>
      </p:grpSp>
      <p:sp>
        <p:nvSpPr>
          <p:cNvPr id="70" name="Aussagebalken"/>
          <p:cNvSpPr/>
          <p:nvPr/>
        </p:nvSpPr>
        <p:spPr>
          <a:xfrm>
            <a:off x="0" y="5330000"/>
            <a:ext cx="12192000" cy="800000"/>
          </a:xfrm>
          <a:prstGeom prst="rect">
            <a:avLst/>
          </a:prstGeom>
          <a:solidFill>
            <a:schemeClr val="accent1"/>
          </a:solidFill>
          <a:ln>
            <a:noFill/>
          </a:ln>
        </p:spPr>
        <p:txBody>
          <a:bodyPr wrap="square" lIns="45720" tIns="45720" rIns="45720" bIns="45720" anchor="ctr">
            <a:noAutofit/>
          </a:bodyPr>
          <a:lstStyle/>
          <a:p>
            <a:pPr algn="ctr"/>
            <a:r>
              <a:rPr lang="de-DE" sz="1800" b="1" dirty="0">
                <a:solidFill>
                  <a:srgbClr val="FFFFFF"/>
                </a:solidFill>
              </a:rPr>
              <a:t>Artefakt dieser Arbeit ist die Testmethodik, nicht das Testergebnis.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P spid="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Jeder Test hat eine Herkunft</a:t>
            </a:r>
          </a:p>
        </p:txBody>
      </p:sp>
      <p:grpSp>
        <p:nvGrpSpPr>
          <p:cNvPr id="10" name="Analyse"/>
          <p:cNvGrpSpPr/>
          <p:nvPr/>
        </p:nvGrpSpPr>
        <p:grpSpPr>
          <a:xfrm>
            <a:off x="373063" y="1170000"/>
            <a:ext cx="9076696" cy="1580000"/>
            <a:chOff x="373063" y="1170000"/>
            <a:chExt cx="9076696" cy="1580000"/>
          </a:xfrm>
        </p:grpSpPr>
        <p:sp>
          <p:nvSpPr>
            <p:cNvPr id="11" name="Analyse1"/>
            <p:cNvSpPr/>
            <p:nvPr/>
          </p:nvSpPr>
          <p:spPr>
            <a:xfrm>
              <a:off x="373063" y="1650000"/>
              <a:ext cx="1969174" cy="1100000"/>
            </a:xfrm>
            <a:prstGeom prst="roundRect">
              <a:avLst>
                <a:gd name="adj" fmla="val 10000"/>
              </a:avLst>
            </a:prstGeom>
            <a:solidFill>
              <a:schemeClr val="accent5"/>
            </a:solidFill>
            <a:ln>
              <a:noFill/>
            </a:ln>
          </p:spPr>
          <p:txBody>
            <a:bodyPr wrap="square" lIns="45720" tIns="45720" rIns="45720" bIns="45720" anchor="ctr">
              <a:noAutofit/>
            </a:bodyPr>
            <a:lstStyle/>
            <a:p>
              <a:pPr algn="ctr"/>
              <a:r>
                <a:rPr lang="de-DE" sz="1400" b="1" dirty="0">
                  <a:solidFill>
                    <a:srgbClr val="FFFFFF"/>
                  </a:solidFill>
                </a:rPr>
                <a:t>Requirement</a:t>
              </a:r>
            </a:p>
          </p:txBody>
        </p:sp>
        <p:sp>
          <p:nvSpPr>
            <p:cNvPr id="12" name="Analyse2"/>
            <p:cNvSpPr/>
            <p:nvPr/>
          </p:nvSpPr>
          <p:spPr>
            <a:xfrm>
              <a:off x="2742237" y="1650000"/>
              <a:ext cx="1969174" cy="1100000"/>
            </a:xfrm>
            <a:prstGeom prst="roundRect">
              <a:avLst>
                <a:gd name="adj" fmla="val 10000"/>
              </a:avLst>
            </a:prstGeom>
            <a:solidFill>
              <a:schemeClr val="accent5"/>
            </a:solidFill>
            <a:ln>
              <a:noFill/>
            </a:ln>
          </p:spPr>
          <p:txBody>
            <a:bodyPr wrap="square" lIns="45720" tIns="45720" rIns="45720" bIns="45720" anchor="ctr">
              <a:noAutofit/>
            </a:bodyPr>
            <a:lstStyle/>
            <a:p>
              <a:pPr algn="ctr"/>
              <a:r>
                <a:rPr lang="de-DE" sz="1400" b="1" dirty="0">
                  <a:solidFill>
                    <a:srgbClr val="FFFFFF"/>
                  </a:solidFill>
                </a:rPr>
                <a:t>Asset</a:t>
              </a:r>
            </a:p>
          </p:txBody>
        </p:sp>
        <p:sp>
          <p:nvSpPr>
            <p:cNvPr id="13" name="Analyse3"/>
            <p:cNvSpPr/>
            <p:nvPr/>
          </p:nvSpPr>
          <p:spPr>
            <a:xfrm>
              <a:off x="5111411" y="1650000"/>
              <a:ext cx="1969174" cy="1100000"/>
            </a:xfrm>
            <a:prstGeom prst="roundRect">
              <a:avLst>
                <a:gd name="adj" fmla="val 10000"/>
              </a:avLst>
            </a:prstGeom>
            <a:solidFill>
              <a:schemeClr val="accent5"/>
            </a:solidFill>
            <a:ln>
              <a:noFill/>
            </a:ln>
          </p:spPr>
          <p:txBody>
            <a:bodyPr wrap="square" lIns="45720" tIns="45720" rIns="45720" bIns="45720" anchor="ctr">
              <a:noAutofit/>
            </a:bodyPr>
            <a:lstStyle/>
            <a:p>
              <a:pPr algn="ctr"/>
              <a:r>
                <a:rPr lang="de-DE" sz="1400" b="1" dirty="0">
                  <a:solidFill>
                    <a:srgbClr val="FFFFFF"/>
                  </a:solidFill>
                </a:rPr>
                <a:t>Threat nach STRIDE</a:t>
              </a:r>
            </a:p>
          </p:txBody>
        </p:sp>
        <p:sp>
          <p:nvSpPr>
            <p:cNvPr id="14" name="Analyse4"/>
            <p:cNvSpPr/>
            <p:nvPr/>
          </p:nvSpPr>
          <p:spPr>
            <a:xfrm>
              <a:off x="7480585" y="1650000"/>
              <a:ext cx="1969174" cy="1100000"/>
            </a:xfrm>
            <a:prstGeom prst="roundRect">
              <a:avLst>
                <a:gd name="adj" fmla="val 10000"/>
              </a:avLst>
            </a:prstGeom>
            <a:solidFill>
              <a:schemeClr val="accent5"/>
            </a:solidFill>
            <a:ln>
              <a:noFill/>
            </a:ln>
          </p:spPr>
          <p:txBody>
            <a:bodyPr wrap="square" lIns="45720" tIns="45720" rIns="45720" bIns="45720" anchor="ctr">
              <a:noAutofit/>
            </a:bodyPr>
            <a:lstStyle/>
            <a:p>
              <a:pPr algn="ctr"/>
              <a:r>
                <a:rPr lang="de-DE" sz="1400" b="1" dirty="0">
                  <a:solidFill>
                    <a:srgbClr val="FFFFFF"/>
                  </a:solidFill>
                </a:rPr>
                <a:t>Security Function</a:t>
              </a:r>
            </a:p>
          </p:txBody>
        </p:sp>
        <p:sp>
          <p:nvSpPr>
            <p:cNvPr id="19" name="RandAnalyse"/>
            <p:cNvSpPr/>
            <p:nvPr/>
          </p:nvSpPr>
          <p:spPr>
            <a:xfrm>
              <a:off x="373063" y="1170000"/>
              <a:ext cx="3000000" cy="400000"/>
            </a:xfrm>
            <a:prstGeom prst="rect">
              <a:avLst/>
            </a:prstGeom>
            <a:noFill/>
            <a:ln>
              <a:noFill/>
            </a:ln>
          </p:spPr>
          <p:txBody>
            <a:bodyPr wrap="square" lIns="45720" tIns="45720" rIns="45720" bIns="45720" anchor="ctr">
              <a:noAutofit/>
            </a:bodyPr>
            <a:lstStyle/>
            <a:p>
              <a:pPr algn="l"/>
              <a:r>
                <a:rPr lang="de-DE" sz="1400" b="1" dirty="0">
                  <a:solidFill>
                    <a:schemeClr val="accent2"/>
                  </a:solidFill>
                </a:rPr>
                <a:t>Analyse</a:t>
              </a:r>
            </a:p>
          </p:txBody>
        </p:sp>
      </p:grpSp>
      <p:grpSp>
        <p:nvGrpSpPr>
          <p:cNvPr id="20" name="Durchfuehrung"/>
          <p:cNvGrpSpPr/>
          <p:nvPr/>
        </p:nvGrpSpPr>
        <p:grpSpPr>
          <a:xfrm>
            <a:off x="373063" y="3120000"/>
            <a:ext cx="11445870" cy="1580000"/>
            <a:chOff x="373063" y="3120000"/>
            <a:chExt cx="11445870" cy="1580000"/>
          </a:xfrm>
        </p:grpSpPr>
        <p:sp>
          <p:nvSpPr>
            <p:cNvPr id="21" name="Durchfuehrung1"/>
            <p:cNvSpPr/>
            <p:nvPr/>
          </p:nvSpPr>
          <p:spPr>
            <a:xfrm>
              <a:off x="373063" y="3600000"/>
              <a:ext cx="1969174" cy="1100000"/>
            </a:xfrm>
            <a:prstGeom prst="roundRect">
              <a:avLst>
                <a:gd name="adj" fmla="val 10000"/>
              </a:avLst>
            </a:prstGeom>
            <a:solidFill>
              <a:schemeClr val="accent4"/>
            </a:solidFill>
            <a:ln>
              <a:noFill/>
            </a:ln>
          </p:spPr>
          <p:txBody>
            <a:bodyPr wrap="square" lIns="45720" tIns="45720" rIns="45720" bIns="45720" anchor="ctr">
              <a:noAutofit/>
            </a:bodyPr>
            <a:lstStyle/>
            <a:p>
              <a:pPr algn="ctr"/>
              <a:r>
                <a:rPr lang="de-DE" sz="1400" b="1" dirty="0">
                  <a:solidFill>
                    <a:schemeClr val="accent1"/>
                  </a:solidFill>
                </a:rPr>
                <a:t>Testziel</a:t>
              </a:r>
            </a:p>
          </p:txBody>
        </p:sp>
        <p:sp>
          <p:nvSpPr>
            <p:cNvPr id="22" name="Durchfuehrung2"/>
            <p:cNvSpPr/>
            <p:nvPr/>
          </p:nvSpPr>
          <p:spPr>
            <a:xfrm>
              <a:off x="2742237" y="3600000"/>
              <a:ext cx="1969174" cy="1100000"/>
            </a:xfrm>
            <a:prstGeom prst="roundRect">
              <a:avLst>
                <a:gd name="adj" fmla="val 10000"/>
              </a:avLst>
            </a:prstGeom>
            <a:solidFill>
              <a:schemeClr val="accent4"/>
            </a:solidFill>
            <a:ln>
              <a:noFill/>
            </a:ln>
          </p:spPr>
          <p:txBody>
            <a:bodyPr wrap="square" lIns="45720" tIns="45720" rIns="45720" bIns="45720" anchor="ctr">
              <a:noAutofit/>
            </a:bodyPr>
            <a:lstStyle/>
            <a:p>
              <a:pPr algn="ctr"/>
              <a:r>
                <a:rPr lang="de-DE" sz="1400" b="1" dirty="0">
                  <a:solidFill>
                    <a:schemeClr val="accent1"/>
                  </a:solidFill>
                </a:rPr>
                <a:t>Testtechnik</a:t>
              </a:r>
            </a:p>
          </p:txBody>
        </p:sp>
        <p:sp>
          <p:nvSpPr>
            <p:cNvPr id="23" name="Durchfuehrung3"/>
            <p:cNvSpPr/>
            <p:nvPr/>
          </p:nvSpPr>
          <p:spPr>
            <a:xfrm>
              <a:off x="5111411" y="3600000"/>
              <a:ext cx="1969174" cy="1100000"/>
            </a:xfrm>
            <a:prstGeom prst="roundRect">
              <a:avLst>
                <a:gd name="adj" fmla="val 10000"/>
              </a:avLst>
            </a:prstGeom>
            <a:solidFill>
              <a:schemeClr val="accent4"/>
            </a:solidFill>
            <a:ln>
              <a:noFill/>
            </a:ln>
          </p:spPr>
          <p:txBody>
            <a:bodyPr wrap="square" lIns="45720" tIns="45720" rIns="45720" bIns="45720" anchor="ctr">
              <a:noAutofit/>
            </a:bodyPr>
            <a:lstStyle/>
            <a:p>
              <a:pPr algn="ctr"/>
              <a:r>
                <a:rPr lang="de-DE" sz="1400" b="1" dirty="0">
                  <a:solidFill>
                    <a:schemeClr val="accent1"/>
                  </a:solidFill>
                </a:rPr>
                <a:t>Zugriffs-</a:t>
              </a:r>
            </a:p>
            <a:p>
              <a:pPr algn="ctr"/>
              <a:r>
                <a:rPr lang="de-DE" sz="1400" b="1" dirty="0">
                  <a:solidFill>
                    <a:schemeClr val="accent1"/>
                  </a:solidFill>
                </a:rPr>
                <a:t>voraussetzung</a:t>
              </a:r>
            </a:p>
          </p:txBody>
        </p:sp>
        <p:sp>
          <p:nvSpPr>
            <p:cNvPr id="24" name="Durchfuehrung4"/>
            <p:cNvSpPr/>
            <p:nvPr/>
          </p:nvSpPr>
          <p:spPr>
            <a:xfrm>
              <a:off x="7480585" y="3600000"/>
              <a:ext cx="1969174" cy="1100000"/>
            </a:xfrm>
            <a:prstGeom prst="roundRect">
              <a:avLst>
                <a:gd name="adj" fmla="val 10000"/>
              </a:avLst>
            </a:prstGeom>
            <a:solidFill>
              <a:schemeClr val="accent4"/>
            </a:solidFill>
            <a:ln>
              <a:noFill/>
            </a:ln>
          </p:spPr>
          <p:txBody>
            <a:bodyPr wrap="square" lIns="45720" tIns="45720" rIns="45720" bIns="45720" anchor="ctr">
              <a:noAutofit/>
            </a:bodyPr>
            <a:lstStyle/>
            <a:p>
              <a:pPr algn="ctr"/>
              <a:r>
                <a:rPr lang="de-DE" sz="1400" b="1" dirty="0">
                  <a:solidFill>
                    <a:schemeClr val="accent1"/>
                  </a:solidFill>
                </a:rPr>
                <a:t>Evidenz</a:t>
              </a:r>
            </a:p>
          </p:txBody>
        </p:sp>
        <p:sp>
          <p:nvSpPr>
            <p:cNvPr id="25" name="Durchfuehrung5"/>
            <p:cNvSpPr/>
            <p:nvPr/>
          </p:nvSpPr>
          <p:spPr>
            <a:xfrm>
              <a:off x="9849759" y="3600000"/>
              <a:ext cx="1969174" cy="1100000"/>
            </a:xfrm>
            <a:prstGeom prst="roundRect">
              <a:avLst>
                <a:gd name="adj" fmla="val 10000"/>
              </a:avLst>
            </a:prstGeom>
            <a:solidFill>
              <a:schemeClr val="accent4"/>
            </a:solidFill>
            <a:ln>
              <a:noFill/>
            </a:ln>
          </p:spPr>
          <p:txBody>
            <a:bodyPr wrap="square" lIns="45720" tIns="45720" rIns="45720" bIns="45720" anchor="ctr">
              <a:noAutofit/>
            </a:bodyPr>
            <a:lstStyle/>
            <a:p>
              <a:pPr algn="ctr"/>
              <a:r>
                <a:rPr lang="de-DE" sz="1400" b="1" dirty="0">
                  <a:solidFill>
                    <a:schemeClr val="accent1"/>
                  </a:solidFill>
                </a:rPr>
                <a:t>Ergebnis</a:t>
              </a:r>
            </a:p>
          </p:txBody>
        </p:sp>
        <p:sp>
          <p:nvSpPr>
            <p:cNvPr id="29" name="RandDurchfuehrung"/>
            <p:cNvSpPr/>
            <p:nvPr/>
          </p:nvSpPr>
          <p:spPr>
            <a:xfrm>
              <a:off x="2742237" y="3120000"/>
              <a:ext cx="3000000" cy="400000"/>
            </a:xfrm>
            <a:prstGeom prst="rect">
              <a:avLst/>
            </a:prstGeom>
            <a:noFill/>
            <a:ln>
              <a:noFill/>
            </a:ln>
          </p:spPr>
          <p:txBody>
            <a:bodyPr wrap="square" lIns="45720" tIns="45720" rIns="45720" bIns="45720" anchor="ctr">
              <a:noAutofit/>
            </a:bodyPr>
            <a:lstStyle/>
            <a:p>
              <a:pPr algn="l"/>
              <a:r>
                <a:rPr lang="de-DE" sz="1400" b="1" dirty="0">
                  <a:solidFill>
                    <a:schemeClr val="accent2"/>
                  </a:solidFill>
                </a:rPr>
                <a:t>Durchführung</a:t>
              </a:r>
            </a:p>
          </p:txBody>
        </p:sp>
      </p:grpSp>
      <p:grpSp>
        <p:nvGrpSpPr>
          <p:cNvPr id="30" name="Verbindungen"/>
          <p:cNvGrpSpPr/>
          <p:nvPr/>
        </p:nvGrpSpPr>
        <p:grpSpPr>
          <a:xfrm>
            <a:off x="1257650" y="2130000"/>
            <a:ext cx="10561283" cy="2570000"/>
            <a:chOff x="1257650" y="2130000"/>
            <a:chExt cx="10561283" cy="2570000"/>
          </a:xfrm>
        </p:grpSpPr>
        <p:sp>
          <p:nvSpPr>
            <p:cNvPr id="31" name="P1_0"/>
            <p:cNvSpPr/>
            <p:nvPr/>
          </p:nvSpPr>
          <p:spPr>
            <a:xfrm>
              <a:off x="2342237" y="213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2" name="P1_1"/>
            <p:cNvSpPr/>
            <p:nvPr/>
          </p:nvSpPr>
          <p:spPr>
            <a:xfrm>
              <a:off x="4711411" y="213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3" name="P1_2"/>
            <p:cNvSpPr/>
            <p:nvPr/>
          </p:nvSpPr>
          <p:spPr>
            <a:xfrm>
              <a:off x="7080585" y="213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4" name="P2_0"/>
            <p:cNvSpPr/>
            <p:nvPr/>
          </p:nvSpPr>
          <p:spPr>
            <a:xfrm>
              <a:off x="2342237" y="408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5" name="P2_1"/>
            <p:cNvSpPr/>
            <p:nvPr/>
          </p:nvSpPr>
          <p:spPr>
            <a:xfrm>
              <a:off x="4711411" y="408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6" name="P2_2"/>
            <p:cNvSpPr/>
            <p:nvPr/>
          </p:nvSpPr>
          <p:spPr>
            <a:xfrm>
              <a:off x="7080585" y="408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7" name="P2_3"/>
            <p:cNvSpPr/>
            <p:nvPr/>
          </p:nvSpPr>
          <p:spPr>
            <a:xfrm>
              <a:off x="9449759" y="4080000"/>
              <a:ext cx="400000" cy="140000"/>
            </a:xfrm>
            <a:prstGeom prst="rightArrow">
              <a:avLst>
                <a:gd name="adj1" fmla="val 50000"/>
                <a:gd name="adj2" fmla="val 45000"/>
              </a:avLst>
            </a:prstGeom>
            <a:solidFill>
              <a:schemeClr val="accent2"/>
            </a:solidFill>
            <a:ln>
              <a:noFill/>
            </a:ln>
          </p:spPr>
          <p:txBody>
            <a:bodyPr/>
            <a:lstStyle/>
            <a:p>
              <a:endParaRPr/>
            </a:p>
          </p:txBody>
        </p:sp>
        <p:sp>
          <p:nvSpPr>
            <p:cNvPr id="38" name="W1"/>
            <p:cNvSpPr/>
            <p:nvPr/>
          </p:nvSpPr>
          <p:spPr>
            <a:xfrm>
              <a:off x="9449759" y="2150000"/>
              <a:ext cx="2369174" cy="100000"/>
            </a:xfrm>
            <a:prstGeom prst="rect">
              <a:avLst/>
            </a:prstGeom>
            <a:solidFill>
              <a:schemeClr val="accent2"/>
            </a:solidFill>
            <a:ln>
              <a:noFill/>
            </a:ln>
          </p:spPr>
          <p:txBody>
            <a:bodyPr/>
            <a:lstStyle/>
            <a:p>
              <a:endParaRPr/>
            </a:p>
          </p:txBody>
        </p:sp>
        <p:sp>
          <p:nvSpPr>
            <p:cNvPr id="39" name="W2"/>
            <p:cNvSpPr/>
            <p:nvPr/>
          </p:nvSpPr>
          <p:spPr>
            <a:xfrm>
              <a:off x="11718933" y="2150000"/>
              <a:ext cx="100000" cy="900000"/>
            </a:xfrm>
            <a:prstGeom prst="rect">
              <a:avLst/>
            </a:prstGeom>
            <a:solidFill>
              <a:schemeClr val="accent2"/>
            </a:solidFill>
            <a:ln>
              <a:noFill/>
            </a:ln>
          </p:spPr>
          <p:txBody>
            <a:bodyPr/>
            <a:lstStyle/>
            <a:p>
              <a:endParaRPr/>
            </a:p>
          </p:txBody>
        </p:sp>
        <p:sp>
          <p:nvSpPr>
            <p:cNvPr id="3" name="W3"/>
            <p:cNvSpPr/>
            <p:nvPr/>
          </p:nvSpPr>
          <p:spPr>
            <a:xfrm>
              <a:off x="1357650" y="2950000"/>
              <a:ext cx="10461283" cy="100000"/>
            </a:xfrm>
            <a:prstGeom prst="rect">
              <a:avLst/>
            </a:prstGeom>
            <a:solidFill>
              <a:schemeClr val="accent2"/>
            </a:solidFill>
            <a:ln>
              <a:noFill/>
            </a:ln>
          </p:spPr>
          <p:txBody>
            <a:bodyPr/>
            <a:lstStyle/>
            <a:p>
              <a:endParaRPr/>
            </a:p>
          </p:txBody>
        </p:sp>
        <p:sp>
          <p:nvSpPr>
            <p:cNvPr id="41" name="W4"/>
            <p:cNvSpPr/>
            <p:nvPr/>
          </p:nvSpPr>
          <p:spPr>
            <a:xfrm>
              <a:off x="1257650" y="2950000"/>
              <a:ext cx="300000" cy="650000"/>
            </a:xfrm>
            <a:prstGeom prst="downArrow">
              <a:avLst>
                <a:gd name="adj1" fmla="val 34000"/>
                <a:gd name="adj2" fmla="val 55000"/>
              </a:avLst>
            </a:prstGeom>
            <a:solidFill>
              <a:schemeClr val="accent2"/>
            </a:solidFill>
            <a:ln>
              <a:noFill/>
            </a:ln>
          </p:spPr>
          <p:txBody>
            <a:bodyPr/>
            <a:lstStyle/>
            <a:p>
              <a:endParaRPr/>
            </a:p>
          </p:txBody>
        </p:sp>
      </p:grpSp>
      <p:sp>
        <p:nvSpPr>
          <p:cNvPr id="40" name="Aussagebalken"/>
          <p:cNvSpPr/>
          <p:nvPr/>
        </p:nvSpPr>
        <p:spPr>
          <a:xfrm>
            <a:off x="0" y="5330000"/>
            <a:ext cx="12192000" cy="800000"/>
          </a:xfrm>
          <a:prstGeom prst="rect">
            <a:avLst/>
          </a:prstGeom>
          <a:solidFill>
            <a:schemeClr val="accent1"/>
          </a:solidFill>
          <a:ln>
            <a:noFill/>
          </a:ln>
        </p:spPr>
        <p:txBody>
          <a:bodyPr wrap="square" lIns="45720" tIns="45720" rIns="45720" bIns="45720" anchor="ctr">
            <a:noAutofit/>
          </a:bodyPr>
          <a:lstStyle/>
          <a:p>
            <a:pPr algn="ctr"/>
            <a:r>
              <a:rPr lang="de-DE" sz="1800" b="1" dirty="0">
                <a:solidFill>
                  <a:srgbClr val="FFFFFF"/>
                </a:solidFill>
              </a:rPr>
              <a:t>Kein Test ohne Anforderung, kein Verdict ohne gespeicherte Evidenz.</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Was der Messpunkt bestimmt</a:t>
            </a:r>
          </a:p>
        </p:txBody>
      </p:sp>
      <p:grpSp>
        <p:nvGrpSpPr>
          <p:cNvPr id="10" name="Diagramm1"/>
          <p:cNvGrpSpPr/>
          <p:nvPr/>
        </p:nvGrpSpPr>
        <p:grpSpPr>
          <a:xfrm>
            <a:off x="373063" y="1300000"/>
            <a:ext cx="3615291" cy="3970000"/>
            <a:chOff x="373063" y="1300000"/>
            <a:chExt cx="3615291" cy="3970000"/>
          </a:xfrm>
        </p:grpSpPr>
        <p:sp>
          <p:nvSpPr>
            <p:cNvPr id="11" name="H0"/>
            <p:cNvSpPr/>
            <p:nvPr/>
          </p:nvSpPr>
          <p:spPr>
            <a:xfrm>
              <a:off x="373063" y="1300000"/>
              <a:ext cx="3615291" cy="450000"/>
            </a:xfrm>
            <a:prstGeom prst="rect">
              <a:avLst/>
            </a:prstGeom>
            <a:noFill/>
            <a:ln>
              <a:noFill/>
            </a:ln>
          </p:spPr>
          <p:txBody>
            <a:bodyPr wrap="square" lIns="45720" tIns="27432" rIns="45720" bIns="27432" anchor="ctr">
              <a:noAutofit/>
            </a:bodyPr>
            <a:lstStyle/>
            <a:p>
              <a:pPr algn="ctr"/>
              <a:r>
                <a:rPr lang="de-DE" sz="1600" b="1" dirty="0">
                  <a:solidFill>
                    <a:schemeClr val="accent5"/>
                  </a:solidFill>
                </a:rPr>
                <a:t>NV1 · Direktzugriff</a:t>
              </a:r>
            </a:p>
          </p:txBody>
        </p:sp>
        <p:sp>
          <p:nvSpPr>
            <p:cNvPr id="12" name="N0_SPS"/>
            <p:cNvSpPr/>
            <p:nvPr/>
          </p:nvSpPr>
          <p:spPr>
            <a:xfrm>
              <a:off x="433063" y="19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SPS</a:t>
              </a:r>
            </a:p>
          </p:txBody>
        </p:sp>
        <p:sp>
          <p:nvSpPr>
            <p:cNvPr id="13" name="N0_Indu"/>
            <p:cNvSpPr/>
            <p:nvPr/>
          </p:nvSpPr>
          <p:spPr>
            <a:xfrm>
              <a:off x="433063" y="27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Industrial Switch</a:t>
              </a:r>
            </a:p>
          </p:txBody>
        </p:sp>
        <p:sp>
          <p:nvSpPr>
            <p:cNvPr id="14" name="N0_Prüf"/>
            <p:cNvSpPr/>
            <p:nvPr/>
          </p:nvSpPr>
          <p:spPr>
            <a:xfrm>
              <a:off x="433063" y="35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Prüfling</a:t>
              </a:r>
            </a:p>
          </p:txBody>
        </p:sp>
        <p:sp>
          <p:nvSpPr>
            <p:cNvPr id="15" name="N0_Test"/>
            <p:cNvSpPr/>
            <p:nvPr/>
          </p:nvSpPr>
          <p:spPr>
            <a:xfrm>
              <a:off x="2428354" y="2750000"/>
              <a:ext cx="1500000" cy="520000"/>
            </a:xfrm>
            <a:prstGeom prst="roundRect">
              <a:avLst>
                <a:gd name="adj" fmla="val 12000"/>
              </a:avLst>
            </a:prstGeom>
            <a:solidFill>
              <a:schemeClr val="accent5"/>
            </a:solidFill>
            <a:ln>
              <a:noFill/>
            </a:ln>
          </p:spPr>
          <p:txBody>
            <a:bodyPr wrap="square" lIns="45720" tIns="27432" rIns="45720" bIns="27432" anchor="ctr">
              <a:noAutofit/>
            </a:bodyPr>
            <a:lstStyle/>
            <a:p>
              <a:pPr algn="ctr"/>
              <a:r>
                <a:rPr lang="de-DE" sz="1400" b="1" dirty="0">
                  <a:solidFill>
                    <a:srgbClr val="FFFFFF"/>
                  </a:solidFill>
                </a:rPr>
                <a:t>Testsystem</a:t>
              </a:r>
            </a:p>
          </p:txBody>
        </p:sp>
        <p:sp>
          <p:nvSpPr>
            <p:cNvPr id="16" name="L0_2470000"/>
            <p:cNvSpPr/>
            <p:nvPr/>
          </p:nvSpPr>
          <p:spPr>
            <a:xfrm>
              <a:off x="1183063" y="2470000"/>
              <a:ext cx="0" cy="280000"/>
            </a:xfrm>
            <a:prstGeom prst="line">
              <a:avLst/>
            </a:prstGeom>
            <a:noFill/>
            <a:ln w="28575">
              <a:solidFill>
                <a:schemeClr val="accent2"/>
              </a:solidFill>
            </a:ln>
          </p:spPr>
          <p:txBody>
            <a:bodyPr/>
            <a:lstStyle/>
            <a:p>
              <a:endParaRPr/>
            </a:p>
          </p:txBody>
        </p:sp>
        <p:sp>
          <p:nvSpPr>
            <p:cNvPr id="17" name="L0_3270000"/>
            <p:cNvSpPr/>
            <p:nvPr/>
          </p:nvSpPr>
          <p:spPr>
            <a:xfrm>
              <a:off x="1183063" y="3270000"/>
              <a:ext cx="0" cy="280000"/>
            </a:xfrm>
            <a:prstGeom prst="line">
              <a:avLst/>
            </a:prstGeom>
            <a:noFill/>
            <a:ln w="28575">
              <a:solidFill>
                <a:schemeClr val="accent2"/>
              </a:solidFill>
            </a:ln>
          </p:spPr>
          <p:txBody>
            <a:bodyPr/>
            <a:lstStyle/>
            <a:p>
              <a:endParaRPr/>
            </a:p>
          </p:txBody>
        </p:sp>
        <p:sp>
          <p:nvSpPr>
            <p:cNvPr id="18" name="H0_1933063"/>
            <p:cNvSpPr/>
            <p:nvPr/>
          </p:nvSpPr>
          <p:spPr>
            <a:xfrm>
              <a:off x="1933063" y="3010000"/>
              <a:ext cx="495291" cy="0"/>
            </a:xfrm>
            <a:prstGeom prst="line">
              <a:avLst/>
            </a:prstGeom>
            <a:noFill/>
            <a:ln w="28575">
              <a:solidFill>
                <a:schemeClr val="accent2"/>
              </a:solidFill>
            </a:ln>
          </p:spPr>
          <p:txBody>
            <a:bodyPr/>
            <a:lstStyle/>
            <a:p>
              <a:endParaRPr/>
            </a:p>
          </p:txBody>
        </p:sp>
        <p:sp>
          <p:nvSpPr>
            <p:cNvPr id="19" name="Band0"/>
            <p:cNvSpPr/>
            <p:nvPr/>
          </p:nvSpPr>
          <p:spPr>
            <a:xfrm>
              <a:off x="373063" y="4750000"/>
              <a:ext cx="3615291" cy="520000"/>
            </a:xfrm>
            <a:prstGeom prst="rect">
              <a:avLst/>
            </a:prstGeom>
            <a:solidFill>
              <a:srgbClr val="2E7D32"/>
            </a:solidFill>
            <a:ln>
              <a:noFill/>
            </a:ln>
          </p:spPr>
          <p:txBody>
            <a:bodyPr wrap="square" lIns="45720" tIns="27432" rIns="45720" bIns="27432" anchor="ctr">
              <a:noAutofit/>
            </a:bodyPr>
            <a:lstStyle/>
            <a:p>
              <a:pPr algn="ctr"/>
              <a:r>
                <a:rPr lang="de-DE" sz="1400" b="1" dirty="0">
                  <a:solidFill>
                    <a:srgbClr val="FFFFFF"/>
                  </a:solidFill>
                </a:rPr>
                <a:t>realisiert</a:t>
              </a:r>
            </a:p>
          </p:txBody>
        </p:sp>
      </p:grpSp>
      <p:grpSp>
        <p:nvGrpSpPr>
          <p:cNvPr id="40" name="Diagramm2"/>
          <p:cNvGrpSpPr/>
          <p:nvPr/>
        </p:nvGrpSpPr>
        <p:grpSpPr>
          <a:xfrm>
            <a:off x="4288354" y="1300000"/>
            <a:ext cx="3615291" cy="3970000"/>
            <a:chOff x="4288354" y="1300000"/>
            <a:chExt cx="3615291" cy="3970000"/>
          </a:xfrm>
        </p:grpSpPr>
        <p:sp>
          <p:nvSpPr>
            <p:cNvPr id="41" name="H1"/>
            <p:cNvSpPr/>
            <p:nvPr/>
          </p:nvSpPr>
          <p:spPr>
            <a:xfrm>
              <a:off x="4288354" y="1300000"/>
              <a:ext cx="3615291" cy="450000"/>
            </a:xfrm>
            <a:prstGeom prst="rect">
              <a:avLst/>
            </a:prstGeom>
            <a:noFill/>
            <a:ln>
              <a:noFill/>
            </a:ln>
          </p:spPr>
          <p:txBody>
            <a:bodyPr wrap="square" lIns="45720" tIns="27432" rIns="45720" bIns="27432" anchor="ctr">
              <a:noAutofit/>
            </a:bodyPr>
            <a:lstStyle/>
            <a:p>
              <a:pPr algn="ctr"/>
              <a:r>
                <a:rPr lang="de-DE" sz="1600" b="1" dirty="0">
                  <a:solidFill>
                    <a:schemeClr val="accent5"/>
                  </a:solidFill>
                </a:rPr>
                <a:t>NV2 · Passive Beobachtung</a:t>
              </a:r>
            </a:p>
          </p:txBody>
        </p:sp>
        <p:sp>
          <p:nvSpPr>
            <p:cNvPr id="42" name="N1_SPS"/>
            <p:cNvSpPr/>
            <p:nvPr/>
          </p:nvSpPr>
          <p:spPr>
            <a:xfrm>
              <a:off x="4348354" y="19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SPS</a:t>
              </a:r>
            </a:p>
          </p:txBody>
        </p:sp>
        <p:sp>
          <p:nvSpPr>
            <p:cNvPr id="43" name="N1_Indu"/>
            <p:cNvSpPr/>
            <p:nvPr/>
          </p:nvSpPr>
          <p:spPr>
            <a:xfrm>
              <a:off x="4348354" y="27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Industrial Switch</a:t>
              </a:r>
            </a:p>
          </p:txBody>
        </p:sp>
        <p:sp>
          <p:nvSpPr>
            <p:cNvPr id="44" name="N1_Prüf"/>
            <p:cNvSpPr/>
            <p:nvPr/>
          </p:nvSpPr>
          <p:spPr>
            <a:xfrm>
              <a:off x="4348354" y="35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Prüfling</a:t>
              </a:r>
            </a:p>
          </p:txBody>
        </p:sp>
        <p:sp>
          <p:nvSpPr>
            <p:cNvPr id="45" name="N1_Test"/>
            <p:cNvSpPr/>
            <p:nvPr/>
          </p:nvSpPr>
          <p:spPr>
            <a:xfrm>
              <a:off x="6343645" y="2750000"/>
              <a:ext cx="1500000" cy="520000"/>
            </a:xfrm>
            <a:prstGeom prst="roundRect">
              <a:avLst>
                <a:gd name="adj" fmla="val 12000"/>
              </a:avLst>
            </a:prstGeom>
            <a:solidFill>
              <a:schemeClr val="accent5"/>
            </a:solidFill>
            <a:ln>
              <a:noFill/>
            </a:ln>
          </p:spPr>
          <p:txBody>
            <a:bodyPr wrap="square" lIns="45720" tIns="27432" rIns="45720" bIns="27432" anchor="ctr">
              <a:noAutofit/>
            </a:bodyPr>
            <a:lstStyle/>
            <a:p>
              <a:pPr algn="ctr"/>
              <a:r>
                <a:rPr lang="de-DE" sz="1400" b="1" dirty="0">
                  <a:solidFill>
                    <a:srgbClr val="FFFFFF"/>
                  </a:solidFill>
                </a:rPr>
                <a:t>Testsystem</a:t>
              </a:r>
            </a:p>
          </p:txBody>
        </p:sp>
        <p:sp>
          <p:nvSpPr>
            <p:cNvPr id="46" name="L1_2470000"/>
            <p:cNvSpPr/>
            <p:nvPr/>
          </p:nvSpPr>
          <p:spPr>
            <a:xfrm>
              <a:off x="5098354" y="2470000"/>
              <a:ext cx="0" cy="280000"/>
            </a:xfrm>
            <a:prstGeom prst="line">
              <a:avLst/>
            </a:prstGeom>
            <a:noFill/>
            <a:ln w="28575">
              <a:solidFill>
                <a:schemeClr val="accent2"/>
              </a:solidFill>
            </a:ln>
          </p:spPr>
          <p:txBody>
            <a:bodyPr/>
            <a:lstStyle/>
            <a:p>
              <a:endParaRPr/>
            </a:p>
          </p:txBody>
        </p:sp>
        <p:sp>
          <p:nvSpPr>
            <p:cNvPr id="47" name="L1_3270000"/>
            <p:cNvSpPr/>
            <p:nvPr/>
          </p:nvSpPr>
          <p:spPr>
            <a:xfrm>
              <a:off x="5098354" y="3270000"/>
              <a:ext cx="0" cy="280000"/>
            </a:xfrm>
            <a:prstGeom prst="line">
              <a:avLst/>
            </a:prstGeom>
            <a:noFill/>
            <a:ln w="28575">
              <a:solidFill>
                <a:schemeClr val="accent2"/>
              </a:solidFill>
            </a:ln>
          </p:spPr>
          <p:txBody>
            <a:bodyPr/>
            <a:lstStyle/>
            <a:p>
              <a:endParaRPr/>
            </a:p>
          </p:txBody>
        </p:sp>
        <p:sp>
          <p:nvSpPr>
            <p:cNvPr id="48" name="H1_5848354"/>
            <p:cNvSpPr/>
            <p:nvPr/>
          </p:nvSpPr>
          <p:spPr>
            <a:xfrm>
              <a:off x="5848354" y="3010000"/>
              <a:ext cx="495291" cy="0"/>
            </a:xfrm>
            <a:prstGeom prst="line">
              <a:avLst/>
            </a:prstGeom>
            <a:noFill/>
            <a:ln w="28575">
              <a:solidFill>
                <a:schemeClr val="accent2"/>
              </a:solidFill>
              <a:prstDash val="dash"/>
            </a:ln>
          </p:spPr>
          <p:txBody>
            <a:bodyPr/>
            <a:lstStyle/>
            <a:p>
              <a:endParaRPr/>
            </a:p>
          </p:txBody>
        </p:sp>
        <p:sp>
          <p:nvSpPr>
            <p:cNvPr id="49" name="Band1"/>
            <p:cNvSpPr/>
            <p:nvPr/>
          </p:nvSpPr>
          <p:spPr>
            <a:xfrm>
              <a:off x="4288354" y="4750000"/>
              <a:ext cx="3615291" cy="520000"/>
            </a:xfrm>
            <a:prstGeom prst="rect">
              <a:avLst/>
            </a:prstGeom>
            <a:solidFill>
              <a:schemeClr val="accent3"/>
            </a:solidFill>
            <a:ln>
              <a:noFill/>
            </a:ln>
          </p:spPr>
          <p:txBody>
            <a:bodyPr wrap="square" lIns="45720" tIns="27432" rIns="45720" bIns="27432" anchor="ctr">
              <a:noAutofit/>
            </a:bodyPr>
            <a:lstStyle/>
            <a:p>
              <a:pPr algn="ctr"/>
              <a:r>
                <a:rPr lang="de-DE" sz="1400" b="1" dirty="0">
                  <a:solidFill>
                    <a:srgbClr val="FFFFFF"/>
                  </a:solidFill>
                </a:rPr>
                <a:t>spezifiziert, nicht umgesetzt</a:t>
              </a:r>
            </a:p>
          </p:txBody>
        </p:sp>
      </p:grpSp>
      <p:grpSp>
        <p:nvGrpSpPr>
          <p:cNvPr id="70" name="Diagramm3"/>
          <p:cNvGrpSpPr/>
          <p:nvPr/>
        </p:nvGrpSpPr>
        <p:grpSpPr>
          <a:xfrm>
            <a:off x="8203645" y="1300000"/>
            <a:ext cx="3615291" cy="3970000"/>
            <a:chOff x="8203645" y="1300000"/>
            <a:chExt cx="3615291" cy="3970000"/>
          </a:xfrm>
        </p:grpSpPr>
        <p:sp>
          <p:nvSpPr>
            <p:cNvPr id="71" name="H2"/>
            <p:cNvSpPr/>
            <p:nvPr/>
          </p:nvSpPr>
          <p:spPr>
            <a:xfrm>
              <a:off x="8203645" y="1300000"/>
              <a:ext cx="3615291" cy="450000"/>
            </a:xfrm>
            <a:prstGeom prst="rect">
              <a:avLst/>
            </a:prstGeom>
            <a:noFill/>
            <a:ln>
              <a:noFill/>
            </a:ln>
          </p:spPr>
          <p:txBody>
            <a:bodyPr wrap="square" lIns="45720" tIns="27432" rIns="45720" bIns="27432" anchor="ctr">
              <a:noAutofit/>
            </a:bodyPr>
            <a:lstStyle/>
            <a:p>
              <a:pPr algn="ctr"/>
              <a:r>
                <a:rPr lang="de-DE" sz="1600" b="1" dirty="0">
                  <a:solidFill>
                    <a:schemeClr val="accent5"/>
                  </a:solidFill>
                </a:rPr>
                <a:t>NV3 · In-Path-Manipulation</a:t>
              </a:r>
            </a:p>
          </p:txBody>
        </p:sp>
        <p:sp>
          <p:nvSpPr>
            <p:cNvPr id="72" name="N2_SPS"/>
            <p:cNvSpPr/>
            <p:nvPr/>
          </p:nvSpPr>
          <p:spPr>
            <a:xfrm>
              <a:off x="8263645" y="190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SPS</a:t>
              </a:r>
            </a:p>
          </p:txBody>
        </p:sp>
        <p:sp>
          <p:nvSpPr>
            <p:cNvPr id="73" name="N2_Indu"/>
            <p:cNvSpPr/>
            <p:nvPr/>
          </p:nvSpPr>
          <p:spPr>
            <a:xfrm>
              <a:off x="8263645" y="26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Industrial Switch</a:t>
              </a:r>
            </a:p>
          </p:txBody>
        </p:sp>
        <p:sp>
          <p:nvSpPr>
            <p:cNvPr id="74" name="N2_Test"/>
            <p:cNvSpPr/>
            <p:nvPr/>
          </p:nvSpPr>
          <p:spPr>
            <a:xfrm>
              <a:off x="8263645" y="3400000"/>
              <a:ext cx="1500000" cy="520000"/>
            </a:xfrm>
            <a:prstGeom prst="roundRect">
              <a:avLst>
                <a:gd name="adj" fmla="val 12000"/>
              </a:avLst>
            </a:prstGeom>
            <a:solidFill>
              <a:schemeClr val="accent5"/>
            </a:solidFill>
            <a:ln>
              <a:noFill/>
            </a:ln>
          </p:spPr>
          <p:txBody>
            <a:bodyPr wrap="square" lIns="45720" tIns="27432" rIns="45720" bIns="27432" anchor="ctr">
              <a:noAutofit/>
            </a:bodyPr>
            <a:lstStyle/>
            <a:p>
              <a:pPr algn="ctr"/>
              <a:r>
                <a:rPr lang="de-DE" sz="1400" b="1" dirty="0">
                  <a:solidFill>
                    <a:srgbClr val="FFFFFF"/>
                  </a:solidFill>
                </a:rPr>
                <a:t>Testsystem</a:t>
              </a:r>
            </a:p>
          </p:txBody>
        </p:sp>
        <p:sp>
          <p:nvSpPr>
            <p:cNvPr id="75" name="N2_Prüf"/>
            <p:cNvSpPr/>
            <p:nvPr/>
          </p:nvSpPr>
          <p:spPr>
            <a:xfrm>
              <a:off x="8263645" y="4150000"/>
              <a:ext cx="1500000" cy="520000"/>
            </a:xfrm>
            <a:prstGeom prst="roundRect">
              <a:avLst>
                <a:gd name="adj" fmla="val 12000"/>
              </a:avLst>
            </a:prstGeom>
            <a:solidFill>
              <a:schemeClr val="accent4"/>
            </a:solidFill>
            <a:ln>
              <a:noFill/>
            </a:ln>
          </p:spPr>
          <p:txBody>
            <a:bodyPr wrap="square" lIns="45720" tIns="27432" rIns="45720" bIns="27432" anchor="ctr">
              <a:noAutofit/>
            </a:bodyPr>
            <a:lstStyle/>
            <a:p>
              <a:pPr algn="ctr"/>
              <a:r>
                <a:rPr lang="de-DE" sz="1400" b="1" dirty="0">
                  <a:solidFill>
                    <a:schemeClr val="accent1"/>
                  </a:solidFill>
                </a:rPr>
                <a:t>Prüfling</a:t>
              </a:r>
            </a:p>
          </p:txBody>
        </p:sp>
        <p:sp>
          <p:nvSpPr>
            <p:cNvPr id="76" name="L2_2420000"/>
            <p:cNvSpPr/>
            <p:nvPr/>
          </p:nvSpPr>
          <p:spPr>
            <a:xfrm>
              <a:off x="9013645" y="2420000"/>
              <a:ext cx="0" cy="230000"/>
            </a:xfrm>
            <a:prstGeom prst="line">
              <a:avLst/>
            </a:prstGeom>
            <a:noFill/>
            <a:ln w="28575">
              <a:solidFill>
                <a:schemeClr val="accent2"/>
              </a:solidFill>
            </a:ln>
          </p:spPr>
          <p:txBody>
            <a:bodyPr/>
            <a:lstStyle/>
            <a:p>
              <a:endParaRPr/>
            </a:p>
          </p:txBody>
        </p:sp>
        <p:sp>
          <p:nvSpPr>
            <p:cNvPr id="77" name="L2_3170000"/>
            <p:cNvSpPr/>
            <p:nvPr/>
          </p:nvSpPr>
          <p:spPr>
            <a:xfrm>
              <a:off x="9013645" y="3170000"/>
              <a:ext cx="0" cy="230000"/>
            </a:xfrm>
            <a:prstGeom prst="line">
              <a:avLst/>
            </a:prstGeom>
            <a:noFill/>
            <a:ln w="28575">
              <a:solidFill>
                <a:schemeClr val="accent2"/>
              </a:solidFill>
            </a:ln>
          </p:spPr>
          <p:txBody>
            <a:bodyPr/>
            <a:lstStyle/>
            <a:p>
              <a:endParaRPr/>
            </a:p>
          </p:txBody>
        </p:sp>
        <p:sp>
          <p:nvSpPr>
            <p:cNvPr id="78" name="L2_3920000"/>
            <p:cNvSpPr/>
            <p:nvPr/>
          </p:nvSpPr>
          <p:spPr>
            <a:xfrm>
              <a:off x="9013645" y="3920000"/>
              <a:ext cx="0" cy="230000"/>
            </a:xfrm>
            <a:prstGeom prst="line">
              <a:avLst/>
            </a:prstGeom>
            <a:noFill/>
            <a:ln w="28575">
              <a:solidFill>
                <a:schemeClr val="accent2"/>
              </a:solidFill>
            </a:ln>
          </p:spPr>
          <p:txBody>
            <a:bodyPr/>
            <a:lstStyle/>
            <a:p>
              <a:endParaRPr/>
            </a:p>
          </p:txBody>
        </p:sp>
        <p:sp>
          <p:nvSpPr>
            <p:cNvPr id="79" name="Band2"/>
            <p:cNvSpPr/>
            <p:nvPr/>
          </p:nvSpPr>
          <p:spPr>
            <a:xfrm>
              <a:off x="8203645" y="4750000"/>
              <a:ext cx="3615291" cy="520000"/>
            </a:xfrm>
            <a:prstGeom prst="rect">
              <a:avLst/>
            </a:prstGeom>
            <a:solidFill>
              <a:schemeClr val="accent3"/>
            </a:solidFill>
            <a:ln>
              <a:noFill/>
            </a:ln>
          </p:spPr>
          <p:txBody>
            <a:bodyPr wrap="square" lIns="45720" tIns="27432" rIns="45720" bIns="27432" anchor="ctr">
              <a:noAutofit/>
            </a:bodyPr>
            <a:lstStyle/>
            <a:p>
              <a:pPr algn="ctr"/>
              <a:r>
                <a:rPr lang="de-DE" sz="1400" b="1" dirty="0">
                  <a:solidFill>
                    <a:srgbClr val="FFFFFF"/>
                  </a:solidFill>
                </a:rPr>
                <a:t>spezifiziert, nicht umgesetzt</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0"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400000"/>
            <a:ext cx="11447462" cy="553998"/>
          </a:xfrm>
        </p:spPr>
        <p:txBody>
          <a:bodyPr/>
          <a:lstStyle/>
          <a:p>
            <a:r>
              <a:rPr lang="de-DE" dirty="0"/>
              <a:t>Passt das Werkzeug zum Ziel?</a:t>
            </a:r>
          </a:p>
        </p:txBody>
      </p:sp>
      <p:sp>
        <p:nvSpPr>
          <p:cNvPr id="10" name="Anwendbar"/>
          <p:cNvSpPr/>
          <p:nvPr/>
        </p:nvSpPr>
        <p:spPr>
          <a:xfrm>
            <a:off x="373063" y="1300000"/>
            <a:ext cx="5572937" cy="1700000"/>
          </a:xfrm>
          <a:prstGeom prst="rect">
            <a:avLst/>
          </a:prstGeom>
          <a:solidFill>
            <a:schemeClr val="accent5"/>
          </a:solidFill>
          <a:ln>
            <a:noFill/>
          </a:ln>
        </p:spPr>
        <p:txBody>
          <a:bodyPr wrap="square" lIns="274320" tIns="91440" rIns="274320" bIns="91440" anchor="ctr">
            <a:noAutofit/>
          </a:bodyPr>
          <a:lstStyle/>
          <a:p>
            <a:pPr algn="ctr"/>
            <a:r>
              <a:rPr lang="de-DE" sz="2000" b="1" dirty="0">
                <a:solidFill>
                  <a:srgbClr val="FFFFFF"/>
                </a:solidFill>
              </a:rPr>
              <a:t>Anwendbar</a:t>
            </a:r>
          </a:p>
          <a:p>
            <a:pPr algn="ctr"/>
            <a:r>
              <a:rPr lang="de-DE" sz="1000" b="0" dirty="0">
                <a:solidFill>
                  <a:srgbClr val="FFFFFF"/>
                </a:solidFill>
              </a:rPr>
              <a:t> </a:t>
            </a:r>
          </a:p>
          <a:p>
            <a:pPr algn="ctr"/>
            <a:r>
              <a:rPr lang="de-DE" sz="1400" b="0" dirty="0">
                <a:solidFill>
                  <a:srgbClr val="FFFFFF"/>
                </a:solidFill>
              </a:rPr>
              <a:t>Angenommene Schnittstelle vorhanden, Verfahren unverändert ausführbar</a:t>
            </a:r>
          </a:p>
        </p:txBody>
      </p:sp>
      <p:sp>
        <p:nvSpPr>
          <p:cNvPr id="20" name="Anwendbar mit Anpassung"/>
          <p:cNvSpPr/>
          <p:nvPr/>
        </p:nvSpPr>
        <p:spPr>
          <a:xfrm>
            <a:off x="6246000" y="1300000"/>
            <a:ext cx="5572937" cy="1700000"/>
          </a:xfrm>
          <a:prstGeom prst="rect">
            <a:avLst/>
          </a:prstGeom>
          <a:solidFill>
            <a:schemeClr val="accent5">
              <a:lumMod val="60000"/>
              <a:lumOff val="40000"/>
            </a:schemeClr>
          </a:solidFill>
          <a:ln>
            <a:noFill/>
          </a:ln>
        </p:spPr>
        <p:txBody>
          <a:bodyPr wrap="square" lIns="274320" tIns="91440" rIns="274320" bIns="91440" anchor="ctr">
            <a:noAutofit/>
          </a:bodyPr>
          <a:lstStyle/>
          <a:p>
            <a:pPr algn="ctr"/>
            <a:r>
              <a:rPr lang="de-DE" sz="2000" b="1" dirty="0">
                <a:solidFill>
                  <a:schemeClr val="accent1"/>
                </a:solidFill>
              </a:rPr>
              <a:t>Anwendbar mit Anpassung</a:t>
            </a:r>
          </a:p>
          <a:p>
            <a:pPr algn="ctr"/>
            <a:r>
              <a:rPr lang="de-DE" sz="1000" b="0" dirty="0">
                <a:solidFill>
                  <a:schemeClr val="accent1"/>
                </a:solidFill>
              </a:rPr>
              <a:t> </a:t>
            </a:r>
          </a:p>
          <a:p>
            <a:pPr algn="ctr"/>
            <a:r>
              <a:rPr lang="de-DE" sz="1400" b="0" dirty="0">
                <a:solidFill>
                  <a:schemeClr val="accent1"/>
                </a:solidFill>
              </a:rPr>
              <a:t>Verwandte Schnittstelle vorhanden, Verfahren wird angepasst</a:t>
            </a:r>
          </a:p>
        </p:txBody>
      </p:sp>
      <p:sp>
        <p:nvSpPr>
          <p:cNvPr id="30" name="Nicht anwendbar"/>
          <p:cNvSpPr/>
          <p:nvPr/>
        </p:nvSpPr>
        <p:spPr>
          <a:xfrm>
            <a:off x="373063" y="3250000"/>
            <a:ext cx="5572937" cy="1700000"/>
          </a:xfrm>
          <a:prstGeom prst="rect">
            <a:avLst/>
          </a:prstGeom>
          <a:solidFill>
            <a:schemeClr val="accent4"/>
          </a:solidFill>
          <a:ln w="76200">
            <a:solidFill>
              <a:schemeClr val="accent1"/>
            </a:solidFill>
          </a:ln>
        </p:spPr>
        <p:txBody>
          <a:bodyPr wrap="square" lIns="274320" tIns="91440" rIns="274320" bIns="91440" anchor="ctr">
            <a:noAutofit/>
          </a:bodyPr>
          <a:lstStyle/>
          <a:p>
            <a:pPr algn="ctr"/>
            <a:r>
              <a:rPr lang="de-DE" sz="2000" b="1" dirty="0">
                <a:solidFill>
                  <a:schemeClr val="accent1"/>
                </a:solidFill>
              </a:rPr>
              <a:t>Nicht anwendbar</a:t>
            </a:r>
          </a:p>
          <a:p>
            <a:pPr algn="ctr"/>
            <a:r>
              <a:rPr lang="de-DE" sz="1000" b="0" dirty="0">
                <a:solidFill>
                  <a:schemeClr val="accent1"/>
                </a:solidFill>
              </a:rPr>
              <a:t> </a:t>
            </a:r>
          </a:p>
          <a:p>
            <a:pPr algn="ctr"/>
            <a:r>
              <a:rPr lang="de-DE" sz="1400" b="0" dirty="0">
                <a:solidFill>
                  <a:schemeClr val="accent1"/>
                </a:solidFill>
              </a:rPr>
              <a:t>Angenommene Schnittstelle fehlt · Feststellung zur Anwendbarkeit, kein Produktfehler</a:t>
            </a:r>
          </a:p>
        </p:txBody>
      </p:sp>
      <p:sp>
        <p:nvSpPr>
          <p:cNvPr id="40" name="Blockiert"/>
          <p:cNvSpPr/>
          <p:nvPr/>
        </p:nvSpPr>
        <p:spPr>
          <a:xfrm>
            <a:off x="6246000" y="3250000"/>
            <a:ext cx="5572937" cy="1700000"/>
          </a:xfrm>
          <a:prstGeom prst="rect">
            <a:avLst/>
          </a:prstGeom>
          <a:solidFill>
            <a:schemeClr val="accent2"/>
          </a:solidFill>
          <a:ln>
            <a:noFill/>
          </a:ln>
        </p:spPr>
        <p:txBody>
          <a:bodyPr wrap="square" lIns="274320" tIns="91440" rIns="274320" bIns="91440" anchor="ctr">
            <a:noAutofit/>
          </a:bodyPr>
          <a:lstStyle/>
          <a:p>
            <a:pPr algn="ctr"/>
            <a:r>
              <a:rPr lang="de-DE" sz="2000" b="1" dirty="0">
                <a:solidFill>
                  <a:srgbClr val="FFFFFF"/>
                </a:solidFill>
              </a:rPr>
              <a:t>Blockiert</a:t>
            </a:r>
          </a:p>
          <a:p>
            <a:pPr algn="ctr"/>
            <a:r>
              <a:rPr lang="de-DE" sz="1000" b="0" dirty="0">
                <a:solidFill>
                  <a:srgbClr val="FFFFFF"/>
                </a:solidFill>
              </a:rPr>
              <a:t> </a:t>
            </a:r>
          </a:p>
          <a:p>
            <a:pPr algn="ctr"/>
            <a:r>
              <a:rPr lang="de-DE" sz="1400" b="0" dirty="0">
                <a:solidFill>
                  <a:srgbClr val="FFFFFF"/>
                </a:solidFill>
              </a:rPr>
              <a:t>Umgebungsbeschränkung verhindert die Ausführung</a:t>
            </a:r>
          </a:p>
        </p:txBody>
      </p:sp>
      <p:sp>
        <p:nvSpPr>
          <p:cNvPr id="50" name="Aussagebalken"/>
          <p:cNvSpPr/>
          <p:nvPr/>
        </p:nvSpPr>
        <p:spPr>
          <a:xfrm>
            <a:off x="0" y="5330000"/>
            <a:ext cx="12192000" cy="800000"/>
          </a:xfrm>
          <a:prstGeom prst="rect">
            <a:avLst/>
          </a:prstGeom>
          <a:solidFill>
            <a:schemeClr val="accent1"/>
          </a:solidFill>
          <a:ln>
            <a:noFill/>
          </a:ln>
        </p:spPr>
        <p:txBody>
          <a:bodyPr wrap="square" lIns="274320" tIns="91440" rIns="274320" bIns="91440" anchor="ctr">
            <a:noAutofit/>
          </a:bodyPr>
          <a:lstStyle/>
          <a:p>
            <a:pPr algn="ctr"/>
            <a:r>
              <a:rPr lang="de-DE" sz="1800" b="1" dirty="0">
                <a:solidFill>
                  <a:srgbClr val="FFFFFF"/>
                </a:solidFill>
              </a:rPr>
              <a:t>Ein nicht anwendbares Werkzeug erzeugt niemals ein Fail.</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Zwei Dimensionen, die nicht vermischt werden dürfen</a:t>
            </a:r>
          </a:p>
        </p:txBody>
      </p:sp>
      <p:grpSp>
        <p:nvGrpSpPr>
          <p:cNvPr id="10" name="Spalte links"/>
          <p:cNvGrpSpPr/>
          <p:nvPr/>
        </p:nvGrpSpPr>
        <p:grpSpPr>
          <a:xfrm>
            <a:off x="373063" y="1300000"/>
            <a:ext cx="5400000" cy="3600000"/>
            <a:chOff x="373063" y="1300000"/>
            <a:chExt cx="5400000" cy="3600000"/>
          </a:xfrm>
        </p:grpSpPr>
        <p:sp>
          <p:nvSpPr>
            <p:cNvPr id="11" name="Ueberschrift"/>
            <p:cNvSpPr/>
            <p:nvPr/>
          </p:nvSpPr>
          <p:spPr>
            <a:xfrm>
              <a:off x="373063" y="1300000"/>
              <a:ext cx="5400000" cy="450000"/>
            </a:xfrm>
            <a:prstGeom prst="rect">
              <a:avLst/>
            </a:prstGeom>
            <a:noFill/>
            <a:ln>
              <a:noFill/>
            </a:ln>
          </p:spPr>
          <p:txBody>
            <a:bodyPr wrap="square" lIns="182880" tIns="45720" rIns="182880" bIns="45720" anchor="ctr">
              <a:noAutofit/>
            </a:bodyPr>
            <a:lstStyle/>
            <a:p>
              <a:pPr algn="ctr"/>
              <a:r>
                <a:rPr lang="de-DE" sz="1600" b="1" dirty="0">
                  <a:solidFill>
                    <a:schemeClr val="accent5"/>
                  </a:solidFill>
                </a:rPr>
                <a:t>Execution Status · was mit dem Test geschah</a:t>
              </a:r>
            </a:p>
          </p:txBody>
        </p:sp>
        <p:sp>
          <p:nvSpPr>
            <p:cNvPr id="12" name="Kachel"/>
            <p:cNvSpPr/>
            <p:nvPr/>
          </p:nvSpPr>
          <p:spPr>
            <a:xfrm>
              <a:off x="373063" y="1850000"/>
              <a:ext cx="5400000" cy="680000"/>
            </a:xfrm>
            <a:prstGeom prst="rect">
              <a:avLst/>
            </a:prstGeom>
            <a:solidFill>
              <a:schemeClr val="accent4"/>
            </a:solidFill>
            <a:ln>
              <a:noFill/>
            </a:ln>
          </p:spPr>
          <p:txBody>
            <a:bodyPr wrap="square" lIns="182880" tIns="45720" rIns="182880" bIns="45720" anchor="ctr">
              <a:noAutofit/>
            </a:bodyPr>
            <a:lstStyle/>
            <a:p>
              <a:pPr algn="ctr"/>
              <a:r>
                <a:rPr lang="de-DE" sz="1800" b="1" dirty="0">
                  <a:solidFill>
                    <a:schemeClr val="accent1"/>
                  </a:solidFill>
                </a:rPr>
                <a:t>Executed</a:t>
              </a:r>
            </a:p>
          </p:txBody>
        </p:sp>
        <p:sp>
          <p:nvSpPr>
            <p:cNvPr id="13" name="Kachel"/>
            <p:cNvSpPr/>
            <p:nvPr/>
          </p:nvSpPr>
          <p:spPr>
            <a:xfrm>
              <a:off x="373063" y="2640000"/>
              <a:ext cx="5400000" cy="680000"/>
            </a:xfrm>
            <a:prstGeom prst="rect">
              <a:avLst/>
            </a:prstGeom>
            <a:solidFill>
              <a:schemeClr val="accent4"/>
            </a:solidFill>
            <a:ln>
              <a:noFill/>
            </a:ln>
          </p:spPr>
          <p:txBody>
            <a:bodyPr wrap="square" lIns="182880" tIns="45720" rIns="182880" bIns="45720" anchor="ctr">
              <a:noAutofit/>
            </a:bodyPr>
            <a:lstStyle/>
            <a:p>
              <a:pPr algn="ctr"/>
              <a:r>
                <a:rPr lang="de-DE" sz="1800" b="1" dirty="0">
                  <a:solidFill>
                    <a:schemeClr val="accent1"/>
                  </a:solidFill>
                </a:rPr>
                <a:t>Not Applicable</a:t>
              </a:r>
            </a:p>
          </p:txBody>
        </p:sp>
        <p:sp>
          <p:nvSpPr>
            <p:cNvPr id="14" name="Kachel"/>
            <p:cNvSpPr/>
            <p:nvPr/>
          </p:nvSpPr>
          <p:spPr>
            <a:xfrm>
              <a:off x="373063" y="3430000"/>
              <a:ext cx="5400000" cy="680000"/>
            </a:xfrm>
            <a:prstGeom prst="rect">
              <a:avLst/>
            </a:prstGeom>
            <a:solidFill>
              <a:schemeClr val="accent4"/>
            </a:solidFill>
            <a:ln>
              <a:noFill/>
            </a:ln>
          </p:spPr>
          <p:txBody>
            <a:bodyPr wrap="square" lIns="182880" tIns="45720" rIns="182880" bIns="45720" anchor="ctr">
              <a:noAutofit/>
            </a:bodyPr>
            <a:lstStyle/>
            <a:p>
              <a:pPr algn="ctr"/>
              <a:r>
                <a:rPr lang="de-DE" sz="1800" b="1" dirty="0">
                  <a:solidFill>
                    <a:schemeClr val="accent1"/>
                  </a:solidFill>
                </a:rPr>
                <a:t>Blocked</a:t>
              </a:r>
            </a:p>
          </p:txBody>
        </p:sp>
        <p:sp>
          <p:nvSpPr>
            <p:cNvPr id="15" name="Kachel"/>
            <p:cNvSpPr/>
            <p:nvPr/>
          </p:nvSpPr>
          <p:spPr>
            <a:xfrm>
              <a:off x="373063" y="4220000"/>
              <a:ext cx="5400000" cy="680000"/>
            </a:xfrm>
            <a:prstGeom prst="rect">
              <a:avLst/>
            </a:prstGeom>
            <a:solidFill>
              <a:schemeClr val="accent4"/>
            </a:solidFill>
            <a:ln>
              <a:noFill/>
            </a:ln>
          </p:spPr>
          <p:txBody>
            <a:bodyPr wrap="square" lIns="182880" tIns="45720" rIns="182880" bIns="45720" anchor="ctr">
              <a:noAutofit/>
            </a:bodyPr>
            <a:lstStyle/>
            <a:p>
              <a:pPr algn="ctr"/>
              <a:r>
                <a:rPr lang="de-DE" sz="1800" b="1" dirty="0">
                  <a:solidFill>
                    <a:schemeClr val="accent1"/>
                  </a:solidFill>
                </a:rPr>
                <a:t>Unevidenced</a:t>
              </a:r>
            </a:p>
          </p:txBody>
        </p:sp>
      </p:grpSp>
      <p:grpSp>
        <p:nvGrpSpPr>
          <p:cNvPr id="20" name="Spalte rechts"/>
          <p:cNvGrpSpPr/>
          <p:nvPr/>
        </p:nvGrpSpPr>
        <p:grpSpPr>
          <a:xfrm>
            <a:off x="6419000" y="1300000"/>
            <a:ext cx="5400000" cy="1230000"/>
            <a:chOff x="6419000" y="1300000"/>
            <a:chExt cx="5400000" cy="1230000"/>
          </a:xfrm>
        </p:grpSpPr>
        <p:sp>
          <p:nvSpPr>
            <p:cNvPr id="21" name="Ueberschrift"/>
            <p:cNvSpPr/>
            <p:nvPr/>
          </p:nvSpPr>
          <p:spPr>
            <a:xfrm>
              <a:off x="6419000" y="1300000"/>
              <a:ext cx="5400000" cy="450000"/>
            </a:xfrm>
            <a:prstGeom prst="rect">
              <a:avLst/>
            </a:prstGeom>
            <a:noFill/>
            <a:ln>
              <a:noFill/>
            </a:ln>
          </p:spPr>
          <p:txBody>
            <a:bodyPr wrap="square" lIns="182880" tIns="45720" rIns="182880" bIns="45720" anchor="ctr">
              <a:noAutofit/>
            </a:bodyPr>
            <a:lstStyle/>
            <a:p>
              <a:pPr algn="ctr"/>
              <a:r>
                <a:rPr lang="de-DE" sz="1600" b="1" dirty="0">
                  <a:solidFill>
                    <a:schemeClr val="accent5"/>
                  </a:solidFill>
                </a:rPr>
                <a:t>Requirement Verdict · ob die Anforderung erfüllt ist</a:t>
              </a:r>
            </a:p>
          </p:txBody>
        </p:sp>
        <p:sp>
          <p:nvSpPr>
            <p:cNvPr id="22" name="Kachel"/>
            <p:cNvSpPr/>
            <p:nvPr/>
          </p:nvSpPr>
          <p:spPr>
            <a:xfrm>
              <a:off x="6419000" y="1850000"/>
              <a:ext cx="5400000" cy="680000"/>
            </a:xfrm>
            <a:prstGeom prst="rect">
              <a:avLst/>
            </a:prstGeom>
            <a:solidFill>
              <a:srgbClr val="A5D6A7"/>
            </a:solidFill>
            <a:ln>
              <a:noFill/>
            </a:ln>
          </p:spPr>
          <p:txBody>
            <a:bodyPr wrap="square" lIns="182880" tIns="45720" rIns="182880" bIns="45720" anchor="ctr">
              <a:noAutofit/>
            </a:bodyPr>
            <a:lstStyle/>
            <a:p>
              <a:pPr algn="ctr"/>
              <a:r>
                <a:rPr lang="de-DE" sz="1800" b="1" dirty="0">
                  <a:solidFill>
                    <a:schemeClr val="accent1"/>
                  </a:solidFill>
                </a:rPr>
                <a:t>Pass</a:t>
              </a:r>
            </a:p>
          </p:txBody>
        </p:sp>
      </p:grpSp>
      <p:sp>
        <p:nvSpPr>
          <p:cNvPr id="30" name="Kachel"/>
          <p:cNvSpPr/>
          <p:nvPr/>
        </p:nvSpPr>
        <p:spPr>
          <a:xfrm>
            <a:off x="6419000" y="2640000"/>
            <a:ext cx="5400000" cy="680000"/>
          </a:xfrm>
          <a:prstGeom prst="rect">
            <a:avLst/>
          </a:prstGeom>
          <a:solidFill>
            <a:srgbClr val="C62828"/>
          </a:solidFill>
          <a:ln>
            <a:noFill/>
          </a:ln>
        </p:spPr>
        <p:txBody>
          <a:bodyPr wrap="square" lIns="182880" tIns="45720" rIns="182880" bIns="45720" anchor="ctr">
            <a:noAutofit/>
          </a:bodyPr>
          <a:lstStyle/>
          <a:p>
            <a:pPr algn="ctr"/>
            <a:r>
              <a:rPr lang="de-DE" sz="1800" b="1" dirty="0">
                <a:solidFill>
                  <a:srgbClr val="FFFFFF"/>
                </a:solidFill>
              </a:rPr>
              <a:t>Fail</a:t>
            </a:r>
          </a:p>
        </p:txBody>
      </p:sp>
      <p:sp>
        <p:nvSpPr>
          <p:cNvPr id="40" name="Kachel"/>
          <p:cNvSpPr/>
          <p:nvPr/>
        </p:nvSpPr>
        <p:spPr>
          <a:xfrm>
            <a:off x="6419000" y="3430000"/>
            <a:ext cx="5400000" cy="680000"/>
          </a:xfrm>
          <a:prstGeom prst="rect">
            <a:avLst/>
          </a:prstGeom>
          <a:solidFill>
            <a:schemeClr val="accent4"/>
          </a:solidFill>
          <a:ln>
            <a:noFill/>
          </a:ln>
        </p:spPr>
        <p:txBody>
          <a:bodyPr wrap="square" lIns="182880" tIns="45720" rIns="182880" bIns="45720" anchor="ctr">
            <a:noAutofit/>
          </a:bodyPr>
          <a:lstStyle/>
          <a:p>
            <a:pPr algn="ctr"/>
            <a:r>
              <a:rPr lang="de-DE" sz="1800" b="1" dirty="0">
                <a:solidFill>
                  <a:schemeClr val="accent1"/>
                </a:solidFill>
              </a:rPr>
              <a:t>Not Assessed</a:t>
            </a:r>
          </a:p>
        </p:txBody>
      </p:sp>
      <p:sp>
        <p:nvSpPr>
          <p:cNvPr id="50" name="Trennlinie"/>
          <p:cNvSpPr/>
          <p:nvPr/>
        </p:nvSpPr>
        <p:spPr>
          <a:xfrm>
            <a:off x="6076950" y="1250000"/>
            <a:ext cx="38100" cy="3830000"/>
          </a:xfrm>
          <a:prstGeom prst="rect">
            <a:avLst/>
          </a:prstGeom>
          <a:solidFill>
            <a:schemeClr val="accent1"/>
          </a:solidFill>
          <a:ln>
            <a:noFill/>
          </a:ln>
        </p:spPr>
        <p:txBody>
          <a:bodyPr/>
          <a:lstStyle/>
          <a:p>
            <a:endParaRPr lang="de-DE"/>
          </a:p>
        </p:txBody>
      </p:sp>
      <p:sp>
        <p:nvSpPr>
          <p:cNvPr id="60" name="Aussagebalken"/>
          <p:cNvSpPr/>
          <p:nvPr/>
        </p:nvSpPr>
        <p:spPr>
          <a:xfrm>
            <a:off x="0" y="5330000"/>
            <a:ext cx="12192000" cy="800000"/>
          </a:xfrm>
          <a:prstGeom prst="rect">
            <a:avLst/>
          </a:prstGeom>
          <a:solidFill>
            <a:schemeClr val="accent5"/>
          </a:solidFill>
          <a:ln>
            <a:noFill/>
          </a:ln>
        </p:spPr>
        <p:txBody>
          <a:bodyPr wrap="square" lIns="182880" tIns="45720" rIns="182880" bIns="45720" anchor="ctr">
            <a:noAutofit/>
          </a:bodyPr>
          <a:lstStyle/>
          <a:p>
            <a:pPr algn="ctr"/>
            <a:r>
              <a:rPr lang="de-DE" sz="1800" b="1" dirty="0">
                <a:solidFill>
                  <a:srgbClr val="FFFFFF"/>
                </a:solidFill>
              </a:rPr>
              <a:t>Konservative Aggregation · unvollständige Abdeckung wird nie als Pass berichtet.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Der Demonstrationsaufbau</a:t>
            </a:r>
          </a:p>
        </p:txBody>
      </p:sp>
      <p:sp>
        <p:nvSpPr>
          <p:cNvPr id="10" name="Switch"/>
          <p:cNvSpPr/>
          <p:nvPr/>
        </p:nvSpPr>
        <p:spPr>
          <a:xfrm>
            <a:off x="4596000" y="2575000"/>
            <a:ext cx="3000000" cy="750000"/>
          </a:xfrm>
          <a:prstGeom prst="rect">
            <a:avLst/>
          </a:prstGeom>
          <a:solidFill>
            <a:schemeClr val="accent2"/>
          </a:solidFill>
          <a:ln>
            <a:noFill/>
          </a:ln>
        </p:spPr>
        <p:txBody>
          <a:bodyPr wrap="square" lIns="91440" tIns="45720" rIns="91440" bIns="45720" anchor="ctr">
            <a:noAutofit/>
          </a:bodyPr>
          <a:lstStyle/>
          <a:p>
            <a:pPr algn="ctr"/>
            <a:r>
              <a:rPr lang="de-DE" sz="1600" b="1" dirty="0">
                <a:solidFill>
                  <a:srgbClr val="FFFFFF"/>
                </a:solidFill>
              </a:rPr>
              <a:t>Industrial Switch</a:t>
            </a:r>
          </a:p>
          <a:p>
            <a:pPr algn="ctr"/>
            <a:r>
              <a:rPr lang="de-DE" sz="1400" b="0" dirty="0">
                <a:solidFill>
                  <a:srgbClr val="FFFFFF"/>
                </a:solidFill>
              </a:rPr>
              <a:t>192.168.0.91</a:t>
            </a:r>
          </a:p>
        </p:txBody>
      </p:sp>
      <p:grpSp>
        <p:nvGrpSpPr>
          <p:cNvPr id="20" name="SPS Knoten"/>
          <p:cNvGrpSpPr/>
          <p:nvPr/>
        </p:nvGrpSpPr>
        <p:grpSpPr>
          <a:xfrm>
            <a:off x="4596000" y="1300000"/>
            <a:ext cx="3000000" cy="1275000"/>
            <a:chOff x="4596000" y="1300000"/>
            <a:chExt cx="3000000" cy="1275000"/>
          </a:xfrm>
        </p:grpSpPr>
        <p:sp>
          <p:nvSpPr>
            <p:cNvPr id="21" name="Verbindung"/>
            <p:cNvSpPr/>
            <p:nvPr/>
          </p:nvSpPr>
          <p:spPr>
            <a:xfrm>
              <a:off x="6083300" y="2200000"/>
              <a:ext cx="25400" cy="375000"/>
            </a:xfrm>
            <a:prstGeom prst="rect">
              <a:avLst/>
            </a:prstGeom>
            <a:solidFill>
              <a:schemeClr val="accent3"/>
            </a:solidFill>
            <a:ln>
              <a:noFill/>
            </a:ln>
          </p:spPr>
          <p:txBody>
            <a:bodyPr/>
            <a:lstStyle/>
            <a:p>
              <a:endParaRPr lang="de-DE"/>
            </a:p>
          </p:txBody>
        </p:sp>
        <p:sp>
          <p:nvSpPr>
            <p:cNvPr id="22" name="SPS"/>
            <p:cNvSpPr/>
            <p:nvPr/>
          </p:nvSpPr>
          <p:spPr>
            <a:xfrm>
              <a:off x="4596000" y="1300000"/>
              <a:ext cx="3000000" cy="900000"/>
            </a:xfrm>
            <a:prstGeom prst="rect">
              <a:avLst/>
            </a:prstGeom>
            <a:solidFill>
              <a:schemeClr val="accent4"/>
            </a:solidFill>
            <a:ln>
              <a:noFill/>
            </a:ln>
          </p:spPr>
          <p:txBody>
            <a:bodyPr wrap="square" lIns="91440" tIns="45720" rIns="91440" bIns="45720" anchor="ctr">
              <a:noAutofit/>
            </a:bodyPr>
            <a:lstStyle/>
            <a:p>
              <a:pPr algn="ctr"/>
              <a:r>
                <a:rPr lang="de-DE" sz="1600" b="1" dirty="0">
                  <a:solidFill>
                    <a:schemeClr val="accent1"/>
                  </a:solidFill>
                </a:rPr>
                <a:t>SPS</a:t>
              </a:r>
            </a:p>
            <a:p>
              <a:pPr algn="ctr"/>
              <a:r>
                <a:rPr lang="de-DE" sz="1400" b="0" dirty="0">
                  <a:solidFill>
                    <a:schemeClr val="accent1"/>
                  </a:solidFill>
                </a:rPr>
                <a:t>192.168.0.1</a:t>
              </a:r>
            </a:p>
            <a:p>
              <a:pPr algn="ctr"/>
              <a:r>
                <a:rPr lang="de-DE" sz="1400" b="0" dirty="0">
                  <a:solidFill>
                    <a:schemeClr val="accent1"/>
                  </a:solidFill>
                </a:rPr>
                <a:t>Safety-Steuerung</a:t>
              </a:r>
            </a:p>
          </p:txBody>
        </p:sp>
      </p:grpSp>
      <p:grpSp>
        <p:nvGrpSpPr>
          <p:cNvPr id="30" name="SRIO Knoten"/>
          <p:cNvGrpSpPr/>
          <p:nvPr/>
        </p:nvGrpSpPr>
        <p:grpSpPr>
          <a:xfrm>
            <a:off x="7596000" y="2400000"/>
            <a:ext cx="4004000" cy="1100000"/>
            <a:chOff x="7596000" y="2400000"/>
            <a:chExt cx="4004000" cy="1100000"/>
          </a:xfrm>
        </p:grpSpPr>
        <p:sp>
          <p:nvSpPr>
            <p:cNvPr id="31" name="Verbindung"/>
            <p:cNvSpPr/>
            <p:nvPr/>
          </p:nvSpPr>
          <p:spPr>
            <a:xfrm>
              <a:off x="7596000" y="2937300"/>
              <a:ext cx="704000" cy="25400"/>
            </a:xfrm>
            <a:prstGeom prst="rect">
              <a:avLst/>
            </a:prstGeom>
            <a:solidFill>
              <a:schemeClr val="accent3"/>
            </a:solidFill>
            <a:ln>
              <a:noFill/>
            </a:ln>
          </p:spPr>
          <p:txBody>
            <a:bodyPr/>
            <a:lstStyle/>
            <a:p>
              <a:endParaRPr lang="de-DE"/>
            </a:p>
          </p:txBody>
        </p:sp>
        <p:sp>
          <p:nvSpPr>
            <p:cNvPr id="32" name="SRIO"/>
            <p:cNvSpPr/>
            <p:nvPr/>
          </p:nvSpPr>
          <p:spPr>
            <a:xfrm>
              <a:off x="8300000" y="2400000"/>
              <a:ext cx="3300000" cy="1100000"/>
            </a:xfrm>
            <a:prstGeom prst="rect">
              <a:avLst/>
            </a:prstGeom>
            <a:solidFill>
              <a:schemeClr val="accent5"/>
            </a:solidFill>
            <a:ln>
              <a:noFill/>
            </a:ln>
          </p:spPr>
          <p:txBody>
            <a:bodyPr wrap="square" lIns="91440" tIns="45720" rIns="91440" bIns="45720" anchor="ctr">
              <a:noAutofit/>
            </a:bodyPr>
            <a:lstStyle/>
            <a:p>
              <a:pPr algn="ctr"/>
              <a:r>
                <a:rPr lang="de-DE" sz="1800" b="1" dirty="0">
                  <a:solidFill>
                    <a:srgbClr val="FFFFFF"/>
                  </a:solidFill>
                </a:rPr>
                <a:t>SRIO</a:t>
              </a:r>
            </a:p>
            <a:p>
              <a:pPr algn="ctr"/>
              <a:r>
                <a:rPr lang="de-DE" sz="1600" b="0" dirty="0">
                  <a:solidFill>
                    <a:srgbClr val="FFFFFF"/>
                  </a:solidFill>
                </a:rPr>
                <a:t>192.168.0.2</a:t>
              </a:r>
            </a:p>
            <a:p>
              <a:pPr algn="ctr"/>
              <a:r>
                <a:rPr lang="de-DE" sz="1600" b="1" dirty="0">
                  <a:solidFill>
                    <a:srgbClr val="FFFFFF"/>
                  </a:solidFill>
                </a:rPr>
                <a:t>Prüfling</a:t>
              </a:r>
            </a:p>
          </p:txBody>
        </p:sp>
      </p:grpSp>
      <p:grpSp>
        <p:nvGrpSpPr>
          <p:cNvPr id="40" name="Kali Knoten"/>
          <p:cNvGrpSpPr/>
          <p:nvPr/>
        </p:nvGrpSpPr>
        <p:grpSpPr>
          <a:xfrm>
            <a:off x="4596000" y="3325000"/>
            <a:ext cx="3000000" cy="1275000"/>
            <a:chOff x="4596000" y="3325000"/>
            <a:chExt cx="3000000" cy="1275000"/>
          </a:xfrm>
        </p:grpSpPr>
        <p:sp>
          <p:nvSpPr>
            <p:cNvPr id="41" name="Verbindung"/>
            <p:cNvSpPr/>
            <p:nvPr/>
          </p:nvSpPr>
          <p:spPr>
            <a:xfrm>
              <a:off x="6083300" y="3325000"/>
              <a:ext cx="25400" cy="375000"/>
            </a:xfrm>
            <a:prstGeom prst="rect">
              <a:avLst/>
            </a:prstGeom>
            <a:solidFill>
              <a:schemeClr val="accent3"/>
            </a:solidFill>
            <a:ln>
              <a:noFill/>
            </a:ln>
          </p:spPr>
          <p:txBody>
            <a:bodyPr/>
            <a:lstStyle/>
            <a:p>
              <a:endParaRPr lang="de-DE"/>
            </a:p>
          </p:txBody>
        </p:sp>
        <p:sp>
          <p:nvSpPr>
            <p:cNvPr id="42" name="Kali"/>
            <p:cNvSpPr/>
            <p:nvPr/>
          </p:nvSpPr>
          <p:spPr>
            <a:xfrm>
              <a:off x="4596000" y="3700000"/>
              <a:ext cx="3000000" cy="900000"/>
            </a:xfrm>
            <a:prstGeom prst="rect">
              <a:avLst/>
            </a:prstGeom>
            <a:solidFill>
              <a:schemeClr val="accent4"/>
            </a:solidFill>
            <a:ln>
              <a:noFill/>
            </a:ln>
          </p:spPr>
          <p:txBody>
            <a:bodyPr wrap="square" lIns="91440" tIns="45720" rIns="91440" bIns="45720" anchor="ctr">
              <a:noAutofit/>
            </a:bodyPr>
            <a:lstStyle/>
            <a:p>
              <a:pPr algn="ctr"/>
              <a:r>
                <a:rPr lang="de-DE" sz="1600" b="1" dirty="0">
                  <a:solidFill>
                    <a:schemeClr val="accent1"/>
                  </a:solidFill>
                </a:rPr>
                <a:t>Kali Linux</a:t>
              </a:r>
            </a:p>
            <a:p>
              <a:pPr algn="ctr"/>
              <a:r>
                <a:rPr lang="de-DE" sz="1400" b="0" dirty="0">
                  <a:solidFill>
                    <a:schemeClr val="accent1"/>
                  </a:solidFill>
                </a:rPr>
                <a:t>192.168.0.80</a:t>
              </a:r>
            </a:p>
            <a:p>
              <a:pPr algn="ctr"/>
              <a:r>
                <a:rPr lang="de-DE" sz="1400" b="0" dirty="0">
                  <a:solidFill>
                    <a:schemeClr val="accent1"/>
                  </a:solidFill>
                </a:rPr>
                <a:t>Testsystem</a:t>
              </a:r>
            </a:p>
          </p:txBody>
        </p:sp>
      </p:grpSp>
      <p:grpSp>
        <p:nvGrpSpPr>
          <p:cNvPr id="50" name="Laptop Knoten"/>
          <p:cNvGrpSpPr/>
          <p:nvPr/>
        </p:nvGrpSpPr>
        <p:grpSpPr>
          <a:xfrm>
            <a:off x="500000" y="2500000"/>
            <a:ext cx="4096000" cy="900000"/>
            <a:chOff x="500000" y="2500000"/>
            <a:chExt cx="4096000" cy="900000"/>
          </a:xfrm>
        </p:grpSpPr>
        <p:sp>
          <p:nvSpPr>
            <p:cNvPr id="51" name="Verbindung"/>
            <p:cNvSpPr/>
            <p:nvPr/>
          </p:nvSpPr>
          <p:spPr>
            <a:xfrm>
              <a:off x="3600000" y="2937300"/>
              <a:ext cx="996000" cy="25400"/>
            </a:xfrm>
            <a:prstGeom prst="rect">
              <a:avLst/>
            </a:prstGeom>
            <a:solidFill>
              <a:schemeClr val="accent3"/>
            </a:solidFill>
            <a:ln>
              <a:noFill/>
            </a:ln>
          </p:spPr>
          <p:txBody>
            <a:bodyPr/>
            <a:lstStyle/>
            <a:p>
              <a:endParaRPr lang="de-DE"/>
            </a:p>
          </p:txBody>
        </p:sp>
        <p:sp>
          <p:nvSpPr>
            <p:cNvPr id="52" name="Firmenlaptop"/>
            <p:cNvSpPr/>
            <p:nvPr/>
          </p:nvSpPr>
          <p:spPr>
            <a:xfrm>
              <a:off x="500000" y="2500000"/>
              <a:ext cx="3100000" cy="900000"/>
            </a:xfrm>
            <a:prstGeom prst="rect">
              <a:avLst/>
            </a:prstGeom>
            <a:solidFill>
              <a:schemeClr val="accent4"/>
            </a:solidFill>
            <a:ln>
              <a:noFill/>
            </a:ln>
          </p:spPr>
          <p:txBody>
            <a:bodyPr wrap="square" lIns="91440" tIns="45720" rIns="91440" bIns="45720" anchor="ctr">
              <a:noAutofit/>
            </a:bodyPr>
            <a:lstStyle/>
            <a:p>
              <a:pPr algn="ctr"/>
              <a:r>
                <a:rPr lang="de-DE" sz="1600" b="1" dirty="0">
                  <a:solidFill>
                    <a:schemeClr val="accent1"/>
                  </a:solidFill>
                </a:rPr>
                <a:t>Firmenlaptop</a:t>
              </a:r>
            </a:p>
            <a:p>
              <a:pPr algn="ctr"/>
              <a:r>
                <a:rPr lang="de-DE" sz="1400" b="0" dirty="0">
                  <a:solidFill>
                    <a:schemeClr val="accent1"/>
                  </a:solidFill>
                </a:rPr>
                <a:t>192.168.0.7</a:t>
              </a:r>
            </a:p>
            <a:p>
              <a:pPr algn="ctr"/>
              <a:r>
                <a:rPr lang="de-DE" sz="1400" b="0" dirty="0">
                  <a:solidFill>
                    <a:schemeClr val="accent1"/>
                  </a:solidFill>
                </a:rPr>
                <a:t>Engineering-Station</a:t>
              </a:r>
            </a:p>
          </p:txBody>
        </p:sp>
      </p:grpSp>
      <p:grpSp>
        <p:nvGrpSpPr>
          <p:cNvPr id="60" name="Rahmen und Aussage"/>
          <p:cNvGrpSpPr/>
          <p:nvPr/>
        </p:nvGrpSpPr>
        <p:grpSpPr>
          <a:xfrm>
            <a:off x="0" y="1120000"/>
            <a:ext cx="12192000" cy="5010000"/>
            <a:chOff x="0" y="1120000"/>
            <a:chExt cx="12192000" cy="5010000"/>
          </a:xfrm>
        </p:grpSpPr>
        <p:sp>
          <p:nvSpPr>
            <p:cNvPr id="61" name="Laborrahmen"/>
            <p:cNvSpPr/>
            <p:nvPr/>
          </p:nvSpPr>
          <p:spPr>
            <a:xfrm>
              <a:off x="280000" y="1120000"/>
              <a:ext cx="11632000" cy="3630000"/>
            </a:xfrm>
            <a:prstGeom prst="rect">
              <a:avLst/>
            </a:prstGeom>
            <a:noFill/>
            <a:ln w="28575">
              <a:solidFill>
                <a:schemeClr val="accent2"/>
              </a:solidFill>
              <a:prstDash val="dash"/>
            </a:ln>
          </p:spPr>
          <p:txBody>
            <a:bodyPr/>
            <a:lstStyle/>
            <a:p>
              <a:endParaRPr lang="de-DE"/>
            </a:p>
          </p:txBody>
        </p:sp>
        <p:sp>
          <p:nvSpPr>
            <p:cNvPr id="62" name="Rahmenbeschriftung"/>
            <p:cNvSpPr/>
            <p:nvPr/>
          </p:nvSpPr>
          <p:spPr>
            <a:xfrm>
              <a:off x="280000" y="4790000"/>
              <a:ext cx="11632000" cy="380000"/>
            </a:xfrm>
            <a:prstGeom prst="rect">
              <a:avLst/>
            </a:prstGeom>
            <a:noFill/>
            <a:ln>
              <a:noFill/>
            </a:ln>
          </p:spPr>
          <p:txBody>
            <a:bodyPr wrap="square" lIns="91440" tIns="45720" rIns="91440" bIns="45720" anchor="ctr">
              <a:noAutofit/>
            </a:bodyPr>
            <a:lstStyle/>
            <a:p>
              <a:pPr algn="r"/>
              <a:r>
                <a:rPr lang="de-DE" sz="1400" b="0" dirty="0">
                  <a:solidFill>
                    <a:schemeClr val="accent2"/>
                  </a:solidFill>
                </a:rPr>
                <a:t>Isolierte Laborumgebung · Netzwerkposition NV1</a:t>
              </a:r>
            </a:p>
          </p:txBody>
        </p:sp>
        <p:sp>
          <p:nvSpPr>
            <p:cNvPr id="63" name="Aussagebalken"/>
            <p:cNvSpPr/>
            <p:nvPr/>
          </p:nvSpPr>
          <p:spPr>
            <a:xfrm>
              <a:off x="0" y="5330000"/>
              <a:ext cx="12192000" cy="800000"/>
            </a:xfrm>
            <a:prstGeom prst="rect">
              <a:avLst/>
            </a:prstGeom>
            <a:solidFill>
              <a:schemeClr val="accent1"/>
            </a:solidFill>
            <a:ln>
              <a:noFill/>
            </a:ln>
          </p:spPr>
          <p:txBody>
            <a:bodyPr wrap="square" lIns="91440" tIns="45720" rIns="91440" bIns="45720" anchor="ctr">
              <a:noAutofit/>
            </a:bodyPr>
            <a:lstStyle/>
            <a:p>
              <a:pPr algn="ctr"/>
              <a:r>
                <a:rPr lang="de-DE" sz="1800" b="1" dirty="0">
                  <a:solidFill>
                    <a:srgbClr val="FFFFFF"/>
                  </a:solidFill>
                </a:rPr>
                <a:t>Ein Switch, ein Adressbereich, keine Segmentierung.</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RQ2 – Zehn Firmentests am Prüfling</a:t>
            </a:r>
          </a:p>
        </p:txBody>
      </p:sp>
      <p:grpSp>
        <p:nvGrpSpPr>
          <p:cNvPr id="10" name="Ringdiagramm"/>
          <p:cNvGrpSpPr/>
          <p:nvPr/>
        </p:nvGrpSpPr>
        <p:grpSpPr>
          <a:xfrm>
            <a:off x="650000" y="1150000"/>
            <a:ext cx="4540000" cy="4500000"/>
            <a:chOff x="650000" y="1150000"/>
            <a:chExt cx="4540000" cy="4500000"/>
          </a:xfrm>
        </p:grpSpPr>
        <p:sp>
          <p:nvSpPr>
            <p:cNvPr id="11" name="Segment 1"/>
            <p:cNvSpPr/>
            <p:nvPr/>
          </p:nvSpPr>
          <p:spPr>
            <a:xfrm>
              <a:off x="650000" y="1150000"/>
              <a:ext cx="2800000" cy="2800000"/>
            </a:xfrm>
            <a:prstGeom prst="blockArc">
              <a:avLst>
                <a:gd name="adj1" fmla="val 16200000"/>
                <a:gd name="adj2" fmla="val 3240000"/>
                <a:gd name="adj3" fmla="val 27000"/>
              </a:avLst>
            </a:prstGeom>
            <a:solidFill>
              <a:schemeClr val="accent5"/>
            </a:solidFill>
            <a:ln>
              <a:noFill/>
            </a:ln>
          </p:spPr>
          <p:txBody>
            <a:bodyPr/>
            <a:lstStyle/>
            <a:p>
              <a:endParaRPr lang="de-DE"/>
            </a:p>
          </p:txBody>
        </p:sp>
        <p:sp>
          <p:nvSpPr>
            <p:cNvPr id="12" name="Segment 2"/>
            <p:cNvSpPr/>
            <p:nvPr/>
          </p:nvSpPr>
          <p:spPr>
            <a:xfrm>
              <a:off x="650000" y="1150000"/>
              <a:ext cx="2800000" cy="2800000"/>
            </a:xfrm>
            <a:prstGeom prst="blockArc">
              <a:avLst>
                <a:gd name="adj1" fmla="val 3240000"/>
                <a:gd name="adj2" fmla="val 7560000"/>
                <a:gd name="adj3" fmla="val 27000"/>
              </a:avLst>
            </a:prstGeom>
            <a:solidFill>
              <a:schemeClr val="accent5">
                <a:lumMod val="60000"/>
                <a:lumOff val="40000"/>
              </a:schemeClr>
            </a:solidFill>
            <a:ln>
              <a:noFill/>
            </a:ln>
          </p:spPr>
          <p:txBody>
            <a:bodyPr/>
            <a:lstStyle/>
            <a:p>
              <a:endParaRPr lang="de-DE"/>
            </a:p>
          </p:txBody>
        </p:sp>
        <p:sp>
          <p:nvSpPr>
            <p:cNvPr id="13" name="Segment 3"/>
            <p:cNvSpPr/>
            <p:nvPr/>
          </p:nvSpPr>
          <p:spPr>
            <a:xfrm>
              <a:off x="650000" y="1150000"/>
              <a:ext cx="2800000" cy="2800000"/>
            </a:xfrm>
            <a:prstGeom prst="blockArc">
              <a:avLst>
                <a:gd name="adj1" fmla="val 7560000"/>
                <a:gd name="adj2" fmla="val 14040000"/>
                <a:gd name="adj3" fmla="val 27000"/>
              </a:avLst>
            </a:prstGeom>
            <a:solidFill>
              <a:schemeClr val="accent4"/>
            </a:solidFill>
            <a:ln>
              <a:noFill/>
            </a:ln>
          </p:spPr>
          <p:txBody>
            <a:bodyPr/>
            <a:lstStyle/>
            <a:p>
              <a:endParaRPr lang="de-DE"/>
            </a:p>
          </p:txBody>
        </p:sp>
        <p:sp>
          <p:nvSpPr>
            <p:cNvPr id="14" name="Segment 4"/>
            <p:cNvSpPr/>
            <p:nvPr/>
          </p:nvSpPr>
          <p:spPr>
            <a:xfrm>
              <a:off x="650000" y="1150000"/>
              <a:ext cx="2800000" cy="2800000"/>
            </a:xfrm>
            <a:prstGeom prst="blockArc">
              <a:avLst>
                <a:gd name="adj1" fmla="val 14040000"/>
                <a:gd name="adj2" fmla="val 16200000"/>
                <a:gd name="adj3" fmla="val 27000"/>
              </a:avLst>
            </a:prstGeom>
            <a:solidFill>
              <a:schemeClr val="accent2"/>
            </a:solidFill>
            <a:ln>
              <a:noFill/>
            </a:ln>
          </p:spPr>
          <p:txBody>
            <a:bodyPr/>
            <a:lstStyle/>
            <a:p>
              <a:endParaRPr lang="de-DE"/>
            </a:p>
          </p:txBody>
        </p:sp>
        <p:sp>
          <p:nvSpPr>
            <p:cNvPr id="15" name="Mitte"/>
            <p:cNvSpPr/>
            <p:nvPr/>
          </p:nvSpPr>
          <p:spPr>
            <a:xfrm>
              <a:off x="1350000" y="2050000"/>
              <a:ext cx="1400000" cy="1000000"/>
            </a:xfrm>
            <a:prstGeom prst="rect">
              <a:avLst/>
            </a:prstGeom>
            <a:noFill/>
            <a:ln>
              <a:noFill/>
            </a:ln>
          </p:spPr>
          <p:txBody>
            <a:bodyPr wrap="square" lIns="45720" tIns="27432" rIns="45720" bIns="27432" anchor="ctr">
              <a:noAutofit/>
            </a:bodyPr>
            <a:lstStyle/>
            <a:p>
              <a:pPr algn="ctr"/>
              <a:r>
                <a:rPr lang="de-DE" sz="3200" b="1" dirty="0">
                  <a:solidFill>
                    <a:schemeClr val="accent1"/>
                  </a:solidFill>
                </a:rPr>
                <a:t>10</a:t>
              </a:r>
            </a:p>
            <a:p>
              <a:pPr algn="ctr"/>
              <a:r>
                <a:rPr lang="de-DE" sz="1400" b="0" dirty="0">
                  <a:solidFill>
                    <a:schemeClr val="accent1"/>
                  </a:solidFill>
                </a:rPr>
                <a:t>Firmentests insgesamt</a:t>
              </a:r>
            </a:p>
          </p:txBody>
        </p:sp>
        <p:sp>
          <p:nvSpPr>
            <p:cNvPr id="16" name="Legendenfarbe"/>
            <p:cNvSpPr/>
            <p:nvPr/>
          </p:nvSpPr>
          <p:spPr>
            <a:xfrm>
              <a:off x="650000" y="4280000"/>
              <a:ext cx="220000" cy="220000"/>
            </a:xfrm>
            <a:prstGeom prst="ellipse">
              <a:avLst/>
            </a:prstGeom>
            <a:solidFill>
              <a:schemeClr val="accent5"/>
            </a:solidFill>
            <a:ln>
              <a:noFill/>
            </a:ln>
          </p:spPr>
          <p:txBody>
            <a:bodyPr/>
            <a:lstStyle/>
            <a:p>
              <a:endParaRPr lang="de-DE"/>
            </a:p>
          </p:txBody>
        </p:sp>
        <p:sp>
          <p:nvSpPr>
            <p:cNvPr id="17" name="Legendentext"/>
            <p:cNvSpPr/>
            <p:nvPr/>
          </p:nvSpPr>
          <p:spPr>
            <a:xfrm>
              <a:off x="990000" y="4210000"/>
              <a:ext cx="4200000" cy="360000"/>
            </a:xfrm>
            <a:prstGeom prst="rect">
              <a:avLst/>
            </a:prstGeom>
            <a:noFill/>
            <a:ln>
              <a:noFill/>
            </a:ln>
          </p:spPr>
          <p:txBody>
            <a:bodyPr wrap="square" lIns="45720" tIns="27432" rIns="45720" bIns="27432" anchor="ctr">
              <a:noAutofit/>
            </a:bodyPr>
            <a:lstStyle/>
            <a:p>
              <a:pPr algn="l"/>
              <a:r>
                <a:rPr lang="de-DE" sz="1400" b="0" dirty="0">
                  <a:solidFill>
                    <a:schemeClr val="accent1"/>
                  </a:solidFill>
                </a:rPr>
                <a:t>4 anwendbar und ausgeführt</a:t>
              </a:r>
            </a:p>
          </p:txBody>
        </p:sp>
        <p:sp>
          <p:nvSpPr>
            <p:cNvPr id="18" name="Legendenfarbe"/>
            <p:cNvSpPr/>
            <p:nvPr/>
          </p:nvSpPr>
          <p:spPr>
            <a:xfrm>
              <a:off x="650000" y="4640000"/>
              <a:ext cx="220000" cy="220000"/>
            </a:xfrm>
            <a:prstGeom prst="ellipse">
              <a:avLst/>
            </a:prstGeom>
            <a:solidFill>
              <a:schemeClr val="accent5">
                <a:lumMod val="60000"/>
                <a:lumOff val="40000"/>
              </a:schemeClr>
            </a:solidFill>
            <a:ln>
              <a:noFill/>
            </a:ln>
          </p:spPr>
          <p:txBody>
            <a:bodyPr/>
            <a:lstStyle/>
            <a:p>
              <a:endParaRPr lang="de-DE"/>
            </a:p>
          </p:txBody>
        </p:sp>
        <p:sp>
          <p:nvSpPr>
            <p:cNvPr id="19" name="Legendentext"/>
            <p:cNvSpPr/>
            <p:nvPr/>
          </p:nvSpPr>
          <p:spPr>
            <a:xfrm>
              <a:off x="990000" y="4570000"/>
              <a:ext cx="4200000" cy="360000"/>
            </a:xfrm>
            <a:prstGeom prst="rect">
              <a:avLst/>
            </a:prstGeom>
            <a:noFill/>
            <a:ln>
              <a:noFill/>
            </a:ln>
          </p:spPr>
          <p:txBody>
            <a:bodyPr wrap="square" lIns="45720" tIns="27432" rIns="45720" bIns="27432" anchor="ctr">
              <a:noAutofit/>
            </a:bodyPr>
            <a:lstStyle/>
            <a:p>
              <a:pPr algn="l"/>
              <a:r>
                <a:rPr lang="de-DE" sz="1400" b="0" dirty="0">
                  <a:solidFill>
                    <a:schemeClr val="accent1"/>
                  </a:solidFill>
                </a:rPr>
                <a:t>2 anwendbar mit Anpassung</a:t>
              </a:r>
            </a:p>
          </p:txBody>
        </p:sp>
        <p:sp>
          <p:nvSpPr>
            <p:cNvPr id="3" name="Legendenfarbe"/>
            <p:cNvSpPr/>
            <p:nvPr/>
          </p:nvSpPr>
          <p:spPr>
            <a:xfrm>
              <a:off x="650000" y="5000000"/>
              <a:ext cx="220000" cy="220000"/>
            </a:xfrm>
            <a:prstGeom prst="ellipse">
              <a:avLst/>
            </a:prstGeom>
            <a:solidFill>
              <a:schemeClr val="accent4"/>
            </a:solidFill>
            <a:ln>
              <a:noFill/>
            </a:ln>
          </p:spPr>
          <p:txBody>
            <a:bodyPr/>
            <a:lstStyle/>
            <a:p>
              <a:endParaRPr lang="de-DE"/>
            </a:p>
          </p:txBody>
        </p:sp>
        <p:sp>
          <p:nvSpPr>
            <p:cNvPr id="21" name="Legendentext"/>
            <p:cNvSpPr/>
            <p:nvPr/>
          </p:nvSpPr>
          <p:spPr>
            <a:xfrm>
              <a:off x="990000" y="4930000"/>
              <a:ext cx="4200000" cy="360000"/>
            </a:xfrm>
            <a:prstGeom prst="rect">
              <a:avLst/>
            </a:prstGeom>
            <a:noFill/>
            <a:ln>
              <a:noFill/>
            </a:ln>
          </p:spPr>
          <p:txBody>
            <a:bodyPr wrap="square" lIns="45720" tIns="27432" rIns="45720" bIns="27432" anchor="ctr">
              <a:noAutofit/>
            </a:bodyPr>
            <a:lstStyle/>
            <a:p>
              <a:pPr algn="l"/>
              <a:r>
                <a:rPr lang="de-DE" sz="1400" b="0" dirty="0">
                  <a:solidFill>
                    <a:schemeClr val="accent1"/>
                  </a:solidFill>
                </a:rPr>
                <a:t>3 nicht anwendbar</a:t>
              </a:r>
            </a:p>
          </p:txBody>
        </p:sp>
        <p:sp>
          <p:nvSpPr>
            <p:cNvPr id="22" name="Legendenfarbe"/>
            <p:cNvSpPr/>
            <p:nvPr/>
          </p:nvSpPr>
          <p:spPr>
            <a:xfrm>
              <a:off x="650000" y="5360000"/>
              <a:ext cx="220000" cy="220000"/>
            </a:xfrm>
            <a:prstGeom prst="ellipse">
              <a:avLst/>
            </a:prstGeom>
            <a:solidFill>
              <a:schemeClr val="accent2"/>
            </a:solidFill>
            <a:ln>
              <a:noFill/>
            </a:ln>
          </p:spPr>
          <p:txBody>
            <a:bodyPr/>
            <a:lstStyle/>
            <a:p>
              <a:endParaRPr lang="de-DE"/>
            </a:p>
          </p:txBody>
        </p:sp>
        <p:sp>
          <p:nvSpPr>
            <p:cNvPr id="23" name="Legendentext"/>
            <p:cNvSpPr/>
            <p:nvPr/>
          </p:nvSpPr>
          <p:spPr>
            <a:xfrm>
              <a:off x="990000" y="5290000"/>
              <a:ext cx="4200000" cy="360000"/>
            </a:xfrm>
            <a:prstGeom prst="rect">
              <a:avLst/>
            </a:prstGeom>
            <a:noFill/>
            <a:ln>
              <a:noFill/>
            </a:ln>
          </p:spPr>
          <p:txBody>
            <a:bodyPr wrap="square" lIns="45720" tIns="27432" rIns="45720" bIns="27432" anchor="ctr">
              <a:noAutofit/>
            </a:bodyPr>
            <a:lstStyle/>
            <a:p>
              <a:pPr algn="l"/>
              <a:r>
                <a:rPr lang="de-DE" sz="1400" b="0" dirty="0">
                  <a:solidFill>
                    <a:schemeClr val="accent1"/>
                  </a:solidFill>
                </a:rPr>
                <a:t>1 blockiert</a:t>
              </a:r>
            </a:p>
          </p:txBody>
        </p:sp>
      </p:grpSp>
      <p:sp>
        <p:nvSpPr>
          <p:cNvPr id="20" name="Ueberschrift"/>
          <p:cNvSpPr/>
          <p:nvPr/>
        </p:nvSpPr>
        <p:spPr>
          <a:xfrm>
            <a:off x="6500000" y="1300000"/>
            <a:ext cx="5200000" cy="500000"/>
          </a:xfrm>
          <a:prstGeom prst="rect">
            <a:avLst/>
          </a:prstGeom>
          <a:noFill/>
          <a:ln>
            <a:noFill/>
          </a:ln>
        </p:spPr>
        <p:txBody>
          <a:bodyPr wrap="square" lIns="45720" tIns="27432" rIns="45720" bIns="27432" anchor="ctr">
            <a:noAutofit/>
          </a:bodyPr>
          <a:lstStyle/>
          <a:p>
            <a:pPr algn="l"/>
            <a:r>
              <a:rPr lang="de-DE" sz="1800" b="1" dirty="0">
                <a:solidFill>
                  <a:schemeClr val="accent5"/>
                </a:solidFill>
              </a:rPr>
              <a:t>Vor der Ausführung erkannt</a:t>
            </a:r>
          </a:p>
        </p:txBody>
      </p:sp>
      <p:grpSp>
        <p:nvGrpSpPr>
          <p:cNvPr id="30" name="Zeile 1"/>
          <p:cNvGrpSpPr/>
          <p:nvPr/>
        </p:nvGrpSpPr>
        <p:grpSpPr>
          <a:xfrm>
            <a:off x="6500000" y="2150000"/>
            <a:ext cx="5200000" cy="760000"/>
            <a:chOff x="6500000" y="2150000"/>
            <a:chExt cx="5200000" cy="760000"/>
          </a:xfrm>
        </p:grpSpPr>
        <p:sp>
          <p:nvSpPr>
            <p:cNvPr id="31" name="Symbol"/>
            <p:cNvSpPr/>
            <p:nvPr/>
          </p:nvSpPr>
          <p:spPr>
            <a:xfrm>
              <a:off x="6500000" y="2270000"/>
              <a:ext cx="520000" cy="520000"/>
            </a:xfrm>
            <a:prstGeom prst="ellipse">
              <a:avLst/>
            </a:prstGeom>
            <a:solidFill>
              <a:schemeClr val="accent4"/>
            </a:solidFill>
            <a:ln>
              <a:noFill/>
            </a:ln>
          </p:spPr>
          <p:txBody>
            <a:bodyPr wrap="square" lIns="45720" tIns="27432" rIns="45720" bIns="27432" anchor="ctr">
              <a:noAutofit/>
            </a:bodyPr>
            <a:lstStyle/>
            <a:p>
              <a:pPr algn="ctr"/>
              <a:r>
                <a:rPr lang="de-DE" sz="1600" b="1" dirty="0">
                  <a:solidFill>
                    <a:schemeClr val="accent1"/>
                  </a:solidFill>
                </a:rPr>
                <a:t>✕</a:t>
              </a:r>
            </a:p>
          </p:txBody>
        </p:sp>
        <p:sp>
          <p:nvSpPr>
            <p:cNvPr id="32" name="Zeile"/>
            <p:cNvSpPr/>
            <p:nvPr/>
          </p:nvSpPr>
          <p:spPr>
            <a:xfrm>
              <a:off x="7180000" y="2150000"/>
              <a:ext cx="4520000" cy="760000"/>
            </a:xfrm>
            <a:prstGeom prst="rect">
              <a:avLst/>
            </a:prstGeom>
            <a:noFill/>
            <a:ln>
              <a:noFill/>
            </a:ln>
          </p:spPr>
          <p:txBody>
            <a:bodyPr wrap="square" lIns="45720" tIns="27432" rIns="45720" bIns="27432" anchor="ctr">
              <a:noAutofit/>
            </a:bodyPr>
            <a:lstStyle/>
            <a:p>
              <a:pPr algn="l"/>
              <a:r>
                <a:rPr lang="de-DE" sz="1600" b="1" dirty="0">
                  <a:solidFill>
                    <a:schemeClr val="accent1"/>
                  </a:solidFill>
                </a:rPr>
                <a:t>Nmap-Zonentest</a:t>
              </a:r>
            </a:p>
            <a:p>
              <a:pPr algn="l"/>
              <a:r>
                <a:rPr lang="de-DE" sz="1400" b="0" dirty="0">
                  <a:solidFill>
                    <a:schemeClr val="accent1"/>
                  </a:solidFill>
                </a:rPr>
                <a:t>keine zweite Netzwerkzone in der flachen Topologie</a:t>
              </a:r>
            </a:p>
          </p:txBody>
        </p:sp>
      </p:grpSp>
      <p:grpSp>
        <p:nvGrpSpPr>
          <p:cNvPr id="40" name="Zeile 2"/>
          <p:cNvGrpSpPr/>
          <p:nvPr/>
        </p:nvGrpSpPr>
        <p:grpSpPr>
          <a:xfrm>
            <a:off x="6500000" y="3200000"/>
            <a:ext cx="5200000" cy="760000"/>
            <a:chOff x="6500000" y="3200000"/>
            <a:chExt cx="5200000" cy="760000"/>
          </a:xfrm>
        </p:grpSpPr>
        <p:sp>
          <p:nvSpPr>
            <p:cNvPr id="33" name="Symbol"/>
            <p:cNvSpPr/>
            <p:nvPr/>
          </p:nvSpPr>
          <p:spPr>
            <a:xfrm>
              <a:off x="6500000" y="3320000"/>
              <a:ext cx="520000" cy="520000"/>
            </a:xfrm>
            <a:prstGeom prst="ellipse">
              <a:avLst/>
            </a:prstGeom>
            <a:solidFill>
              <a:schemeClr val="accent4"/>
            </a:solidFill>
            <a:ln>
              <a:noFill/>
            </a:ln>
          </p:spPr>
          <p:txBody>
            <a:bodyPr wrap="square" lIns="45720" tIns="27432" rIns="45720" bIns="27432" anchor="ctr">
              <a:noAutofit/>
            </a:bodyPr>
            <a:lstStyle/>
            <a:p>
              <a:pPr algn="ctr"/>
              <a:r>
                <a:rPr lang="de-DE" sz="1600" b="1" dirty="0">
                  <a:solidFill>
                    <a:schemeClr val="accent1"/>
                  </a:solidFill>
                </a:rPr>
                <a:t>✕</a:t>
              </a:r>
            </a:p>
          </p:txBody>
        </p:sp>
        <p:sp>
          <p:nvSpPr>
            <p:cNvPr id="34" name="Zeile"/>
            <p:cNvSpPr/>
            <p:nvPr/>
          </p:nvSpPr>
          <p:spPr>
            <a:xfrm>
              <a:off x="7180000" y="3200000"/>
              <a:ext cx="4520000" cy="760000"/>
            </a:xfrm>
            <a:prstGeom prst="rect">
              <a:avLst/>
            </a:prstGeom>
            <a:noFill/>
            <a:ln>
              <a:noFill/>
            </a:ln>
          </p:spPr>
          <p:txBody>
            <a:bodyPr wrap="square" lIns="45720" tIns="27432" rIns="45720" bIns="27432" anchor="ctr">
              <a:noAutofit/>
            </a:bodyPr>
            <a:lstStyle/>
            <a:p>
              <a:pPr algn="l"/>
              <a:r>
                <a:rPr lang="de-DE" sz="1600" b="1" dirty="0">
                  <a:solidFill>
                    <a:schemeClr val="accent1"/>
                  </a:solidFill>
                </a:rPr>
                <a:t>Hydra</a:t>
              </a:r>
            </a:p>
            <a:p>
              <a:pPr algn="l"/>
              <a:r>
                <a:rPr lang="de-DE" sz="1400" b="0" dirty="0">
                  <a:solidFill>
                    <a:schemeClr val="accent1"/>
                  </a:solidFill>
                </a:rPr>
                <a:t>kein Authentifizierungs-Endpoint am Gerät</a:t>
              </a:r>
            </a:p>
          </p:txBody>
        </p:sp>
      </p:grpSp>
      <p:grpSp>
        <p:nvGrpSpPr>
          <p:cNvPr id="50" name="Zeile 3"/>
          <p:cNvGrpSpPr/>
          <p:nvPr/>
        </p:nvGrpSpPr>
        <p:grpSpPr>
          <a:xfrm>
            <a:off x="6500000" y="4250000"/>
            <a:ext cx="5200000" cy="760000"/>
            <a:chOff x="6500000" y="4250000"/>
            <a:chExt cx="5200000" cy="760000"/>
          </a:xfrm>
        </p:grpSpPr>
        <p:sp>
          <p:nvSpPr>
            <p:cNvPr id="35" name="Symbol"/>
            <p:cNvSpPr/>
            <p:nvPr/>
          </p:nvSpPr>
          <p:spPr>
            <a:xfrm>
              <a:off x="6500000" y="4370000"/>
              <a:ext cx="520000" cy="520000"/>
            </a:xfrm>
            <a:prstGeom prst="ellipse">
              <a:avLst/>
            </a:prstGeom>
            <a:solidFill>
              <a:schemeClr val="accent4"/>
            </a:solidFill>
            <a:ln>
              <a:noFill/>
            </a:ln>
          </p:spPr>
          <p:txBody>
            <a:bodyPr wrap="square" lIns="45720" tIns="27432" rIns="45720" bIns="27432" anchor="ctr">
              <a:noAutofit/>
            </a:bodyPr>
            <a:lstStyle/>
            <a:p>
              <a:pPr algn="ctr"/>
              <a:r>
                <a:rPr lang="de-DE" sz="1600" b="1" dirty="0">
                  <a:solidFill>
                    <a:schemeClr val="accent1"/>
                  </a:solidFill>
                </a:rPr>
                <a:t>✕</a:t>
              </a:r>
            </a:p>
          </p:txBody>
        </p:sp>
        <p:sp>
          <p:nvSpPr>
            <p:cNvPr id="36" name="Zeile"/>
            <p:cNvSpPr/>
            <p:nvPr/>
          </p:nvSpPr>
          <p:spPr>
            <a:xfrm>
              <a:off x="7180000" y="4250000"/>
              <a:ext cx="4520000" cy="760000"/>
            </a:xfrm>
            <a:prstGeom prst="rect">
              <a:avLst/>
            </a:prstGeom>
            <a:noFill/>
            <a:ln>
              <a:noFill/>
            </a:ln>
          </p:spPr>
          <p:txBody>
            <a:bodyPr wrap="square" lIns="45720" tIns="27432" rIns="45720" bIns="27432" anchor="ctr">
              <a:noAutofit/>
            </a:bodyPr>
            <a:lstStyle/>
            <a:p>
              <a:pPr algn="l"/>
              <a:r>
                <a:rPr lang="de-DE" sz="1600" b="1" dirty="0">
                  <a:solidFill>
                    <a:schemeClr val="accent1"/>
                  </a:solidFill>
                </a:rPr>
                <a:t>Lynis</a:t>
              </a:r>
            </a:p>
            <a:p>
              <a:pPr algn="l"/>
              <a:r>
                <a:rPr lang="de-DE" sz="1400" b="0" dirty="0">
                  <a:solidFill>
                    <a:schemeClr val="accent1"/>
                  </a:solidFill>
                </a:rPr>
                <a:t>kein Betriebssystem-Shell am Embedded-Gerät</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Kernbefund: der Interventionsnachweis</a:t>
            </a:r>
          </a:p>
        </p:txBody>
      </p:sp>
      <p:sp>
        <p:nvSpPr>
          <p:cNvPr id="5" name="Kopf"/>
          <p:cNvSpPr/>
          <p:nvPr/>
        </p:nvSpPr>
        <p:spPr>
          <a:xfrm>
            <a:off x="373063" y="1250000"/>
            <a:ext cx="2200000" cy="460000"/>
          </a:xfrm>
          <a:prstGeom prst="rect">
            <a:avLst/>
          </a:prstGeom>
          <a:solidFill>
            <a:schemeClr val="accent2"/>
          </a:solidFill>
          <a:ln>
            <a:noFill/>
          </a:ln>
        </p:spPr>
        <p:txBody>
          <a:bodyPr wrap="square" lIns="137160" tIns="27432" rIns="137160" bIns="27432" anchor="ctr">
            <a:noAutofit/>
          </a:bodyPr>
          <a:lstStyle/>
          <a:p>
            <a:pPr algn="l"/>
            <a:r>
              <a:rPr lang="de-DE" sz="1400" b="1" dirty="0">
                <a:solidFill>
                  <a:srgbClr val="FFFFFF"/>
                </a:solidFill>
              </a:rPr>
              <a:t>Schritt</a:t>
            </a:r>
          </a:p>
        </p:txBody>
      </p:sp>
      <p:sp>
        <p:nvSpPr>
          <p:cNvPr id="6" name="Kopf"/>
          <p:cNvSpPr/>
          <p:nvPr/>
        </p:nvSpPr>
        <p:spPr>
          <a:xfrm>
            <a:off x="2573063" y="1250000"/>
            <a:ext cx="1650000" cy="460000"/>
          </a:xfrm>
          <a:prstGeom prst="rect">
            <a:avLst/>
          </a:prstGeom>
          <a:solidFill>
            <a:schemeClr val="accent2"/>
          </a:solidFill>
          <a:ln>
            <a:noFill/>
          </a:ln>
        </p:spPr>
        <p:txBody>
          <a:bodyPr wrap="square" lIns="137160" tIns="27432" rIns="137160" bIns="27432" anchor="ctr">
            <a:noAutofit/>
          </a:bodyPr>
          <a:lstStyle/>
          <a:p>
            <a:pPr algn="ctr"/>
            <a:r>
              <a:rPr lang="de-DE" sz="1400" b="1" dirty="0">
                <a:solidFill>
                  <a:srgbClr val="FFFFFF"/>
                </a:solidFill>
              </a:rPr>
              <a:t>System-Tick</a:t>
            </a:r>
          </a:p>
        </p:txBody>
      </p:sp>
      <p:sp>
        <p:nvSpPr>
          <p:cNvPr id="7" name="Kopf"/>
          <p:cNvSpPr/>
          <p:nvPr/>
        </p:nvSpPr>
        <p:spPr>
          <a:xfrm>
            <a:off x="4223063" y="1250000"/>
            <a:ext cx="1650000" cy="460000"/>
          </a:xfrm>
          <a:prstGeom prst="rect">
            <a:avLst/>
          </a:prstGeom>
          <a:solidFill>
            <a:schemeClr val="accent2"/>
          </a:solidFill>
          <a:ln>
            <a:noFill/>
          </a:ln>
        </p:spPr>
        <p:txBody>
          <a:bodyPr wrap="square" lIns="137160" tIns="27432" rIns="137160" bIns="27432" anchor="ctr">
            <a:noAutofit/>
          </a:bodyPr>
          <a:lstStyle/>
          <a:p>
            <a:pPr algn="ctr"/>
            <a:r>
              <a:rPr lang="de-DE" sz="1400" b="1" dirty="0">
                <a:solidFill>
                  <a:srgbClr val="FFFFFF"/>
                </a:solidFill>
              </a:rPr>
              <a:t>Log-Einträge</a:t>
            </a:r>
          </a:p>
        </p:txBody>
      </p:sp>
      <p:grpSp>
        <p:nvGrpSpPr>
          <p:cNvPr id="10" name="Zeile Baseline"/>
          <p:cNvGrpSpPr/>
          <p:nvPr/>
        </p:nvGrpSpPr>
        <p:grpSpPr>
          <a:xfrm>
            <a:off x="373063" y="1790000"/>
            <a:ext cx="5500000" cy="540000"/>
            <a:chOff x="373063" y="1790000"/>
            <a:chExt cx="5500000" cy="540000"/>
          </a:xfrm>
        </p:grpSpPr>
        <p:sp>
          <p:nvSpPr>
            <p:cNvPr id="11" name="Zelle"/>
            <p:cNvSpPr/>
            <p:nvPr/>
          </p:nvSpPr>
          <p:spPr>
            <a:xfrm>
              <a:off x="373063" y="1790000"/>
              <a:ext cx="220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l"/>
              <a:r>
                <a:rPr lang="de-DE" sz="1600" b="0" dirty="0">
                  <a:solidFill>
                    <a:schemeClr val="accent1"/>
                  </a:solidFill>
                </a:rPr>
                <a:t>Baseline</a:t>
              </a:r>
            </a:p>
          </p:txBody>
        </p:sp>
        <p:sp>
          <p:nvSpPr>
            <p:cNvPr id="12" name="Zelle"/>
            <p:cNvSpPr/>
            <p:nvPr/>
          </p:nvSpPr>
          <p:spPr>
            <a:xfrm>
              <a:off x="2573063" y="1790000"/>
              <a:ext cx="165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ctr"/>
              <a:r>
                <a:rPr lang="de-DE" sz="1600" b="0" dirty="0">
                  <a:solidFill>
                    <a:schemeClr val="accent1"/>
                  </a:solidFill>
                </a:rPr>
                <a:t>20969</a:t>
              </a:r>
            </a:p>
          </p:txBody>
        </p:sp>
        <p:sp>
          <p:nvSpPr>
            <p:cNvPr id="13" name="Zelle"/>
            <p:cNvSpPr/>
            <p:nvPr/>
          </p:nvSpPr>
          <p:spPr>
            <a:xfrm>
              <a:off x="4223063" y="1790000"/>
              <a:ext cx="165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ctr"/>
              <a:r>
                <a:rPr lang="de-DE" sz="1600" b="0" dirty="0">
                  <a:solidFill>
                    <a:schemeClr val="accent1"/>
                  </a:solidFill>
                </a:rPr>
                <a:t>0</a:t>
              </a:r>
            </a:p>
          </p:txBody>
        </p:sp>
      </p:grpSp>
      <p:grpSp>
        <p:nvGrpSpPr>
          <p:cNvPr id="20" name="Zeile Ereignis 1"/>
          <p:cNvGrpSpPr/>
          <p:nvPr/>
        </p:nvGrpSpPr>
        <p:grpSpPr>
          <a:xfrm>
            <a:off x="373063" y="2370000"/>
            <a:ext cx="5500000" cy="540000"/>
            <a:chOff x="373063" y="2370000"/>
            <a:chExt cx="5500000" cy="540000"/>
          </a:xfrm>
        </p:grpSpPr>
        <p:sp>
          <p:nvSpPr>
            <p:cNvPr id="21" name="Zelle"/>
            <p:cNvSpPr/>
            <p:nvPr/>
          </p:nvSpPr>
          <p:spPr>
            <a:xfrm>
              <a:off x="373063" y="2370000"/>
              <a:ext cx="2200000" cy="540000"/>
            </a:xfrm>
            <a:prstGeom prst="rect">
              <a:avLst/>
            </a:prstGeom>
            <a:solidFill>
              <a:schemeClr val="accent4"/>
            </a:solidFill>
            <a:ln>
              <a:noFill/>
            </a:ln>
          </p:spPr>
          <p:txBody>
            <a:bodyPr wrap="square" lIns="137160" tIns="27432" rIns="137160" bIns="27432" anchor="ctr">
              <a:noAutofit/>
            </a:bodyPr>
            <a:lstStyle/>
            <a:p>
              <a:pPr algn="l"/>
              <a:r>
                <a:rPr lang="de-DE" sz="1600" b="0" dirty="0">
                  <a:solidFill>
                    <a:schemeClr val="accent1"/>
                  </a:solidFill>
                </a:rPr>
                <a:t>Nach Ereignis 1</a:t>
              </a:r>
            </a:p>
          </p:txBody>
        </p:sp>
        <p:sp>
          <p:nvSpPr>
            <p:cNvPr id="22" name="Zelle"/>
            <p:cNvSpPr/>
            <p:nvPr/>
          </p:nvSpPr>
          <p:spPr>
            <a:xfrm>
              <a:off x="2573063" y="237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68629</a:t>
              </a:r>
            </a:p>
          </p:txBody>
        </p:sp>
        <p:sp>
          <p:nvSpPr>
            <p:cNvPr id="23" name="Zelle"/>
            <p:cNvSpPr/>
            <p:nvPr/>
          </p:nvSpPr>
          <p:spPr>
            <a:xfrm>
              <a:off x="4223063" y="237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2</a:t>
              </a:r>
            </a:p>
          </p:txBody>
        </p:sp>
      </p:grpSp>
      <p:grpSp>
        <p:nvGrpSpPr>
          <p:cNvPr id="30" name="Zeile Kaltstart"/>
          <p:cNvGrpSpPr/>
          <p:nvPr/>
        </p:nvGrpSpPr>
        <p:grpSpPr>
          <a:xfrm>
            <a:off x="373063" y="2980000"/>
            <a:ext cx="5500000" cy="940000"/>
            <a:chOff x="373063" y="2980000"/>
            <a:chExt cx="5500000" cy="940000"/>
          </a:xfrm>
        </p:grpSpPr>
        <p:sp>
          <p:nvSpPr>
            <p:cNvPr id="31" name="Zelle"/>
            <p:cNvSpPr/>
            <p:nvPr/>
          </p:nvSpPr>
          <p:spPr>
            <a:xfrm>
              <a:off x="373063" y="3380000"/>
              <a:ext cx="2200000" cy="540000"/>
            </a:xfrm>
            <a:prstGeom prst="rect">
              <a:avLst/>
            </a:prstGeom>
            <a:solidFill>
              <a:srgbClr val="C62828"/>
            </a:solidFill>
            <a:ln>
              <a:noFill/>
            </a:ln>
          </p:spPr>
          <p:txBody>
            <a:bodyPr wrap="square" lIns="137160" tIns="27432" rIns="137160" bIns="27432" anchor="ctr">
              <a:noAutofit/>
            </a:bodyPr>
            <a:lstStyle/>
            <a:p>
              <a:pPr algn="l"/>
              <a:r>
                <a:rPr lang="de-DE" sz="1600" b="1" dirty="0">
                  <a:solidFill>
                    <a:srgbClr val="FFFFFF"/>
                  </a:solidFill>
                </a:rPr>
                <a:t>Nach Kaltstart</a:t>
              </a:r>
            </a:p>
          </p:txBody>
        </p:sp>
        <p:sp>
          <p:nvSpPr>
            <p:cNvPr id="32" name="Zelle"/>
            <p:cNvSpPr/>
            <p:nvPr/>
          </p:nvSpPr>
          <p:spPr>
            <a:xfrm>
              <a:off x="2573063" y="3380000"/>
              <a:ext cx="1650000" cy="540000"/>
            </a:xfrm>
            <a:prstGeom prst="rect">
              <a:avLst/>
            </a:prstGeom>
            <a:solidFill>
              <a:srgbClr val="C62828"/>
            </a:solidFill>
            <a:ln>
              <a:noFill/>
            </a:ln>
          </p:spPr>
          <p:txBody>
            <a:bodyPr wrap="square" lIns="137160" tIns="27432" rIns="137160" bIns="27432" anchor="ctr">
              <a:noAutofit/>
            </a:bodyPr>
            <a:lstStyle/>
            <a:p>
              <a:pPr algn="ctr"/>
              <a:r>
                <a:rPr lang="de-DE" sz="1600" b="1" dirty="0">
                  <a:solidFill>
                    <a:srgbClr val="FFFFFF"/>
                  </a:solidFill>
                </a:rPr>
                <a:t>20459</a:t>
              </a:r>
            </a:p>
          </p:txBody>
        </p:sp>
        <p:sp>
          <p:nvSpPr>
            <p:cNvPr id="33" name="Zelle"/>
            <p:cNvSpPr/>
            <p:nvPr/>
          </p:nvSpPr>
          <p:spPr>
            <a:xfrm>
              <a:off x="4223063" y="3380000"/>
              <a:ext cx="1650000" cy="540000"/>
            </a:xfrm>
            <a:prstGeom prst="rect">
              <a:avLst/>
            </a:prstGeom>
            <a:solidFill>
              <a:srgbClr val="C62828"/>
            </a:solidFill>
            <a:ln>
              <a:noFill/>
            </a:ln>
          </p:spPr>
          <p:txBody>
            <a:bodyPr wrap="square" lIns="137160" tIns="27432" rIns="137160" bIns="27432" anchor="ctr">
              <a:noAutofit/>
            </a:bodyPr>
            <a:lstStyle/>
            <a:p>
              <a:pPr algn="ctr"/>
              <a:r>
                <a:rPr lang="de-DE" sz="1600" b="1" dirty="0">
                  <a:solidFill>
                    <a:srgbClr val="FFFFFF"/>
                  </a:solidFill>
                </a:rPr>
                <a:t>0</a:t>
              </a:r>
            </a:p>
          </p:txBody>
        </p:sp>
        <p:sp>
          <p:nvSpPr>
            <p:cNvPr id="37" name="Ruecksprungpfeil"/>
            <p:cNvSpPr/>
            <p:nvPr/>
          </p:nvSpPr>
          <p:spPr>
            <a:xfrm>
              <a:off x="553063" y="2980000"/>
              <a:ext cx="320000" cy="360000"/>
            </a:xfrm>
            <a:prstGeom prst="downArrow">
              <a:avLst>
                <a:gd name="adj1" fmla="val 50000"/>
                <a:gd name="adj2" fmla="val 50000"/>
              </a:avLst>
            </a:prstGeom>
            <a:solidFill>
              <a:srgbClr val="C62828"/>
            </a:solidFill>
            <a:ln>
              <a:noFill/>
            </a:ln>
          </p:spPr>
          <p:txBody>
            <a:bodyPr/>
            <a:lstStyle/>
            <a:p>
              <a:endParaRPr lang="de-DE"/>
            </a:p>
          </p:txBody>
        </p:sp>
        <p:sp>
          <p:nvSpPr>
            <p:cNvPr id="38" name="Pfeilbeschriftung"/>
            <p:cNvSpPr/>
            <p:nvPr/>
          </p:nvSpPr>
          <p:spPr>
            <a:xfrm>
              <a:off x="933063" y="2980000"/>
              <a:ext cx="3600000" cy="360000"/>
            </a:xfrm>
            <a:prstGeom prst="rect">
              <a:avLst/>
            </a:prstGeom>
            <a:noFill/>
            <a:ln>
              <a:noFill/>
            </a:ln>
          </p:spPr>
          <p:txBody>
            <a:bodyPr wrap="square" lIns="137160" tIns="27432" rIns="137160" bIns="27432" anchor="ctr">
              <a:noAutofit/>
            </a:bodyPr>
            <a:lstStyle/>
            <a:p>
              <a:pPr algn="l"/>
              <a:r>
                <a:rPr lang="de-DE" sz="1400" b="1" dirty="0">
                  <a:solidFill>
                    <a:srgbClr val="C62828"/>
                  </a:solidFill>
                </a:rPr>
                <a:t>Tick-Rücksprung: 68629 auf 20459</a:t>
              </a:r>
            </a:p>
          </p:txBody>
        </p:sp>
      </p:grpSp>
      <p:grpSp>
        <p:nvGrpSpPr>
          <p:cNvPr id="40" name="Zeile Ereignis 2"/>
          <p:cNvGrpSpPr/>
          <p:nvPr/>
        </p:nvGrpSpPr>
        <p:grpSpPr>
          <a:xfrm>
            <a:off x="373063" y="3960000"/>
            <a:ext cx="5500000" cy="540000"/>
            <a:chOff x="373063" y="3960000"/>
            <a:chExt cx="5500000" cy="540000"/>
          </a:xfrm>
        </p:grpSpPr>
        <p:sp>
          <p:nvSpPr>
            <p:cNvPr id="41" name="Zelle"/>
            <p:cNvSpPr/>
            <p:nvPr/>
          </p:nvSpPr>
          <p:spPr>
            <a:xfrm>
              <a:off x="373063" y="3960000"/>
              <a:ext cx="2200000" cy="540000"/>
            </a:xfrm>
            <a:prstGeom prst="rect">
              <a:avLst/>
            </a:prstGeom>
            <a:solidFill>
              <a:schemeClr val="accent4"/>
            </a:solidFill>
            <a:ln>
              <a:noFill/>
            </a:ln>
          </p:spPr>
          <p:txBody>
            <a:bodyPr wrap="square" lIns="137160" tIns="27432" rIns="137160" bIns="27432" anchor="ctr">
              <a:noAutofit/>
            </a:bodyPr>
            <a:lstStyle/>
            <a:p>
              <a:pPr algn="l"/>
              <a:r>
                <a:rPr lang="de-DE" sz="1600" b="0" dirty="0">
                  <a:solidFill>
                    <a:schemeClr val="accent1"/>
                  </a:solidFill>
                </a:rPr>
                <a:t>Nach Ereignis 2</a:t>
              </a:r>
            </a:p>
          </p:txBody>
        </p:sp>
        <p:sp>
          <p:nvSpPr>
            <p:cNvPr id="42" name="Zelle"/>
            <p:cNvSpPr/>
            <p:nvPr/>
          </p:nvSpPr>
          <p:spPr>
            <a:xfrm>
              <a:off x="2573063" y="396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44869</a:t>
              </a:r>
            </a:p>
          </p:txBody>
        </p:sp>
        <p:sp>
          <p:nvSpPr>
            <p:cNvPr id="43" name="Zelle"/>
            <p:cNvSpPr/>
            <p:nvPr/>
          </p:nvSpPr>
          <p:spPr>
            <a:xfrm>
              <a:off x="4223063" y="396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2</a:t>
              </a:r>
            </a:p>
          </p:txBody>
        </p:sp>
      </p:grpSp>
      <p:sp>
        <p:nvSpPr>
          <p:cNvPr id="9" name="Ueberschrift"/>
          <p:cNvSpPr/>
          <p:nvPr/>
        </p:nvSpPr>
        <p:spPr>
          <a:xfrm>
            <a:off x="6400000" y="1250000"/>
            <a:ext cx="5300000" cy="460000"/>
          </a:xfrm>
          <a:prstGeom prst="rect">
            <a:avLst/>
          </a:prstGeom>
          <a:noFill/>
          <a:ln>
            <a:noFill/>
          </a:ln>
        </p:spPr>
        <p:txBody>
          <a:bodyPr wrap="square" lIns="137160" tIns="27432" rIns="137160" bIns="27432" anchor="ctr">
            <a:noAutofit/>
          </a:bodyPr>
          <a:lstStyle/>
          <a:p>
            <a:pPr algn="l"/>
            <a:r>
              <a:rPr lang="de-DE" sz="1800" b="1" dirty="0">
                <a:solidFill>
                  <a:schemeClr val="accent5"/>
                </a:solidFill>
              </a:rPr>
              <a:t>Was fehlt</a:t>
            </a:r>
          </a:p>
        </p:txBody>
      </p:sp>
      <p:grpSp>
        <p:nvGrpSpPr>
          <p:cNvPr id="50" name="Befunde"/>
          <p:cNvGrpSpPr/>
          <p:nvPr/>
        </p:nvGrpSpPr>
        <p:grpSpPr>
          <a:xfrm>
            <a:off x="6400000" y="1860000"/>
            <a:ext cx="5300000" cy="1700000"/>
            <a:chOff x="6400000" y="1860000"/>
            <a:chExt cx="5300000" cy="1700000"/>
          </a:xfrm>
        </p:grpSpPr>
        <p:sp>
          <p:nvSpPr>
            <p:cNvPr id="51" name="Warnsymbol"/>
            <p:cNvSpPr/>
            <p:nvPr/>
          </p:nvSpPr>
          <p:spPr>
            <a:xfrm>
              <a:off x="6400000" y="1920000"/>
              <a:ext cx="400000" cy="340000"/>
            </a:xfrm>
            <a:prstGeom prst="triangle">
              <a:avLst/>
            </a:prstGeom>
            <a:solidFill>
              <a:schemeClr val="accent5"/>
            </a:solidFill>
            <a:ln>
              <a:noFill/>
            </a:ln>
          </p:spPr>
          <p:txBody>
            <a:bodyPr/>
            <a:lstStyle/>
            <a:p>
              <a:endParaRPr lang="de-DE"/>
            </a:p>
          </p:txBody>
        </p:sp>
        <p:sp>
          <p:nvSpPr>
            <p:cNvPr id="52" name="Befundzeile"/>
            <p:cNvSpPr/>
            <p:nvPr/>
          </p:nvSpPr>
          <p:spPr>
            <a:xfrm>
              <a:off x="6900000" y="186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Kein absoluter Zeitstempel</a:t>
              </a:r>
            </a:p>
          </p:txBody>
        </p:sp>
        <p:sp>
          <p:nvSpPr>
            <p:cNvPr id="53" name="Warnsymbol"/>
            <p:cNvSpPr/>
            <p:nvPr/>
          </p:nvSpPr>
          <p:spPr>
            <a:xfrm>
              <a:off x="6400000" y="2540000"/>
              <a:ext cx="400000" cy="340000"/>
            </a:xfrm>
            <a:prstGeom prst="triangle">
              <a:avLst/>
            </a:prstGeom>
            <a:solidFill>
              <a:schemeClr val="accent5"/>
            </a:solidFill>
            <a:ln>
              <a:noFill/>
            </a:ln>
          </p:spPr>
          <p:txBody>
            <a:bodyPr/>
            <a:lstStyle/>
            <a:p>
              <a:endParaRPr lang="de-DE"/>
            </a:p>
          </p:txBody>
        </p:sp>
        <p:sp>
          <p:nvSpPr>
            <p:cNvPr id="54" name="Befundzeile"/>
            <p:cNvSpPr/>
            <p:nvPr/>
          </p:nvSpPr>
          <p:spPr>
            <a:xfrm>
              <a:off x="6900000" y="248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Keine Akteursidentität</a:t>
              </a:r>
            </a:p>
          </p:txBody>
        </p:sp>
        <p:sp>
          <p:nvSpPr>
            <p:cNvPr id="55" name="Warnsymbol"/>
            <p:cNvSpPr/>
            <p:nvPr/>
          </p:nvSpPr>
          <p:spPr>
            <a:xfrm>
              <a:off x="6400000" y="3160000"/>
              <a:ext cx="400000" cy="340000"/>
            </a:xfrm>
            <a:prstGeom prst="triangle">
              <a:avLst/>
            </a:prstGeom>
            <a:solidFill>
              <a:schemeClr val="accent5"/>
            </a:solidFill>
            <a:ln>
              <a:noFill/>
            </a:ln>
          </p:spPr>
          <p:txBody>
            <a:bodyPr/>
            <a:lstStyle/>
            <a:p>
              <a:endParaRPr lang="de-DE"/>
            </a:p>
          </p:txBody>
        </p:sp>
        <p:sp>
          <p:nvSpPr>
            <p:cNvPr id="56" name="Befundzeile"/>
            <p:cNvSpPr/>
            <p:nvPr/>
          </p:nvSpPr>
          <p:spPr>
            <a:xfrm>
              <a:off x="6900000" y="310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Loginhalt nach Kaltstart gelöscht</a:t>
              </a:r>
            </a:p>
          </p:txBody>
        </p:sp>
      </p:grpSp>
      <p:sp>
        <p:nvSpPr>
          <p:cNvPr id="60" name="Ergebnisfeld"/>
          <p:cNvSpPr/>
          <p:nvPr/>
        </p:nvSpPr>
        <p:spPr>
          <a:xfrm>
            <a:off x="6400000" y="3900000"/>
            <a:ext cx="5300000" cy="780000"/>
          </a:xfrm>
          <a:prstGeom prst="rect">
            <a:avLst/>
          </a:prstGeom>
          <a:solidFill>
            <a:srgbClr val="C62828"/>
          </a:solidFill>
          <a:ln>
            <a:noFill/>
          </a:ln>
        </p:spPr>
        <p:txBody>
          <a:bodyPr wrap="square" lIns="137160" tIns="27432" rIns="137160" bIns="27432" anchor="ctr">
            <a:noAutofit/>
          </a:bodyPr>
          <a:lstStyle/>
          <a:p>
            <a:pPr algn="ctr"/>
            <a:r>
              <a:rPr lang="de-DE" sz="1800" b="1" dirty="0">
                <a:solidFill>
                  <a:srgbClr val="FFFFFF"/>
                </a:solidFill>
              </a:rPr>
              <a:t>RQ-003 und RQ-012 · Fail</a:t>
            </a:r>
          </a:p>
        </p:txBody>
      </p:sp>
      <p:sp>
        <p:nvSpPr>
          <p:cNvPr id="70" name="Aussagebalken"/>
          <p:cNvSpPr/>
          <p:nvPr/>
        </p:nvSpPr>
        <p:spPr>
          <a:xfrm>
            <a:off x="0" y="5330000"/>
            <a:ext cx="12192000" cy="800000"/>
          </a:xfrm>
          <a:prstGeom prst="rect">
            <a:avLst/>
          </a:prstGeom>
          <a:solidFill>
            <a:schemeClr val="accent1"/>
          </a:solidFill>
          <a:ln>
            <a:noFill/>
          </a:ln>
        </p:spPr>
        <p:txBody>
          <a:bodyPr wrap="square" lIns="137160" tIns="27432" rIns="137160" bIns="27432" anchor="ctr">
            <a:noAutofit/>
          </a:bodyPr>
          <a:lstStyle/>
          <a:p>
            <a:pPr algn="ctr"/>
            <a:r>
              <a:rPr lang="de-DE" sz="1800" b="1" dirty="0">
                <a:solidFill>
                  <a:srgbClr val="FFFFFF"/>
                </a:solidFill>
              </a:rPr>
              <a:t>Das einzige verfügbare Ersatzartefakt überlebt keinen Kaltstart.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P spid="7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Bewertung der 14 Anforderungen</a:t>
            </a:r>
          </a:p>
        </p:txBody>
      </p:sp>
      <p:grpSp>
        <p:nvGrpSpPr>
          <p:cNvPr id="10" name="Graue Kacheln"/>
          <p:cNvGrpSpPr/>
          <p:nvPr/>
        </p:nvGrpSpPr>
        <p:grpSpPr>
          <a:xfrm>
            <a:off x="373063" y="1950000"/>
            <a:ext cx="6420000" cy="1820000"/>
            <a:chOff x="373063" y="1950000"/>
            <a:chExt cx="6420000" cy="1820000"/>
          </a:xfrm>
        </p:grpSpPr>
        <p:sp>
          <p:nvSpPr>
            <p:cNvPr id="101" name="RQ-001"/>
            <p:cNvSpPr/>
            <p:nvPr/>
          </p:nvSpPr>
          <p:spPr>
            <a:xfrm>
              <a:off x="37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RQ-001</a:t>
              </a:r>
            </a:p>
            <a:p>
              <a:pPr algn="ctr"/>
              <a:r>
                <a:rPr lang="de-DE" sz="1400" b="0" dirty="0">
                  <a:solidFill>
                    <a:schemeClr val="accent1"/>
                  </a:solidFill>
                </a:rPr>
                <a:t>Not</a:t>
              </a:r>
            </a:p>
            <a:p>
              <a:pPr algn="ctr"/>
              <a:r>
                <a:rPr lang="de-DE" sz="1400" b="0" dirty="0">
                  <a:solidFill>
                    <a:schemeClr val="accent1"/>
                  </a:solidFill>
                </a:rPr>
                <a:t>Assessed</a:t>
              </a:r>
            </a:p>
          </p:txBody>
        </p:sp>
        <p:sp>
          <p:nvSpPr>
            <p:cNvPr id="102" name="RQ-002"/>
            <p:cNvSpPr/>
            <p:nvPr/>
          </p:nvSpPr>
          <p:spPr>
            <a:xfrm>
              <a:off x="129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RQ-002</a:t>
              </a:r>
            </a:p>
            <a:p>
              <a:pPr algn="ctr"/>
              <a:r>
                <a:rPr lang="de-DE" sz="1400" b="0" dirty="0">
                  <a:solidFill>
                    <a:schemeClr val="accent1"/>
                  </a:solidFill>
                </a:rPr>
                <a:t>Not</a:t>
              </a:r>
            </a:p>
            <a:p>
              <a:pPr algn="ctr"/>
              <a:r>
                <a:rPr lang="de-DE" sz="1400" b="0" dirty="0">
                  <a:solidFill>
                    <a:schemeClr val="accent1"/>
                  </a:solidFill>
                </a:rPr>
                <a:t>Assessed</a:t>
              </a:r>
            </a:p>
          </p:txBody>
        </p:sp>
        <p:sp>
          <p:nvSpPr>
            <p:cNvPr id="104" name="RQ-004"/>
            <p:cNvSpPr/>
            <p:nvPr/>
          </p:nvSpPr>
          <p:spPr>
            <a:xfrm>
              <a:off x="313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RQ-004</a:t>
              </a:r>
            </a:p>
            <a:p>
              <a:pPr algn="ctr"/>
              <a:r>
                <a:rPr lang="de-DE" sz="1400" b="0" dirty="0">
                  <a:solidFill>
                    <a:schemeClr val="accent1"/>
                  </a:solidFill>
                </a:rPr>
                <a:t>Not</a:t>
              </a:r>
            </a:p>
            <a:p>
              <a:pPr algn="ctr"/>
              <a:r>
                <a:rPr lang="de-DE" sz="1400" b="0" dirty="0">
                  <a:solidFill>
                    <a:schemeClr val="accent1"/>
                  </a:solidFill>
                </a:rPr>
                <a:t>Assessed</a:t>
              </a:r>
            </a:p>
          </p:txBody>
        </p:sp>
        <p:sp>
          <p:nvSpPr>
            <p:cNvPr id="105" name="RQ-005"/>
            <p:cNvSpPr/>
            <p:nvPr/>
          </p:nvSpPr>
          <p:spPr>
            <a:xfrm>
              <a:off x="405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RQ-005</a:t>
              </a:r>
            </a:p>
            <a:p>
              <a:pPr algn="ctr"/>
              <a:r>
                <a:rPr lang="de-DE" sz="1400" b="0" dirty="0">
                  <a:solidFill>
                    <a:schemeClr val="accent1"/>
                  </a:solidFill>
                </a:rPr>
                <a:t>Not</a:t>
              </a:r>
            </a:p>
            <a:p>
              <a:pPr algn="ctr"/>
              <a:r>
                <a:rPr lang="de-DE" sz="1400" b="0" dirty="0">
                  <a:solidFill>
                    <a:schemeClr val="accent1"/>
                  </a:solidFill>
                </a:rPr>
                <a:t>Assessed</a:t>
              </a:r>
            </a:p>
          </p:txBody>
        </p:sp>
        <p:sp>
          <p:nvSpPr>
            <p:cNvPr id="106" name="RQ-006"/>
            <p:cNvSpPr/>
            <p:nvPr/>
          </p:nvSpPr>
          <p:spPr>
            <a:xfrm>
              <a:off x="497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RQ-006</a:t>
              </a:r>
            </a:p>
            <a:p>
              <a:pPr algn="ctr"/>
              <a:r>
                <a:rPr lang="de-DE" sz="1400" b="0" dirty="0">
                  <a:solidFill>
                    <a:schemeClr val="accent1"/>
                  </a:solidFill>
                </a:rPr>
                <a:t>Not</a:t>
              </a:r>
            </a:p>
            <a:p>
              <a:pPr algn="ctr"/>
              <a:r>
                <a:rPr lang="de-DE" sz="1400" b="0" dirty="0">
                  <a:solidFill>
                    <a:schemeClr val="accent1"/>
                  </a:solidFill>
                </a:rPr>
                <a:t>Assessed</a:t>
              </a:r>
            </a:p>
          </p:txBody>
        </p:sp>
        <p:sp>
          <p:nvSpPr>
            <p:cNvPr id="107" name="RQ-007"/>
            <p:cNvSpPr/>
            <p:nvPr/>
          </p:nvSpPr>
          <p:spPr>
            <a:xfrm>
              <a:off x="5893063" y="195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RQ-007</a:t>
              </a:r>
            </a:p>
            <a:p>
              <a:pPr algn="ctr"/>
              <a:r>
                <a:rPr lang="de-DE" sz="1400" b="0" dirty="0">
                  <a:solidFill>
                    <a:schemeClr val="accent1"/>
                  </a:solidFill>
                </a:rPr>
                <a:t>Not</a:t>
              </a:r>
            </a:p>
            <a:p>
              <a:pPr algn="ctr"/>
              <a:r>
                <a:rPr lang="de-DE" sz="1400" b="0" dirty="0">
                  <a:solidFill>
                    <a:schemeClr val="accent1"/>
                  </a:solidFill>
                </a:rPr>
                <a:t>Assessed</a:t>
              </a:r>
            </a:p>
          </p:txBody>
        </p:sp>
        <p:sp>
          <p:nvSpPr>
            <p:cNvPr id="108" name="RQ-008"/>
            <p:cNvSpPr/>
            <p:nvPr/>
          </p:nvSpPr>
          <p:spPr>
            <a:xfrm>
              <a:off x="37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RQ-008</a:t>
              </a:r>
            </a:p>
            <a:p>
              <a:pPr algn="ctr"/>
              <a:r>
                <a:rPr lang="de-DE" sz="1400" b="0" dirty="0">
                  <a:solidFill>
                    <a:schemeClr val="accent1"/>
                  </a:solidFill>
                </a:rPr>
                <a:t>Not</a:t>
              </a:r>
            </a:p>
            <a:p>
              <a:pPr algn="ctr"/>
              <a:r>
                <a:rPr lang="de-DE" sz="1400" b="0" dirty="0">
                  <a:solidFill>
                    <a:schemeClr val="accent1"/>
                  </a:solidFill>
                </a:rPr>
                <a:t>Assessed</a:t>
              </a:r>
            </a:p>
          </p:txBody>
        </p:sp>
        <p:sp>
          <p:nvSpPr>
            <p:cNvPr id="109" name="RQ-009"/>
            <p:cNvSpPr/>
            <p:nvPr/>
          </p:nvSpPr>
          <p:spPr>
            <a:xfrm>
              <a:off x="129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RQ-009</a:t>
              </a:r>
            </a:p>
            <a:p>
              <a:pPr algn="ctr"/>
              <a:r>
                <a:rPr lang="de-DE" sz="1400" b="0" dirty="0">
                  <a:solidFill>
                    <a:schemeClr val="accent1"/>
                  </a:solidFill>
                </a:rPr>
                <a:t>Not</a:t>
              </a:r>
            </a:p>
            <a:p>
              <a:pPr algn="ctr"/>
              <a:r>
                <a:rPr lang="de-DE" sz="1400" b="0" dirty="0">
                  <a:solidFill>
                    <a:schemeClr val="accent1"/>
                  </a:solidFill>
                </a:rPr>
                <a:t>Assessed</a:t>
              </a:r>
            </a:p>
          </p:txBody>
        </p:sp>
        <p:sp>
          <p:nvSpPr>
            <p:cNvPr id="110" name="RQ-010"/>
            <p:cNvSpPr/>
            <p:nvPr/>
          </p:nvSpPr>
          <p:spPr>
            <a:xfrm>
              <a:off x="221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RQ-010</a:t>
              </a:r>
            </a:p>
            <a:p>
              <a:pPr algn="ctr"/>
              <a:r>
                <a:rPr lang="de-DE" sz="1400" b="0" dirty="0">
                  <a:solidFill>
                    <a:schemeClr val="accent1"/>
                  </a:solidFill>
                </a:rPr>
                <a:t>Not</a:t>
              </a:r>
            </a:p>
            <a:p>
              <a:pPr algn="ctr"/>
              <a:r>
                <a:rPr lang="de-DE" sz="1400" b="0" dirty="0">
                  <a:solidFill>
                    <a:schemeClr val="accent1"/>
                  </a:solidFill>
                </a:rPr>
                <a:t>Assessed</a:t>
              </a:r>
            </a:p>
          </p:txBody>
        </p:sp>
        <p:sp>
          <p:nvSpPr>
            <p:cNvPr id="111" name="RQ-011"/>
            <p:cNvSpPr/>
            <p:nvPr/>
          </p:nvSpPr>
          <p:spPr>
            <a:xfrm>
              <a:off x="313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RQ-011</a:t>
              </a:r>
            </a:p>
            <a:p>
              <a:pPr algn="ctr"/>
              <a:r>
                <a:rPr lang="de-DE" sz="1400" b="0" dirty="0">
                  <a:solidFill>
                    <a:schemeClr val="accent1"/>
                  </a:solidFill>
                </a:rPr>
                <a:t>Not</a:t>
              </a:r>
            </a:p>
            <a:p>
              <a:pPr algn="ctr"/>
              <a:r>
                <a:rPr lang="de-DE" sz="1400" b="0" dirty="0">
                  <a:solidFill>
                    <a:schemeClr val="accent1"/>
                  </a:solidFill>
                </a:rPr>
                <a:t>Assessed</a:t>
              </a:r>
            </a:p>
          </p:txBody>
        </p:sp>
        <p:sp>
          <p:nvSpPr>
            <p:cNvPr id="113" name="RQ-013"/>
            <p:cNvSpPr/>
            <p:nvPr/>
          </p:nvSpPr>
          <p:spPr>
            <a:xfrm>
              <a:off x="497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RQ-013</a:t>
              </a:r>
            </a:p>
            <a:p>
              <a:pPr algn="ctr"/>
              <a:r>
                <a:rPr lang="de-DE" sz="1400" b="0" dirty="0">
                  <a:solidFill>
                    <a:schemeClr val="accent1"/>
                  </a:solidFill>
                </a:rPr>
                <a:t>Not</a:t>
              </a:r>
            </a:p>
            <a:p>
              <a:pPr algn="ctr"/>
              <a:r>
                <a:rPr lang="de-DE" sz="1400" b="0" dirty="0">
                  <a:solidFill>
                    <a:schemeClr val="accent1"/>
                  </a:solidFill>
                </a:rPr>
                <a:t>Assessed</a:t>
              </a:r>
            </a:p>
          </p:txBody>
        </p:sp>
        <p:sp>
          <p:nvSpPr>
            <p:cNvPr id="114" name="RQ-014"/>
            <p:cNvSpPr/>
            <p:nvPr/>
          </p:nvSpPr>
          <p:spPr>
            <a:xfrm>
              <a:off x="5893063" y="2870000"/>
              <a:ext cx="900000" cy="900000"/>
            </a:xfrm>
            <a:prstGeom prst="rect">
              <a:avLst/>
            </a:prstGeom>
            <a:solidFill>
              <a:schemeClr val="accent4"/>
            </a:solidFill>
            <a:ln>
              <a:noFill/>
            </a:ln>
          </p:spPr>
          <p:txBody>
            <a:bodyPr wrap="square" lIns="18288" tIns="27432" rIns="18288" bIns="27432" anchor="ctr">
              <a:noAutofit/>
            </a:bodyPr>
            <a:lstStyle/>
            <a:p>
              <a:pPr algn="ctr"/>
              <a:r>
                <a:rPr lang="de-DE" sz="1400" b="1" dirty="0">
                  <a:solidFill>
                    <a:schemeClr val="accent1"/>
                  </a:solidFill>
                </a:rPr>
                <a:t>RQ-014</a:t>
              </a:r>
            </a:p>
            <a:p>
              <a:pPr algn="ctr"/>
              <a:r>
                <a:rPr lang="de-DE" sz="1400" b="0" dirty="0">
                  <a:solidFill>
                    <a:schemeClr val="accent1"/>
                  </a:solidFill>
                </a:rPr>
                <a:t>Not</a:t>
              </a:r>
            </a:p>
            <a:p>
              <a:pPr algn="ctr"/>
              <a:r>
                <a:rPr lang="de-DE" sz="1400" b="0" dirty="0">
                  <a:solidFill>
                    <a:schemeClr val="accent1"/>
                  </a:solidFill>
                </a:rPr>
                <a:t>Assessed</a:t>
              </a:r>
            </a:p>
          </p:txBody>
        </p:sp>
      </p:grpSp>
      <p:grpSp>
        <p:nvGrpSpPr>
          <p:cNvPr id="20" name="Rote Kacheln"/>
          <p:cNvGrpSpPr/>
          <p:nvPr/>
        </p:nvGrpSpPr>
        <p:grpSpPr>
          <a:xfrm>
            <a:off x="373063" y="1950000"/>
            <a:ext cx="6420000" cy="1820000"/>
            <a:chOff x="373063" y="1950000"/>
            <a:chExt cx="6420000" cy="1820000"/>
          </a:xfrm>
        </p:grpSpPr>
        <p:sp>
          <p:nvSpPr>
            <p:cNvPr id="103" name="RQ-003"/>
            <p:cNvSpPr/>
            <p:nvPr/>
          </p:nvSpPr>
          <p:spPr>
            <a:xfrm>
              <a:off x="2213063" y="1950000"/>
              <a:ext cx="900000" cy="900000"/>
            </a:xfrm>
            <a:prstGeom prst="rect">
              <a:avLst/>
            </a:prstGeom>
            <a:solidFill>
              <a:srgbClr val="C62828"/>
            </a:solidFill>
            <a:ln>
              <a:noFill/>
            </a:ln>
          </p:spPr>
          <p:txBody>
            <a:bodyPr wrap="square" lIns="18288" tIns="27432" rIns="18288" bIns="27432" anchor="ctr">
              <a:noAutofit/>
            </a:bodyPr>
            <a:lstStyle/>
            <a:p>
              <a:pPr algn="ctr"/>
              <a:r>
                <a:rPr lang="de-DE" sz="1400" b="1" dirty="0">
                  <a:solidFill>
                    <a:srgbClr val="FFFFFF"/>
                  </a:solidFill>
                </a:rPr>
                <a:t>RQ-003</a:t>
              </a:r>
            </a:p>
            <a:p>
              <a:pPr algn="ctr"/>
              <a:r>
                <a:rPr lang="de-DE" sz="1400" b="1" dirty="0">
                  <a:solidFill>
                    <a:srgbClr val="FFFFFF"/>
                  </a:solidFill>
                </a:rPr>
                <a:t>Fail</a:t>
              </a:r>
            </a:p>
          </p:txBody>
        </p:sp>
        <p:sp>
          <p:nvSpPr>
            <p:cNvPr id="112" name="RQ-012"/>
            <p:cNvSpPr/>
            <p:nvPr/>
          </p:nvSpPr>
          <p:spPr>
            <a:xfrm>
              <a:off x="4053063" y="2870000"/>
              <a:ext cx="900000" cy="900000"/>
            </a:xfrm>
            <a:prstGeom prst="rect">
              <a:avLst/>
            </a:prstGeom>
            <a:solidFill>
              <a:srgbClr val="C62828"/>
            </a:solidFill>
            <a:ln>
              <a:noFill/>
            </a:ln>
          </p:spPr>
          <p:txBody>
            <a:bodyPr wrap="square" lIns="18288" tIns="27432" rIns="18288" bIns="27432" anchor="ctr">
              <a:noAutofit/>
            </a:bodyPr>
            <a:lstStyle/>
            <a:p>
              <a:pPr algn="ctr"/>
              <a:r>
                <a:rPr lang="de-DE" sz="1400" b="1" dirty="0">
                  <a:solidFill>
                    <a:srgbClr val="FFFFFF"/>
                  </a:solidFill>
                </a:rPr>
                <a:t>RQ-012</a:t>
              </a:r>
            </a:p>
            <a:p>
              <a:pPr algn="ctr"/>
              <a:r>
                <a:rPr lang="de-DE" sz="1400" b="1" dirty="0">
                  <a:solidFill>
                    <a:srgbClr val="FFFFFF"/>
                  </a:solidFill>
                </a:rPr>
                <a:t>Fail</a:t>
              </a:r>
            </a:p>
          </p:txBody>
        </p:sp>
      </p:grpSp>
      <p:sp>
        <p:nvSpPr>
          <p:cNvPr id="30" name="Ueberschrift"/>
          <p:cNvSpPr/>
          <p:nvPr/>
        </p:nvSpPr>
        <p:spPr>
          <a:xfrm>
            <a:off x="7000000" y="1400000"/>
            <a:ext cx="4700000" cy="500000"/>
          </a:xfrm>
          <a:prstGeom prst="rect">
            <a:avLst/>
          </a:prstGeom>
          <a:noFill/>
          <a:ln>
            <a:noFill/>
          </a:ln>
        </p:spPr>
        <p:txBody>
          <a:bodyPr wrap="square" lIns="91440" tIns="27432" rIns="91440" bIns="27432" anchor="ctr">
            <a:noAutofit/>
          </a:bodyPr>
          <a:lstStyle/>
          <a:p>
            <a:pPr algn="l"/>
            <a:r>
              <a:rPr lang="de-DE" sz="1800" b="1" dirty="0">
                <a:solidFill>
                  <a:schemeClr val="accent5"/>
                </a:solidFill>
              </a:rPr>
              <a:t>Gründe für Not Assessed</a:t>
            </a:r>
          </a:p>
        </p:txBody>
      </p:sp>
      <p:grpSp>
        <p:nvGrpSpPr>
          <p:cNvPr id="40" name="Zeile 1"/>
          <p:cNvGrpSpPr/>
          <p:nvPr/>
        </p:nvGrpSpPr>
        <p:grpSpPr>
          <a:xfrm>
            <a:off x="7000000" y="2100000"/>
            <a:ext cx="4700000" cy="520000"/>
            <a:chOff x="7000000" y="2100000"/>
            <a:chExt cx="4700000" cy="520000"/>
          </a:xfrm>
        </p:grpSpPr>
        <p:sp>
          <p:nvSpPr>
            <p:cNvPr id="41" name="Symbol"/>
            <p:cNvSpPr/>
            <p:nvPr/>
          </p:nvSpPr>
          <p:spPr>
            <a:xfrm>
              <a:off x="7000000" y="2180000"/>
              <a:ext cx="360000" cy="360000"/>
            </a:xfrm>
            <a:prstGeom prst="ellipse">
              <a:avLst/>
            </a:prstGeom>
            <a:solidFill>
              <a:schemeClr val="accent5"/>
            </a:solidFill>
            <a:ln>
              <a:noFill/>
            </a:ln>
          </p:spPr>
          <p:txBody>
            <a:bodyPr/>
            <a:lstStyle/>
            <a:p>
              <a:endParaRPr lang="de-DE"/>
            </a:p>
          </p:txBody>
        </p:sp>
        <p:sp>
          <p:nvSpPr>
            <p:cNvPr id="42" name="Zeile"/>
            <p:cNvSpPr/>
            <p:nvPr/>
          </p:nvSpPr>
          <p:spPr>
            <a:xfrm>
              <a:off x="7480000" y="2100000"/>
              <a:ext cx="4220000" cy="520000"/>
            </a:xfrm>
            <a:prstGeom prst="rect">
              <a:avLst/>
            </a:prstGeom>
            <a:noFill/>
            <a:ln>
              <a:noFill/>
            </a:ln>
          </p:spPr>
          <p:txBody>
            <a:bodyPr wrap="square" lIns="91440" tIns="27432" rIns="91440" bIns="27432" anchor="ctr">
              <a:noAutofit/>
            </a:bodyPr>
            <a:lstStyle/>
            <a:p>
              <a:pPr algn="l"/>
              <a:r>
                <a:rPr lang="de-DE" sz="1600" b="0" dirty="0">
                  <a:solidFill>
                    <a:schemeClr val="accent1"/>
                  </a:solidFill>
                </a:rPr>
                <a:t>Messpunkt NV2 erforderlich</a:t>
              </a:r>
            </a:p>
          </p:txBody>
        </p:sp>
      </p:grpSp>
      <p:grpSp>
        <p:nvGrpSpPr>
          <p:cNvPr id="50" name="Zeile 2"/>
          <p:cNvGrpSpPr/>
          <p:nvPr/>
        </p:nvGrpSpPr>
        <p:grpSpPr>
          <a:xfrm>
            <a:off x="7000000" y="2820000"/>
            <a:ext cx="4700000" cy="520000"/>
            <a:chOff x="7000000" y="2820000"/>
            <a:chExt cx="4700000" cy="520000"/>
          </a:xfrm>
        </p:grpSpPr>
        <p:sp>
          <p:nvSpPr>
            <p:cNvPr id="51" name="Symbol"/>
            <p:cNvSpPr/>
            <p:nvPr/>
          </p:nvSpPr>
          <p:spPr>
            <a:xfrm>
              <a:off x="7000000" y="2900000"/>
              <a:ext cx="360000" cy="360000"/>
            </a:xfrm>
            <a:prstGeom prst="ellipse">
              <a:avLst/>
            </a:prstGeom>
            <a:solidFill>
              <a:schemeClr val="accent5"/>
            </a:solidFill>
            <a:ln>
              <a:noFill/>
            </a:ln>
          </p:spPr>
          <p:txBody>
            <a:bodyPr/>
            <a:lstStyle/>
            <a:p>
              <a:endParaRPr lang="de-DE"/>
            </a:p>
          </p:txBody>
        </p:sp>
        <p:sp>
          <p:nvSpPr>
            <p:cNvPr id="52" name="Zeile"/>
            <p:cNvSpPr/>
            <p:nvPr/>
          </p:nvSpPr>
          <p:spPr>
            <a:xfrm>
              <a:off x="7480000" y="2820000"/>
              <a:ext cx="4220000" cy="520000"/>
            </a:xfrm>
            <a:prstGeom prst="rect">
              <a:avLst/>
            </a:prstGeom>
            <a:noFill/>
            <a:ln>
              <a:noFill/>
            </a:ln>
          </p:spPr>
          <p:txBody>
            <a:bodyPr wrap="square" lIns="91440" tIns="27432" rIns="91440" bIns="27432" anchor="ctr">
              <a:noAutofit/>
            </a:bodyPr>
            <a:lstStyle/>
            <a:p>
              <a:pPr algn="l"/>
              <a:r>
                <a:rPr lang="de-DE" sz="1600" b="0" dirty="0">
                  <a:solidFill>
                    <a:schemeClr val="accent1"/>
                  </a:solidFill>
                </a:rPr>
                <a:t>Messpunkt NV3 erforderlich</a:t>
              </a:r>
            </a:p>
          </p:txBody>
        </p:sp>
      </p:grpSp>
      <p:grpSp>
        <p:nvGrpSpPr>
          <p:cNvPr id="60" name="Zeilen 3 und 4"/>
          <p:cNvGrpSpPr/>
          <p:nvPr/>
        </p:nvGrpSpPr>
        <p:grpSpPr>
          <a:xfrm>
            <a:off x="7000000" y="3540000"/>
            <a:ext cx="4700000" cy="1240000"/>
            <a:chOff x="7000000" y="3540000"/>
            <a:chExt cx="4700000" cy="1240000"/>
          </a:xfrm>
        </p:grpSpPr>
        <p:sp>
          <p:nvSpPr>
            <p:cNvPr id="61" name="Symbol"/>
            <p:cNvSpPr/>
            <p:nvPr/>
          </p:nvSpPr>
          <p:spPr>
            <a:xfrm>
              <a:off x="7000000" y="3620000"/>
              <a:ext cx="360000" cy="360000"/>
            </a:xfrm>
            <a:prstGeom prst="ellipse">
              <a:avLst/>
            </a:prstGeom>
            <a:solidFill>
              <a:schemeClr val="accent5"/>
            </a:solidFill>
            <a:ln>
              <a:noFill/>
            </a:ln>
          </p:spPr>
          <p:txBody>
            <a:bodyPr/>
            <a:lstStyle/>
            <a:p>
              <a:endParaRPr lang="de-DE"/>
            </a:p>
          </p:txBody>
        </p:sp>
        <p:sp>
          <p:nvSpPr>
            <p:cNvPr id="62" name="Zeile"/>
            <p:cNvSpPr/>
            <p:nvPr/>
          </p:nvSpPr>
          <p:spPr>
            <a:xfrm>
              <a:off x="7480000" y="3540000"/>
              <a:ext cx="4220000" cy="520000"/>
            </a:xfrm>
            <a:prstGeom prst="rect">
              <a:avLst/>
            </a:prstGeom>
            <a:noFill/>
            <a:ln>
              <a:noFill/>
            </a:ln>
          </p:spPr>
          <p:txBody>
            <a:bodyPr wrap="square" lIns="91440" tIns="27432" rIns="91440" bIns="27432" anchor="ctr">
              <a:noAutofit/>
            </a:bodyPr>
            <a:lstStyle/>
            <a:p>
              <a:pPr algn="l"/>
              <a:r>
                <a:rPr lang="de-DE" sz="1600" b="0" dirty="0">
                  <a:solidFill>
                    <a:schemeClr val="accent1"/>
                  </a:solidFill>
                </a:rPr>
                <a:t>Induziertes Software- oder Konfigurationsereignis fehlt</a:t>
              </a:r>
            </a:p>
          </p:txBody>
        </p:sp>
        <p:sp>
          <p:nvSpPr>
            <p:cNvPr id="63" name="Symbol"/>
            <p:cNvSpPr/>
            <p:nvPr/>
          </p:nvSpPr>
          <p:spPr>
            <a:xfrm>
              <a:off x="7000000" y="4340000"/>
              <a:ext cx="360000" cy="360000"/>
            </a:xfrm>
            <a:prstGeom prst="ellipse">
              <a:avLst/>
            </a:prstGeom>
            <a:solidFill>
              <a:schemeClr val="accent5"/>
            </a:solidFill>
            <a:ln>
              <a:noFill/>
            </a:ln>
          </p:spPr>
          <p:txBody>
            <a:bodyPr/>
            <a:lstStyle/>
            <a:p>
              <a:endParaRPr lang="de-DE"/>
            </a:p>
          </p:txBody>
        </p:sp>
        <p:sp>
          <p:nvSpPr>
            <p:cNvPr id="64" name="Zeile"/>
            <p:cNvSpPr/>
            <p:nvPr/>
          </p:nvSpPr>
          <p:spPr>
            <a:xfrm>
              <a:off x="7480000" y="4260000"/>
              <a:ext cx="4220000" cy="520000"/>
            </a:xfrm>
            <a:prstGeom prst="rect">
              <a:avLst/>
            </a:prstGeom>
            <a:noFill/>
            <a:ln>
              <a:noFill/>
            </a:ln>
          </p:spPr>
          <p:txBody>
            <a:bodyPr wrap="square" lIns="91440" tIns="27432" rIns="91440" bIns="27432" anchor="ctr">
              <a:noAutofit/>
            </a:bodyPr>
            <a:lstStyle/>
            <a:p>
              <a:pPr algn="l"/>
              <a:r>
                <a:rPr lang="de-DE" sz="1600" b="0" dirty="0">
                  <a:solidFill>
                    <a:schemeClr val="accent1"/>
                  </a:solidFill>
                </a:rPr>
                <a:t>Engineering-Tool erforderlich</a:t>
              </a:r>
            </a:p>
          </p:txBody>
        </p:sp>
      </p:grpSp>
      <p:sp>
        <p:nvSpPr>
          <p:cNvPr id="70" name="Aussagebalken"/>
          <p:cNvSpPr/>
          <p:nvPr/>
        </p:nvSpPr>
        <p:spPr>
          <a:xfrm>
            <a:off x="0" y="5330000"/>
            <a:ext cx="12192000" cy="800000"/>
          </a:xfrm>
          <a:prstGeom prst="rect">
            <a:avLst/>
          </a:prstGeom>
          <a:solidFill>
            <a:schemeClr val="accent1"/>
          </a:solidFill>
          <a:ln>
            <a:noFill/>
          </a:ln>
        </p:spPr>
        <p:txBody>
          <a:bodyPr wrap="square" lIns="182880" tIns="27432" rIns="182880" bIns="27432" anchor="ctr">
            <a:noAutofit/>
          </a:bodyPr>
          <a:lstStyle/>
          <a:p>
            <a:pPr algn="ctr"/>
            <a:r>
              <a:rPr lang="de-DE" sz="1800" b="1" dirty="0">
                <a:solidFill>
                  <a:srgbClr val="FFFFFF"/>
                </a:solidFill>
              </a:rPr>
              <a:t>Kein Sicherheitsdefizit, sondern eine bewusst begrenzte Nachweisreichweite.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par>
                          <p:cTn id="13" fill="hold">
                            <p:stCondLst>
                              <p:cond delay="0"/>
                            </p:stCondLst>
                            <p:childTnLst>
                              <p:par>
                                <p:cTn id="14" presetID="1" presetClass="emph" presetSubtype="0" fill="hold" nodeType="afterEffect">
                                  <p:stCondLst>
                                    <p:cond delay="0"/>
                                  </p:stCondLst>
                                  <p:childTnLst>
                                    <p:anim calcmode="lin" valueType="num">
                                      <p:cBhvr>
                                        <p:cTn id="15" dur="500" autoRev="1" fill="hold"/>
                                        <p:tgtEl>
                                          <p:spTgt spid="20"/>
                                        </p:tgtEl>
                                        <p:attrNameLst>
                                          <p:attrName>style.opacity</p:attrName>
                                        </p:attrNameLst>
                                      </p:cBhvr>
                                      <p:tavLst>
                                        <p:tav tm="0">
                                          <p:val>
                                            <p:fltVal val="1"/>
                                          </p:val>
                                        </p:tav>
                                        <p:tav tm="100000">
                                          <p:val>
                                            <p:fltVal val="0.3"/>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P spid="7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Safe State ist nicht gleich Security</a:t>
            </a:r>
          </a:p>
        </p:txBody>
      </p:sp>
      <p:grpSp>
        <p:nvGrpSpPr>
          <p:cNvPr id="10" name="Functional Safety"/>
          <p:cNvGrpSpPr/>
          <p:nvPr/>
        </p:nvGrpSpPr>
        <p:grpSpPr>
          <a:xfrm>
            <a:off x="1450000" y="1200000"/>
            <a:ext cx="3150000" cy="3150000"/>
            <a:chOff x="1450000" y="1200000"/>
            <a:chExt cx="3150000" cy="3150000"/>
          </a:xfrm>
        </p:grpSpPr>
        <p:sp>
          <p:nvSpPr>
            <p:cNvPr id="11" name="Kreis"/>
            <p:cNvSpPr/>
            <p:nvPr/>
          </p:nvSpPr>
          <p:spPr>
            <a:xfrm>
              <a:off x="1450000" y="1200000"/>
              <a:ext cx="3150000" cy="3150000"/>
            </a:xfrm>
            <a:prstGeom prst="ellipse">
              <a:avLst/>
            </a:prstGeom>
            <a:solidFill>
              <a:schemeClr val="accent4"/>
            </a:solidFill>
            <a:ln>
              <a:noFill/>
            </a:ln>
          </p:spPr>
          <p:txBody>
            <a:bodyPr/>
            <a:lstStyle/>
            <a:p>
              <a:endParaRPr lang="de-DE"/>
            </a:p>
          </p:txBody>
        </p:sp>
        <p:sp>
          <p:nvSpPr>
            <p:cNvPr id="12" name="Kreistext"/>
            <p:cNvSpPr/>
            <p:nvPr/>
          </p:nvSpPr>
          <p:spPr>
            <a:xfrm>
              <a:off x="1830000" y="2000000"/>
              <a:ext cx="2390000" cy="1550000"/>
            </a:xfrm>
            <a:prstGeom prst="rect">
              <a:avLst/>
            </a:prstGeom>
            <a:noFill/>
            <a:ln>
              <a:noFill/>
            </a:ln>
          </p:spPr>
          <p:txBody>
            <a:bodyPr wrap="square" lIns="91440" tIns="45720" rIns="91440" bIns="45720" anchor="ctr">
              <a:noAutofit/>
            </a:bodyPr>
            <a:lstStyle/>
            <a:p>
              <a:pPr algn="ctr"/>
              <a:r>
                <a:rPr lang="de-DE" sz="2000" b="1" dirty="0">
                  <a:solidFill>
                    <a:schemeClr val="accent1"/>
                  </a:solidFill>
                </a:rPr>
                <a:t>Functional Safety</a:t>
              </a:r>
            </a:p>
            <a:p>
              <a:pPr algn="ctr"/>
              <a:r>
                <a:rPr lang="de-DE" sz="900" b="0" dirty="0">
                  <a:solidFill>
                    <a:schemeClr val="accent1"/>
                  </a:solidFill>
                </a:rPr>
                <a:t> </a:t>
              </a:r>
            </a:p>
            <a:p>
              <a:pPr algn="ctr"/>
              <a:r>
                <a:rPr lang="de-DE" sz="1400" b="0" dirty="0">
                  <a:solidFill>
                    <a:schemeClr val="accent1"/>
                  </a:solidFill>
                </a:rPr>
                <a:t>Definierter sicherer Zustand nach einem Fehler</a:t>
              </a:r>
            </a:p>
            <a:p>
              <a:pPr algn="ctr"/>
              <a:r>
                <a:rPr lang="de-DE" sz="1400" b="0" dirty="0">
                  <a:solidFill>
                    <a:schemeClr val="accent1"/>
                  </a:solidFill>
                </a:rPr>
                <a:t>Zufälliger Fehler als Annahme</a:t>
              </a:r>
            </a:p>
          </p:txBody>
        </p:sp>
      </p:grpSp>
      <p:grpSp>
        <p:nvGrpSpPr>
          <p:cNvPr id="20" name="Cybersecurity"/>
          <p:cNvGrpSpPr/>
          <p:nvPr/>
        </p:nvGrpSpPr>
        <p:grpSpPr>
          <a:xfrm>
            <a:off x="7592000" y="1200000"/>
            <a:ext cx="3150000" cy="3150000"/>
            <a:chOff x="7592000" y="1200000"/>
            <a:chExt cx="3150000" cy="3150000"/>
          </a:xfrm>
        </p:grpSpPr>
        <p:sp>
          <p:nvSpPr>
            <p:cNvPr id="21" name="Kreis"/>
            <p:cNvSpPr/>
            <p:nvPr/>
          </p:nvSpPr>
          <p:spPr>
            <a:xfrm>
              <a:off x="7592000" y="1200000"/>
              <a:ext cx="3150000" cy="3150000"/>
            </a:xfrm>
            <a:prstGeom prst="ellipse">
              <a:avLst/>
            </a:prstGeom>
            <a:solidFill>
              <a:schemeClr val="accent5"/>
            </a:solidFill>
            <a:ln>
              <a:noFill/>
            </a:ln>
          </p:spPr>
          <p:txBody>
            <a:bodyPr/>
            <a:lstStyle/>
            <a:p>
              <a:endParaRPr lang="de-DE"/>
            </a:p>
          </p:txBody>
        </p:sp>
        <p:sp>
          <p:nvSpPr>
            <p:cNvPr id="22" name="Kreistext"/>
            <p:cNvSpPr/>
            <p:nvPr/>
          </p:nvSpPr>
          <p:spPr>
            <a:xfrm>
              <a:off x="7972000" y="2000000"/>
              <a:ext cx="2390000" cy="1550000"/>
            </a:xfrm>
            <a:prstGeom prst="rect">
              <a:avLst/>
            </a:prstGeom>
            <a:noFill/>
            <a:ln>
              <a:noFill/>
            </a:ln>
          </p:spPr>
          <p:txBody>
            <a:bodyPr wrap="square" lIns="91440" tIns="45720" rIns="91440" bIns="45720" anchor="ctr">
              <a:noAutofit/>
            </a:bodyPr>
            <a:lstStyle/>
            <a:p>
              <a:pPr algn="ctr"/>
              <a:r>
                <a:rPr lang="de-DE" sz="2000" b="1" dirty="0">
                  <a:solidFill>
                    <a:srgbClr val="FFFFFF"/>
                  </a:solidFill>
                </a:rPr>
                <a:t>Cybersecurity</a:t>
              </a:r>
            </a:p>
            <a:p>
              <a:pPr algn="ctr"/>
              <a:r>
                <a:rPr lang="de-DE" sz="900" b="0" dirty="0">
                  <a:solidFill>
                    <a:srgbClr val="FFFFFF"/>
                  </a:solidFill>
                </a:rPr>
                <a:t> </a:t>
              </a:r>
            </a:p>
            <a:p>
              <a:pPr algn="ctr"/>
              <a:r>
                <a:rPr lang="de-DE" sz="1400" b="0" dirty="0">
                  <a:solidFill>
                    <a:srgbClr val="FFFFFF"/>
                  </a:solidFill>
                </a:rPr>
                <a:t>Zurechenbarkeit, Integrität, Nachvollziehbarkeit</a:t>
              </a:r>
            </a:p>
            <a:p>
              <a:pPr algn="ctr"/>
              <a:r>
                <a:rPr lang="de-DE" sz="1400" b="0" dirty="0">
                  <a:solidFill>
                    <a:srgbClr val="FFFFFF"/>
                  </a:solidFill>
                </a:rPr>
                <a:t>Vorsätzlicher Angreifer als Annahme</a:t>
              </a:r>
            </a:p>
          </p:txBody>
        </p:sp>
      </p:grpSp>
      <p:grpSp>
        <p:nvGrpSpPr>
          <p:cNvPr id="30" name="Ungleich"/>
          <p:cNvGrpSpPr/>
          <p:nvPr/>
        </p:nvGrpSpPr>
        <p:grpSpPr>
          <a:xfrm>
            <a:off x="5496000" y="2275000"/>
            <a:ext cx="1200000" cy="1160000"/>
            <a:chOff x="5496000" y="2275000"/>
            <a:chExt cx="1200000" cy="1160000"/>
          </a:xfrm>
        </p:grpSpPr>
        <p:sp>
          <p:nvSpPr>
            <p:cNvPr id="31" name="Balken oben"/>
            <p:cNvSpPr/>
            <p:nvPr/>
          </p:nvSpPr>
          <p:spPr>
            <a:xfrm>
              <a:off x="5646000" y="2595000"/>
              <a:ext cx="900000" cy="130000"/>
            </a:xfrm>
            <a:prstGeom prst="rect">
              <a:avLst/>
            </a:prstGeom>
            <a:solidFill>
              <a:schemeClr val="accent1"/>
            </a:solidFill>
            <a:ln>
              <a:noFill/>
            </a:ln>
          </p:spPr>
          <p:txBody>
            <a:bodyPr/>
            <a:lstStyle/>
            <a:p>
              <a:endParaRPr lang="de-DE"/>
            </a:p>
          </p:txBody>
        </p:sp>
        <p:sp>
          <p:nvSpPr>
            <p:cNvPr id="32" name="Balken unten"/>
            <p:cNvSpPr/>
            <p:nvPr/>
          </p:nvSpPr>
          <p:spPr>
            <a:xfrm>
              <a:off x="5646000" y="2885000"/>
              <a:ext cx="900000" cy="130000"/>
            </a:xfrm>
            <a:prstGeom prst="rect">
              <a:avLst/>
            </a:prstGeom>
            <a:solidFill>
              <a:schemeClr val="accent1"/>
            </a:solidFill>
            <a:ln>
              <a:noFill/>
            </a:ln>
          </p:spPr>
          <p:txBody>
            <a:bodyPr/>
            <a:lstStyle/>
            <a:p>
              <a:endParaRPr lang="de-DE"/>
            </a:p>
          </p:txBody>
        </p:sp>
        <p:sp>
          <p:nvSpPr>
            <p:cNvPr id="33" name="Durchstrich"/>
            <p:cNvSpPr/>
            <p:nvPr/>
          </p:nvSpPr>
          <p:spPr>
            <a:xfrm rot="1500000">
              <a:off x="6026000" y="2355000"/>
              <a:ext cx="140000" cy="1000000"/>
            </a:xfrm>
            <a:prstGeom prst="rect">
              <a:avLst/>
            </a:prstGeom>
            <a:solidFill>
              <a:schemeClr val="accent1"/>
            </a:solidFill>
            <a:ln>
              <a:noFill/>
            </a:ln>
          </p:spPr>
          <p:txBody>
            <a:bodyPr/>
            <a:lstStyle/>
            <a:p>
              <a:endParaRPr lang="de-DE"/>
            </a:p>
          </p:txBody>
        </p:sp>
      </p:grpSp>
      <p:sp>
        <p:nvSpPr>
          <p:cNvPr id="40" name="Merksatzbalken"/>
          <p:cNvSpPr/>
          <p:nvPr/>
        </p:nvSpPr>
        <p:spPr>
          <a:xfrm>
            <a:off x="0" y="4800000"/>
            <a:ext cx="12192000" cy="900000"/>
          </a:xfrm>
          <a:prstGeom prst="rect">
            <a:avLst/>
          </a:prstGeom>
          <a:solidFill>
            <a:schemeClr val="accent5"/>
          </a:solidFill>
          <a:ln>
            <a:noFill/>
          </a:ln>
        </p:spPr>
        <p:txBody>
          <a:bodyPr wrap="square" lIns="182880" tIns="45720" rIns="182880" bIns="45720" anchor="ctr">
            <a:noAutofit/>
          </a:bodyPr>
          <a:lstStyle/>
          <a:p>
            <a:pPr algn="ctr"/>
            <a:r>
              <a:rPr lang="de-DE" sz="1800" b="1" dirty="0">
                <a:solidFill>
                  <a:srgbClr val="FFFFFF"/>
                </a:solidFill>
              </a:rPr>
              <a:t>Beide Eigenschaften sind trennbar und erfordern eine unabhängige Verifikation.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lstStyle/>
          <a:p>
            <a:r>
              <a:rPr lang="de-DE" dirty="0"/>
              <a:t>Ausblick</a:t>
            </a:r>
          </a:p>
        </p:txBody>
      </p:sp>
      <p:grpSp>
        <p:nvGrpSpPr>
          <p:cNvPr id="10" name="Kachel 1"/>
          <p:cNvGrpSpPr/>
          <p:nvPr/>
        </p:nvGrpSpPr>
        <p:grpSpPr>
          <a:xfrm>
            <a:off x="373063" y="1250000"/>
            <a:ext cx="2711468" cy="3450000"/>
            <a:chOff x="373063" y="1250000"/>
            <a:chExt cx="2711468" cy="3450000"/>
          </a:xfrm>
        </p:grpSpPr>
        <p:sp>
          <p:nvSpPr>
            <p:cNvPr id="100" name="Kachel"/>
            <p:cNvSpPr/>
            <p:nvPr/>
          </p:nvSpPr>
          <p:spPr>
            <a:xfrm>
              <a:off x="373063" y="1250000"/>
              <a:ext cx="2711468" cy="3450000"/>
            </a:xfrm>
            <a:prstGeom prst="rect">
              <a:avLst/>
            </a:prstGeom>
            <a:solidFill>
              <a:schemeClr val="accent5"/>
            </a:solidFill>
            <a:ln>
              <a:noFill/>
            </a:ln>
          </p:spPr>
          <p:txBody>
            <a:bodyPr/>
            <a:lstStyle/>
            <a:p>
              <a:endParaRPr lang="de-DE"/>
            </a:p>
          </p:txBody>
        </p:sp>
        <p:sp>
          <p:nvSpPr>
            <p:cNvPr id="101" name="Symbol Ring"/>
            <p:cNvSpPr/>
            <p:nvPr/>
          </p:nvSpPr>
          <p:spPr>
            <a:xfrm>
              <a:off x="1448797" y="1530000"/>
              <a:ext cx="560000" cy="560000"/>
            </a:xfrm>
            <a:prstGeom prst="donut">
              <a:avLst>
                <a:gd name="adj" fmla="val 18000"/>
              </a:avLst>
            </a:prstGeom>
            <a:solidFill>
              <a:srgbClr val="FFFFFF"/>
            </a:solidFill>
            <a:ln>
              <a:noFill/>
            </a:ln>
          </p:spPr>
          <p:txBody>
            <a:bodyPr/>
            <a:lstStyle/>
            <a:p>
              <a:endParaRPr lang="de-DE"/>
            </a:p>
          </p:txBody>
        </p:sp>
        <p:sp>
          <p:nvSpPr>
            <p:cNvPr id="102" name="Symbol Punkt"/>
            <p:cNvSpPr/>
            <p:nvPr/>
          </p:nvSpPr>
          <p:spPr>
            <a:xfrm>
              <a:off x="1618797" y="1700000"/>
              <a:ext cx="220000" cy="220000"/>
            </a:xfrm>
            <a:prstGeom prst="ellipse">
              <a:avLst/>
            </a:prstGeom>
            <a:solidFill>
              <a:srgbClr val="FFFFFF"/>
            </a:solidFill>
            <a:ln>
              <a:noFill/>
            </a:ln>
          </p:spPr>
          <p:txBody>
            <a:bodyPr/>
            <a:lstStyle/>
            <a:p>
              <a:endParaRPr lang="de-DE"/>
            </a:p>
          </p:txBody>
        </p:sp>
        <p:sp>
          <p:nvSpPr>
            <p:cNvPr id="110" name="Nummer"/>
            <p:cNvSpPr/>
            <p:nvPr/>
          </p:nvSpPr>
          <p:spPr>
            <a:xfrm>
              <a:off x="373063" y="2170000"/>
              <a:ext cx="2711468" cy="520000"/>
            </a:xfrm>
            <a:prstGeom prst="rect">
              <a:avLst/>
            </a:prstGeom>
            <a:noFill/>
            <a:ln>
              <a:noFill/>
            </a:ln>
          </p:spPr>
          <p:txBody>
            <a:bodyPr wrap="square" lIns="91440" tIns="27432" rIns="91440" bIns="27432" anchor="ctr">
              <a:noAutofit/>
            </a:bodyPr>
            <a:lstStyle/>
            <a:p>
              <a:pPr algn="ctr"/>
              <a:r>
                <a:rPr lang="de-DE" sz="3200" b="1" dirty="0">
                  <a:solidFill>
                    <a:srgbClr val="FFFFFF"/>
                  </a:solidFill>
                </a:rPr>
                <a:t>1</a:t>
              </a:r>
            </a:p>
          </p:txBody>
        </p:sp>
        <p:sp>
          <p:nvSpPr>
            <p:cNvPr id="111" name="Ueberschrift"/>
            <p:cNvSpPr/>
            <p:nvPr/>
          </p:nvSpPr>
          <p:spPr>
            <a:xfrm>
              <a:off x="373063" y="2770000"/>
              <a:ext cx="2711468" cy="480000"/>
            </a:xfrm>
            <a:prstGeom prst="rect">
              <a:avLst/>
            </a:prstGeom>
            <a:noFill/>
            <a:ln>
              <a:noFill/>
            </a:ln>
          </p:spPr>
          <p:txBody>
            <a:bodyPr wrap="square" lIns="91440" tIns="27432" rIns="91440" bIns="27432" anchor="ctr">
              <a:noAutofit/>
            </a:bodyPr>
            <a:lstStyle/>
            <a:p>
              <a:pPr algn="ctr"/>
              <a:r>
                <a:rPr lang="de-DE" sz="1800" b="1" dirty="0">
                  <a:solidFill>
                    <a:srgbClr val="FFFFFF"/>
                  </a:solidFill>
                </a:rPr>
                <a:t>NV2 realisieren</a:t>
              </a:r>
            </a:p>
          </p:txBody>
        </p:sp>
        <p:sp>
          <p:nvSpPr>
            <p:cNvPr id="112" name="Erlaeuterung"/>
            <p:cNvSpPr/>
            <p:nvPr/>
          </p:nvSpPr>
          <p:spPr>
            <a:xfrm>
              <a:off x="373063" y="3300000"/>
              <a:ext cx="2711468" cy="820000"/>
            </a:xfrm>
            <a:prstGeom prst="rect">
              <a:avLst/>
            </a:prstGeom>
            <a:noFill/>
            <a:ln>
              <a:noFill/>
            </a:ln>
          </p:spPr>
          <p:txBody>
            <a:bodyPr wrap="square" lIns="137160" tIns="27432" rIns="137160" bIns="27432" anchor="t">
              <a:noAutofit/>
            </a:bodyPr>
            <a:lstStyle/>
            <a:p>
              <a:pPr algn="ctr"/>
              <a:r>
                <a:rPr lang="de-DE" sz="1400" b="0" dirty="0">
                  <a:solidFill>
                    <a:srgbClr val="FFFFFF"/>
                  </a:solidFill>
                </a:rPr>
                <a:t>Mirror-Port oder Netzwerk-Tap</a:t>
              </a:r>
            </a:p>
          </p:txBody>
        </p:sp>
        <p:sp>
          <p:nvSpPr>
            <p:cNvPr id="113" name="Randbeschriftung"/>
            <p:cNvSpPr/>
            <p:nvPr/>
          </p:nvSpPr>
          <p:spPr>
            <a:xfrm>
              <a:off x="373063" y="4220000"/>
              <a:ext cx="2711468" cy="380000"/>
            </a:xfrm>
            <a:prstGeom prst="rect">
              <a:avLst/>
            </a:prstGeom>
            <a:noFill/>
            <a:ln>
              <a:noFill/>
            </a:ln>
          </p:spPr>
          <p:txBody>
            <a:bodyPr wrap="square" lIns="91440" tIns="27432" rIns="91440" bIns="27432" anchor="ctr">
              <a:noAutofit/>
            </a:bodyPr>
            <a:lstStyle/>
            <a:p>
              <a:pPr algn="ctr"/>
              <a:r>
                <a:rPr lang="de-DE" sz="1400" b="1" dirty="0">
                  <a:solidFill>
                    <a:srgbClr val="FFFFFF"/>
                  </a:solidFill>
                </a:rPr>
                <a:t>kurzfristig</a:t>
              </a:r>
            </a:p>
          </p:txBody>
        </p:sp>
      </p:grpSp>
      <p:grpSp>
        <p:nvGrpSpPr>
          <p:cNvPr id="20" name="Kachel 2"/>
          <p:cNvGrpSpPr/>
          <p:nvPr/>
        </p:nvGrpSpPr>
        <p:grpSpPr>
          <a:xfrm>
            <a:off x="3284531" y="1250000"/>
            <a:ext cx="2711468" cy="3450000"/>
            <a:chOff x="3284531" y="1250000"/>
            <a:chExt cx="2711468" cy="3450000"/>
          </a:xfrm>
        </p:grpSpPr>
        <p:sp>
          <p:nvSpPr>
            <p:cNvPr id="120" name="Kachel"/>
            <p:cNvSpPr/>
            <p:nvPr/>
          </p:nvSpPr>
          <p:spPr>
            <a:xfrm>
              <a:off x="3284531" y="1250000"/>
              <a:ext cx="2711468" cy="3450000"/>
            </a:xfrm>
            <a:prstGeom prst="rect">
              <a:avLst/>
            </a:prstGeom>
            <a:solidFill>
              <a:schemeClr val="accent5"/>
            </a:solidFill>
            <a:ln>
              <a:noFill/>
            </a:ln>
          </p:spPr>
          <p:txBody>
            <a:bodyPr/>
            <a:lstStyle/>
            <a:p>
              <a:endParaRPr lang="de-DE"/>
            </a:p>
          </p:txBody>
        </p:sp>
        <p:sp>
          <p:nvSpPr>
            <p:cNvPr id="121" name="Symbol Pfeil"/>
            <p:cNvSpPr/>
            <p:nvPr/>
          </p:nvSpPr>
          <p:spPr>
            <a:xfrm>
              <a:off x="4360265" y="1680000"/>
              <a:ext cx="560000" cy="260000"/>
            </a:xfrm>
            <a:prstGeom prst="leftRightArrow">
              <a:avLst>
                <a:gd name="adj1" fmla="val 50000"/>
                <a:gd name="adj2" fmla="val 40000"/>
              </a:avLst>
            </a:prstGeom>
            <a:solidFill>
              <a:srgbClr val="FFFFFF"/>
            </a:solidFill>
            <a:ln>
              <a:noFill/>
            </a:ln>
          </p:spPr>
          <p:txBody>
            <a:bodyPr/>
            <a:lstStyle/>
            <a:p>
              <a:endParaRPr lang="de-DE"/>
            </a:p>
          </p:txBody>
        </p:sp>
        <p:sp>
          <p:nvSpPr>
            <p:cNvPr id="122" name="Symbol Pfeiler links"/>
            <p:cNvSpPr/>
            <p:nvPr/>
          </p:nvSpPr>
          <p:spPr>
            <a:xfrm>
              <a:off x="4360265" y="1990000"/>
              <a:ext cx="140000" cy="180000"/>
            </a:xfrm>
            <a:prstGeom prst="rect">
              <a:avLst/>
            </a:prstGeom>
            <a:solidFill>
              <a:srgbClr val="FFFFFF"/>
            </a:solidFill>
            <a:ln>
              <a:noFill/>
            </a:ln>
          </p:spPr>
          <p:txBody>
            <a:bodyPr/>
            <a:lstStyle/>
            <a:p>
              <a:endParaRPr lang="de-DE"/>
            </a:p>
          </p:txBody>
        </p:sp>
        <p:sp>
          <p:nvSpPr>
            <p:cNvPr id="123" name="Symbol Pfeiler rechts"/>
            <p:cNvSpPr/>
            <p:nvPr/>
          </p:nvSpPr>
          <p:spPr>
            <a:xfrm>
              <a:off x="4780265" y="1990000"/>
              <a:ext cx="140000" cy="180000"/>
            </a:xfrm>
            <a:prstGeom prst="rect">
              <a:avLst/>
            </a:prstGeom>
            <a:solidFill>
              <a:srgbClr val="FFFFFF"/>
            </a:solidFill>
            <a:ln>
              <a:noFill/>
            </a:ln>
          </p:spPr>
          <p:txBody>
            <a:bodyPr/>
            <a:lstStyle/>
            <a:p>
              <a:endParaRPr lang="de-DE"/>
            </a:p>
          </p:txBody>
        </p:sp>
        <p:sp>
          <p:nvSpPr>
            <p:cNvPr id="130" name="Nummer"/>
            <p:cNvSpPr/>
            <p:nvPr/>
          </p:nvSpPr>
          <p:spPr>
            <a:xfrm>
              <a:off x="3284531" y="2170000"/>
              <a:ext cx="2711468" cy="520000"/>
            </a:xfrm>
            <a:prstGeom prst="rect">
              <a:avLst/>
            </a:prstGeom>
            <a:noFill/>
            <a:ln>
              <a:noFill/>
            </a:ln>
          </p:spPr>
          <p:txBody>
            <a:bodyPr wrap="square" lIns="91440" tIns="27432" rIns="91440" bIns="27432" anchor="ctr">
              <a:noAutofit/>
            </a:bodyPr>
            <a:lstStyle/>
            <a:p>
              <a:pPr algn="ctr"/>
              <a:r>
                <a:rPr lang="de-DE" sz="3200" b="1" dirty="0">
                  <a:solidFill>
                    <a:srgbClr val="FFFFFF"/>
                  </a:solidFill>
                </a:rPr>
                <a:t>2</a:t>
              </a:r>
            </a:p>
          </p:txBody>
        </p:sp>
        <p:sp>
          <p:nvSpPr>
            <p:cNvPr id="131" name="Ueberschrift"/>
            <p:cNvSpPr/>
            <p:nvPr/>
          </p:nvSpPr>
          <p:spPr>
            <a:xfrm>
              <a:off x="3284531" y="2770000"/>
              <a:ext cx="2711468" cy="480000"/>
            </a:xfrm>
            <a:prstGeom prst="rect">
              <a:avLst/>
            </a:prstGeom>
            <a:noFill/>
            <a:ln>
              <a:noFill/>
            </a:ln>
          </p:spPr>
          <p:txBody>
            <a:bodyPr wrap="square" lIns="91440" tIns="27432" rIns="91440" bIns="27432" anchor="ctr">
              <a:noAutofit/>
            </a:bodyPr>
            <a:lstStyle/>
            <a:p>
              <a:pPr algn="ctr"/>
              <a:r>
                <a:rPr lang="de-DE" sz="1800" b="1" dirty="0">
                  <a:solidFill>
                    <a:srgbClr val="FFFFFF"/>
                  </a:solidFill>
                </a:rPr>
                <a:t>NV3 realisieren</a:t>
              </a:r>
            </a:p>
          </p:txBody>
        </p:sp>
        <p:sp>
          <p:nvSpPr>
            <p:cNvPr id="132" name="Erlaeuterung"/>
            <p:cNvSpPr/>
            <p:nvPr/>
          </p:nvSpPr>
          <p:spPr>
            <a:xfrm>
              <a:off x="3284531" y="3300000"/>
              <a:ext cx="2711468" cy="820000"/>
            </a:xfrm>
            <a:prstGeom prst="rect">
              <a:avLst/>
            </a:prstGeom>
            <a:noFill/>
            <a:ln>
              <a:noFill/>
            </a:ln>
          </p:spPr>
          <p:txBody>
            <a:bodyPr wrap="square" lIns="137160" tIns="27432" rIns="137160" bIns="27432" anchor="t">
              <a:noAutofit/>
            </a:bodyPr>
            <a:lstStyle/>
            <a:p>
              <a:pPr algn="ctr"/>
              <a:r>
                <a:rPr lang="de-DE" sz="1400" b="0" dirty="0">
                  <a:solidFill>
                    <a:srgbClr val="FFFFFF"/>
                  </a:solidFill>
                </a:rPr>
                <a:t>Transparente Bridge</a:t>
              </a:r>
            </a:p>
          </p:txBody>
        </p:sp>
        <p:sp>
          <p:nvSpPr>
            <p:cNvPr id="133" name="Randbeschriftung"/>
            <p:cNvSpPr/>
            <p:nvPr/>
          </p:nvSpPr>
          <p:spPr>
            <a:xfrm>
              <a:off x="3284531" y="4220000"/>
              <a:ext cx="2711468" cy="380000"/>
            </a:xfrm>
            <a:prstGeom prst="rect">
              <a:avLst/>
            </a:prstGeom>
            <a:noFill/>
            <a:ln>
              <a:noFill/>
            </a:ln>
          </p:spPr>
          <p:txBody>
            <a:bodyPr wrap="square" lIns="91440" tIns="27432" rIns="91440" bIns="27432" anchor="ctr">
              <a:noAutofit/>
            </a:bodyPr>
            <a:lstStyle/>
            <a:p>
              <a:pPr algn="ctr"/>
              <a:r>
                <a:rPr lang="de-DE" sz="1400" b="1" dirty="0">
                  <a:solidFill>
                    <a:srgbClr val="FFFFFF"/>
                  </a:solidFill>
                </a:rPr>
                <a:t>kurzfristig</a:t>
              </a:r>
            </a:p>
          </p:txBody>
        </p:sp>
      </p:grpSp>
      <p:grpSp>
        <p:nvGrpSpPr>
          <p:cNvPr id="30" name="Kachel 3"/>
          <p:cNvGrpSpPr/>
          <p:nvPr/>
        </p:nvGrpSpPr>
        <p:grpSpPr>
          <a:xfrm>
            <a:off x="6195999" y="1250000"/>
            <a:ext cx="2711468" cy="3450000"/>
            <a:chOff x="6195999" y="1250000"/>
            <a:chExt cx="2711468" cy="3450000"/>
          </a:xfrm>
        </p:grpSpPr>
        <p:sp>
          <p:nvSpPr>
            <p:cNvPr id="140" name="Kachel"/>
            <p:cNvSpPr/>
            <p:nvPr/>
          </p:nvSpPr>
          <p:spPr>
            <a:xfrm>
              <a:off x="6195999" y="1250000"/>
              <a:ext cx="2711468" cy="3450000"/>
            </a:xfrm>
            <a:prstGeom prst="rect">
              <a:avLst/>
            </a:prstGeom>
            <a:solidFill>
              <a:schemeClr val="accent4"/>
            </a:solidFill>
            <a:ln>
              <a:noFill/>
            </a:ln>
          </p:spPr>
          <p:txBody>
            <a:bodyPr/>
            <a:lstStyle/>
            <a:p>
              <a:endParaRPr lang="de-DE"/>
            </a:p>
          </p:txBody>
        </p:sp>
        <p:sp>
          <p:nvSpPr>
            <p:cNvPr id="141" name="Symbol Stufe 1"/>
            <p:cNvSpPr/>
            <p:nvPr/>
          </p:nvSpPr>
          <p:spPr>
            <a:xfrm>
              <a:off x="7271733" y="1910000"/>
              <a:ext cx="100000" cy="180000"/>
            </a:xfrm>
            <a:prstGeom prst="rect">
              <a:avLst/>
            </a:prstGeom>
            <a:solidFill>
              <a:schemeClr val="accent1"/>
            </a:solidFill>
            <a:ln>
              <a:noFill/>
            </a:ln>
          </p:spPr>
          <p:txBody>
            <a:bodyPr/>
            <a:lstStyle/>
            <a:p>
              <a:endParaRPr lang="de-DE"/>
            </a:p>
          </p:txBody>
        </p:sp>
        <p:sp>
          <p:nvSpPr>
            <p:cNvPr id="142" name="Symbol Stufe 2"/>
            <p:cNvSpPr/>
            <p:nvPr/>
          </p:nvSpPr>
          <p:spPr>
            <a:xfrm>
              <a:off x="7411733" y="1780000"/>
              <a:ext cx="100000" cy="310000"/>
            </a:xfrm>
            <a:prstGeom prst="rect">
              <a:avLst/>
            </a:prstGeom>
            <a:solidFill>
              <a:schemeClr val="accent1"/>
            </a:solidFill>
            <a:ln>
              <a:noFill/>
            </a:ln>
          </p:spPr>
          <p:txBody>
            <a:bodyPr/>
            <a:lstStyle/>
            <a:p>
              <a:endParaRPr lang="de-DE"/>
            </a:p>
          </p:txBody>
        </p:sp>
        <p:sp>
          <p:nvSpPr>
            <p:cNvPr id="143" name="Symbol Stufe 3"/>
            <p:cNvSpPr/>
            <p:nvPr/>
          </p:nvSpPr>
          <p:spPr>
            <a:xfrm>
              <a:off x="7551733" y="1650000"/>
              <a:ext cx="100000" cy="440000"/>
            </a:xfrm>
            <a:prstGeom prst="rect">
              <a:avLst/>
            </a:prstGeom>
            <a:solidFill>
              <a:schemeClr val="accent1"/>
            </a:solidFill>
            <a:ln>
              <a:noFill/>
            </a:ln>
          </p:spPr>
          <p:txBody>
            <a:bodyPr/>
            <a:lstStyle/>
            <a:p>
              <a:endParaRPr lang="de-DE"/>
            </a:p>
          </p:txBody>
        </p:sp>
        <p:sp>
          <p:nvSpPr>
            <p:cNvPr id="144" name="Symbol Stufe 4"/>
            <p:cNvSpPr/>
            <p:nvPr/>
          </p:nvSpPr>
          <p:spPr>
            <a:xfrm>
              <a:off x="7691733" y="1520000"/>
              <a:ext cx="100000" cy="570000"/>
            </a:xfrm>
            <a:prstGeom prst="rect">
              <a:avLst/>
            </a:prstGeom>
            <a:solidFill>
              <a:schemeClr val="accent1"/>
            </a:solidFill>
            <a:ln>
              <a:noFill/>
            </a:ln>
          </p:spPr>
          <p:txBody>
            <a:bodyPr/>
            <a:lstStyle/>
            <a:p>
              <a:endParaRPr lang="de-DE"/>
            </a:p>
          </p:txBody>
        </p:sp>
        <p:sp>
          <p:nvSpPr>
            <p:cNvPr id="150" name="Nummer"/>
            <p:cNvSpPr/>
            <p:nvPr/>
          </p:nvSpPr>
          <p:spPr>
            <a:xfrm>
              <a:off x="6195999" y="2170000"/>
              <a:ext cx="2711468" cy="520000"/>
            </a:xfrm>
            <a:prstGeom prst="rect">
              <a:avLst/>
            </a:prstGeom>
            <a:noFill/>
            <a:ln>
              <a:noFill/>
            </a:ln>
          </p:spPr>
          <p:txBody>
            <a:bodyPr wrap="square" lIns="91440" tIns="27432" rIns="91440" bIns="27432" anchor="ctr">
              <a:noAutofit/>
            </a:bodyPr>
            <a:lstStyle/>
            <a:p>
              <a:pPr algn="ctr"/>
              <a:r>
                <a:rPr lang="de-DE" sz="3200" b="1" dirty="0">
                  <a:solidFill>
                    <a:schemeClr val="accent1"/>
                  </a:solidFill>
                </a:rPr>
                <a:t>3</a:t>
              </a:r>
            </a:p>
          </p:txBody>
        </p:sp>
        <p:sp>
          <p:nvSpPr>
            <p:cNvPr id="151" name="Ueberschrift"/>
            <p:cNvSpPr/>
            <p:nvPr/>
          </p:nvSpPr>
          <p:spPr>
            <a:xfrm>
              <a:off x="6195999" y="2770000"/>
              <a:ext cx="2711468" cy="480000"/>
            </a:xfrm>
            <a:prstGeom prst="rect">
              <a:avLst/>
            </a:prstGeom>
            <a:noFill/>
            <a:ln>
              <a:noFill/>
            </a:ln>
          </p:spPr>
          <p:txBody>
            <a:bodyPr wrap="square" lIns="91440" tIns="27432" rIns="91440" bIns="27432" anchor="ctr">
              <a:noAutofit/>
            </a:bodyPr>
            <a:lstStyle/>
            <a:p>
              <a:pPr algn="ctr"/>
              <a:r>
                <a:rPr lang="de-DE" sz="1800" b="1" dirty="0">
                  <a:solidFill>
                    <a:schemeClr val="accent1"/>
                  </a:solidFill>
                </a:rPr>
                <a:t>Testtiefe skalieren</a:t>
              </a:r>
            </a:p>
          </p:txBody>
        </p:sp>
        <p:sp>
          <p:nvSpPr>
            <p:cNvPr id="152" name="Erlaeuterung"/>
            <p:cNvSpPr/>
            <p:nvPr/>
          </p:nvSpPr>
          <p:spPr>
            <a:xfrm>
              <a:off x="6195999" y="3300000"/>
              <a:ext cx="2711468" cy="820000"/>
            </a:xfrm>
            <a:prstGeom prst="rect">
              <a:avLst/>
            </a:prstGeom>
            <a:noFill/>
            <a:ln>
              <a:noFill/>
            </a:ln>
          </p:spPr>
          <p:txBody>
            <a:bodyPr wrap="square" lIns="137160" tIns="27432" rIns="137160" bIns="27432" anchor="t">
              <a:noAutofit/>
            </a:bodyPr>
            <a:lstStyle/>
            <a:p>
              <a:pPr algn="ctr"/>
              <a:r>
                <a:rPr lang="de-DE" sz="1400" b="0" dirty="0">
                  <a:solidFill>
                    <a:schemeClr val="accent1"/>
                  </a:solidFill>
                </a:rPr>
                <a:t>Staffelung über SRSL-Stufen</a:t>
              </a:r>
            </a:p>
          </p:txBody>
        </p:sp>
        <p:sp>
          <p:nvSpPr>
            <p:cNvPr id="153" name="Randbeschriftung"/>
            <p:cNvSpPr/>
            <p:nvPr/>
          </p:nvSpPr>
          <p:spPr>
            <a:xfrm>
              <a:off x="6195999" y="4220000"/>
              <a:ext cx="2711468" cy="380000"/>
            </a:xfrm>
            <a:prstGeom prst="rect">
              <a:avLst/>
            </a:prstGeom>
            <a:noFill/>
            <a:ln>
              <a:noFill/>
            </a:ln>
          </p:spPr>
          <p:txBody>
            <a:bodyPr wrap="square" lIns="91440" tIns="27432" rIns="91440" bIns="27432" anchor="ctr">
              <a:noAutofit/>
            </a:bodyPr>
            <a:lstStyle/>
            <a:p>
              <a:pPr algn="ctr"/>
              <a:r>
                <a:rPr lang="de-DE" sz="1400" b="1" dirty="0">
                  <a:solidFill>
                    <a:schemeClr val="accent1"/>
                  </a:solidFill>
                </a:rPr>
                <a:t>mittelfristig</a:t>
              </a:r>
            </a:p>
          </p:txBody>
        </p:sp>
      </p:grpSp>
      <p:grpSp>
        <p:nvGrpSpPr>
          <p:cNvPr id="40" name="Kachel 4"/>
          <p:cNvGrpSpPr/>
          <p:nvPr/>
        </p:nvGrpSpPr>
        <p:grpSpPr>
          <a:xfrm>
            <a:off x="9107467" y="1250000"/>
            <a:ext cx="2711468" cy="3450000"/>
            <a:chOff x="9107467" y="1250000"/>
            <a:chExt cx="2711468" cy="3450000"/>
          </a:xfrm>
        </p:grpSpPr>
        <p:sp>
          <p:nvSpPr>
            <p:cNvPr id="160" name="Kachel"/>
            <p:cNvSpPr/>
            <p:nvPr/>
          </p:nvSpPr>
          <p:spPr>
            <a:xfrm>
              <a:off x="9107467" y="1250000"/>
              <a:ext cx="2711468" cy="3450000"/>
            </a:xfrm>
            <a:prstGeom prst="rect">
              <a:avLst/>
            </a:prstGeom>
            <a:solidFill>
              <a:schemeClr val="accent4"/>
            </a:solidFill>
            <a:ln>
              <a:noFill/>
            </a:ln>
          </p:spPr>
          <p:txBody>
            <a:bodyPr/>
            <a:lstStyle/>
            <a:p>
              <a:endParaRPr lang="de-DE"/>
            </a:p>
          </p:txBody>
        </p:sp>
        <p:sp>
          <p:nvSpPr>
            <p:cNvPr id="161" name="Symbol Kreislauf"/>
            <p:cNvSpPr/>
            <p:nvPr/>
          </p:nvSpPr>
          <p:spPr>
            <a:xfrm>
              <a:off x="10183201" y="1530000"/>
              <a:ext cx="560000" cy="560000"/>
            </a:xfrm>
            <a:prstGeom prst="circularArrow">
              <a:avLst>
                <a:gd name="adj1" fmla="val 12500"/>
                <a:gd name="adj2" fmla="val 1142319"/>
                <a:gd name="adj3" fmla="val 20457681"/>
                <a:gd name="adj4" fmla="val 10800000"/>
                <a:gd name="adj5" fmla="val 12500"/>
              </a:avLst>
            </a:prstGeom>
            <a:solidFill>
              <a:schemeClr val="accent1"/>
            </a:solidFill>
            <a:ln>
              <a:noFill/>
            </a:ln>
          </p:spPr>
          <p:txBody>
            <a:bodyPr/>
            <a:lstStyle/>
            <a:p>
              <a:endParaRPr lang="de-DE"/>
            </a:p>
          </p:txBody>
        </p:sp>
        <p:sp>
          <p:nvSpPr>
            <p:cNvPr id="170" name="Nummer"/>
            <p:cNvSpPr/>
            <p:nvPr/>
          </p:nvSpPr>
          <p:spPr>
            <a:xfrm>
              <a:off x="9107467" y="2170000"/>
              <a:ext cx="2711468" cy="520000"/>
            </a:xfrm>
            <a:prstGeom prst="rect">
              <a:avLst/>
            </a:prstGeom>
            <a:noFill/>
            <a:ln>
              <a:noFill/>
            </a:ln>
          </p:spPr>
          <p:txBody>
            <a:bodyPr wrap="square" lIns="91440" tIns="27432" rIns="91440" bIns="27432" anchor="ctr">
              <a:noAutofit/>
            </a:bodyPr>
            <a:lstStyle/>
            <a:p>
              <a:pPr algn="ctr"/>
              <a:r>
                <a:rPr lang="de-DE" sz="3200" b="1" dirty="0">
                  <a:solidFill>
                    <a:schemeClr val="accent1"/>
                  </a:solidFill>
                </a:rPr>
                <a:t>4</a:t>
              </a:r>
            </a:p>
          </p:txBody>
        </p:sp>
        <p:sp>
          <p:nvSpPr>
            <p:cNvPr id="171" name="Ueberschrift"/>
            <p:cNvSpPr/>
            <p:nvPr/>
          </p:nvSpPr>
          <p:spPr>
            <a:xfrm>
              <a:off x="9107467" y="2770000"/>
              <a:ext cx="2711468" cy="480000"/>
            </a:xfrm>
            <a:prstGeom prst="rect">
              <a:avLst/>
            </a:prstGeom>
            <a:noFill/>
            <a:ln>
              <a:noFill/>
            </a:ln>
          </p:spPr>
          <p:txBody>
            <a:bodyPr wrap="square" lIns="91440" tIns="27432" rIns="91440" bIns="27432" anchor="ctr">
              <a:noAutofit/>
            </a:bodyPr>
            <a:lstStyle/>
            <a:p>
              <a:pPr algn="ctr"/>
              <a:r>
                <a:rPr lang="de-DE" sz="1800" b="1" dirty="0">
                  <a:solidFill>
                    <a:schemeClr val="accent1"/>
                  </a:solidFill>
                </a:rPr>
                <a:t>Methodik verankern</a:t>
              </a:r>
            </a:p>
          </p:txBody>
        </p:sp>
        <p:sp>
          <p:nvSpPr>
            <p:cNvPr id="172" name="Erlaeuterung"/>
            <p:cNvSpPr/>
            <p:nvPr/>
          </p:nvSpPr>
          <p:spPr>
            <a:xfrm>
              <a:off x="9107467" y="3300000"/>
              <a:ext cx="2711468" cy="820000"/>
            </a:xfrm>
            <a:prstGeom prst="rect">
              <a:avLst/>
            </a:prstGeom>
            <a:noFill/>
            <a:ln>
              <a:noFill/>
            </a:ln>
          </p:spPr>
          <p:txBody>
            <a:bodyPr wrap="square" lIns="137160" tIns="27432" rIns="137160" bIns="27432" anchor="t">
              <a:noAutofit/>
            </a:bodyPr>
            <a:lstStyle/>
            <a:p>
              <a:pPr algn="ctr"/>
              <a:r>
                <a:rPr lang="de-DE" sz="1400" b="0" dirty="0">
                  <a:solidFill>
                    <a:schemeClr val="accent1"/>
                  </a:solidFill>
                </a:rPr>
                <a:t>Einbettung in den Secure Development Lifecycle</a:t>
              </a:r>
            </a:p>
          </p:txBody>
        </p:sp>
        <p:sp>
          <p:nvSpPr>
            <p:cNvPr id="173" name="Randbeschriftung"/>
            <p:cNvSpPr/>
            <p:nvPr/>
          </p:nvSpPr>
          <p:spPr>
            <a:xfrm>
              <a:off x="9107467" y="4220000"/>
              <a:ext cx="2711468" cy="380000"/>
            </a:xfrm>
            <a:prstGeom prst="rect">
              <a:avLst/>
            </a:prstGeom>
            <a:noFill/>
            <a:ln>
              <a:noFill/>
            </a:ln>
          </p:spPr>
          <p:txBody>
            <a:bodyPr wrap="square" lIns="91440" tIns="27432" rIns="91440" bIns="27432" anchor="ctr">
              <a:noAutofit/>
            </a:bodyPr>
            <a:lstStyle/>
            <a:p>
              <a:pPr algn="ctr"/>
              <a:r>
                <a:rPr lang="de-DE" sz="1400" b="1" dirty="0">
                  <a:solidFill>
                    <a:schemeClr val="accent1"/>
                  </a:solidFill>
                </a:rPr>
                <a:t>mittelfristig</a:t>
              </a:r>
            </a:p>
          </p:txBody>
        </p:sp>
      </p:grpSp>
      <p:sp>
        <p:nvSpPr>
          <p:cNvPr id="60" name="Abschlussbalken"/>
          <p:cNvSpPr/>
          <p:nvPr/>
        </p:nvSpPr>
        <p:spPr>
          <a:xfrm>
            <a:off x="0" y="5330000"/>
            <a:ext cx="12192000" cy="800000"/>
          </a:xfrm>
          <a:prstGeom prst="rect">
            <a:avLst/>
          </a:prstGeom>
          <a:solidFill>
            <a:schemeClr val="accent1"/>
          </a:solidFill>
          <a:ln>
            <a:noFill/>
          </a:ln>
        </p:spPr>
        <p:txBody>
          <a:bodyPr wrap="square" lIns="182880" tIns="27432" rIns="182880" bIns="27432" anchor="ctr">
            <a:noAutofit/>
          </a:bodyPr>
          <a:lstStyle/>
          <a:p>
            <a:pPr algn="ctr"/>
            <a:r>
              <a:rPr lang="de-DE" sz="1800" b="1" dirty="0">
                <a:solidFill>
                  <a:srgbClr val="FFFFFF"/>
                </a:solidFill>
              </a:rPr>
              <a:t>Die Methodik ist übertragbar, die Demonstration ist der erste Schritt.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6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CB6771DC-6CD4-DE4E-110A-7A1066A207C1}"/>
              </a:ext>
            </a:extLst>
          </p:cNvPr>
          <p:cNvGraphicFramePr>
            <a:graphicFrameLocks noChangeAspect="1"/>
          </p:cNvGraphicFramePr>
          <p:nvPr>
            <p:custDataLst>
              <p:tags r:id="rId1"/>
            </p:custDataLst>
            <p:extLst>
              <p:ext uri="{D42A27DB-BD31-4B8C-83A1-F6EECF244321}">
                <p14:modId xmlns:p14="http://schemas.microsoft.com/office/powerpoint/2010/main" val="41175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CB6771DC-6CD4-DE4E-110A-7A1066A207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el 9">
            <a:extLst>
              <a:ext uri="{FF2B5EF4-FFF2-40B4-BE49-F238E27FC236}">
                <a16:creationId xmlns:a16="http://schemas.microsoft.com/office/drawing/2014/main" id="{A9ACC2F4-F8F3-163F-BD1C-309E4D1CB37C}"/>
              </a:ext>
            </a:extLst>
          </p:cNvPr>
          <p:cNvSpPr>
            <a:spLocks noGrp="1"/>
          </p:cNvSpPr>
          <p:nvPr>
            <p:ph type="ctrTitle"/>
          </p:nvPr>
        </p:nvSpPr>
        <p:spPr>
          <a:xfrm>
            <a:off x="372269" y="345631"/>
            <a:ext cx="11447462" cy="2769989"/>
          </a:xfrm>
        </p:spPr>
        <p:txBody>
          <a:bodyPr vert="horz"/>
          <a:lstStyle/>
          <a:p>
            <a:r>
              <a:rPr lang="en-US" noProof="0" dirty="0" err="1"/>
              <a:t>Vielen</a:t>
            </a:r>
            <a:r>
              <a:rPr lang="en-US" noProof="0" dirty="0"/>
              <a:t> Dank für </a:t>
            </a:r>
            <a:r>
              <a:rPr lang="en-US" noProof="0" dirty="0" err="1"/>
              <a:t>Ihre</a:t>
            </a:r>
            <a:r>
              <a:rPr lang="en-US" noProof="0" dirty="0"/>
              <a:t> </a:t>
            </a:r>
            <a:r>
              <a:rPr lang="en-US" noProof="0" dirty="0" err="1"/>
              <a:t>Aufmerksamkeit</a:t>
            </a:r>
            <a:endParaRPr lang="en-US" noProof="0" dirty="0"/>
          </a:p>
        </p:txBody>
      </p:sp>
      <p:sp>
        <p:nvSpPr>
          <p:cNvPr id="11" name="Textplatzhalter 10">
            <a:extLst>
              <a:ext uri="{FF2B5EF4-FFF2-40B4-BE49-F238E27FC236}">
                <a16:creationId xmlns:a16="http://schemas.microsoft.com/office/drawing/2014/main" id="{5D010421-5B9A-C714-C7A2-7BEFB3527B23}"/>
              </a:ext>
            </a:extLst>
          </p:cNvPr>
          <p:cNvSpPr>
            <a:spLocks noGrp="1"/>
          </p:cNvSpPr>
          <p:nvPr>
            <p:ph type="body" sz="quarter" idx="11"/>
          </p:nvPr>
        </p:nvSpPr>
        <p:spPr/>
        <p:txBody>
          <a:bodyPr>
            <a:noAutofit/>
          </a:bodyPr>
          <a:lstStyle/>
          <a:p>
            <a:r>
              <a:rPr lang="en-US" noProof="0" dirty="0"/>
              <a:t>Nathalie Nuber</a:t>
            </a:r>
          </a:p>
        </p:txBody>
      </p:sp>
    </p:spTree>
    <p:extLst>
      <p:ext uri="{BB962C8B-B14F-4D97-AF65-F5344CB8AC3E}">
        <p14:creationId xmlns:p14="http://schemas.microsoft.com/office/powerpoint/2010/main" val="2899043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fm powerpoint Master">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noFill/>
        </a:ln>
      </a:spPr>
      <a:bodyPr lIns="108000" tIns="72000" rIns="108000" bIns="72000" rtlCol="0" anchor="ctr"/>
      <a:lstStyle>
        <a:defPPr marL="180000" indent="-180000" algn="ctr">
          <a:buFont typeface="Arial" panose="020B0604020202020204" pitchFamily="34" charset="0"/>
          <a:buChar char="•"/>
          <a:defRPr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2"/>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marL="180000" indent="-180000" algn="l">
          <a:buClr>
            <a:schemeClr val="tx2"/>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Präsentation1" id="{78DB20B6-635E-481C-9A4E-5E1792BC3942}" vid="{3CBFD050-F2C8-471F-827C-5DF794ECC23B}"/>
    </a:ext>
  </a:extLst>
</a:theme>
</file>

<file path=ppt/theme/theme2.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45B52553D98B5429EF075933278D318" ma:contentTypeVersion="6" ma:contentTypeDescription="Ein neues Dokument erstellen." ma:contentTypeScope="" ma:versionID="920a476a874636e752190e44ec6087ab">
  <xsd:schema xmlns:xsd="http://www.w3.org/2001/XMLSchema" xmlns:xs="http://www.w3.org/2001/XMLSchema" xmlns:p="http://schemas.microsoft.com/office/2006/metadata/properties" xmlns:ns2="edebd399-61bb-41a3-a170-08dbff6e2386" xmlns:ns3="8d2a1563-0d9d-4259-bc57-467924f57fad" targetNamespace="http://schemas.microsoft.com/office/2006/metadata/properties" ma:root="true" ma:fieldsID="248b788c19ba11a52e368a5e490347fa" ns2:_="" ns3:_="">
    <xsd:import namespace="edebd399-61bb-41a3-a170-08dbff6e2386"/>
    <xsd:import namespace="8d2a1563-0d9d-4259-bc57-467924f57fa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bd399-61bb-41a3-a170-08dbff6e23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2a1563-0d9d-4259-bc57-467924f57fad"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1E76F4-69AA-4864-850C-BF69620C2B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ebd399-61bb-41a3-a170-08dbff6e2386"/>
    <ds:schemaRef ds:uri="8d2a1563-0d9d-4259-bc57-467924f57f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063D64-694F-4BCC-9DC6-30202EC9759F}">
  <ds:schemaRefs>
    <ds:schemaRef ds:uri="http://schemas.microsoft.com/sharepoint/v3/contenttype/forms"/>
  </ds:schemaRefs>
</ds:datastoreItem>
</file>

<file path=customXml/itemProps3.xml><?xml version="1.0" encoding="utf-8"?>
<ds:datastoreItem xmlns:ds="http://schemas.openxmlformats.org/officeDocument/2006/customXml" ds:itemID="{65C0EA16-CD53-4F37-BD65-CCA94DB53305}">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e97c528e-e8db-4a71-b5cb-4edd5b40a06c}" enabled="1" method="Standard" siteId="{2782ef14-4849-46b4-b90d-d7e83fc425ca}" removed="0"/>
</clbl:labelList>
</file>

<file path=docProps/app.xml><?xml version="1.0" encoding="utf-8"?>
<Properties xmlns="http://schemas.openxmlformats.org/officeDocument/2006/extended-properties" xmlns:vt="http://schemas.openxmlformats.org/officeDocument/2006/docPropsVTypes">
  <Template>ifm_powerpoint_toolbox_classic_2.1</Template>
  <TotalTime>0</TotalTime>
  <Words>8035</Words>
  <Application>Microsoft Office PowerPoint</Application>
  <PresentationFormat>Breitbild</PresentationFormat>
  <Paragraphs>550</Paragraphs>
  <Slides>20</Slides>
  <Notes>18</Notes>
  <HiddenSlides>0</HiddenSlides>
  <MMClips>0</MMClips>
  <ScaleCrop>false</ScaleCrop>
  <HeadingPairs>
    <vt:vector size="8" baseType="variant">
      <vt:variant>
        <vt:lpstr>Verwendete Schriftarten</vt:lpstr>
      </vt:variant>
      <vt:variant>
        <vt:i4>2</vt:i4>
      </vt:variant>
      <vt:variant>
        <vt:lpstr>Design</vt:lpstr>
      </vt:variant>
      <vt:variant>
        <vt:i4>1</vt:i4>
      </vt:variant>
      <vt:variant>
        <vt:lpstr>Eingebettete OLE-Server</vt:lpstr>
      </vt:variant>
      <vt:variant>
        <vt:i4>1</vt:i4>
      </vt:variant>
      <vt:variant>
        <vt:lpstr>Folientitel</vt:lpstr>
      </vt:variant>
      <vt:variant>
        <vt:i4>20</vt:i4>
      </vt:variant>
    </vt:vector>
  </HeadingPairs>
  <TitlesOfParts>
    <vt:vector size="24" baseType="lpstr">
      <vt:lpstr>Arial</vt:lpstr>
      <vt:lpstr>Calibri</vt:lpstr>
      <vt:lpstr>ifm powerpoint Master</vt:lpstr>
      <vt:lpstr>think-cell Folie</vt:lpstr>
      <vt:lpstr>Funktionales Testen der Sicherheit bei industriellen Gateways gemäß der neuen Maschinenrichtlinie</vt:lpstr>
      <vt:lpstr>Agenda</vt:lpstr>
      <vt:lpstr>Das Gateway sitzt an der Grenze zweier Welten</vt:lpstr>
      <vt:lpstr>Cybersecurity wird zur Pflicht</vt:lpstr>
      <vt:lpstr>Die Lücke zwischen Anspruch und Praxis</vt:lpstr>
      <vt:lpstr>Warum IT-Sicherheitsdenken in der OT nicht greift</vt:lpstr>
      <vt:lpstr>Ableitung am Beispiel RQ-012</vt:lpstr>
      <vt:lpstr>Vom Gesetz zur prüfbaren Anforderung</vt:lpstr>
      <vt:lpstr>Forschungsdesign nach DSRM</vt:lpstr>
      <vt:lpstr>Jeder Test hat eine Herkunft</vt:lpstr>
      <vt:lpstr>Was der Messpunkt bestimmt</vt:lpstr>
      <vt:lpstr>Passt das Werkzeug zum Ziel?</vt:lpstr>
      <vt:lpstr>Zwei Dimensionen, die nicht vermischt werden dürfen</vt:lpstr>
      <vt:lpstr>Der Demonstrationsaufbau</vt:lpstr>
      <vt:lpstr>RQ2 – Zehn Firmentests am Prüfling</vt:lpstr>
      <vt:lpstr>Kernbefund: der Interventionsnachweis</vt:lpstr>
      <vt:lpstr>Bewertung der 14 Anforderungen</vt:lpstr>
      <vt:lpstr>Safe State ist nicht gleich Security</vt:lpstr>
      <vt:lpstr>Ausblick</vt:lpstr>
      <vt:lpstr>Vielen Dank für Ihre Aufmerksamkeit</vt:lpstr>
    </vt:vector>
  </TitlesOfParts>
  <Company>ifm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Nuber, Nathalie</dc:creator>
  <cp:lastModifiedBy>Nuber, Nathalie</cp:lastModifiedBy>
  <cp:revision>1</cp:revision>
  <dcterms:created xsi:type="dcterms:W3CDTF">2026-09-19T13:39:34Z</dcterms:created>
  <dcterms:modified xsi:type="dcterms:W3CDTF">2026-09-20T07:33:00Z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97c528e-e8db-4a71-b5cb-4edd5b40a06c_Enabled">
    <vt:lpwstr>true</vt:lpwstr>
  </property>
  <property fmtid="{D5CDD505-2E9C-101B-9397-08002B2CF9AE}" pid="3" name="MSIP_Label_e97c528e-e8db-4a71-b5cb-4edd5b40a06c_SetDate">
    <vt:lpwstr>2025-12-08T09:04:56Z</vt:lpwstr>
  </property>
  <property fmtid="{D5CDD505-2E9C-101B-9397-08002B2CF9AE}" pid="4" name="MSIP_Label_e97c528e-e8db-4a71-b5cb-4edd5b40a06c_Method">
    <vt:lpwstr>Standard</vt:lpwstr>
  </property>
  <property fmtid="{D5CDD505-2E9C-101B-9397-08002B2CF9AE}" pid="5" name="MSIP_Label_e97c528e-e8db-4a71-b5cb-4edd5b40a06c_Name">
    <vt:lpwstr>ifminternal</vt:lpwstr>
  </property>
  <property fmtid="{D5CDD505-2E9C-101B-9397-08002B2CF9AE}" pid="6" name="MSIP_Label_e97c528e-e8db-4a71-b5cb-4edd5b40a06c_SiteId">
    <vt:lpwstr>2782ef14-4849-46b4-b90d-d7e83fc425ca</vt:lpwstr>
  </property>
  <property fmtid="{D5CDD505-2E9C-101B-9397-08002B2CF9AE}" pid="7" name="MSIP_Label_e97c528e-e8db-4a71-b5cb-4edd5b40a06c_ActionId">
    <vt:lpwstr>0ca1b76d-039d-4412-9861-cba0282812d2</vt:lpwstr>
  </property>
  <property fmtid="{D5CDD505-2E9C-101B-9397-08002B2CF9AE}" pid="8" name="MSIP_Label_e97c528e-e8db-4a71-b5cb-4edd5b40a06c_ContentBits">
    <vt:lpwstr>2</vt:lpwstr>
  </property>
  <property fmtid="{D5CDD505-2E9C-101B-9397-08002B2CF9AE}" pid="9" name="MSIP_Label_e97c528e-e8db-4a71-b5cb-4edd5b40a06c_Tag">
    <vt:lpwstr>10, 3, 0, 1</vt:lpwstr>
  </property>
  <property fmtid="{D5CDD505-2E9C-101B-9397-08002B2CF9AE}" pid="10" name="ClassificationContentMarkingFooterLocations">
    <vt:lpwstr>ifm_powerpoint_Master:9</vt:lpwstr>
  </property>
  <property fmtid="{D5CDD505-2E9C-101B-9397-08002B2CF9AE}" pid="11" name="ClassificationContentMarkingFooterText">
    <vt:lpwstr>INTERNAL</vt:lpwstr>
  </property>
  <property fmtid="{D5CDD505-2E9C-101B-9397-08002B2CF9AE}" pid="12" name="ContentTypeId">
    <vt:lpwstr>0x010100B45B52553D98B5429EF075933278D318</vt:lpwstr>
  </property>
</Properties>
</file>